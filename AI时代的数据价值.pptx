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78" r:id="rId3"/>
    <p:sldMasterId id="2147483743" r:id="rId4"/>
  </p:sldMasterIdLst>
  <p:notesMasterIdLst>
    <p:notesMasterId r:id="rId34"/>
  </p:notesMasterIdLst>
  <p:sldIdLst>
    <p:sldId id="256" r:id="rId5"/>
    <p:sldId id="258" r:id="rId6"/>
    <p:sldId id="260" r:id="rId7"/>
    <p:sldId id="259" r:id="rId8"/>
    <p:sldId id="261" r:id="rId9"/>
    <p:sldId id="262" r:id="rId10"/>
    <p:sldId id="382" r:id="rId11"/>
    <p:sldId id="2147471427" r:id="rId12"/>
    <p:sldId id="3144" r:id="rId13"/>
    <p:sldId id="2147471463" r:id="rId14"/>
    <p:sldId id="2147471464" r:id="rId15"/>
    <p:sldId id="2147471460" r:id="rId16"/>
    <p:sldId id="2147471434" r:id="rId17"/>
    <p:sldId id="2147471437" r:id="rId18"/>
    <p:sldId id="2147471461" r:id="rId19"/>
    <p:sldId id="2147471431" r:id="rId20"/>
    <p:sldId id="2147471430" r:id="rId21"/>
    <p:sldId id="289" r:id="rId22"/>
    <p:sldId id="2147471465" r:id="rId23"/>
    <p:sldId id="2147471462" r:id="rId24"/>
    <p:sldId id="2147471459" r:id="rId25"/>
    <p:sldId id="2147471457" r:id="rId26"/>
    <p:sldId id="2147471433" r:id="rId27"/>
    <p:sldId id="2147471466" r:id="rId28"/>
    <p:sldId id="2147471467" r:id="rId29"/>
    <p:sldId id="2147471468" r:id="rId30"/>
    <p:sldId id="2147471469" r:id="rId31"/>
    <p:sldId id="2147471454" r:id="rId32"/>
    <p:sldId id="214747143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7" autoAdjust="0"/>
    <p:restoredTop sz="96649" autoAdjust="0"/>
  </p:normalViewPr>
  <p:slideViewPr>
    <p:cSldViewPr snapToGrid="0">
      <p:cViewPr varScale="1">
        <p:scale>
          <a:sx n="122" d="100"/>
          <a:sy n="12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B21EC-A9A4-4955-841B-456BE0EDC7B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CAE76-8DE3-4F84-84A2-B46A728549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40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CAE76-8DE3-4F84-84A2-B46A728549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08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数据治理：构建数据中台，提升企业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D2V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数据建设：数据跨界融合，帮省行建一统归属于省行的数字化平台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数据中台</a:t>
            </a:r>
          </a:p>
          <a:p>
            <a:endParaRPr lang="zh-CN" altLang="zh-CN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行外信息：</a:t>
            </a:r>
            <a:endParaRPr lang="zh-CN" altLang="en-US" dirty="0"/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企业股东及出资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历史变更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分支机构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"企业年报-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企业资产状况信息"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企业关联关系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企业行业信息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企业严重违法失信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失信被执行列表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司法拍卖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税务负面信息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重大税收违法信息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新闻舆情</a:t>
            </a:r>
          </a:p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企业联系方式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AD15E4-6533-4E33-922B-F80685A1BF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完备性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所有必要的数据都存在吗？有没有缺失的记录或字段？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指数据是否完整，没有遗漏。这包括记录级别的完备（如应该有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条记录，实际只有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条）和属性级别的完备（如一条客户记录中，“联系电话”字段为空）。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一个“客户信息表”中，有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的记录的“电子邮箱”字段是空的。在进行电子邮件营销时，这些客户就无法被覆盖。这里的“电子邮箱”就是业务上“必要的数据”。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准确性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数据是否准确反映了它意图描述的“真实世界”实体或事件？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数据值与公认的、可验证的权威来源（现实值）一致的程度。这是数据质量最核心、最直观的维度。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endParaRPr lang="zh-CN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不准确：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员工档案中，某位员工的出生日期被错误录入为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1995-13-45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（月份和日期无效）。</a:t>
            </a: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准确：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该员工的出生日期与身份证件完全一致，为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1995-07-21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。另一个典型例子是仓库系统中，某个货位的库存数量记录为“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件”，但实际盘点只有“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件”。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一致性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同一数据在不同地方的表现形式是否一致？逻辑关系是否冲突？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一致性关注两点：一是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格式一致性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（如日期都采用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YYYY-MM-DD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格式），二是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逻辑一致性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（如在不同系统中，同一实体的相同属性值是否一致，或数据间的关联关系是否合理）。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endParaRPr lang="zh-CN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格式不一致：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系统中，国家代码存储为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系统中存储为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逻辑不一致：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系统中，客户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的“客户等级”为“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VIP”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，但在订单系统中，同一客户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的“折扣率”却适用普通客户标准。或者，财务报表的子项之和不等于总计。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及时性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数据在需要的时候是否“足够新”且可用？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指数据的“新鲜度”和“可用延迟”是否符合业务预期。及时性是数据价值随时间流逝而衰减的关键因素。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一个股票交易应用，其股价数据如果延迟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分钟，对高频交易者来说就完全失去了价值。对于月度销售报告，每月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号产出上个月的数据可能是及时的，但如果是每日决策需要的实时销售看板，数据延迟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小时就可能被视为不及时。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唯一性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数据集中，同一个现实实体是否只被表示了一次？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确保实体（如客户、产品、设备）在数据集中没有重复、冗余的记录。这是主数据管理（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）的核心目标之一。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合理性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数据的值、类型或格式是否符合常识或特定领域内的预期模式？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有时也被称为“有效性”的一部分，但更侧重于通过常识、统计分布或业务常态来判断数据是否“靠谱”，而不一定依赖于严格的业务规则。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endParaRPr lang="zh-CN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员工的“年龄”字段值为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某款畅销手机的“日销量”平时为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台左右，某天突然变为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，而没有合理的促销或缺货解释。</a:t>
            </a:r>
          </a:p>
          <a:p>
            <a:pPr lvl="1"/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温度传感器传回的数据是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-1000°C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（在常规地球环境下不合理）。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完整性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此处的“完整性”在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DMBOK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语境下特指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引用完整性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，与第一个“完备性”不同。这是数据建模和数据库设计中的关键概念。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数据之间的关联关系是否完整、有效？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主要指外键关系是否被破坏。即一个表（子表）中引用的另一个表（父表）的键值必须存在于父表中。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在“订单表”中，有一条订单的“客户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ID”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字段值为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C10086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，但在“客户信息表”中却找不到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C10086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的客户记录。这就破坏了引用完整性，这条订单成了“孤儿记录”。</a:t>
            </a: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有效性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核心问题：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数据是否符合预先定义的业务规则、语法（格式）和范围？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数据是否满足特定的格式、类型、值域等约束条件。它通常可以通过技术规则进行校验。</a:t>
            </a:r>
          </a:p>
          <a:p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</a:t>
            </a:r>
            <a:endParaRPr lang="zh-CN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格式有效性：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“电子邮件地址”必须包含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符号和有效域名。</a:t>
            </a: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值域有效性：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“性别”字段只能输入预先定义的代码，如 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（男）、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（女）、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（未知）。</a:t>
            </a:r>
          </a:p>
          <a:p>
            <a:pPr lvl="1"/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业务规则有效性：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“订单发货日期”不能早于“订单创建日期”；“保险合同生效日期”必须在“投保人出生日期”之后。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301D7C-264A-42A7-93AB-6C291594FF8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93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78FBE-38D6-E975-D8A2-54BC873B0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3767D7-518F-B6D7-D348-B3F144F4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38AB0-1B3D-2478-F6A5-792F6C2E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BD0D4C-205B-8EBD-4D51-B54CFA2B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BAC1E-7B6F-922F-045E-B22FACA8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4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20BA1-1116-C5C9-0E08-744D42C9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D3EE8D-E928-6EE7-DDFA-69E4148E8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2D204-A273-1A80-44B3-3BFBEC1E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DBECD0-EB1E-C8E6-F702-3EEB8739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E85A4-D10A-F7FF-7E3B-2AD298AA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66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20775-B6FD-E276-D221-A72A4EE0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7BD290-6DE3-B204-6AA2-C888199F8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03DFF-6344-F01B-932A-69D856F4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77AB7-27A2-5DBB-801E-2F774E3E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D7C39-B49B-A00A-7572-47E31185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09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B3916-95A5-E88B-92D7-3624C1A8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0E3CB-5861-C008-C380-1E936919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41A34C-3A48-7C4B-04FE-7EDF942CA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08FF5F-C2F0-78EB-966A-62634A7F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F462B0-8453-A28D-0F9A-7C6893D91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31FF1E-3BAE-9AFA-82FE-A92FCD3C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3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44D52-6645-322E-B9E9-4FCED79D2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901769-EC26-F8B7-BCA0-0CA290851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E9D52D-88AE-5678-56B2-538B82BA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C82B47-FFBD-9B22-0072-8D022BE83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F50375-41A5-ED0F-47A1-242150497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B73EB9-A7B7-67D7-3C01-575E9B21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CB5F2A-E090-D77D-D21A-88969CBE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5B4AA3-E571-CA84-22D8-6543F26D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11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D449B-BE68-D9F6-C22D-CA9DE19B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4F2C63-4380-1626-A308-8DC45BBE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D75D67-CD2C-3D7A-8336-1C8498FA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D9FEF-81CC-1A66-97FF-9374F127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26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2F90EA-9FC1-60B5-1BE6-29A04C25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D68DD3-64A7-7004-0FA5-D89E477E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FFE12F-74C4-02E8-688A-C5BE1F02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12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1898E-127C-77E7-B946-A7BFC62E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7B750-2DA4-E4C6-5499-1F5609CD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FFD501-6113-D117-F69A-AC2856C48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B8E3A0-DCE4-169B-591F-B4D05A1DF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1EDC3E-2886-83C5-64D4-F546A545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7056E9-19CC-D100-DA7B-5DDE48D8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62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7C53D-5C9A-92DE-5D35-C91B0017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931219-5EA1-8617-F129-56439ACBC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83155C-4488-4F14-B63F-8C6D43E63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94E231-B5A8-CB5B-9E2C-327AB831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A76096-5FBE-6D22-B19C-C1ECA4F3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6C8D2-9011-A2B3-7D28-3345C5D2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60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4C352-B163-9D5C-4D82-CF2440AE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9D6687-FF3E-E06D-EAAD-6BFE01B40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CC2CC-328D-CA80-26FD-10420687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19BBD-B127-D9E4-3101-7D8BAEB7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1EEEC8-923A-6511-F4B4-25F927A5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990D0A-F49E-2F20-B55C-57FF6D350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D9F8F8-EB32-1C88-EB90-5AA153793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FF1AB2-E311-D3A9-6FDC-97707519C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BFBA4-9242-A9D8-848A-A3116D7D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9F413-5E5E-7093-85BD-2E4BE09A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777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197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admap_Product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26195" y="1690691"/>
            <a:ext cx="11539191" cy="671512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 marL="0" indent="0">
              <a:buSzPct val="100000"/>
              <a:buFont typeface="Wingdings" panose="05000000000000000000" pitchFamily="2" charset="2"/>
              <a:buNone/>
              <a:defRPr sz="1600" baseline="0"/>
            </a:lvl2pPr>
            <a:lvl3pPr>
              <a:defRPr sz="1900" baseline="0"/>
            </a:lvl3pPr>
          </a:lstStyle>
          <a:p>
            <a:pPr lvl="0"/>
            <a:r>
              <a:rPr lang="en-US" dirty="0"/>
              <a:t>Introductory sentences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23832" y="2536371"/>
            <a:ext cx="7208238" cy="3550104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1600"/>
            </a:lvl1pPr>
            <a:lvl2pPr marL="228600" indent="-182880">
              <a:spcBef>
                <a:spcPts val="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"/>
              <a:defRPr sz="1400"/>
            </a:lvl2pPr>
            <a:lvl3pPr>
              <a:defRPr sz="1900"/>
            </a:lvl3pPr>
            <a:lvl4pPr>
              <a:defRPr sz="1200"/>
            </a:lvl4pPr>
            <a:lvl5pPr marL="401955" indent="-179705">
              <a:spcBef>
                <a:spcPts val="200"/>
              </a:spcBef>
              <a:buFont typeface="Arial" panose="02080604020202020204" pitchFamily="34" charset="0"/>
              <a:buChar char="−"/>
              <a:defRPr sz="1200"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1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326195" y="324078"/>
            <a:ext cx="11539191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baseline="0"/>
            </a:lvl1pPr>
          </a:lstStyle>
          <a:p>
            <a:r>
              <a:rPr lang="en-US" noProof="0" dirty="0"/>
              <a:t>Insert page title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758657" y="2562850"/>
            <a:ext cx="4106729" cy="353324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600" b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Click icon to add picture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4353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916" y="324000"/>
            <a:ext cx="11542194" cy="75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SAP_grad_R_pref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3" y="5854701"/>
            <a:ext cx="1224801" cy="60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58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68576" tIns="34289" rIns="68576" bIns="34289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Background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80"/>
            <a:ext cx="9213851" cy="742317"/>
          </a:xfrm>
          <a:prstGeom prst="rect">
            <a:avLst/>
          </a:prstGeom>
        </p:spPr>
        <p:txBody>
          <a:bodyPr lIns="68576" tIns="34289" rIns="68576" bIns="34289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65" spc="-2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880542" y="4453474"/>
            <a:ext cx="8650817" cy="356570"/>
          </a:xfrm>
          <a:prstGeom prst="rect">
            <a:avLst/>
          </a:prstGeom>
        </p:spPr>
        <p:txBody>
          <a:bodyPr lIns="68576" tIns="34289" rIns="68576" bIns="34289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80532" y="5459492"/>
            <a:ext cx="4866216" cy="373063"/>
          </a:xfrm>
          <a:prstGeom prst="rect">
            <a:avLst/>
          </a:prstGeom>
        </p:spPr>
        <p:txBody>
          <a:bodyPr lIns="68576" tIns="34289" rIns="68576" bIns="34289">
            <a:normAutofit/>
          </a:bodyPr>
          <a:lstStyle>
            <a:lvl1pPr marL="0" indent="0">
              <a:buNone/>
              <a:defRPr sz="1865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837174" y="673108"/>
            <a:ext cx="1658003" cy="610983"/>
          </a:xfrm>
          <a:prstGeom prst="rect">
            <a:avLst/>
          </a:prstGeom>
        </p:spPr>
        <p:txBody>
          <a:bodyPr vert="horz" lIns="68576" tIns="34289" rIns="68576" bIns="34289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78680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0" tIns="34290" rIns="68576" bIns="34290" anchor="ctr" anchorCtr="0">
            <a:normAutofit/>
          </a:bodyPr>
          <a:lstStyle>
            <a:lvl1pPr marL="0" indent="0">
              <a:buNone/>
              <a:defRPr sz="27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469965" y="1223706"/>
            <a:ext cx="11116669" cy="4525963"/>
          </a:xfrm>
          <a:prstGeom prst="rect">
            <a:avLst/>
          </a:prstGeom>
        </p:spPr>
        <p:txBody>
          <a:bodyPr vert="horz" lIns="68576" tIns="34290" rIns="68576" bIns="3429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900"/>
            </a:lvl1pPr>
            <a:lvl2pPr>
              <a:defRPr sz="1600"/>
            </a:lvl2pPr>
            <a:lvl3pPr>
              <a:defRPr sz="1500"/>
            </a:lvl3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adipiscing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varius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eget</a:t>
            </a:r>
            <a:r>
              <a:rPr lang="en-US" dirty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99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944701"/>
            <a:ext cx="12192000" cy="5913299"/>
          </a:xfrm>
          <a:prstGeom prst="rect">
            <a:avLst/>
          </a:prstGeom>
          <a:solidFill>
            <a:srgbClr val="39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 defTabSz="1088390"/>
            <a:endParaRPr lang="en-US" sz="2535">
              <a:solidFill>
                <a:srgbClr val="FFFFFF"/>
              </a:soli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1" tIns="34289" rIns="68576" bIns="34289" anchor="ctr" anchorCtr="0">
            <a:normAutofit/>
          </a:bodyPr>
          <a:lstStyle>
            <a:lvl1pPr marL="0" indent="0">
              <a:buNone/>
              <a:defRPr sz="2665" cap="all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955609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0" tIns="34290" rIns="68576" bIns="34290" anchor="ctr" anchorCtr="0">
            <a:normAutofit/>
          </a:bodyPr>
          <a:lstStyle>
            <a:lvl1pPr marL="0" indent="0">
              <a:buNone/>
              <a:defRPr sz="27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05949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1" tIns="34289" rIns="68576" bIns="34289" anchor="ctr" anchorCtr="0">
            <a:normAutofit/>
          </a:bodyPr>
          <a:lstStyle>
            <a:lvl1pPr marL="0" indent="0">
              <a:buNone/>
              <a:defRPr sz="2665" cap="all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1783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 Bo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3037742" y="939031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6075478" y="939031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9113214" y="939031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5" hasCustomPrompt="1"/>
          </p:nvPr>
        </p:nvSpPr>
        <p:spPr>
          <a:xfrm>
            <a:off x="15394" y="3559080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6" hasCustomPrompt="1"/>
          </p:nvPr>
        </p:nvSpPr>
        <p:spPr>
          <a:xfrm>
            <a:off x="3053134" y="3559080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7" hasCustomPrompt="1"/>
          </p:nvPr>
        </p:nvSpPr>
        <p:spPr>
          <a:xfrm>
            <a:off x="6090870" y="3559080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18" hasCustomPrompt="1"/>
          </p:nvPr>
        </p:nvSpPr>
        <p:spPr>
          <a:xfrm>
            <a:off x="9128606" y="3559080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1" hasCustomPrompt="1"/>
          </p:nvPr>
        </p:nvSpPr>
        <p:spPr>
          <a:xfrm>
            <a:off x="2" y="939031"/>
            <a:ext cx="3078787" cy="508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335" b="0" i="0" cap="all" baseline="0">
                <a:solidFill>
                  <a:schemeClr val="bg1"/>
                </a:solidFill>
                <a:latin typeface="Arial Black"/>
              </a:defRPr>
            </a:lvl1pPr>
            <a:lvl2pPr marL="4572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2pPr>
            <a:lvl3pPr marL="9144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3pPr>
            <a:lvl4pPr marL="1371600" indent="0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4pPr>
            <a:lvl5pPr marL="1828165" indent="0" algn="ctr">
              <a:buFontTx/>
              <a:buNone/>
              <a:defRPr sz="1600" b="0" i="0" cap="all" baseline="0">
                <a:solidFill>
                  <a:schemeClr val="bg1"/>
                </a:solidFill>
                <a:latin typeface="Arial Black"/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072620" y="948268"/>
            <a:ext cx="0" cy="5531556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6080945" y="948268"/>
            <a:ext cx="0" cy="5531556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123248" y="932872"/>
            <a:ext cx="0" cy="5531556"/>
          </a:xfrm>
          <a:prstGeom prst="line">
            <a:avLst/>
          </a:prstGeom>
          <a:ln w="19050" cmpd="sng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1" tIns="34289" rIns="68576" bIns="34289" anchor="ctr" anchorCtr="0">
            <a:normAutofit/>
          </a:bodyPr>
          <a:lstStyle>
            <a:lvl1pPr marL="0" indent="0">
              <a:buNone/>
              <a:defRPr sz="2665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13962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6" descr="Pattern_ppt.jpg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-17820" y="-15392"/>
            <a:ext cx="9197473" cy="6898104"/>
          </a:xfrm>
          <a:prstGeom prst="rect">
            <a:avLst/>
          </a:prstGeom>
        </p:spPr>
      </p:pic>
      <p:pic>
        <p:nvPicPr>
          <p:cNvPr id="16" name="Picture Placeholder 6" descr="Pattern_ppt.jp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9144003" y="-15392"/>
            <a:ext cx="3117724" cy="6898104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163211" y="5263636"/>
            <a:ext cx="6686633" cy="862800"/>
          </a:xfrm>
          <a:prstGeom prst="rect">
            <a:avLst/>
          </a:prstGeom>
          <a:solidFill>
            <a:srgbClr val="2FC2D9"/>
          </a:solidFill>
        </p:spPr>
        <p:txBody>
          <a:bodyPr wrap="none" lIns="137151" tIns="27430" rIns="137151" bIns="34290">
            <a:spAutoFit/>
          </a:bodyPr>
          <a:lstStyle>
            <a:lvl1pPr marL="0" indent="0">
              <a:buNone/>
              <a:defRPr sz="51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457200" indent="0">
              <a:buNone/>
              <a:defRPr sz="5100" b="0" i="0" cap="all">
                <a:latin typeface="Arial Black"/>
                <a:cs typeface="Arial Black"/>
              </a:defRPr>
            </a:lvl2pPr>
            <a:lvl3pPr marL="914400" indent="0">
              <a:buNone/>
              <a:defRPr sz="5100" b="0" i="0" cap="all">
                <a:latin typeface="Arial Black"/>
                <a:cs typeface="Arial Black"/>
              </a:defRPr>
            </a:lvl3pPr>
            <a:lvl4pPr marL="1371600" indent="0">
              <a:buNone/>
              <a:defRPr sz="5100" b="0" i="0" cap="all">
                <a:latin typeface="Arial Black"/>
                <a:cs typeface="Arial Black"/>
              </a:defRPr>
            </a:lvl4pPr>
            <a:lvl5pPr marL="1828165" indent="0">
              <a:buNone/>
              <a:defRPr sz="51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1163210" y="4525827"/>
            <a:ext cx="4917903" cy="862800"/>
          </a:xfrm>
          <a:prstGeom prst="rect">
            <a:avLst/>
          </a:prstGeom>
          <a:solidFill>
            <a:srgbClr val="2FC2D9"/>
          </a:solidFill>
        </p:spPr>
        <p:txBody>
          <a:bodyPr wrap="none" lIns="137151" tIns="27430" rIns="137151" bIns="34290">
            <a:spAutoFit/>
          </a:bodyPr>
          <a:lstStyle>
            <a:lvl1pPr marL="0" indent="0">
              <a:buNone/>
              <a:defRPr sz="51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457200" indent="0">
              <a:buNone/>
              <a:defRPr sz="5100" b="0" i="0" cap="all">
                <a:latin typeface="Arial Black"/>
                <a:cs typeface="Arial Black"/>
              </a:defRPr>
            </a:lvl2pPr>
            <a:lvl3pPr marL="914400" indent="0">
              <a:buNone/>
              <a:defRPr sz="5100" b="0" i="0" cap="all">
                <a:latin typeface="Arial Black"/>
                <a:cs typeface="Arial Black"/>
              </a:defRPr>
            </a:lvl3pPr>
            <a:lvl4pPr marL="1371600" indent="0">
              <a:buNone/>
              <a:defRPr sz="5100" b="0" i="0" cap="all">
                <a:latin typeface="Arial Black"/>
                <a:cs typeface="Arial Black"/>
              </a:defRPr>
            </a:lvl4pPr>
            <a:lvl5pPr marL="1828165" indent="0">
              <a:buNone/>
              <a:defRPr sz="51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63208" y="3826604"/>
            <a:ext cx="6161602" cy="847085"/>
          </a:xfrm>
          <a:prstGeom prst="rect">
            <a:avLst/>
          </a:prstGeom>
          <a:solidFill>
            <a:srgbClr val="2FC2D9"/>
          </a:solidFill>
          <a:ln>
            <a:noFill/>
          </a:ln>
        </p:spPr>
        <p:txBody>
          <a:bodyPr wrap="none" lIns="137151" tIns="27430" rIns="137151" bIns="34290" anchor="t">
            <a:spAutoFit/>
          </a:bodyPr>
          <a:lstStyle>
            <a:lvl1pPr algn="l">
              <a:defRPr sz="5100" b="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Type line 1 here</a:t>
            </a:r>
          </a:p>
        </p:txBody>
      </p:sp>
      <p:sp>
        <p:nvSpPr>
          <p:cNvPr id="8" name="Text Placeholder 13"/>
          <p:cNvSpPr txBox="1"/>
          <p:nvPr userDrawn="1"/>
        </p:nvSpPr>
        <p:spPr>
          <a:xfrm>
            <a:off x="1041811" y="3328614"/>
            <a:ext cx="8650817" cy="923331"/>
          </a:xfrm>
          <a:prstGeom prst="rect">
            <a:avLst/>
          </a:prstGeom>
        </p:spPr>
        <p:txBody>
          <a:bodyPr lIns="91431" tIns="45717" rIns="91431" bIns="45717"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39C2D7"/>
              </a:buClr>
              <a:buFont typeface="Arial"/>
              <a:buNone/>
            </a:pPr>
            <a:endParaRPr lang="en-US" sz="2000" dirty="0">
              <a:solidFill>
                <a:srgbClr val="464547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55508" y="3276173"/>
            <a:ext cx="5018549" cy="361637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76" tIns="34290" rIns="68576" bIns="34290">
            <a:spAutoFit/>
          </a:bodyPr>
          <a:lstStyle>
            <a:lvl1pPr marL="0" indent="0">
              <a:buNone/>
              <a:defRPr sz="19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</p:spTree>
    <p:extLst>
      <p:ext uri="{BB962C8B-B14F-4D97-AF65-F5344CB8AC3E}">
        <p14:creationId xmlns:p14="http://schemas.microsoft.com/office/powerpoint/2010/main" val="54286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68580" tIns="34290" rIns="68580" bIns="3429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Case Study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660" y="227886"/>
            <a:ext cx="11116669" cy="724867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30" baseline="0"/>
            </a:lvl1pPr>
          </a:lstStyle>
          <a:p>
            <a:r>
              <a:rPr lang="en-US" dirty="0"/>
              <a:t>Client name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49742"/>
            <a:ext cx="12192000" cy="5082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7" tIns="45719" rIns="91437" bIns="45719" rtlCol="0" anchor="ctr"/>
          <a:lstStyle/>
          <a:p>
            <a:pPr algn="ctr" defTabSz="1088390"/>
            <a:endParaRPr lang="en-US" sz="186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8191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3"/>
            <a:ext cx="12192000" cy="929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7" tIns="45719" rIns="91437" bIns="45719" rtlCol="0" anchor="ctr"/>
          <a:lstStyle/>
          <a:p>
            <a:pPr algn="ctr" defTabSz="457200"/>
            <a:endParaRPr lang="en-US" sz="1865" dirty="0">
              <a:solidFill>
                <a:prstClr val="white"/>
              </a:solidFill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11651" y="119514"/>
            <a:ext cx="8610608" cy="724867"/>
          </a:xfrm>
          <a:prstGeom prst="rect">
            <a:avLst/>
          </a:prstGeom>
        </p:spPr>
        <p:txBody>
          <a:bodyPr vert="horz" lIns="68580" tIns="0" rIns="68580" bIns="34290" rtlCol="0" anchor="ctr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client name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223912" y="328467"/>
            <a:ext cx="0" cy="27432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12192000" y="943721"/>
            <a:ext cx="0" cy="5598499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6573694" y="1761516"/>
            <a:ext cx="5120639" cy="323382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172720" indent="-172720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  <a:buClr>
                <a:srgbClr val="2FC2D9"/>
              </a:buClr>
              <a:buFont typeface="Arial"/>
              <a:buChar char="•"/>
              <a:defRPr sz="1865" baseline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65"/>
            </a:lvl3pPr>
          </a:lstStyle>
          <a:p>
            <a:pPr marL="173355" indent="-173355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355" indent="-173355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355" indent="-173355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355" indent="-173355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0" hasCustomPrompt="1"/>
          </p:nvPr>
        </p:nvSpPr>
        <p:spPr>
          <a:xfrm>
            <a:off x="484720" y="1761515"/>
            <a:ext cx="5228167" cy="3640220"/>
          </a:xfrm>
          <a:prstGeom prst="rect">
            <a:avLst/>
          </a:prstGeom>
        </p:spPr>
        <p:txBody>
          <a:bodyPr lIns="68580" tIns="34290" rIns="68580" bIns="3429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  <a:buNone/>
              <a:defRPr sz="1865"/>
            </a:lvl1pPr>
            <a:lvl2pPr>
              <a:defRPr sz="1335"/>
            </a:lvl2pPr>
            <a:lvl3pPr>
              <a:defRPr sz="1335"/>
            </a:lvl3pPr>
            <a:lvl4pPr>
              <a:defRPr sz="1335"/>
            </a:lvl4pPr>
            <a:lvl5pPr>
              <a:defRPr sz="1335"/>
            </a:lvl5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adipiscing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57531" y="1321330"/>
            <a:ext cx="1931234" cy="274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34290" rIns="68580" bIns="34290">
            <a:spAutoFit/>
          </a:bodyPr>
          <a:lstStyle>
            <a:lvl1pPr marL="0" indent="0" algn="l">
              <a:buNone/>
              <a:defRPr sz="1335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343068" y="202674"/>
            <a:ext cx="1648295" cy="542395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653532" y="1321330"/>
            <a:ext cx="1931234" cy="274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34290" rIns="68580" bIns="34290">
            <a:spAutoFit/>
          </a:bodyPr>
          <a:lstStyle>
            <a:lvl1pPr marL="0" indent="0" algn="l">
              <a:buNone/>
              <a:defRPr sz="1335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2697109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61" y="3043"/>
            <a:ext cx="12202161" cy="6854958"/>
          </a:xfrm>
          <a:prstGeom prst="rect">
            <a:avLst/>
          </a:prstGeom>
          <a:gradFill>
            <a:gsLst>
              <a:gs pos="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63" r="304" b="62617"/>
          <a:stretch>
            <a:fillRect/>
          </a:stretch>
        </p:blipFill>
        <p:spPr>
          <a:xfrm flipV="1">
            <a:off x="7576186" y="4929808"/>
            <a:ext cx="4620260" cy="191164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63" r="304" b="66853"/>
          <a:stretch>
            <a:fillRect/>
          </a:stretch>
        </p:blipFill>
        <p:spPr>
          <a:xfrm flipH="1">
            <a:off x="-5715" y="17110"/>
            <a:ext cx="5153025" cy="18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68832"/>
      </p:ext>
    </p:extLst>
  </p:cSld>
  <p:clrMapOvr>
    <a:masterClrMapping/>
  </p:clrMapOvr>
  <p:transition spd="slow" advClick="0" advTm="200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530138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444876"/>
            <a:ext cx="12530138" cy="2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645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 cstate="print"/>
          <a:srcRect l="-1374" t="-13883"/>
          <a:stretch>
            <a:fillRect/>
          </a:stretch>
        </p:blipFill>
        <p:spPr>
          <a:xfrm>
            <a:off x="5303049" y="-10968"/>
            <a:ext cx="5140431" cy="285214"/>
          </a:xfrm>
          <a:custGeom>
            <a:avLst/>
            <a:gdLst>
              <a:gd name="connsiteX0" fmla="*/ 5131675 w 5140431"/>
              <a:gd name="connsiteY0" fmla="*/ 0 h 285214"/>
              <a:gd name="connsiteX1" fmla="*/ 5140431 w 5140431"/>
              <a:gd name="connsiteY1" fmla="*/ 34778 h 285214"/>
              <a:gd name="connsiteX2" fmla="*/ 69671 w 5140431"/>
              <a:gd name="connsiteY2" fmla="*/ 34778 h 285214"/>
              <a:gd name="connsiteX3" fmla="*/ 69671 w 5140431"/>
              <a:gd name="connsiteY3" fmla="*/ 285214 h 285214"/>
              <a:gd name="connsiteX4" fmla="*/ 0 w 5140431"/>
              <a:gd name="connsiteY4" fmla="*/ 8473 h 285214"/>
              <a:gd name="connsiteX5" fmla="*/ 5131675 w 5140431"/>
              <a:gd name="connsiteY5" fmla="*/ 0 h 28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0431" h="285214">
                <a:moveTo>
                  <a:pt x="5131675" y="0"/>
                </a:moveTo>
                <a:lnTo>
                  <a:pt x="5140431" y="34778"/>
                </a:lnTo>
                <a:lnTo>
                  <a:pt x="69671" y="34778"/>
                </a:lnTo>
                <a:lnTo>
                  <a:pt x="69671" y="285214"/>
                </a:lnTo>
                <a:lnTo>
                  <a:pt x="0" y="8473"/>
                </a:lnTo>
                <a:lnTo>
                  <a:pt x="5131675" y="0"/>
                </a:lnTo>
                <a:close/>
              </a:path>
            </a:pathLst>
          </a:cu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532094" y="-10968"/>
            <a:ext cx="3074" cy="10969"/>
          </a:xfrm>
          <a:custGeom>
            <a:avLst/>
            <a:gdLst>
              <a:gd name="connsiteX0" fmla="*/ 0 w 3074"/>
              <a:gd name="connsiteY0" fmla="*/ 0 h 10969"/>
              <a:gd name="connsiteX1" fmla="*/ 3074 w 3074"/>
              <a:gd name="connsiteY1" fmla="*/ 10969 h 10969"/>
              <a:gd name="connsiteX2" fmla="*/ 0 w 3074"/>
              <a:gd name="connsiteY2" fmla="*/ 10969 h 10969"/>
              <a:gd name="connsiteX3" fmla="*/ 0 w 3074"/>
              <a:gd name="connsiteY3" fmla="*/ 0 h 10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4" h="10969">
                <a:moveTo>
                  <a:pt x="0" y="0"/>
                </a:moveTo>
                <a:lnTo>
                  <a:pt x="3074" y="10969"/>
                </a:lnTo>
                <a:lnTo>
                  <a:pt x="0" y="1096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6" name="图片 35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532094" y="6858000"/>
            <a:ext cx="1927942" cy="10056"/>
          </a:xfrm>
          <a:custGeom>
            <a:avLst/>
            <a:gdLst>
              <a:gd name="connsiteX0" fmla="*/ 0 w 1927942"/>
              <a:gd name="connsiteY0" fmla="*/ 0 h 10056"/>
              <a:gd name="connsiteX1" fmla="*/ 1925124 w 1927942"/>
              <a:gd name="connsiteY1" fmla="*/ 0 h 10056"/>
              <a:gd name="connsiteX2" fmla="*/ 1927942 w 1927942"/>
              <a:gd name="connsiteY2" fmla="*/ 10056 h 10056"/>
              <a:gd name="connsiteX3" fmla="*/ 0 w 1927942"/>
              <a:gd name="connsiteY3" fmla="*/ 10056 h 10056"/>
              <a:gd name="connsiteX4" fmla="*/ 0 w 1927942"/>
              <a:gd name="connsiteY4" fmla="*/ 0 h 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7942" h="10056">
                <a:moveTo>
                  <a:pt x="0" y="0"/>
                </a:moveTo>
                <a:lnTo>
                  <a:pt x="1925124" y="0"/>
                </a:lnTo>
                <a:lnTo>
                  <a:pt x="1927942" y="10056"/>
                </a:lnTo>
                <a:lnTo>
                  <a:pt x="0" y="10056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8539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0883901" y="6596245"/>
            <a:ext cx="1308100" cy="295664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050">
                <a:solidFill>
                  <a:schemeClr val="tx1"/>
                </a:solidFill>
              </a:rPr>
              <a:t>‹#›</a:t>
            </a:fld>
            <a:r>
              <a:rPr lang="zh-CN" altLang="en-US" sz="1050" dirty="0">
                <a:solidFill>
                  <a:schemeClr val="tx1"/>
                </a:solidFill>
              </a:rPr>
              <a:t>  </a:t>
            </a:r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 flipV="1">
            <a:off x="1" y="690038"/>
            <a:ext cx="12204000" cy="0"/>
          </a:xfrm>
          <a:prstGeom prst="line">
            <a:avLst/>
          </a:prstGeom>
          <a:noFill/>
          <a:ln w="12700">
            <a:solidFill>
              <a:schemeClr val="accent3">
                <a:lumMod val="50000"/>
              </a:schemeClr>
            </a:solidFill>
            <a:round/>
          </a:ln>
          <a:effectLst/>
        </p:spPr>
        <p:txBody>
          <a:bodyPr lIns="45720" rIns="45720"/>
          <a:lstStyle/>
          <a:p>
            <a:endParaRPr lang="zh-CN" altLang="en-US" sz="18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875" y="59961"/>
            <a:ext cx="10515600" cy="618809"/>
          </a:xfrm>
        </p:spPr>
        <p:txBody>
          <a:bodyPr>
            <a:normAutofit/>
          </a:bodyPr>
          <a:lstStyle>
            <a:lvl1pPr>
              <a:defRPr sz="2800"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55804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142875" y="65316"/>
            <a:ext cx="10741026" cy="6096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73491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743" y="313765"/>
            <a:ext cx="11538515" cy="57003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24526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0574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333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2352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21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910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290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8426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4615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7132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336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867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2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222B72-D131-E04B-664D-6A6BB464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79416-6D23-DE45-8C33-78CB41E0B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0AAF6-F75C-D9CA-4E1C-0AE73E3F4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81112-1BBD-4DE7-A43C-5376FB8358B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D9B6D-3A02-2FE7-2F90-C1C504947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F6656-0B5B-3226-CCB2-B210A0B00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780F9-1803-4B58-8E47-39D936EF2E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95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30" r:id="rId12"/>
    <p:sldLayoutId id="2147483713" r:id="rId13"/>
    <p:sldLayoutId id="2147483714" r:id="rId14"/>
    <p:sldLayoutId id="2147483715" r:id="rId15"/>
    <p:sldLayoutId id="2147483716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38943"/>
            <a:ext cx="10515600" cy="4838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62393-1353-4A75-B264-BCF22AFB2B9F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CCA8F-9E33-4632-A384-899179F66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59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587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74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slideLayout" Target="../slideLayouts/slideLayout28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notesSlide" Target="../notesSlides/notes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7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D7B60-D558-9741-D576-5A9504E0E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DD6C22-A6BC-92EE-250E-FFF196CE6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37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6EF225C9-E37E-4FAF-53EC-398214326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04"/>
            <a:ext cx="12192000" cy="656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5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1D97-1A23-1146-A3BE-828470F2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6BEA32CA-0223-C218-103C-94B149A3BCB7}"/>
              </a:ext>
            </a:extLst>
          </p:cNvPr>
          <p:cNvSpPr txBox="1"/>
          <p:nvPr/>
        </p:nvSpPr>
        <p:spPr>
          <a:xfrm>
            <a:off x="6678971" y="3349752"/>
            <a:ext cx="5513029" cy="3279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050" b="1" dirty="0"/>
              <a:t>系统实时感知 → </a:t>
            </a:r>
            <a:r>
              <a:rPr lang="en-US" altLang="zh-CN" sz="1050" b="1" dirty="0"/>
              <a:t>AI </a:t>
            </a:r>
            <a:r>
              <a:rPr lang="zh-CN" altLang="en-US" sz="1050" b="1" dirty="0"/>
              <a:t>分析预测 → 自动采取行动 → 异常升级人工</a:t>
            </a:r>
            <a:endParaRPr lang="en-US" altLang="zh-CN" sz="1050" b="1" dirty="0"/>
          </a:p>
          <a:p>
            <a:r>
              <a:rPr lang="zh-CN" altLang="en-US" sz="1000" dirty="0"/>
              <a:t>通过数据、</a:t>
            </a:r>
            <a:r>
              <a:rPr lang="en-US" altLang="zh-CN" sz="1000" dirty="0"/>
              <a:t>AI</a:t>
            </a:r>
            <a:r>
              <a:rPr lang="zh-CN" altLang="en-US" sz="1000" dirty="0"/>
              <a:t>、自动化流程和智能决策系统，让企业能够持续感知业务变化、自动分析判断并执行运营动作，减少人工干预和层层审批。</a:t>
            </a:r>
            <a:endParaRPr lang="en-US" altLang="zh-CN" sz="1000" dirty="0"/>
          </a:p>
          <a:p>
            <a:endParaRPr lang="en-US" altLang="zh-CN" sz="800" b="1" dirty="0"/>
          </a:p>
          <a:p>
            <a:r>
              <a:rPr lang="zh-CN" altLang="en-US" sz="700" b="1" dirty="0"/>
              <a:t>**主要特点**</a:t>
            </a:r>
            <a:endParaRPr lang="en-US" altLang="zh-CN" sz="700" b="1" dirty="0"/>
          </a:p>
          <a:p>
            <a:pPr marL="228600" indent="-228600">
              <a:buAutoNum type="arabicPeriod"/>
            </a:pPr>
            <a:r>
              <a:rPr lang="en-US" altLang="zh-CN" sz="700" dirty="0"/>
              <a:t>AI </a:t>
            </a:r>
            <a:r>
              <a:rPr lang="zh-CN" altLang="en-US" sz="700" dirty="0"/>
              <a:t>智能体端到端执行业务流程：</a:t>
            </a:r>
            <a:r>
              <a:rPr lang="en-US" altLang="zh-CN" sz="700" dirty="0"/>
              <a:t>AI </a:t>
            </a:r>
            <a:r>
              <a:rPr lang="zh-CN" altLang="en-US" sz="700" dirty="0"/>
              <a:t>不再只是辅助工具，而是能自主完成从发起到收尾的完整流程。</a:t>
            </a:r>
            <a:r>
              <a:rPr lang="en-US" altLang="zh-CN" sz="700" dirty="0"/>
              <a:t>SAP </a:t>
            </a:r>
            <a:r>
              <a:rPr lang="zh-CN" altLang="en-US" sz="700" dirty="0"/>
              <a:t>的 </a:t>
            </a:r>
            <a:r>
              <a:rPr lang="en-US" altLang="zh-CN" sz="700" dirty="0"/>
              <a:t>Autonomous Suite </a:t>
            </a:r>
            <a:r>
              <a:rPr lang="zh-CN" altLang="en-US" sz="700" dirty="0"/>
              <a:t>部署 个领域 </a:t>
            </a:r>
            <a:r>
              <a:rPr lang="en-US" altLang="zh-CN" sz="700" dirty="0"/>
              <a:t>Joule </a:t>
            </a:r>
            <a:r>
              <a:rPr lang="zh-CN" altLang="en-US" sz="700" dirty="0"/>
              <a:t>业务助手，编排 </a:t>
            </a:r>
            <a:r>
              <a:rPr lang="en-US" altLang="zh-CN" sz="700" dirty="0"/>
              <a:t>200+ </a:t>
            </a:r>
            <a:r>
              <a:rPr lang="zh-CN" altLang="en-US" sz="700" dirty="0"/>
              <a:t>个专业智能体执行任务</a:t>
            </a:r>
          </a:p>
          <a:p>
            <a:pPr marL="228600" indent="-228600">
              <a:buAutoNum type="arabicPeriod"/>
            </a:pPr>
            <a:r>
              <a:rPr lang="zh-CN" altLang="en-US" sz="700" dirty="0"/>
              <a:t>业务目标驱动的人机交互：员工只需描述想要的业务结果（通过 </a:t>
            </a:r>
            <a:r>
              <a:rPr lang="en-US" altLang="zh-CN" sz="700" dirty="0"/>
              <a:t>Joule Work</a:t>
            </a:r>
            <a:r>
              <a:rPr lang="zh-CN" altLang="en-US" sz="700" dirty="0"/>
              <a:t>），系统自动协调工作流、数据和智能体去完成，无需在多个应用间切换录入</a:t>
            </a:r>
          </a:p>
          <a:p>
            <a:pPr marL="228600" indent="-228600">
              <a:buAutoNum type="arabicPeriod"/>
            </a:pPr>
            <a:r>
              <a:rPr lang="zh-CN" altLang="en-US" sz="700" dirty="0"/>
              <a:t>统一的业务上下文底座：依赖统一数据语义层（</a:t>
            </a:r>
            <a:r>
              <a:rPr lang="en-US" altLang="zh-CN" sz="700" dirty="0"/>
              <a:t>Business Data Cloud</a:t>
            </a:r>
            <a:r>
              <a:rPr lang="zh-CN" altLang="en-US" sz="700" dirty="0"/>
              <a:t>）和知识图谱（</a:t>
            </a:r>
            <a:r>
              <a:rPr lang="en-US" altLang="zh-CN" sz="700" dirty="0"/>
              <a:t>Knowledge Graph</a:t>
            </a:r>
            <a:r>
              <a:rPr lang="zh-CN" altLang="en-US" sz="700" dirty="0"/>
              <a:t>），让 </a:t>
            </a:r>
            <a:r>
              <a:rPr lang="en-US" altLang="zh-CN" sz="700" dirty="0"/>
              <a:t>AI </a:t>
            </a:r>
            <a:r>
              <a:rPr lang="zh-CN" altLang="en-US" sz="700" dirty="0"/>
              <a:t>理解业务实体、流程和关系，而不是游离于核心系统之外</a:t>
            </a:r>
          </a:p>
          <a:p>
            <a:pPr marL="228600" indent="-228600">
              <a:buAutoNum type="arabicPeriod"/>
            </a:pPr>
            <a:r>
              <a:rPr lang="zh-CN" altLang="en-US" sz="700" dirty="0"/>
              <a:t>治理内建、人机协同：智能体主动识别异常、分析根因并触发处理，但在关键节点引入人工审核；全流程可控、可审计、可追溯</a:t>
            </a:r>
          </a:p>
          <a:p>
            <a:pPr marL="228600" indent="-228600">
              <a:buAutoNum type="arabicPeriod"/>
            </a:pPr>
            <a:r>
              <a:rPr lang="zh-CN" altLang="en-US" sz="700" dirty="0"/>
              <a:t>行业深度：通过 </a:t>
            </a:r>
            <a:r>
              <a:rPr lang="en-US" altLang="zh-CN" sz="700" dirty="0"/>
              <a:t>Industry AI </a:t>
            </a:r>
            <a:r>
              <a:rPr lang="zh-CN" altLang="en-US" sz="700" dirty="0"/>
              <a:t>将通用能力下沉到行业特定的流程逻辑、数据模型</a:t>
            </a:r>
          </a:p>
          <a:p>
            <a:pPr marL="228600" indent="-228600">
              <a:buAutoNum type="arabicPeriod"/>
            </a:pPr>
            <a:r>
              <a:rPr lang="zh-CN" altLang="en-US" sz="700" dirty="0"/>
              <a:t>商业模式转变：从</a:t>
            </a:r>
            <a:r>
              <a:rPr lang="en-US" altLang="zh-CN" sz="700" dirty="0"/>
              <a:t>"</a:t>
            </a:r>
            <a:r>
              <a:rPr lang="zh-CN" altLang="en-US" sz="700" dirty="0"/>
              <a:t>卖席位</a:t>
            </a:r>
            <a:r>
              <a:rPr lang="en-US" altLang="zh-CN" sz="700" dirty="0"/>
              <a:t>"</a:t>
            </a:r>
            <a:r>
              <a:rPr lang="zh-CN" altLang="en-US" sz="700" dirty="0"/>
              <a:t>（按用户数收费）转向</a:t>
            </a:r>
            <a:r>
              <a:rPr lang="en-US" altLang="zh-CN" sz="700" dirty="0"/>
              <a:t>"</a:t>
            </a:r>
            <a:r>
              <a:rPr lang="zh-CN" altLang="en-US" sz="700" dirty="0"/>
              <a:t>卖结果</a:t>
            </a:r>
            <a:r>
              <a:rPr lang="en-US" altLang="zh-CN" sz="700" dirty="0"/>
              <a:t>"</a:t>
            </a:r>
            <a:r>
              <a:rPr lang="zh-CN" altLang="en-US" sz="700" dirty="0"/>
              <a:t>（按效果和价值计费）</a:t>
            </a:r>
            <a:endParaRPr lang="en-US" altLang="zh-CN" sz="700" dirty="0"/>
          </a:p>
          <a:p>
            <a:endParaRPr lang="zh-CN" altLang="en-US" sz="800" dirty="0"/>
          </a:p>
          <a:p>
            <a:r>
              <a:rPr lang="en-US" altLang="zh-CN" sz="800" b="1" dirty="0"/>
              <a:t>**SAP</a:t>
            </a:r>
            <a:r>
              <a:rPr lang="zh-CN" altLang="en-US" sz="800" b="1" dirty="0"/>
              <a:t>智能企业案例** </a:t>
            </a:r>
            <a:endParaRPr lang="en-US" altLang="zh-CN" sz="800" b="1" dirty="0"/>
          </a:p>
          <a:p>
            <a:pPr marL="228600" indent="-228600">
              <a:buFont typeface="+mj-ea"/>
              <a:buAutoNum type="circleNumDbPlain"/>
            </a:pPr>
            <a:r>
              <a:rPr lang="zh-CN" altLang="en-US" sz="700" dirty="0"/>
              <a:t>某制造企业的关键物料库存低于预测安全库存：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en-US" altLang="zh-CN" sz="700" dirty="0"/>
              <a:t>SAP Cloud ERP </a:t>
            </a:r>
            <a:r>
              <a:rPr lang="zh-CN" altLang="en-US" sz="700" dirty="0"/>
              <a:t>读取库存、未清订单和生产计划；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en-US" altLang="zh-CN" sz="700" dirty="0"/>
              <a:t>Business Data Cloud </a:t>
            </a:r>
            <a:r>
              <a:rPr lang="zh-CN" altLang="en-US" sz="700" dirty="0"/>
              <a:t>汇聚供应商交付、价格和历史需求数据；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en-US" altLang="zh-CN" sz="700" dirty="0"/>
              <a:t>AI </a:t>
            </a:r>
            <a:r>
              <a:rPr lang="zh-CN" altLang="en-US" sz="700" dirty="0"/>
              <a:t>预测未来两周存在缺料风险；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en-US" altLang="zh-CN" sz="700" dirty="0"/>
              <a:t>Joule </a:t>
            </a:r>
            <a:r>
              <a:rPr lang="zh-CN" altLang="en-US" sz="700" dirty="0"/>
              <a:t>向计划员解释风险原因；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zh-CN" altLang="en-US" sz="700" dirty="0"/>
              <a:t>系统推荐供应商、采购数量和交付日期；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zh-CN" altLang="en-US" sz="700" dirty="0"/>
              <a:t>符合授权规则时自动创建采购订单；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zh-CN" altLang="en-US" sz="700" dirty="0"/>
              <a:t>供应商延期后，系统重新计算生产计划；</a:t>
            </a:r>
            <a:endParaRPr lang="en-US" altLang="zh-CN" sz="700" dirty="0"/>
          </a:p>
          <a:p>
            <a:pPr marL="228600" indent="-228600">
              <a:buFont typeface="+mj-ea"/>
              <a:buAutoNum type="circleNumDbPlain"/>
            </a:pPr>
            <a:r>
              <a:rPr lang="zh-CN" altLang="en-US" sz="700" dirty="0"/>
              <a:t>只有超出权限或涉及重大影响的事项才交由人工处理。</a:t>
            </a:r>
            <a:endParaRPr lang="en-US" altLang="zh-CN" sz="700" dirty="0"/>
          </a:p>
          <a:p>
            <a:endParaRPr lang="en-US" altLang="zh-CN" sz="800" dirty="0"/>
          </a:p>
          <a:p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企业竞争的壁垒不在于体，而在于数据、流程与业务知识是否已经为智能体做好准备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先夯实数据底座、打通流程断点，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AI 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才能从外围工具变成业务运营的内生能力。</a:t>
            </a:r>
            <a:r>
              <a:rPr lang="en-US" altLang="zh-CN" sz="800" dirty="0">
                <a:latin typeface="楷体" panose="02010609060101010101" pitchFamily="49" charset="-122"/>
                <a:ea typeface="楷体" panose="02010609060101010101" pitchFamily="49" charset="-122"/>
              </a:rPr>
              <a:t> ---SAP </a:t>
            </a:r>
            <a:r>
              <a:rPr lang="zh-CN" altLang="en-US" sz="800" dirty="0">
                <a:latin typeface="楷体" panose="02010609060101010101" pitchFamily="49" charset="-122"/>
                <a:ea typeface="楷体" panose="02010609060101010101" pitchFamily="49" charset="-122"/>
              </a:rPr>
              <a:t>大中华区总裁原欣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5555F2-E121-D58A-1828-EB35E885D3BB}"/>
              </a:ext>
            </a:extLst>
          </p:cNvPr>
          <p:cNvSpPr txBox="1"/>
          <p:nvPr/>
        </p:nvSpPr>
        <p:spPr>
          <a:xfrm>
            <a:off x="160020" y="121232"/>
            <a:ext cx="7185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未来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AI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应用场景将围绕企业价值链的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AI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自主化展开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1DABAB-8870-85A8-69A5-FE6E0714C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2598475"/>
            <a:ext cx="6163590" cy="38834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1CB764-DF58-084B-6EB5-78C68D904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00" y="694431"/>
            <a:ext cx="5513029" cy="2455668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5223F6BE-5F28-70B5-DAF5-7E7A5EC9FAC6}"/>
              </a:ext>
            </a:extLst>
          </p:cNvPr>
          <p:cNvSpPr/>
          <p:nvPr/>
        </p:nvSpPr>
        <p:spPr>
          <a:xfrm flipH="1">
            <a:off x="5939069" y="1672286"/>
            <a:ext cx="478435" cy="24997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DFE532-4D0F-8482-FEB4-243D93429154}"/>
              </a:ext>
            </a:extLst>
          </p:cNvPr>
          <p:cNvSpPr txBox="1"/>
          <p:nvPr/>
        </p:nvSpPr>
        <p:spPr>
          <a:xfrm>
            <a:off x="8635426" y="386654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AI</a:t>
            </a:r>
            <a:r>
              <a:rPr lang="zh-CN" altLang="en-US" sz="1400" dirty="0"/>
              <a:t>自主运营型企业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B9E55C0-4DB1-9F55-6BA9-C9333A381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115" y="675229"/>
            <a:ext cx="2837383" cy="208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9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F449F3-A4C4-1053-8E31-18591D35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99" y="0"/>
            <a:ext cx="10018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9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EBD20E0-E012-5704-D2B8-B0993758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20"/>
            <a:ext cx="12192000" cy="658636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7110941-DA6D-2293-065C-2D1716313877}"/>
              </a:ext>
            </a:extLst>
          </p:cNvPr>
          <p:cNvSpPr/>
          <p:nvPr/>
        </p:nvSpPr>
        <p:spPr>
          <a:xfrm>
            <a:off x="2411260" y="5166986"/>
            <a:ext cx="1647173" cy="494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1DEDEF-FA78-DCD6-000A-9EEB6367B5CD}"/>
              </a:ext>
            </a:extLst>
          </p:cNvPr>
          <p:cNvSpPr/>
          <p:nvPr/>
        </p:nvSpPr>
        <p:spPr>
          <a:xfrm>
            <a:off x="4110621" y="5166986"/>
            <a:ext cx="1488513" cy="494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3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61D4DA4-CBBE-B25E-35F8-76BFB18A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80" y="0"/>
            <a:ext cx="10685207" cy="4211389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09DD6D4-FD98-1CC0-C252-6405F249D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997471"/>
              </p:ext>
            </p:extLst>
          </p:nvPr>
        </p:nvGraphicFramePr>
        <p:xfrm>
          <a:off x="438411" y="3556279"/>
          <a:ext cx="11221105" cy="322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51">
                  <a:extLst>
                    <a:ext uri="{9D8B030D-6E8A-4147-A177-3AD203B41FA5}">
                      <a16:colId xmlns:a16="http://schemas.microsoft.com/office/drawing/2014/main" val="541662272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1858142625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2091224499"/>
                    </a:ext>
                  </a:extLst>
                </a:gridCol>
                <a:gridCol w="2109929">
                  <a:extLst>
                    <a:ext uri="{9D8B030D-6E8A-4147-A177-3AD203B41FA5}">
                      <a16:colId xmlns:a16="http://schemas.microsoft.com/office/drawing/2014/main" val="988416858"/>
                    </a:ext>
                  </a:extLst>
                </a:gridCol>
                <a:gridCol w="3047155">
                  <a:extLst>
                    <a:ext uri="{9D8B030D-6E8A-4147-A177-3AD203B41FA5}">
                      <a16:colId xmlns:a16="http://schemas.microsoft.com/office/drawing/2014/main" val="1899532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bg1"/>
                          </a:solidFill>
                        </a:rPr>
                        <a:t>组件名称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核心定位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核心功能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bg1"/>
                          </a:solidFill>
                        </a:rPr>
                        <a:t>典型产出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bg1"/>
                          </a:solidFill>
                        </a:rPr>
                        <a:t>与其他组件的协作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2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CN" sz="1000">
                          <a:latin typeface="+mn-ea"/>
                          <a:ea typeface="+mn-ea"/>
                        </a:rPr>
                        <a:t>SAP Datasphere	</a:t>
                      </a:r>
                      <a:endParaRPr lang="zh-CN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数据整合与语义建模中枢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多源数据接入（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SAP /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非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SAP /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云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本地）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数据清洗、协调与标准化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语义增强（定义事实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维度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层级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业务规则）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数据治理与安全管控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统一的语义化数据产品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SAP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预定义分析模型（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SAP-delivered Analytic Models</a:t>
                      </a:r>
                      <a:r>
                        <a:rPr lang="zh-CN" altLang="de-DE" sz="1000" dirty="0">
                          <a:latin typeface="+mn-ea"/>
                          <a:ea typeface="+mn-ea"/>
                        </a:rPr>
                        <a:t>）</a:t>
                      </a:r>
                    </a:p>
                    <a:p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客户自定义分析模型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为 </a:t>
                      </a:r>
                      <a:r>
                        <a:rPr lang="de-DE" altLang="zh-CN" sz="1000">
                          <a:latin typeface="+mn-ea"/>
                          <a:ea typeface="+mn-ea"/>
                        </a:rPr>
                        <a:t>Databricks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提供可信的输入数据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为 </a:t>
                      </a:r>
                      <a:r>
                        <a:rPr lang="de-DE" altLang="zh-CN" sz="1000">
                          <a:latin typeface="+mn-ea"/>
                          <a:ea typeface="+mn-ea"/>
                        </a:rPr>
                        <a:t>Intelligent Applications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提供底层分析模型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向 </a:t>
                      </a:r>
                      <a:r>
                        <a:rPr lang="de-DE" altLang="zh-CN" sz="1000">
                          <a:latin typeface="+mn-ea"/>
                          <a:ea typeface="+mn-ea"/>
                        </a:rPr>
                        <a:t>SAC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同步语义模型，支撑可视化分析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91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CN" sz="1000">
                          <a:latin typeface="+mn-ea"/>
                          <a:ea typeface="+mn-ea"/>
                        </a:rPr>
                        <a:t>SAP Databricks	</a:t>
                      </a:r>
                      <a:endParaRPr lang="zh-CN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AI/ML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与大规模计算引擎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分布式数据处理与特征工程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机器学习模型训练与超参数优化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AI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模型部署与推理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Delta Lake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存储与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Delta Share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数据共享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训练完成的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AI/ML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模型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聚类、预测等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AI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分析结果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特征库与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Delta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共享数据集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从 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Datasphere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获取标准化数据产品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将 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结果回流到 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Datasphere</a:t>
                      </a:r>
                      <a:r>
                        <a:rPr lang="zh-CN" altLang="de-DE" sz="10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丰富分析模型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为 </a:t>
                      </a:r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Intelligent Applications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提供算法能力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75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CN" sz="1000" dirty="0">
                          <a:latin typeface="+mn-ea"/>
                          <a:ea typeface="+mn-ea"/>
                        </a:rPr>
                        <a:t>Intelligent Applications</a:t>
                      </a:r>
                    </a:p>
                    <a:p>
                      <a:r>
                        <a:rPr lang="zh-CN" altLang="de-DE" sz="1000" dirty="0">
                          <a:latin typeface="+mn-ea"/>
                          <a:ea typeface="+mn-ea"/>
                        </a:rPr>
                        <a:t>（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智能应用）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场景化业务解决方案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整合分析模型、业务逻辑与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能力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自动化业务规则与预警机制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端到端业务流程闭环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SAP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预定义智能应用（如供应链控制塔、财务预测）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客户自定义智能应用（如专属风控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预警）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基于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Datasphere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的分析模型构建业务逻辑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调用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Databricks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的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模型实现预测能力</a:t>
                      </a:r>
                    </a:p>
                    <a:p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通过 </a:t>
                      </a:r>
                      <a:r>
                        <a:rPr lang="en-US" altLang="zh-CN" sz="1000" dirty="0">
                          <a:latin typeface="+mn-ea"/>
                          <a:ea typeface="+mn-ea"/>
                        </a:rPr>
                        <a:t>SAC </a:t>
                      </a:r>
                      <a:r>
                        <a:rPr lang="zh-CN" altLang="en-US" sz="1000" dirty="0">
                          <a:latin typeface="+mn-ea"/>
                          <a:ea typeface="+mn-ea"/>
                        </a:rPr>
                        <a:t>向业务用户展示结果与交互界面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315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altLang="zh-CN" sz="1000">
                          <a:latin typeface="+mn-ea"/>
                          <a:ea typeface="+mn-ea"/>
                        </a:rPr>
                        <a:t>SAP Analytics Cloud</a:t>
                      </a:r>
                      <a:r>
                        <a:rPr lang="zh-CN" altLang="de-DE" sz="1000">
                          <a:latin typeface="+mn-ea"/>
                          <a:ea typeface="+mn-ea"/>
                        </a:rPr>
                        <a:t>（</a:t>
                      </a:r>
                      <a:r>
                        <a:rPr lang="de-DE" altLang="zh-CN" sz="1000">
                          <a:latin typeface="+mn-ea"/>
                          <a:ea typeface="+mn-ea"/>
                        </a:rPr>
                        <a:t>SAC</a:t>
                      </a:r>
                      <a:r>
                        <a:rPr lang="zh-CN" altLang="de-DE" sz="1000"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latin typeface="+mn-ea"/>
                          <a:ea typeface="+mn-ea"/>
                        </a:rPr>
                        <a:t>可视化分析与决策入口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基于语义模型的自助式报表 </a:t>
                      </a:r>
                      <a:r>
                        <a:rPr lang="en-US" altLang="zh-CN" sz="1000"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仪表盘（</a:t>
                      </a:r>
                      <a:r>
                        <a:rPr lang="en-US" altLang="zh-CN" sz="1000">
                          <a:latin typeface="+mn-ea"/>
                          <a:ea typeface="+mn-ea"/>
                        </a:rPr>
                        <a:t>Story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）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计划、预算与预测（</a:t>
                      </a:r>
                      <a:r>
                        <a:rPr lang="en-US" altLang="zh-CN" sz="1000">
                          <a:latin typeface="+mn-ea"/>
                          <a:ea typeface="+mn-ea"/>
                        </a:rPr>
                        <a:t>Planning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）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自然语言查询与洞察生成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1.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实时业务监控仪表盘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2.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预测分析报表</a:t>
                      </a:r>
                    </a:p>
                    <a:p>
                      <a:r>
                        <a:rPr lang="en-US" altLang="zh-CN" sz="1000">
                          <a:latin typeface="+mn-ea"/>
                          <a:ea typeface="+mn-ea"/>
                        </a:rPr>
                        <a:t>3. </a:t>
                      </a:r>
                      <a:r>
                        <a:rPr lang="zh-CN" altLang="en-US" sz="1000">
                          <a:latin typeface="+mn-ea"/>
                          <a:ea typeface="+mn-ea"/>
                        </a:rPr>
                        <a:t>业务计划与预算模型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-144000" algn="l" defTabSz="914400" rtl="0" eaLnBrk="1" latinLnBrk="0" hangingPunct="1">
                        <a:buAutoNum type="arabicPeriod"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直接连接 </a:t>
                      </a:r>
                      <a:r>
                        <a:rPr lang="de-DE" altLang="zh-CN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Datasphere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的语义模型，确保数据口径一致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44000" algn="l" defTabSz="914400" rtl="0" eaLnBrk="1" latinLnBrk="0" hangingPunct="1">
                        <a:buAutoNum type="arabicPeriod"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可视化展示 </a:t>
                      </a:r>
                      <a:r>
                        <a:rPr lang="de-DE" altLang="zh-CN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Intelligent Applications 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的业务结果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-144000" algn="l" defTabSz="914400" rtl="0" eaLnBrk="1" latinLnBrk="0" hangingPunct="1">
                        <a:buAutoNum type="arabicPeriod"/>
                      </a:pP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将分析结果回写到 </a:t>
                      </a:r>
                      <a:r>
                        <a:rPr lang="de-DE" altLang="zh-CN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Datasphere</a:t>
                      </a:r>
                      <a:r>
                        <a:rPr lang="zh-CN" altLang="de-DE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供其他系统复用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594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51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3"/>
          <p:cNvSpPr txBox="1"/>
          <p:nvPr>
            <p:custDataLst>
              <p:tags r:id="rId2"/>
            </p:custDataLst>
          </p:nvPr>
        </p:nvSpPr>
        <p:spPr>
          <a:xfrm>
            <a:off x="422273" y="187488"/>
            <a:ext cx="7044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汇聚多数据源，构建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数据中台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，提供智能化的业务语义</a:t>
            </a:r>
          </a:p>
        </p:txBody>
      </p:sp>
      <p:sp>
        <p:nvSpPr>
          <p:cNvPr id="63" name="矩形: 圆角 25"/>
          <p:cNvSpPr/>
          <p:nvPr>
            <p:custDataLst>
              <p:tags r:id="rId3"/>
            </p:custDataLst>
          </p:nvPr>
        </p:nvSpPr>
        <p:spPr>
          <a:xfrm>
            <a:off x="422275" y="1726757"/>
            <a:ext cx="1392555" cy="3194052"/>
          </a:xfrm>
          <a:prstGeom prst="roundRect">
            <a:avLst>
              <a:gd name="adj" fmla="val 6839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数据中台</a:t>
            </a:r>
          </a:p>
        </p:txBody>
      </p:sp>
      <p:sp>
        <p:nvSpPr>
          <p:cNvPr id="64" name="矩形: 圆角 5"/>
          <p:cNvSpPr/>
          <p:nvPr>
            <p:custDataLst>
              <p:tags r:id="rId4"/>
            </p:custDataLst>
          </p:nvPr>
        </p:nvSpPr>
        <p:spPr>
          <a:xfrm>
            <a:off x="2003969" y="1726757"/>
            <a:ext cx="7678650" cy="3194052"/>
          </a:xfrm>
          <a:prstGeom prst="roundRect">
            <a:avLst>
              <a:gd name="adj" fmla="val 4765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5" name="矩形: 圆角 25"/>
          <p:cNvSpPr/>
          <p:nvPr>
            <p:custDataLst>
              <p:tags r:id="rId5"/>
            </p:custDataLst>
          </p:nvPr>
        </p:nvSpPr>
        <p:spPr>
          <a:xfrm>
            <a:off x="422274" y="742314"/>
            <a:ext cx="1392555" cy="668202"/>
          </a:xfrm>
          <a:prstGeom prst="roundRect">
            <a:avLst>
              <a:gd name="adj" fmla="val 6839"/>
            </a:avLst>
          </a:prstGeom>
          <a:solidFill>
            <a:srgbClr val="002C8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数据消费</a:t>
            </a:r>
          </a:p>
        </p:txBody>
      </p:sp>
      <p:sp>
        <p:nvSpPr>
          <p:cNvPr id="66" name="矩形: 圆角 25"/>
          <p:cNvSpPr/>
          <p:nvPr>
            <p:custDataLst>
              <p:tags r:id="rId6"/>
            </p:custDataLst>
          </p:nvPr>
        </p:nvSpPr>
        <p:spPr>
          <a:xfrm>
            <a:off x="1990473" y="742314"/>
            <a:ext cx="9710672" cy="668202"/>
          </a:xfrm>
          <a:prstGeom prst="roundRect">
            <a:avLst>
              <a:gd name="adj" fmla="val 6839"/>
            </a:avLst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73" name="圆角矩形 48"/>
          <p:cNvSpPr/>
          <p:nvPr>
            <p:custDataLst>
              <p:tags r:id="rId7"/>
            </p:custDataLst>
          </p:nvPr>
        </p:nvSpPr>
        <p:spPr>
          <a:xfrm>
            <a:off x="2114550" y="4021455"/>
            <a:ext cx="7480935" cy="797175"/>
          </a:xfrm>
          <a:prstGeom prst="roundRect">
            <a:avLst>
              <a:gd name="adj" fmla="val 5454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数据汇聚与联接</a:t>
            </a:r>
          </a:p>
        </p:txBody>
      </p:sp>
      <p:sp>
        <p:nvSpPr>
          <p:cNvPr id="74" name="圆角矩形 48"/>
          <p:cNvSpPr/>
          <p:nvPr>
            <p:custDataLst>
              <p:tags r:id="rId8"/>
            </p:custDataLst>
          </p:nvPr>
        </p:nvSpPr>
        <p:spPr>
          <a:xfrm>
            <a:off x="2114550" y="2159622"/>
            <a:ext cx="7470140" cy="902208"/>
          </a:xfrm>
          <a:prstGeom prst="roundRect">
            <a:avLst>
              <a:gd name="adj" fmla="val 9235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指标体系及机器学习</a:t>
            </a:r>
          </a:p>
        </p:txBody>
      </p:sp>
      <p:sp>
        <p:nvSpPr>
          <p:cNvPr id="75" name="圆角矩形 48"/>
          <p:cNvSpPr/>
          <p:nvPr>
            <p:custDataLst>
              <p:tags r:id="rId9"/>
            </p:custDataLst>
          </p:nvPr>
        </p:nvSpPr>
        <p:spPr>
          <a:xfrm>
            <a:off x="2114550" y="1841500"/>
            <a:ext cx="7470140" cy="25200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数据应用及标准化封装</a:t>
            </a:r>
          </a:p>
        </p:txBody>
      </p:sp>
      <p:sp>
        <p:nvSpPr>
          <p:cNvPr id="76" name="圆角矩形 48"/>
          <p:cNvSpPr/>
          <p:nvPr>
            <p:custDataLst>
              <p:tags r:id="rId10"/>
            </p:custDataLst>
          </p:nvPr>
        </p:nvSpPr>
        <p:spPr>
          <a:xfrm>
            <a:off x="4771447" y="4308471"/>
            <a:ext cx="1805940" cy="455295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流程图: 过程 73"/>
          <p:cNvSpPr/>
          <p:nvPr>
            <p:custDataLst>
              <p:tags r:id="rId11"/>
            </p:custDataLst>
          </p:nvPr>
        </p:nvSpPr>
        <p:spPr>
          <a:xfrm>
            <a:off x="5582977" y="4517517"/>
            <a:ext cx="777875" cy="229869"/>
          </a:xfrm>
          <a:prstGeom prst="flowChartProcess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数据标签化</a:t>
            </a:r>
          </a:p>
        </p:txBody>
      </p:sp>
      <p:sp>
        <p:nvSpPr>
          <p:cNvPr id="78" name="矩形 77"/>
          <p:cNvSpPr/>
          <p:nvPr>
            <p:custDataLst>
              <p:tags r:id="rId12"/>
            </p:custDataLst>
          </p:nvPr>
        </p:nvSpPr>
        <p:spPr>
          <a:xfrm>
            <a:off x="5593137" y="4314624"/>
            <a:ext cx="77787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数据规范化</a:t>
            </a:r>
          </a:p>
        </p:txBody>
      </p:sp>
      <p:sp>
        <p:nvSpPr>
          <p:cNvPr id="79" name="圆角矩形 48"/>
          <p:cNvSpPr/>
          <p:nvPr>
            <p:custDataLst>
              <p:tags r:id="rId13"/>
            </p:custDataLst>
          </p:nvPr>
        </p:nvSpPr>
        <p:spPr>
          <a:xfrm>
            <a:off x="7106342" y="4308471"/>
            <a:ext cx="2361508" cy="455295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流程图: 过程 78"/>
          <p:cNvSpPr/>
          <p:nvPr>
            <p:custDataLst>
              <p:tags r:id="rId14"/>
            </p:custDataLst>
          </p:nvPr>
        </p:nvSpPr>
        <p:spPr>
          <a:xfrm>
            <a:off x="7953432" y="4524072"/>
            <a:ext cx="659765" cy="229869"/>
          </a:xfrm>
          <a:prstGeom prst="flowChartProcess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字典完善</a:t>
            </a:r>
          </a:p>
        </p:txBody>
      </p:sp>
      <p:sp>
        <p:nvSpPr>
          <p:cNvPr id="81" name="流程图: 过程 79"/>
          <p:cNvSpPr/>
          <p:nvPr>
            <p:custDataLst>
              <p:tags r:id="rId15"/>
            </p:custDataLst>
          </p:nvPr>
        </p:nvSpPr>
        <p:spPr>
          <a:xfrm>
            <a:off x="8597957" y="4524072"/>
            <a:ext cx="659765" cy="229869"/>
          </a:xfrm>
          <a:prstGeom prst="flowChartProcess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数据汇总</a:t>
            </a:r>
          </a:p>
        </p:txBody>
      </p:sp>
      <p:sp>
        <p:nvSpPr>
          <p:cNvPr id="82" name="矩形 81"/>
          <p:cNvSpPr/>
          <p:nvPr>
            <p:custDataLst>
              <p:tags r:id="rId16"/>
            </p:custDataLst>
          </p:nvPr>
        </p:nvSpPr>
        <p:spPr>
          <a:xfrm>
            <a:off x="7837227" y="4308274"/>
            <a:ext cx="87820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数据关联</a:t>
            </a:r>
          </a:p>
        </p:txBody>
      </p:sp>
      <p:sp>
        <p:nvSpPr>
          <p:cNvPr id="83" name="矩形 82"/>
          <p:cNvSpPr/>
          <p:nvPr>
            <p:custDataLst>
              <p:tags r:id="rId17"/>
            </p:custDataLst>
          </p:nvPr>
        </p:nvSpPr>
        <p:spPr>
          <a:xfrm>
            <a:off x="8586527" y="4313887"/>
            <a:ext cx="65976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数据备份</a:t>
            </a:r>
          </a:p>
        </p:txBody>
      </p:sp>
      <p:sp>
        <p:nvSpPr>
          <p:cNvPr id="84" name="矩形 83"/>
          <p:cNvSpPr/>
          <p:nvPr>
            <p:custDataLst>
              <p:tags r:id="rId18"/>
            </p:custDataLst>
          </p:nvPr>
        </p:nvSpPr>
        <p:spPr>
          <a:xfrm>
            <a:off x="4834312" y="4402030"/>
            <a:ext cx="81153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数据清洗</a:t>
            </a:r>
          </a:p>
        </p:txBody>
      </p:sp>
      <p:sp>
        <p:nvSpPr>
          <p:cNvPr id="85" name="矩形 84"/>
          <p:cNvSpPr/>
          <p:nvPr>
            <p:custDataLst>
              <p:tags r:id="rId19"/>
            </p:custDataLst>
          </p:nvPr>
        </p:nvSpPr>
        <p:spPr>
          <a:xfrm>
            <a:off x="7163492" y="4395680"/>
            <a:ext cx="87757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数据融合</a:t>
            </a:r>
          </a:p>
        </p:txBody>
      </p:sp>
      <p:sp>
        <p:nvSpPr>
          <p:cNvPr id="86" name="箭头: 右 74"/>
          <p:cNvSpPr/>
          <p:nvPr>
            <p:custDataLst>
              <p:tags r:id="rId20"/>
            </p:custDataLst>
          </p:nvPr>
        </p:nvSpPr>
        <p:spPr>
          <a:xfrm>
            <a:off x="4214121" y="4363114"/>
            <a:ext cx="338731" cy="335280"/>
          </a:xfrm>
          <a:custGeom>
            <a:avLst/>
            <a:gdLst>
              <a:gd name="connsiteX0" fmla="*/ 0 w 956316"/>
              <a:gd name="connsiteY0" fmla="*/ 188654 h 754615"/>
              <a:gd name="connsiteX1" fmla="*/ 579009 w 956316"/>
              <a:gd name="connsiteY1" fmla="*/ 188654 h 754615"/>
              <a:gd name="connsiteX2" fmla="*/ 579009 w 956316"/>
              <a:gd name="connsiteY2" fmla="*/ 0 h 754615"/>
              <a:gd name="connsiteX3" fmla="*/ 956316 w 956316"/>
              <a:gd name="connsiteY3" fmla="*/ 377308 h 754615"/>
              <a:gd name="connsiteX4" fmla="*/ 579009 w 956316"/>
              <a:gd name="connsiteY4" fmla="*/ 754615 h 754615"/>
              <a:gd name="connsiteX5" fmla="*/ 579009 w 956316"/>
              <a:gd name="connsiteY5" fmla="*/ 565961 h 754615"/>
              <a:gd name="connsiteX6" fmla="*/ 0 w 956316"/>
              <a:gd name="connsiteY6" fmla="*/ 565961 h 754615"/>
              <a:gd name="connsiteX7" fmla="*/ 0 w 956316"/>
              <a:gd name="connsiteY7" fmla="*/ 188654 h 754615"/>
              <a:gd name="connsiteX0-1" fmla="*/ 0 w 956316"/>
              <a:gd name="connsiteY0-2" fmla="*/ 0 h 819180"/>
              <a:gd name="connsiteX1-3" fmla="*/ 579009 w 956316"/>
              <a:gd name="connsiteY1-4" fmla="*/ 253219 h 819180"/>
              <a:gd name="connsiteX2-5" fmla="*/ 579009 w 956316"/>
              <a:gd name="connsiteY2-6" fmla="*/ 64565 h 819180"/>
              <a:gd name="connsiteX3-7" fmla="*/ 956316 w 956316"/>
              <a:gd name="connsiteY3-8" fmla="*/ 441873 h 819180"/>
              <a:gd name="connsiteX4-9" fmla="*/ 579009 w 956316"/>
              <a:gd name="connsiteY4-10" fmla="*/ 819180 h 819180"/>
              <a:gd name="connsiteX5-11" fmla="*/ 579009 w 956316"/>
              <a:gd name="connsiteY5-12" fmla="*/ 630526 h 819180"/>
              <a:gd name="connsiteX6-13" fmla="*/ 0 w 956316"/>
              <a:gd name="connsiteY6-14" fmla="*/ 630526 h 819180"/>
              <a:gd name="connsiteX7-15" fmla="*/ 0 w 956316"/>
              <a:gd name="connsiteY7-16" fmla="*/ 0 h 819180"/>
              <a:gd name="connsiteX0-17" fmla="*/ 0 w 956316"/>
              <a:gd name="connsiteY0-18" fmla="*/ 0 h 869677"/>
              <a:gd name="connsiteX1-19" fmla="*/ 579009 w 956316"/>
              <a:gd name="connsiteY1-20" fmla="*/ 253219 h 869677"/>
              <a:gd name="connsiteX2-21" fmla="*/ 579009 w 956316"/>
              <a:gd name="connsiteY2-22" fmla="*/ 64565 h 869677"/>
              <a:gd name="connsiteX3-23" fmla="*/ 956316 w 956316"/>
              <a:gd name="connsiteY3-24" fmla="*/ 441873 h 869677"/>
              <a:gd name="connsiteX4-25" fmla="*/ 579009 w 956316"/>
              <a:gd name="connsiteY4-26" fmla="*/ 819180 h 869677"/>
              <a:gd name="connsiteX5-27" fmla="*/ 579009 w 956316"/>
              <a:gd name="connsiteY5-28" fmla="*/ 630526 h 869677"/>
              <a:gd name="connsiteX6-29" fmla="*/ 14068 w 956316"/>
              <a:gd name="connsiteY6-30" fmla="*/ 869677 h 869677"/>
              <a:gd name="connsiteX7-31" fmla="*/ 0 w 956316"/>
              <a:gd name="connsiteY7-32" fmla="*/ 0 h 869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956316" h="869677">
                <a:moveTo>
                  <a:pt x="0" y="0"/>
                </a:moveTo>
                <a:lnTo>
                  <a:pt x="579009" y="253219"/>
                </a:lnTo>
                <a:lnTo>
                  <a:pt x="579009" y="64565"/>
                </a:lnTo>
                <a:lnTo>
                  <a:pt x="956316" y="441873"/>
                </a:lnTo>
                <a:lnTo>
                  <a:pt x="579009" y="819180"/>
                </a:lnTo>
                <a:lnTo>
                  <a:pt x="579009" y="630526"/>
                </a:lnTo>
                <a:lnTo>
                  <a:pt x="14068" y="8696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FEF8F5">
                  <a:alpha val="0"/>
                </a:srgbClr>
              </a:gs>
              <a:gs pos="19000">
                <a:srgbClr val="00B0F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7" name="箭头: 右 74"/>
          <p:cNvSpPr/>
          <p:nvPr>
            <p:custDataLst>
              <p:tags r:id="rId21"/>
            </p:custDataLst>
          </p:nvPr>
        </p:nvSpPr>
        <p:spPr>
          <a:xfrm>
            <a:off x="6655194" y="4337681"/>
            <a:ext cx="307937" cy="335280"/>
          </a:xfrm>
          <a:custGeom>
            <a:avLst/>
            <a:gdLst>
              <a:gd name="connsiteX0" fmla="*/ 0 w 956316"/>
              <a:gd name="connsiteY0" fmla="*/ 188654 h 754615"/>
              <a:gd name="connsiteX1" fmla="*/ 579009 w 956316"/>
              <a:gd name="connsiteY1" fmla="*/ 188654 h 754615"/>
              <a:gd name="connsiteX2" fmla="*/ 579009 w 956316"/>
              <a:gd name="connsiteY2" fmla="*/ 0 h 754615"/>
              <a:gd name="connsiteX3" fmla="*/ 956316 w 956316"/>
              <a:gd name="connsiteY3" fmla="*/ 377308 h 754615"/>
              <a:gd name="connsiteX4" fmla="*/ 579009 w 956316"/>
              <a:gd name="connsiteY4" fmla="*/ 754615 h 754615"/>
              <a:gd name="connsiteX5" fmla="*/ 579009 w 956316"/>
              <a:gd name="connsiteY5" fmla="*/ 565961 h 754615"/>
              <a:gd name="connsiteX6" fmla="*/ 0 w 956316"/>
              <a:gd name="connsiteY6" fmla="*/ 565961 h 754615"/>
              <a:gd name="connsiteX7" fmla="*/ 0 w 956316"/>
              <a:gd name="connsiteY7" fmla="*/ 188654 h 754615"/>
              <a:gd name="connsiteX0-1" fmla="*/ 0 w 956316"/>
              <a:gd name="connsiteY0-2" fmla="*/ 0 h 819180"/>
              <a:gd name="connsiteX1-3" fmla="*/ 579009 w 956316"/>
              <a:gd name="connsiteY1-4" fmla="*/ 253219 h 819180"/>
              <a:gd name="connsiteX2-5" fmla="*/ 579009 w 956316"/>
              <a:gd name="connsiteY2-6" fmla="*/ 64565 h 819180"/>
              <a:gd name="connsiteX3-7" fmla="*/ 956316 w 956316"/>
              <a:gd name="connsiteY3-8" fmla="*/ 441873 h 819180"/>
              <a:gd name="connsiteX4-9" fmla="*/ 579009 w 956316"/>
              <a:gd name="connsiteY4-10" fmla="*/ 819180 h 819180"/>
              <a:gd name="connsiteX5-11" fmla="*/ 579009 w 956316"/>
              <a:gd name="connsiteY5-12" fmla="*/ 630526 h 819180"/>
              <a:gd name="connsiteX6-13" fmla="*/ 0 w 956316"/>
              <a:gd name="connsiteY6-14" fmla="*/ 630526 h 819180"/>
              <a:gd name="connsiteX7-15" fmla="*/ 0 w 956316"/>
              <a:gd name="connsiteY7-16" fmla="*/ 0 h 819180"/>
              <a:gd name="connsiteX0-17" fmla="*/ 0 w 956316"/>
              <a:gd name="connsiteY0-18" fmla="*/ 0 h 869677"/>
              <a:gd name="connsiteX1-19" fmla="*/ 579009 w 956316"/>
              <a:gd name="connsiteY1-20" fmla="*/ 253219 h 869677"/>
              <a:gd name="connsiteX2-21" fmla="*/ 579009 w 956316"/>
              <a:gd name="connsiteY2-22" fmla="*/ 64565 h 869677"/>
              <a:gd name="connsiteX3-23" fmla="*/ 956316 w 956316"/>
              <a:gd name="connsiteY3-24" fmla="*/ 441873 h 869677"/>
              <a:gd name="connsiteX4-25" fmla="*/ 579009 w 956316"/>
              <a:gd name="connsiteY4-26" fmla="*/ 819180 h 869677"/>
              <a:gd name="connsiteX5-27" fmla="*/ 579009 w 956316"/>
              <a:gd name="connsiteY5-28" fmla="*/ 630526 h 869677"/>
              <a:gd name="connsiteX6-29" fmla="*/ 14068 w 956316"/>
              <a:gd name="connsiteY6-30" fmla="*/ 869677 h 869677"/>
              <a:gd name="connsiteX7-31" fmla="*/ 0 w 956316"/>
              <a:gd name="connsiteY7-32" fmla="*/ 0 h 869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956316" h="869677">
                <a:moveTo>
                  <a:pt x="0" y="0"/>
                </a:moveTo>
                <a:lnTo>
                  <a:pt x="579009" y="253219"/>
                </a:lnTo>
                <a:lnTo>
                  <a:pt x="579009" y="64565"/>
                </a:lnTo>
                <a:lnTo>
                  <a:pt x="956316" y="441873"/>
                </a:lnTo>
                <a:lnTo>
                  <a:pt x="579009" y="819180"/>
                </a:lnTo>
                <a:lnTo>
                  <a:pt x="579009" y="630526"/>
                </a:lnTo>
                <a:lnTo>
                  <a:pt x="14068" y="8696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FEF8F5">
                  <a:alpha val="0"/>
                </a:srgbClr>
              </a:gs>
              <a:gs pos="19000">
                <a:srgbClr val="00B0F0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圆角矩形 48"/>
          <p:cNvSpPr/>
          <p:nvPr>
            <p:custDataLst>
              <p:tags r:id="rId22"/>
            </p:custDataLst>
          </p:nvPr>
        </p:nvSpPr>
        <p:spPr>
          <a:xfrm>
            <a:off x="2198369" y="4308471"/>
            <a:ext cx="1733053" cy="455295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流程图: 过程 89"/>
          <p:cNvSpPr/>
          <p:nvPr>
            <p:custDataLst>
              <p:tags r:id="rId23"/>
            </p:custDataLst>
          </p:nvPr>
        </p:nvSpPr>
        <p:spPr>
          <a:xfrm>
            <a:off x="3005593" y="4516554"/>
            <a:ext cx="891985" cy="230832"/>
          </a:xfrm>
          <a:prstGeom prst="flowChartProcess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非结构化数据</a:t>
            </a:r>
          </a:p>
        </p:txBody>
      </p:sp>
      <p:sp>
        <p:nvSpPr>
          <p:cNvPr id="90" name="矩形 89"/>
          <p:cNvSpPr/>
          <p:nvPr>
            <p:custDataLst>
              <p:tags r:id="rId24"/>
            </p:custDataLst>
          </p:nvPr>
        </p:nvSpPr>
        <p:spPr>
          <a:xfrm>
            <a:off x="2234703" y="4402030"/>
            <a:ext cx="77787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数据存储</a:t>
            </a:r>
          </a:p>
        </p:txBody>
      </p:sp>
      <p:sp>
        <p:nvSpPr>
          <p:cNvPr id="91" name="矩形 90"/>
          <p:cNvSpPr/>
          <p:nvPr>
            <p:custDataLst>
              <p:tags r:id="rId25"/>
            </p:custDataLst>
          </p:nvPr>
        </p:nvSpPr>
        <p:spPr>
          <a:xfrm>
            <a:off x="2995795" y="4314624"/>
            <a:ext cx="777875" cy="22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结构化数据</a:t>
            </a:r>
          </a:p>
        </p:txBody>
      </p:sp>
      <p:sp>
        <p:nvSpPr>
          <p:cNvPr id="92" name="圆角矩形 48"/>
          <p:cNvSpPr/>
          <p:nvPr>
            <p:custDataLst>
              <p:tags r:id="rId26"/>
            </p:custDataLst>
          </p:nvPr>
        </p:nvSpPr>
        <p:spPr>
          <a:xfrm>
            <a:off x="2237136" y="3427458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营销管理</a:t>
            </a:r>
          </a:p>
        </p:txBody>
      </p:sp>
      <p:sp>
        <p:nvSpPr>
          <p:cNvPr id="93" name="圆角矩形 48"/>
          <p:cNvSpPr/>
          <p:nvPr>
            <p:custDataLst>
              <p:tags r:id="rId27"/>
            </p:custDataLst>
          </p:nvPr>
        </p:nvSpPr>
        <p:spPr>
          <a:xfrm>
            <a:off x="3725251" y="3686055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财务管理</a:t>
            </a:r>
          </a:p>
        </p:txBody>
      </p:sp>
      <p:sp>
        <p:nvSpPr>
          <p:cNvPr id="94" name="圆角矩形 48"/>
          <p:cNvSpPr/>
          <p:nvPr>
            <p:custDataLst>
              <p:tags r:id="rId28"/>
            </p:custDataLst>
          </p:nvPr>
        </p:nvSpPr>
        <p:spPr>
          <a:xfrm>
            <a:off x="5213366" y="3427458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生产制造</a:t>
            </a:r>
          </a:p>
        </p:txBody>
      </p:sp>
      <p:sp>
        <p:nvSpPr>
          <p:cNvPr id="96" name="圆角矩形 48"/>
          <p:cNvSpPr/>
          <p:nvPr>
            <p:custDataLst>
              <p:tags r:id="rId29"/>
            </p:custDataLst>
          </p:nvPr>
        </p:nvSpPr>
        <p:spPr>
          <a:xfrm>
            <a:off x="8131459" y="893163"/>
            <a:ext cx="1374078" cy="366504"/>
          </a:xfrm>
          <a:prstGeom prst="round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精益制造</a:t>
            </a:r>
          </a:p>
        </p:txBody>
      </p:sp>
      <p:sp>
        <p:nvSpPr>
          <p:cNvPr id="97" name="圆角矩形 44"/>
          <p:cNvSpPr/>
          <p:nvPr>
            <p:custDataLst>
              <p:tags r:id="rId30"/>
            </p:custDataLst>
          </p:nvPr>
        </p:nvSpPr>
        <p:spPr>
          <a:xfrm>
            <a:off x="1990725" y="5275580"/>
            <a:ext cx="7691894" cy="1211580"/>
          </a:xfrm>
          <a:prstGeom prst="roundRect">
            <a:avLst>
              <a:gd name="adj" fmla="val 3424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文本框 128"/>
          <p:cNvSpPr txBox="1"/>
          <p:nvPr>
            <p:custDataLst>
              <p:tags r:id="rId31"/>
            </p:custDataLst>
          </p:nvPr>
        </p:nvSpPr>
        <p:spPr>
          <a:xfrm>
            <a:off x="4561374" y="5330856"/>
            <a:ext cx="646331" cy="784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销售订单</a:t>
            </a:r>
          </a:p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生产订单</a:t>
            </a:r>
          </a:p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应收应付</a:t>
            </a:r>
          </a:p>
          <a:p>
            <a:pPr algn="ctr">
              <a:defRPr/>
            </a:pPr>
            <a:r>
              <a:rPr lang="en-US" altLang="zh-CN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  <p:sp>
        <p:nvSpPr>
          <p:cNvPr id="164" name="文本框 129"/>
          <p:cNvSpPr txBox="1"/>
          <p:nvPr>
            <p:custDataLst>
              <p:tags r:id="rId32"/>
            </p:custDataLst>
          </p:nvPr>
        </p:nvSpPr>
        <p:spPr>
          <a:xfrm>
            <a:off x="2547297" y="5327778"/>
            <a:ext cx="761747" cy="784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物料数据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供应商数据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客户数据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资产主数据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  <p:sp>
        <p:nvSpPr>
          <p:cNvPr id="165" name="文本框 130"/>
          <p:cNvSpPr txBox="1"/>
          <p:nvPr>
            <p:custDataLst>
              <p:tags r:id="rId33"/>
            </p:custDataLst>
          </p:nvPr>
        </p:nvSpPr>
        <p:spPr>
          <a:xfrm>
            <a:off x="6382250" y="5327778"/>
            <a:ext cx="1015021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 anchor="t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企业上下游数据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企业对标数据</a:t>
            </a: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外部参考数据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</a:p>
        </p:txBody>
      </p:sp>
      <p:cxnSp>
        <p:nvCxnSpPr>
          <p:cNvPr id="167" name="直接连接符 145"/>
          <p:cNvCxnSpPr/>
          <p:nvPr>
            <p:custDataLst>
              <p:tags r:id="rId34"/>
            </p:custDataLst>
          </p:nvPr>
        </p:nvCxnSpPr>
        <p:spPr>
          <a:xfrm>
            <a:off x="3896317" y="5371672"/>
            <a:ext cx="0" cy="825500"/>
          </a:xfrm>
          <a:prstGeom prst="line">
            <a:avLst/>
          </a:prstGeom>
          <a:ln w="12700" cmpd="sng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47"/>
          <p:cNvCxnSpPr/>
          <p:nvPr>
            <p:custDataLst>
              <p:tags r:id="rId35"/>
            </p:custDataLst>
          </p:nvPr>
        </p:nvCxnSpPr>
        <p:spPr>
          <a:xfrm>
            <a:off x="5767428" y="5371672"/>
            <a:ext cx="0" cy="825500"/>
          </a:xfrm>
          <a:prstGeom prst="line">
            <a:avLst/>
          </a:prstGeom>
          <a:ln w="12700" cmpd="sng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: 圆角 26"/>
          <p:cNvSpPr/>
          <p:nvPr>
            <p:custDataLst>
              <p:tags r:id="rId36"/>
            </p:custDataLst>
          </p:nvPr>
        </p:nvSpPr>
        <p:spPr>
          <a:xfrm>
            <a:off x="422273" y="5237050"/>
            <a:ext cx="1392555" cy="1211580"/>
          </a:xfrm>
          <a:prstGeom prst="roundRect">
            <a:avLst>
              <a:gd name="adj" fmla="val 5243"/>
            </a:avLst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5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源数据</a:t>
            </a:r>
          </a:p>
        </p:txBody>
      </p:sp>
      <p:sp>
        <p:nvSpPr>
          <p:cNvPr id="171" name="圆角矩形 48"/>
          <p:cNvSpPr/>
          <p:nvPr>
            <p:custDataLst>
              <p:tags r:id="rId37"/>
            </p:custDataLst>
          </p:nvPr>
        </p:nvSpPr>
        <p:spPr>
          <a:xfrm>
            <a:off x="6701481" y="3427458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供应链管理</a:t>
            </a:r>
          </a:p>
        </p:txBody>
      </p:sp>
      <p:sp>
        <p:nvSpPr>
          <p:cNvPr id="172" name="圆角矩形 48"/>
          <p:cNvSpPr/>
          <p:nvPr>
            <p:custDataLst>
              <p:tags r:id="rId38"/>
            </p:custDataLst>
          </p:nvPr>
        </p:nvSpPr>
        <p:spPr>
          <a:xfrm>
            <a:off x="3731030" y="3427457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产品研发</a:t>
            </a:r>
          </a:p>
        </p:txBody>
      </p:sp>
      <p:sp>
        <p:nvSpPr>
          <p:cNvPr id="173" name="圆角矩形 48"/>
          <p:cNvSpPr/>
          <p:nvPr>
            <p:custDataLst>
              <p:tags r:id="rId39"/>
            </p:custDataLst>
          </p:nvPr>
        </p:nvSpPr>
        <p:spPr>
          <a:xfrm>
            <a:off x="5213366" y="3686055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成本控制</a:t>
            </a:r>
          </a:p>
        </p:txBody>
      </p:sp>
      <p:sp>
        <p:nvSpPr>
          <p:cNvPr id="174" name="圆角矩形 48"/>
          <p:cNvSpPr/>
          <p:nvPr>
            <p:custDataLst>
              <p:tags r:id="rId40"/>
            </p:custDataLst>
          </p:nvPr>
        </p:nvSpPr>
        <p:spPr>
          <a:xfrm>
            <a:off x="6701481" y="3686055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设备管理</a:t>
            </a:r>
          </a:p>
        </p:txBody>
      </p:sp>
      <p:sp>
        <p:nvSpPr>
          <p:cNvPr id="175" name="圆角矩形 48"/>
          <p:cNvSpPr/>
          <p:nvPr>
            <p:custDataLst>
              <p:tags r:id="rId41"/>
            </p:custDataLst>
          </p:nvPr>
        </p:nvSpPr>
        <p:spPr>
          <a:xfrm>
            <a:off x="8189595" y="3686055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HSE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8" name="上箭头 71"/>
          <p:cNvSpPr/>
          <p:nvPr>
            <p:custDataLst>
              <p:tags r:id="rId42"/>
            </p:custDataLst>
          </p:nvPr>
        </p:nvSpPr>
        <p:spPr>
          <a:xfrm>
            <a:off x="5613507" y="1418553"/>
            <a:ext cx="290556" cy="288000"/>
          </a:xfrm>
          <a:prstGeom prst="upArrow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3" name="TextBox 76"/>
          <p:cNvSpPr txBox="1"/>
          <p:nvPr>
            <p:custDataLst>
              <p:tags r:id="rId43"/>
            </p:custDataLst>
          </p:nvPr>
        </p:nvSpPr>
        <p:spPr>
          <a:xfrm>
            <a:off x="4050913" y="4951722"/>
            <a:ext cx="14668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离线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实时数据</a:t>
            </a:r>
          </a:p>
        </p:txBody>
      </p:sp>
      <p:sp>
        <p:nvSpPr>
          <p:cNvPr id="186" name="圆角矩形 48"/>
          <p:cNvSpPr/>
          <p:nvPr>
            <p:custDataLst>
              <p:tags r:id="rId44"/>
            </p:custDataLst>
          </p:nvPr>
        </p:nvSpPr>
        <p:spPr>
          <a:xfrm>
            <a:off x="2351173" y="893163"/>
            <a:ext cx="1374078" cy="366504"/>
          </a:xfrm>
          <a:prstGeom prst="round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精准营销</a:t>
            </a:r>
          </a:p>
        </p:txBody>
      </p:sp>
      <p:sp>
        <p:nvSpPr>
          <p:cNvPr id="187" name="圆角矩形 48"/>
          <p:cNvSpPr/>
          <p:nvPr>
            <p:custDataLst>
              <p:tags r:id="rId45"/>
            </p:custDataLst>
          </p:nvPr>
        </p:nvSpPr>
        <p:spPr>
          <a:xfrm>
            <a:off x="6204697" y="893163"/>
            <a:ext cx="1374078" cy="366504"/>
          </a:xfrm>
          <a:prstGeom prst="round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保供降本</a:t>
            </a:r>
          </a:p>
        </p:txBody>
      </p:sp>
      <p:sp>
        <p:nvSpPr>
          <p:cNvPr id="188" name="圆角矩形 48"/>
          <p:cNvSpPr/>
          <p:nvPr>
            <p:custDataLst>
              <p:tags r:id="rId46"/>
            </p:custDataLst>
          </p:nvPr>
        </p:nvSpPr>
        <p:spPr>
          <a:xfrm>
            <a:off x="10058220" y="893163"/>
            <a:ext cx="1374078" cy="36650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洞察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预测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模拟</a:t>
            </a:r>
          </a:p>
        </p:txBody>
      </p:sp>
      <p:sp>
        <p:nvSpPr>
          <p:cNvPr id="189" name="圆角矩形 48"/>
          <p:cNvSpPr/>
          <p:nvPr>
            <p:custDataLst>
              <p:tags r:id="rId47"/>
            </p:custDataLst>
          </p:nvPr>
        </p:nvSpPr>
        <p:spPr>
          <a:xfrm>
            <a:off x="5956567" y="2462669"/>
            <a:ext cx="3529029" cy="578485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0" name="矩形 189"/>
          <p:cNvSpPr/>
          <p:nvPr>
            <p:custDataLst>
              <p:tags r:id="rId48"/>
            </p:custDataLst>
          </p:nvPr>
        </p:nvSpPr>
        <p:spPr>
          <a:xfrm>
            <a:off x="5933610" y="2662956"/>
            <a:ext cx="91016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ML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机器学习</a:t>
            </a:r>
          </a:p>
        </p:txBody>
      </p:sp>
      <p:sp>
        <p:nvSpPr>
          <p:cNvPr id="191" name="圆角矩形 48"/>
          <p:cNvSpPr/>
          <p:nvPr>
            <p:custDataLst>
              <p:tags r:id="rId49"/>
            </p:custDataLst>
          </p:nvPr>
        </p:nvSpPr>
        <p:spPr>
          <a:xfrm>
            <a:off x="2277775" y="2466213"/>
            <a:ext cx="3489653" cy="578485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3" name="圆角矩形 48"/>
          <p:cNvSpPr/>
          <p:nvPr>
            <p:custDataLst>
              <p:tags r:id="rId50"/>
            </p:custDataLst>
          </p:nvPr>
        </p:nvSpPr>
        <p:spPr>
          <a:xfrm>
            <a:off x="4277935" y="893163"/>
            <a:ext cx="1374078" cy="366504"/>
          </a:xfrm>
          <a:prstGeom prst="roundRect">
            <a:avLst/>
          </a:prstGeom>
          <a:solidFill>
            <a:srgbClr val="00B0F0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准时交付</a:t>
            </a:r>
          </a:p>
        </p:txBody>
      </p:sp>
      <p:sp>
        <p:nvSpPr>
          <p:cNvPr id="195" name="圆角矩形 48"/>
          <p:cNvSpPr/>
          <p:nvPr>
            <p:custDataLst>
              <p:tags r:id="rId51"/>
            </p:custDataLst>
          </p:nvPr>
        </p:nvSpPr>
        <p:spPr>
          <a:xfrm>
            <a:off x="6852237" y="2778372"/>
            <a:ext cx="789849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人群画像</a:t>
            </a:r>
          </a:p>
        </p:txBody>
      </p:sp>
      <p:sp>
        <p:nvSpPr>
          <p:cNvPr id="196" name="圆角矩形 48"/>
          <p:cNvSpPr/>
          <p:nvPr>
            <p:custDataLst>
              <p:tags r:id="rId52"/>
            </p:custDataLst>
          </p:nvPr>
        </p:nvSpPr>
        <p:spPr>
          <a:xfrm>
            <a:off x="7704511" y="2778372"/>
            <a:ext cx="78985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精准营销</a:t>
            </a:r>
          </a:p>
        </p:txBody>
      </p:sp>
      <p:sp>
        <p:nvSpPr>
          <p:cNvPr id="197" name="圆角矩形 48"/>
          <p:cNvSpPr/>
          <p:nvPr>
            <p:custDataLst>
              <p:tags r:id="rId53"/>
            </p:custDataLst>
          </p:nvPr>
        </p:nvSpPr>
        <p:spPr>
          <a:xfrm>
            <a:off x="8523389" y="2778372"/>
            <a:ext cx="78985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企业画像</a:t>
            </a:r>
          </a:p>
        </p:txBody>
      </p:sp>
      <p:sp>
        <p:nvSpPr>
          <p:cNvPr id="198" name="圆角矩形 48"/>
          <p:cNvSpPr/>
          <p:nvPr>
            <p:custDataLst>
              <p:tags r:id="rId54"/>
            </p:custDataLst>
          </p:nvPr>
        </p:nvSpPr>
        <p:spPr>
          <a:xfrm>
            <a:off x="2880051" y="2778372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客户流失指标</a:t>
            </a:r>
          </a:p>
        </p:txBody>
      </p:sp>
      <p:sp>
        <p:nvSpPr>
          <p:cNvPr id="199" name="圆角矩形 48"/>
          <p:cNvSpPr/>
          <p:nvPr>
            <p:custDataLst>
              <p:tags r:id="rId55"/>
            </p:custDataLst>
          </p:nvPr>
        </p:nvSpPr>
        <p:spPr>
          <a:xfrm>
            <a:off x="3843589" y="2778372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研发周期</a:t>
            </a:r>
          </a:p>
        </p:txBody>
      </p:sp>
      <p:sp>
        <p:nvSpPr>
          <p:cNvPr id="200" name="圆角矩形 48"/>
          <p:cNvSpPr/>
          <p:nvPr>
            <p:custDataLst>
              <p:tags r:id="rId56"/>
            </p:custDataLst>
          </p:nvPr>
        </p:nvSpPr>
        <p:spPr>
          <a:xfrm>
            <a:off x="4809705" y="2778372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毛利率</a:t>
            </a:r>
          </a:p>
        </p:txBody>
      </p:sp>
      <p:sp>
        <p:nvSpPr>
          <p:cNvPr id="201" name="圆角矩形 48"/>
          <p:cNvSpPr/>
          <p:nvPr>
            <p:custDataLst>
              <p:tags r:id="rId57"/>
            </p:custDataLst>
          </p:nvPr>
        </p:nvSpPr>
        <p:spPr>
          <a:xfrm>
            <a:off x="3840319" y="2519196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交期达成率</a:t>
            </a:r>
          </a:p>
        </p:txBody>
      </p:sp>
      <p:sp>
        <p:nvSpPr>
          <p:cNvPr id="202" name="圆角矩形 48"/>
          <p:cNvSpPr/>
          <p:nvPr>
            <p:custDataLst>
              <p:tags r:id="rId58"/>
            </p:custDataLst>
          </p:nvPr>
        </p:nvSpPr>
        <p:spPr>
          <a:xfrm>
            <a:off x="4800507" y="2519196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存货周转率</a:t>
            </a:r>
          </a:p>
        </p:txBody>
      </p:sp>
      <p:sp>
        <p:nvSpPr>
          <p:cNvPr id="203" name="圆角矩形 48"/>
          <p:cNvSpPr/>
          <p:nvPr>
            <p:custDataLst>
              <p:tags r:id="rId59"/>
            </p:custDataLst>
          </p:nvPr>
        </p:nvSpPr>
        <p:spPr>
          <a:xfrm>
            <a:off x="6850030" y="2519196"/>
            <a:ext cx="78985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流失预警</a:t>
            </a:r>
          </a:p>
        </p:txBody>
      </p:sp>
      <p:sp>
        <p:nvSpPr>
          <p:cNvPr id="204" name="圆角矩形 48"/>
          <p:cNvSpPr/>
          <p:nvPr>
            <p:custDataLst>
              <p:tags r:id="rId60"/>
            </p:custDataLst>
          </p:nvPr>
        </p:nvSpPr>
        <p:spPr>
          <a:xfrm>
            <a:off x="7689997" y="2519196"/>
            <a:ext cx="78985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价值分群</a:t>
            </a:r>
          </a:p>
        </p:txBody>
      </p:sp>
      <p:sp>
        <p:nvSpPr>
          <p:cNvPr id="205" name="圆角矩形 48"/>
          <p:cNvSpPr/>
          <p:nvPr>
            <p:custDataLst>
              <p:tags r:id="rId61"/>
            </p:custDataLst>
          </p:nvPr>
        </p:nvSpPr>
        <p:spPr>
          <a:xfrm>
            <a:off x="8189595" y="3427458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采购管理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9" name="圆角矩形 48"/>
          <p:cNvSpPr/>
          <p:nvPr>
            <p:custDataLst>
              <p:tags r:id="rId62"/>
            </p:custDataLst>
          </p:nvPr>
        </p:nvSpPr>
        <p:spPr>
          <a:xfrm>
            <a:off x="8528063" y="2519196"/>
            <a:ext cx="78985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收入预测</a:t>
            </a:r>
          </a:p>
        </p:txBody>
      </p:sp>
      <p:sp>
        <p:nvSpPr>
          <p:cNvPr id="104" name="圆角矩形 48"/>
          <p:cNvSpPr/>
          <p:nvPr>
            <p:custDataLst>
              <p:tags r:id="rId63"/>
            </p:custDataLst>
          </p:nvPr>
        </p:nvSpPr>
        <p:spPr>
          <a:xfrm>
            <a:off x="2878867" y="2519196"/>
            <a:ext cx="902387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销售收入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184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指标</a:t>
            </a:r>
          </a:p>
        </p:txBody>
      </p:sp>
      <p:sp>
        <p:nvSpPr>
          <p:cNvPr id="3" name="文本框 131">
            <a:extLst>
              <a:ext uri="{FF2B5EF4-FFF2-40B4-BE49-F238E27FC236}">
                <a16:creationId xmlns:a16="http://schemas.microsoft.com/office/drawing/2014/main" id="{9D4BC19B-C3B9-2349-EA6F-A553853867B9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8399013" y="5356528"/>
            <a:ext cx="87716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 anchor="t">
            <a:spAutoFit/>
          </a:bodyPr>
          <a:lstStyle/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defRPr/>
            </a:pPr>
            <a:r>
              <a:rPr lang="en-US" altLang="zh-CN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900" dirty="0">
              <a:solidFill>
                <a:srgbClr val="00184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148">
            <a:extLst>
              <a:ext uri="{FF2B5EF4-FFF2-40B4-BE49-F238E27FC236}">
                <a16:creationId xmlns:a16="http://schemas.microsoft.com/office/drawing/2014/main" id="{542B3B73-AC89-F5FB-A16D-87795CBF6250}"/>
              </a:ext>
            </a:extLst>
          </p:cNvPr>
          <p:cNvCxnSpPr/>
          <p:nvPr>
            <p:custDataLst>
              <p:tags r:id="rId65"/>
            </p:custDataLst>
          </p:nvPr>
        </p:nvCxnSpPr>
        <p:spPr>
          <a:xfrm>
            <a:off x="7823037" y="5371672"/>
            <a:ext cx="0" cy="825500"/>
          </a:xfrm>
          <a:prstGeom prst="line">
            <a:avLst/>
          </a:prstGeom>
          <a:ln w="12700" cmpd="sng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15247304-07AA-421C-79C2-34DD5F107F40}"/>
              </a:ext>
            </a:extLst>
          </p:cNvPr>
          <p:cNvSpPr/>
          <p:nvPr/>
        </p:nvSpPr>
        <p:spPr bwMode="gray">
          <a:xfrm>
            <a:off x="9848801" y="1719659"/>
            <a:ext cx="1883663" cy="47883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142CCE-8F5D-81EE-FC7A-5FA857CA0768}"/>
              </a:ext>
            </a:extLst>
          </p:cNvPr>
          <p:cNvSpPr txBox="1"/>
          <p:nvPr/>
        </p:nvSpPr>
        <p:spPr>
          <a:xfrm>
            <a:off x="10106316" y="1748676"/>
            <a:ext cx="156107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Arial Unicode MS" pitchFamily="34" charset="-128"/>
                <a:cs typeface="Arial Unicode MS" pitchFamily="34" charset="-128"/>
              </a:rPr>
              <a:t>数据治理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5ED087-0B32-7133-EEB1-3382FE02F156}"/>
              </a:ext>
            </a:extLst>
          </p:cNvPr>
          <p:cNvSpPr/>
          <p:nvPr/>
        </p:nvSpPr>
        <p:spPr bwMode="gray">
          <a:xfrm>
            <a:off x="9939403" y="2109131"/>
            <a:ext cx="1657512" cy="94775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accent1">
                <a:lumMod val="20000"/>
                <a:lumOff val="80000"/>
              </a:schemeClr>
            </a:solidFill>
            <a:miter lim="800000"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31A4E9-1D12-6746-EDC1-F749929E6E6B}"/>
              </a:ext>
            </a:extLst>
          </p:cNvPr>
          <p:cNvSpPr txBox="1"/>
          <p:nvPr/>
        </p:nvSpPr>
        <p:spPr>
          <a:xfrm>
            <a:off x="10387897" y="2496563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数据标准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A8923F-5D02-43A8-65E7-A04A11F5D0DB}"/>
              </a:ext>
            </a:extLst>
          </p:cNvPr>
          <p:cNvSpPr txBox="1"/>
          <p:nvPr/>
        </p:nvSpPr>
        <p:spPr>
          <a:xfrm>
            <a:off x="10054179" y="2235052"/>
            <a:ext cx="267703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数据架构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AE9898-EED7-0DAD-8B26-9C8B31CCE8A2}"/>
              </a:ext>
            </a:extLst>
          </p:cNvPr>
          <p:cNvSpPr txBox="1"/>
          <p:nvPr/>
        </p:nvSpPr>
        <p:spPr>
          <a:xfrm>
            <a:off x="10387897" y="2791301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zh-CN" altLang="en-US" sz="1050" dirty="0">
                <a:solidFill>
                  <a:prstClr val="black"/>
                </a:solidFill>
              </a:rPr>
              <a:t>主题域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125F60-E54A-1021-AA37-3CEEEB8C684B}"/>
              </a:ext>
            </a:extLst>
          </p:cNvPr>
          <p:cNvSpPr/>
          <p:nvPr/>
        </p:nvSpPr>
        <p:spPr bwMode="gray">
          <a:xfrm>
            <a:off x="9939403" y="3131507"/>
            <a:ext cx="1661884" cy="91270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accent1">
                <a:lumMod val="20000"/>
                <a:lumOff val="80000"/>
              </a:schemeClr>
            </a:solidFill>
            <a:miter lim="800000"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72AE99-0B83-A808-D55B-66E651996F8D}"/>
              </a:ext>
            </a:extLst>
          </p:cNvPr>
          <p:cNvSpPr txBox="1"/>
          <p:nvPr/>
        </p:nvSpPr>
        <p:spPr>
          <a:xfrm>
            <a:off x="10387897" y="3518563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业务指标监控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5B8BD2-5260-E9A2-6E1A-97A99DACF62B}"/>
              </a:ext>
            </a:extLst>
          </p:cNvPr>
          <p:cNvSpPr txBox="1"/>
          <p:nvPr/>
        </p:nvSpPr>
        <p:spPr>
          <a:xfrm>
            <a:off x="10054179" y="3260351"/>
            <a:ext cx="267703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数据质量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FBA5FF-90E4-4366-44E7-851303A6FA2C}"/>
              </a:ext>
            </a:extLst>
          </p:cNvPr>
          <p:cNvSpPr txBox="1"/>
          <p:nvPr/>
        </p:nvSpPr>
        <p:spPr>
          <a:xfrm>
            <a:off x="10387897" y="3813301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数据质量监控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F73D5C-057A-A3B6-645B-FE5C4CCEDD62}"/>
              </a:ext>
            </a:extLst>
          </p:cNvPr>
          <p:cNvSpPr/>
          <p:nvPr/>
        </p:nvSpPr>
        <p:spPr bwMode="gray">
          <a:xfrm>
            <a:off x="9939403" y="4128883"/>
            <a:ext cx="1673141" cy="136378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accent1">
                <a:lumMod val="20000"/>
                <a:lumOff val="80000"/>
              </a:schemeClr>
            </a:solidFill>
            <a:miter lim="800000"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AC0051-8FA8-5D63-213D-2873FEDE6811}"/>
              </a:ext>
            </a:extLst>
          </p:cNvPr>
          <p:cNvSpPr txBox="1"/>
          <p:nvPr/>
        </p:nvSpPr>
        <p:spPr>
          <a:xfrm>
            <a:off x="10387897" y="4461775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脚本开发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E51C2E0-E48E-EDEF-9D84-B75C627A1027}"/>
              </a:ext>
            </a:extLst>
          </p:cNvPr>
          <p:cNvSpPr txBox="1"/>
          <p:nvPr/>
        </p:nvSpPr>
        <p:spPr>
          <a:xfrm>
            <a:off x="10054179" y="4413803"/>
            <a:ext cx="267703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数据开发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B860EEE-EFFE-DCAF-9855-D3CA88FF026C}"/>
              </a:ext>
            </a:extLst>
          </p:cNvPr>
          <p:cNvSpPr txBox="1"/>
          <p:nvPr/>
        </p:nvSpPr>
        <p:spPr>
          <a:xfrm>
            <a:off x="10387897" y="4728330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作业开发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CC9E7C-0FF2-83CD-66CE-8104E4321416}"/>
              </a:ext>
            </a:extLst>
          </p:cNvPr>
          <p:cNvSpPr/>
          <p:nvPr/>
        </p:nvSpPr>
        <p:spPr bwMode="gray">
          <a:xfrm>
            <a:off x="9939403" y="5574082"/>
            <a:ext cx="1674410" cy="88769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algn="ctr">
            <a:solidFill>
              <a:schemeClr val="accent1">
                <a:lumMod val="20000"/>
                <a:lumOff val="80000"/>
              </a:schemeClr>
            </a:solidFill>
            <a:miter lim="800000"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74A2005-073B-5C26-B379-2520D5600A49}"/>
              </a:ext>
            </a:extLst>
          </p:cNvPr>
          <p:cNvSpPr txBox="1"/>
          <p:nvPr/>
        </p:nvSpPr>
        <p:spPr>
          <a:xfrm>
            <a:off x="10387897" y="5644359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zh-CN" altLang="en-US" sz="1050" dirty="0">
                <a:solidFill>
                  <a:prstClr val="black"/>
                </a:solidFill>
              </a:rPr>
              <a:t>数据权限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2E94D4B-A268-88EC-77BE-98AF278F4383}"/>
              </a:ext>
            </a:extLst>
          </p:cNvPr>
          <p:cNvSpPr txBox="1"/>
          <p:nvPr/>
        </p:nvSpPr>
        <p:spPr>
          <a:xfrm>
            <a:off x="10054179" y="5663484"/>
            <a:ext cx="267703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数据安全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76EE5BC-96BC-F941-62CA-205118B0EE57}"/>
              </a:ext>
            </a:extLst>
          </p:cNvPr>
          <p:cNvSpPr txBox="1"/>
          <p:nvPr/>
        </p:nvSpPr>
        <p:spPr>
          <a:xfrm>
            <a:off x="10387897" y="5939097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用户权限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1BE5EE9-3F81-56D5-C8BB-EB6E55C48947}"/>
              </a:ext>
            </a:extLst>
          </p:cNvPr>
          <p:cNvSpPr txBox="1"/>
          <p:nvPr/>
        </p:nvSpPr>
        <p:spPr>
          <a:xfrm>
            <a:off x="10387897" y="4994885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作业调度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0E168BE-C678-C923-7C8E-0D5C092E559A}"/>
              </a:ext>
            </a:extLst>
          </p:cNvPr>
          <p:cNvSpPr txBox="1"/>
          <p:nvPr/>
        </p:nvSpPr>
        <p:spPr>
          <a:xfrm>
            <a:off x="10387897" y="5261438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监控运维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E529CEB-D5CB-B1A5-5E12-CB6A8645391A}"/>
              </a:ext>
            </a:extLst>
          </p:cNvPr>
          <p:cNvSpPr txBox="1"/>
          <p:nvPr/>
        </p:nvSpPr>
        <p:spPr>
          <a:xfrm>
            <a:off x="10387897" y="4195220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数据集成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6158972-AA52-33CD-A775-1920E332A770}"/>
              </a:ext>
            </a:extLst>
          </p:cNvPr>
          <p:cNvSpPr txBox="1"/>
          <p:nvPr/>
        </p:nvSpPr>
        <p:spPr>
          <a:xfrm>
            <a:off x="10387897" y="6233837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网络安全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B7C5ADC-57F8-ECA6-6DE8-310B41442641}"/>
              </a:ext>
            </a:extLst>
          </p:cNvPr>
          <p:cNvSpPr txBox="1"/>
          <p:nvPr/>
        </p:nvSpPr>
        <p:spPr>
          <a:xfrm>
            <a:off x="10387897" y="2201825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数据资产目录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EAE4195-28A9-FBB1-9E1A-25B253C8DEC7}"/>
              </a:ext>
            </a:extLst>
          </p:cNvPr>
          <p:cNvSpPr txBox="1"/>
          <p:nvPr/>
        </p:nvSpPr>
        <p:spPr>
          <a:xfrm>
            <a:off x="10387897" y="3223825"/>
            <a:ext cx="1044000" cy="1615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defRPr sz="1600" kern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数据分布地图</a:t>
            </a:r>
          </a:p>
        </p:txBody>
      </p:sp>
      <p:sp>
        <p:nvSpPr>
          <p:cNvPr id="54" name="圆角矩形 48">
            <a:extLst>
              <a:ext uri="{FF2B5EF4-FFF2-40B4-BE49-F238E27FC236}">
                <a16:creationId xmlns:a16="http://schemas.microsoft.com/office/drawing/2014/main" id="{E5024955-DF93-493A-C96F-FEF8D45B70D4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2114550" y="3127952"/>
            <a:ext cx="7492637" cy="827380"/>
          </a:xfrm>
          <a:prstGeom prst="roundRect">
            <a:avLst>
              <a:gd name="adj" fmla="val 607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领域驱动的数据建模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9F954E8-C510-3918-A7A1-CE4F327C8431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2106199" y="2659928"/>
            <a:ext cx="91016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="1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</a:t>
            </a: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184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上箭头 71">
            <a:extLst>
              <a:ext uri="{FF2B5EF4-FFF2-40B4-BE49-F238E27FC236}">
                <a16:creationId xmlns:a16="http://schemas.microsoft.com/office/drawing/2014/main" id="{4ED511A0-D323-23DA-39D4-DF877779B465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5587379" y="4946309"/>
            <a:ext cx="290556" cy="288000"/>
          </a:xfrm>
          <a:prstGeom prst="upArrow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104"/>
          <p:cNvSpPr txBox="1"/>
          <p:nvPr>
            <p:custDataLst>
              <p:tags r:id="rId69"/>
            </p:custDataLst>
          </p:nvPr>
        </p:nvSpPr>
        <p:spPr>
          <a:xfrm>
            <a:off x="4353682" y="6168336"/>
            <a:ext cx="1080000" cy="252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1ED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业务数据</a:t>
            </a:r>
          </a:p>
        </p:txBody>
      </p:sp>
      <p:sp>
        <p:nvSpPr>
          <p:cNvPr id="99" name="文本框 105"/>
          <p:cNvSpPr txBox="1"/>
          <p:nvPr>
            <p:custDataLst>
              <p:tags r:id="rId70"/>
            </p:custDataLst>
          </p:nvPr>
        </p:nvSpPr>
        <p:spPr>
          <a:xfrm>
            <a:off x="2376769" y="6168336"/>
            <a:ext cx="1080000" cy="252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1ED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主数据</a:t>
            </a:r>
          </a:p>
        </p:txBody>
      </p:sp>
      <p:sp>
        <p:nvSpPr>
          <p:cNvPr id="100" name="文本框 106"/>
          <p:cNvSpPr txBox="1"/>
          <p:nvPr>
            <p:custDataLst>
              <p:tags r:id="rId71"/>
            </p:custDataLst>
          </p:nvPr>
        </p:nvSpPr>
        <p:spPr>
          <a:xfrm>
            <a:off x="6330595" y="6168336"/>
            <a:ext cx="1080000" cy="252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1ED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参考数据</a:t>
            </a:r>
          </a:p>
        </p:txBody>
      </p:sp>
      <p:sp>
        <p:nvSpPr>
          <p:cNvPr id="2" name="文本框 107">
            <a:extLst>
              <a:ext uri="{FF2B5EF4-FFF2-40B4-BE49-F238E27FC236}">
                <a16:creationId xmlns:a16="http://schemas.microsoft.com/office/drawing/2014/main" id="{E93BE2FE-9BA2-3C5E-D3C0-02595385E8D2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8307508" y="6168336"/>
            <a:ext cx="1080000" cy="252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1ED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管理体系</a:t>
            </a:r>
          </a:p>
        </p:txBody>
      </p:sp>
      <p:sp>
        <p:nvSpPr>
          <p:cNvPr id="60" name="圆角矩形 48">
            <a:extLst>
              <a:ext uri="{FF2B5EF4-FFF2-40B4-BE49-F238E27FC236}">
                <a16:creationId xmlns:a16="http://schemas.microsoft.com/office/drawing/2014/main" id="{1258BC18-61F6-35B8-66B1-AB8BA8A8E979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2237136" y="3686055"/>
            <a:ext cx="1296000" cy="227569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900" dirty="0">
                <a:solidFill>
                  <a:srgbClr val="0018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人力资源管理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542">
            <a:extLst>
              <a:ext uri="{FF2B5EF4-FFF2-40B4-BE49-F238E27FC236}">
                <a16:creationId xmlns:a16="http://schemas.microsoft.com/office/drawing/2014/main" id="{6A0AF2D0-3A25-F2E6-22BF-C3622882DF28}"/>
              </a:ext>
            </a:extLst>
          </p:cNvPr>
          <p:cNvGraphicFramePr>
            <a:graphicFrameLocks noGrp="1"/>
          </p:cNvGraphicFramePr>
          <p:nvPr/>
        </p:nvGraphicFramePr>
        <p:xfrm>
          <a:off x="2754630" y="3040894"/>
          <a:ext cx="6797039" cy="1392458"/>
        </p:xfrm>
        <a:graphic>
          <a:graphicData uri="http://schemas.openxmlformats.org/drawingml/2006/table">
            <a:tbl>
              <a:tblPr/>
              <a:tblGrid>
                <a:gridCol w="6797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945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</a:pPr>
                      <a:endParaRPr lang="en-US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>
                        <a:solidFill>
                          <a:schemeClr val="tx1"/>
                        </a:solidFill>
                      </a:endParaRPr>
                    </a:p>
                    <a:p>
                      <a:pPr marL="92710" algn="l" rtl="0" eaLnBrk="0">
                        <a:lnSpc>
                          <a:spcPct val="135000"/>
                        </a:lnSpc>
                      </a:pPr>
                      <a:r>
                        <a:rPr sz="1300" b="1" kern="0" spc="20" baseline="-20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产品主题</a:t>
                      </a:r>
                      <a:r>
                        <a:rPr sz="800" b="1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</a:t>
                      </a:r>
                      <a:r>
                        <a:rPr sz="1300" u="sng" kern="0" spc="2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产品销售</a:t>
                      </a:r>
                      <a:r>
                        <a:rPr sz="800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sz="8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</a:t>
                      </a:r>
                      <a:r>
                        <a:rPr sz="1300" u="sng" kern="0" spc="1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产品发货</a:t>
                      </a:r>
                      <a:r>
                        <a:rPr sz="8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</a:t>
                      </a:r>
                      <a:r>
                        <a:rPr sz="9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产品交付                        </a:t>
                      </a:r>
                      <a:r>
                        <a:rPr sz="1300" u="sng" kern="0" spc="1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产品核算</a:t>
                      </a:r>
                      <a:endParaRPr lang="en-US" altLang="en-US" sz="1300" baseline="8000" dirty="0">
                        <a:solidFill>
                          <a:schemeClr val="tx1"/>
                        </a:solidFill>
                      </a:endParaRPr>
                    </a:p>
                    <a:p>
                      <a:pPr marL="93980" indent="-635" algn="l" rtl="0" eaLnBrk="0">
                        <a:lnSpc>
                          <a:spcPct val="164000"/>
                        </a:lnSpc>
                        <a:spcBef>
                          <a:spcPts val="420"/>
                        </a:spcBef>
                        <a:tabLst>
                          <a:tab pos="6523355" algn="l"/>
                        </a:tabLst>
                      </a:pPr>
                      <a:r>
                        <a:rPr sz="1300" b="1" kern="0" spc="20" baseline="-28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客户主题</a:t>
                      </a:r>
                      <a:r>
                        <a:rPr sz="800" b="1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 </a:t>
                      </a:r>
                      <a:r>
                        <a:rPr sz="1300" u="sng" kern="0" spc="2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客户合同</a:t>
                      </a:r>
                      <a:r>
                        <a:rPr sz="800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</a:t>
                      </a:r>
                      <a:r>
                        <a:rPr sz="1300" u="sng" kern="0" spc="1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客户清关</a:t>
                      </a:r>
                      <a:r>
                        <a:rPr sz="8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</a:t>
                      </a:r>
                      <a:r>
                        <a:rPr sz="9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客户站点                        </a:t>
                      </a:r>
                      <a:r>
                        <a:rPr sz="1300" u="sng" kern="0" spc="10" baseline="8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客户回款</a:t>
                      </a:r>
                      <a:r>
                        <a:rPr sz="800" kern="0" spc="1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1300" b="1" kern="0" spc="20" baseline="-160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员工主题</a:t>
                      </a:r>
                      <a:r>
                        <a:rPr sz="800" b="1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                    </a:t>
                      </a:r>
                      <a:r>
                        <a:rPr sz="1300" u="sng" kern="0" spc="20" baseline="4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销售团队</a:t>
                      </a:r>
                      <a:r>
                        <a:rPr sz="800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  </a:t>
                      </a:r>
                      <a:r>
                        <a:rPr sz="1300" u="sng" kern="0" spc="20" baseline="4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制造团队</a:t>
                      </a:r>
                      <a:r>
                        <a:rPr sz="800" u="sng" kern="0" spc="2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u="sng" kern="0" spc="1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      </a:t>
                      </a:r>
                      <a:r>
                        <a:rPr sz="1300" u="sng" kern="0" spc="10" baseline="400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交付团队</a:t>
                      </a:r>
                      <a:r>
                        <a:rPr sz="800" u="sng" kern="0" spc="0" dirty="0">
                          <a:solidFill>
                            <a:schemeClr val="tx1"/>
                          </a:solidFill>
                          <a:uFill>
                            <a:solidFill>
                              <a:srgbClr val="AFABAB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endParaRPr lang="en-US" altLang="en-US" sz="800" dirty="0">
                        <a:solidFill>
                          <a:schemeClr val="tx1"/>
                        </a:solidFill>
                      </a:endParaRPr>
                    </a:p>
                    <a:p>
                      <a:pPr marL="15938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endParaRPr lang="en-US" sz="700" b="0" kern="1200" spc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938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900" b="1" kern="1200" spc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订单</a:t>
                      </a:r>
                      <a:r>
                        <a:rPr sz="900" b="1" kern="0" spc="-2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主题</a:t>
                      </a:r>
                      <a:endParaRPr lang="en-US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010">
                <a:tc>
                  <a:txBody>
                    <a:bodyPr/>
                    <a:lstStyle/>
                    <a:p>
                      <a:pPr marL="15938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endParaRPr lang="en-US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534510"/>
                  </a:ext>
                </a:extLst>
              </a:tr>
            </a:tbl>
          </a:graphicData>
        </a:graphic>
      </p:graphicFrame>
      <p:pic>
        <p:nvPicPr>
          <p:cNvPr id="5" name="picture 528">
            <a:extLst>
              <a:ext uri="{FF2B5EF4-FFF2-40B4-BE49-F238E27FC236}">
                <a16:creationId xmlns:a16="http://schemas.microsoft.com/office/drawing/2014/main" id="{392C6EE1-0EFE-79AD-C7D7-A7DD4670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044" y="1615439"/>
            <a:ext cx="7584947" cy="2422038"/>
          </a:xfrm>
          <a:prstGeom prst="rect">
            <a:avLst/>
          </a:prstGeom>
        </p:spPr>
      </p:pic>
      <p:pic>
        <p:nvPicPr>
          <p:cNvPr id="6" name="picture 530">
            <a:extLst>
              <a:ext uri="{FF2B5EF4-FFF2-40B4-BE49-F238E27FC236}">
                <a16:creationId xmlns:a16="http://schemas.microsoft.com/office/drawing/2014/main" id="{CFF61743-240D-E62C-2165-64BEC0C0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71" y="3070097"/>
            <a:ext cx="114300" cy="1775587"/>
          </a:xfrm>
          <a:prstGeom prst="rect">
            <a:avLst/>
          </a:prstGeom>
        </p:spPr>
      </p:pic>
      <p:pic>
        <p:nvPicPr>
          <p:cNvPr id="7" name="picture 532">
            <a:extLst>
              <a:ext uri="{FF2B5EF4-FFF2-40B4-BE49-F238E27FC236}">
                <a16:creationId xmlns:a16="http://schemas.microsoft.com/office/drawing/2014/main" id="{AE510F6A-CE2E-183F-9A2A-EDF31800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835" y="3070097"/>
            <a:ext cx="114300" cy="1775587"/>
          </a:xfrm>
          <a:prstGeom prst="rect">
            <a:avLst/>
          </a:prstGeom>
        </p:spPr>
      </p:pic>
      <p:pic>
        <p:nvPicPr>
          <p:cNvPr id="8" name="picture 534">
            <a:extLst>
              <a:ext uri="{FF2B5EF4-FFF2-40B4-BE49-F238E27FC236}">
                <a16:creationId xmlns:a16="http://schemas.microsoft.com/office/drawing/2014/main" id="{1F3F1CF4-5450-5CCE-71DB-E2D04613A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70097"/>
            <a:ext cx="114300" cy="1775587"/>
          </a:xfrm>
          <a:prstGeom prst="rect">
            <a:avLst/>
          </a:prstGeom>
        </p:spPr>
      </p:pic>
      <p:pic>
        <p:nvPicPr>
          <p:cNvPr id="9" name="picture 536">
            <a:extLst>
              <a:ext uri="{FF2B5EF4-FFF2-40B4-BE49-F238E27FC236}">
                <a16:creationId xmlns:a16="http://schemas.microsoft.com/office/drawing/2014/main" id="{919866EA-920E-8717-2FBE-C22FBE58A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164" y="3070097"/>
            <a:ext cx="114300" cy="1775587"/>
          </a:xfrm>
          <a:prstGeom prst="rect">
            <a:avLst/>
          </a:prstGeom>
        </p:spPr>
      </p:pic>
      <p:pic>
        <p:nvPicPr>
          <p:cNvPr id="10" name="picture 538">
            <a:extLst>
              <a:ext uri="{FF2B5EF4-FFF2-40B4-BE49-F238E27FC236}">
                <a16:creationId xmlns:a16="http://schemas.microsoft.com/office/drawing/2014/main" id="{219796CE-C152-9856-8214-9E63DAE335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0327" y="3070097"/>
            <a:ext cx="114300" cy="1775587"/>
          </a:xfrm>
          <a:prstGeom prst="rect">
            <a:avLst/>
          </a:prstGeom>
        </p:spPr>
      </p:pic>
      <p:sp>
        <p:nvSpPr>
          <p:cNvPr id="11" name="rect">
            <a:extLst>
              <a:ext uri="{FF2B5EF4-FFF2-40B4-BE49-F238E27FC236}">
                <a16:creationId xmlns:a16="http://schemas.microsoft.com/office/drawing/2014/main" id="{80F379C1-E984-22ED-AB69-E63135779A55}"/>
              </a:ext>
            </a:extLst>
          </p:cNvPr>
          <p:cNvSpPr/>
          <p:nvPr/>
        </p:nvSpPr>
        <p:spPr>
          <a:xfrm>
            <a:off x="3329178" y="4186428"/>
            <a:ext cx="6003416" cy="19811"/>
          </a:xfrm>
          <a:prstGeom prst="rect">
            <a:avLst/>
          </a:prstGeom>
          <a:solidFill>
            <a:srgbClr val="AFABA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" name="group 68">
            <a:extLst>
              <a:ext uri="{FF2B5EF4-FFF2-40B4-BE49-F238E27FC236}">
                <a16:creationId xmlns:a16="http://schemas.microsoft.com/office/drawing/2014/main" id="{BAF5FEE1-7496-9252-1F48-4581041A95F7}"/>
              </a:ext>
            </a:extLst>
          </p:cNvPr>
          <p:cNvGrpSpPr/>
          <p:nvPr/>
        </p:nvGrpSpPr>
        <p:grpSpPr>
          <a:xfrm rot="21600000">
            <a:off x="2257044" y="1615439"/>
            <a:ext cx="7584947" cy="2422038"/>
            <a:chOff x="0" y="0"/>
            <a:chExt cx="7584947" cy="2422038"/>
          </a:xfrm>
        </p:grpSpPr>
        <p:sp>
          <p:nvSpPr>
            <p:cNvPr id="14" name="textbox 544">
              <a:extLst>
                <a:ext uri="{FF2B5EF4-FFF2-40B4-BE49-F238E27FC236}">
                  <a16:creationId xmlns:a16="http://schemas.microsoft.com/office/drawing/2014/main" id="{1BEA7863-8B29-75F1-0BC3-D9B8BF67E6C2}"/>
                </a:ext>
              </a:extLst>
            </p:cNvPr>
            <p:cNvSpPr/>
            <p:nvPr/>
          </p:nvSpPr>
          <p:spPr>
            <a:xfrm>
              <a:off x="-12700" y="-12700"/>
              <a:ext cx="7610475" cy="24593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336040" marR="0" lvl="0" indent="0" algn="l" defTabSz="914400" rtl="0" eaLnBrk="0" fontAlgn="auto" latinLnBrk="0" hangingPunct="1">
                <a:lnSpc>
                  <a:spcPct val="97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产品设计</a:t>
              </a:r>
              <a:endPara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334770" marR="0" lvl="0" indent="0" algn="l" defTabSz="914400" rtl="0" eaLnBrk="0" fontAlgn="auto" latinLnBrk="0" hangingPunct="1">
                <a:lnSpc>
                  <a:spcPct val="97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客户需求</a:t>
              </a:r>
              <a:endPara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textbox 546">
            <a:extLst>
              <a:ext uri="{FF2B5EF4-FFF2-40B4-BE49-F238E27FC236}">
                <a16:creationId xmlns:a16="http://schemas.microsoft.com/office/drawing/2014/main" id="{221FE355-C6EC-06A8-5A48-BC3AD38CEB63}"/>
              </a:ext>
            </a:extLst>
          </p:cNvPr>
          <p:cNvSpPr/>
          <p:nvPr/>
        </p:nvSpPr>
        <p:spPr>
          <a:xfrm>
            <a:off x="2257044" y="1640156"/>
            <a:ext cx="7610475" cy="24599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336040" marR="0" lvl="0" indent="0" algn="l" defTabSz="914400" rtl="0" eaLnBrk="0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研发团队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" name="textbox 548">
            <a:extLst>
              <a:ext uri="{FF2B5EF4-FFF2-40B4-BE49-F238E27FC236}">
                <a16:creationId xmlns:a16="http://schemas.microsoft.com/office/drawing/2014/main" id="{61DD459F-F2BA-27E2-E7BF-0B0BF806C535}"/>
              </a:ext>
            </a:extLst>
          </p:cNvPr>
          <p:cNvSpPr/>
          <p:nvPr/>
        </p:nvSpPr>
        <p:spPr>
          <a:xfrm>
            <a:off x="8784335" y="1691640"/>
            <a:ext cx="768350" cy="11525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210185" marR="0" lvl="0" indent="0" algn="l" defTabSz="914400" rtl="0" eaLnBrk="0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textbox 550">
            <a:extLst>
              <a:ext uri="{FF2B5EF4-FFF2-40B4-BE49-F238E27FC236}">
                <a16:creationId xmlns:a16="http://schemas.microsoft.com/office/drawing/2014/main" id="{489AE6FC-5D20-930E-729C-15C458E04E31}"/>
              </a:ext>
            </a:extLst>
          </p:cNvPr>
          <p:cNvSpPr/>
          <p:nvPr/>
        </p:nvSpPr>
        <p:spPr>
          <a:xfrm>
            <a:off x="7914131" y="1691640"/>
            <a:ext cx="870585" cy="1152525"/>
          </a:xfrm>
          <a:prstGeom prst="rect">
            <a:avLst/>
          </a:prstGeom>
          <a:solidFill>
            <a:srgbClr val="00B050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259715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path">
            <a:extLst>
              <a:ext uri="{FF2B5EF4-FFF2-40B4-BE49-F238E27FC236}">
                <a16:creationId xmlns:a16="http://schemas.microsoft.com/office/drawing/2014/main" id="{3590D6C2-4C62-B222-02AB-FBE3D0AAA2A9}"/>
              </a:ext>
            </a:extLst>
          </p:cNvPr>
          <p:cNvSpPr/>
          <p:nvPr/>
        </p:nvSpPr>
        <p:spPr>
          <a:xfrm>
            <a:off x="3572255" y="2638044"/>
            <a:ext cx="5269991" cy="27431"/>
          </a:xfrm>
          <a:custGeom>
            <a:avLst/>
            <a:gdLst/>
            <a:ahLst/>
            <a:cxnLst/>
            <a:rect l="0" t="0" r="0" b="0"/>
            <a:pathLst>
              <a:path w="8299" h="43">
                <a:moveTo>
                  <a:pt x="6928" y="2"/>
                </a:moveTo>
                <a:lnTo>
                  <a:pt x="0" y="2"/>
                </a:lnTo>
                <a:moveTo>
                  <a:pt x="0" y="40"/>
                </a:moveTo>
                <a:lnTo>
                  <a:pt x="8299" y="40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0" name="group 72">
            <a:extLst>
              <a:ext uri="{FF2B5EF4-FFF2-40B4-BE49-F238E27FC236}">
                <a16:creationId xmlns:a16="http://schemas.microsoft.com/office/drawing/2014/main" id="{6B95F78B-0546-6EF5-822E-437F85386821}"/>
              </a:ext>
            </a:extLst>
          </p:cNvPr>
          <p:cNvGrpSpPr/>
          <p:nvPr/>
        </p:nvGrpSpPr>
        <p:grpSpPr>
          <a:xfrm rot="21600000">
            <a:off x="3572255" y="2208276"/>
            <a:ext cx="5350763" cy="617220"/>
            <a:chOff x="0" y="0"/>
            <a:chExt cx="5350763" cy="617220"/>
          </a:xfrm>
        </p:grpSpPr>
        <p:sp>
          <p:nvSpPr>
            <p:cNvPr id="21" name="path">
              <a:extLst>
                <a:ext uri="{FF2B5EF4-FFF2-40B4-BE49-F238E27FC236}">
                  <a16:creationId xmlns:a16="http://schemas.microsoft.com/office/drawing/2014/main" id="{F5FC3C97-286B-070D-2F45-A28F8C42D5BE}"/>
                </a:ext>
              </a:extLst>
            </p:cNvPr>
            <p:cNvSpPr/>
            <p:nvPr/>
          </p:nvSpPr>
          <p:spPr>
            <a:xfrm>
              <a:off x="0" y="263652"/>
              <a:ext cx="5350763" cy="353567"/>
            </a:xfrm>
            <a:custGeom>
              <a:avLst/>
              <a:gdLst/>
              <a:ahLst/>
              <a:cxnLst/>
              <a:rect l="0" t="0" r="0" b="0"/>
              <a:pathLst>
                <a:path w="8426" h="556">
                  <a:moveTo>
                    <a:pt x="0" y="0"/>
                  </a:moveTo>
                  <a:lnTo>
                    <a:pt x="6928" y="0"/>
                  </a:lnTo>
                  <a:lnTo>
                    <a:pt x="7060" y="131"/>
                  </a:lnTo>
                  <a:lnTo>
                    <a:pt x="6928" y="263"/>
                  </a:lnTo>
                  <a:lnTo>
                    <a:pt x="0" y="263"/>
                  </a:lnTo>
                  <a:lnTo>
                    <a:pt x="0" y="0"/>
                  </a:lnTo>
                  <a:close/>
                </a:path>
                <a:path w="8426" h="556">
                  <a:moveTo>
                    <a:pt x="0" y="302"/>
                  </a:moveTo>
                  <a:lnTo>
                    <a:pt x="8299" y="302"/>
                  </a:lnTo>
                  <a:lnTo>
                    <a:pt x="8426" y="429"/>
                  </a:lnTo>
                  <a:lnTo>
                    <a:pt x="8299" y="556"/>
                  </a:lnTo>
                  <a:lnTo>
                    <a:pt x="0" y="556"/>
                  </a:lnTo>
                  <a:lnTo>
                    <a:pt x="0" y="302"/>
                  </a:lnTo>
                  <a:close/>
                </a:path>
                <a:path w="8426" h="556">
                  <a:moveTo>
                    <a:pt x="0" y="551"/>
                  </a:moveTo>
                  <a:lnTo>
                    <a:pt x="5179" y="551"/>
                  </a:lnTo>
                  <a:lnTo>
                    <a:pt x="5179" y="2"/>
                  </a:lnTo>
                  <a:lnTo>
                    <a:pt x="0" y="2"/>
                  </a:lnTo>
                  <a:lnTo>
                    <a:pt x="0" y="551"/>
                  </a:lnTo>
                  <a:close/>
                </a:path>
              </a:pathLst>
            </a:custGeom>
            <a:solidFill>
              <a:srgbClr val="5AA8E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path">
              <a:extLst>
                <a:ext uri="{FF2B5EF4-FFF2-40B4-BE49-F238E27FC236}">
                  <a16:creationId xmlns:a16="http://schemas.microsoft.com/office/drawing/2014/main" id="{B8C6833D-22B4-FEEC-CF6D-6CE6438609C6}"/>
                </a:ext>
              </a:extLst>
            </p:cNvPr>
            <p:cNvSpPr/>
            <p:nvPr/>
          </p:nvSpPr>
          <p:spPr>
            <a:xfrm>
              <a:off x="0" y="0"/>
              <a:ext cx="4483608" cy="239267"/>
            </a:xfrm>
            <a:custGeom>
              <a:avLst/>
              <a:gdLst/>
              <a:ahLst/>
              <a:cxnLst/>
              <a:rect l="0" t="0" r="0" b="0"/>
              <a:pathLst>
                <a:path w="7060" h="376">
                  <a:moveTo>
                    <a:pt x="0" y="0"/>
                  </a:moveTo>
                  <a:lnTo>
                    <a:pt x="6872" y="0"/>
                  </a:lnTo>
                  <a:lnTo>
                    <a:pt x="7060" y="188"/>
                  </a:lnTo>
                  <a:lnTo>
                    <a:pt x="6872" y="376"/>
                  </a:lnTo>
                  <a:lnTo>
                    <a:pt x="0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D3F6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path">
              <a:extLst>
                <a:ext uri="{FF2B5EF4-FFF2-40B4-BE49-F238E27FC236}">
                  <a16:creationId xmlns:a16="http://schemas.microsoft.com/office/drawing/2014/main" id="{157F3BBF-23CE-C407-F463-99733830F687}"/>
                </a:ext>
              </a:extLst>
            </p:cNvPr>
            <p:cNvSpPr/>
            <p:nvPr/>
          </p:nvSpPr>
          <p:spPr>
            <a:xfrm>
              <a:off x="0" y="0"/>
              <a:ext cx="3293363" cy="239267"/>
            </a:xfrm>
            <a:custGeom>
              <a:avLst/>
              <a:gdLst/>
              <a:ahLst/>
              <a:cxnLst/>
              <a:rect l="0" t="0" r="0" b="0"/>
              <a:pathLst>
                <a:path w="5186" h="376">
                  <a:moveTo>
                    <a:pt x="0" y="0"/>
                  </a:moveTo>
                  <a:lnTo>
                    <a:pt x="4997" y="0"/>
                  </a:lnTo>
                  <a:lnTo>
                    <a:pt x="5186" y="188"/>
                  </a:lnTo>
                  <a:lnTo>
                    <a:pt x="4997" y="376"/>
                  </a:lnTo>
                  <a:lnTo>
                    <a:pt x="0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A8E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841E1E25-E19D-817D-4A55-6109FEF278C3}"/>
              </a:ext>
            </a:extLst>
          </p:cNvPr>
          <p:cNvGrpSpPr/>
          <p:nvPr/>
        </p:nvGrpSpPr>
        <p:grpSpPr>
          <a:xfrm rot="21600000">
            <a:off x="2257044" y="1615439"/>
            <a:ext cx="7584947" cy="2422038"/>
            <a:chOff x="0" y="0"/>
            <a:chExt cx="7584947" cy="2422038"/>
          </a:xfrm>
        </p:grpSpPr>
        <p:sp>
          <p:nvSpPr>
            <p:cNvPr id="25" name="textbox 560">
              <a:extLst>
                <a:ext uri="{FF2B5EF4-FFF2-40B4-BE49-F238E27FC236}">
                  <a16:creationId xmlns:a16="http://schemas.microsoft.com/office/drawing/2014/main" id="{0EE9C4BD-F789-1C87-D34F-3F27DA88B05A}"/>
                </a:ext>
              </a:extLst>
            </p:cNvPr>
            <p:cNvSpPr/>
            <p:nvPr/>
          </p:nvSpPr>
          <p:spPr>
            <a:xfrm>
              <a:off x="-12700" y="-12700"/>
              <a:ext cx="7610475" cy="245808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4802505" marR="0" lvl="0" indent="0" algn="l" defTabSz="914400" rtl="0" eaLnBrk="0" fontAlgn="auto" latinLnBrk="0" hangingPunct="1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人工介入</a:t>
              </a: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4801870" marR="0" lvl="0" indent="0" algn="l" defTabSz="914400" rtl="0" eaLnBrk="0" fontAlgn="auto" latinLnBrk="0" hangingPunct="1">
                <a:lnSpc>
                  <a:spcPct val="98000"/>
                </a:lnSpc>
                <a:spcBef>
                  <a:spcPts val="101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决策支持</a:t>
              </a: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4801870" marR="0" lvl="0" indent="0" algn="l" defTabSz="914400" rtl="0" eaLnBrk="0" fontAlgn="auto" latinLnBrk="0" hangingPunct="1">
                <a:lnSpc>
                  <a:spcPct val="98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决策自动化</a:t>
              </a: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76">
            <a:extLst>
              <a:ext uri="{FF2B5EF4-FFF2-40B4-BE49-F238E27FC236}">
                <a16:creationId xmlns:a16="http://schemas.microsoft.com/office/drawing/2014/main" id="{C7D9ACF1-86D0-70C4-A8E0-606F4C05B36F}"/>
              </a:ext>
            </a:extLst>
          </p:cNvPr>
          <p:cNvGrpSpPr/>
          <p:nvPr/>
        </p:nvGrpSpPr>
        <p:grpSpPr>
          <a:xfrm rot="21600000">
            <a:off x="3572255" y="1952244"/>
            <a:ext cx="4483608" cy="240792"/>
            <a:chOff x="0" y="0"/>
            <a:chExt cx="4483608" cy="240792"/>
          </a:xfrm>
        </p:grpSpPr>
        <p:sp>
          <p:nvSpPr>
            <p:cNvPr id="27" name="path">
              <a:extLst>
                <a:ext uri="{FF2B5EF4-FFF2-40B4-BE49-F238E27FC236}">
                  <a16:creationId xmlns:a16="http://schemas.microsoft.com/office/drawing/2014/main" id="{B96E10C9-77EC-A3C3-3254-AA55737123FA}"/>
                </a:ext>
              </a:extLst>
            </p:cNvPr>
            <p:cNvSpPr/>
            <p:nvPr/>
          </p:nvSpPr>
          <p:spPr>
            <a:xfrm>
              <a:off x="0" y="0"/>
              <a:ext cx="4483608" cy="240792"/>
            </a:xfrm>
            <a:custGeom>
              <a:avLst/>
              <a:gdLst/>
              <a:ahLst/>
              <a:cxnLst/>
              <a:rect l="0" t="0" r="0" b="0"/>
              <a:pathLst>
                <a:path w="7060" h="379">
                  <a:moveTo>
                    <a:pt x="0" y="0"/>
                  </a:moveTo>
                  <a:lnTo>
                    <a:pt x="6871" y="0"/>
                  </a:lnTo>
                  <a:lnTo>
                    <a:pt x="7060" y="189"/>
                  </a:lnTo>
                  <a:lnTo>
                    <a:pt x="6871" y="379"/>
                  </a:lnTo>
                  <a:lnTo>
                    <a:pt x="0" y="3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D3F6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path">
              <a:extLst>
                <a:ext uri="{FF2B5EF4-FFF2-40B4-BE49-F238E27FC236}">
                  <a16:creationId xmlns:a16="http://schemas.microsoft.com/office/drawing/2014/main" id="{B7F8921C-419C-F955-8F8B-1FBE17BB43E3}"/>
                </a:ext>
              </a:extLst>
            </p:cNvPr>
            <p:cNvSpPr/>
            <p:nvPr/>
          </p:nvSpPr>
          <p:spPr>
            <a:xfrm>
              <a:off x="0" y="0"/>
              <a:ext cx="2200655" cy="240792"/>
            </a:xfrm>
            <a:custGeom>
              <a:avLst/>
              <a:gdLst/>
              <a:ahLst/>
              <a:cxnLst/>
              <a:rect l="0" t="0" r="0" b="0"/>
              <a:pathLst>
                <a:path w="3465" h="379">
                  <a:moveTo>
                    <a:pt x="0" y="0"/>
                  </a:moveTo>
                  <a:lnTo>
                    <a:pt x="3275" y="0"/>
                  </a:lnTo>
                  <a:lnTo>
                    <a:pt x="3465" y="189"/>
                  </a:lnTo>
                  <a:lnTo>
                    <a:pt x="3275" y="379"/>
                  </a:lnTo>
                  <a:lnTo>
                    <a:pt x="0" y="3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A8E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group 78">
            <a:extLst>
              <a:ext uri="{FF2B5EF4-FFF2-40B4-BE49-F238E27FC236}">
                <a16:creationId xmlns:a16="http://schemas.microsoft.com/office/drawing/2014/main" id="{506A3F24-7ABF-9FC8-93B1-1823BABDB55B}"/>
              </a:ext>
            </a:extLst>
          </p:cNvPr>
          <p:cNvGrpSpPr/>
          <p:nvPr/>
        </p:nvGrpSpPr>
        <p:grpSpPr>
          <a:xfrm rot="21600000">
            <a:off x="3572255" y="1696658"/>
            <a:ext cx="4483608" cy="240345"/>
            <a:chOff x="0" y="0"/>
            <a:chExt cx="4483608" cy="240345"/>
          </a:xfrm>
        </p:grpSpPr>
        <p:sp>
          <p:nvSpPr>
            <p:cNvPr id="30" name="path">
              <a:extLst>
                <a:ext uri="{FF2B5EF4-FFF2-40B4-BE49-F238E27FC236}">
                  <a16:creationId xmlns:a16="http://schemas.microsoft.com/office/drawing/2014/main" id="{AD71D3F0-22AF-5BCF-2CBA-A9E222CC3C08}"/>
                </a:ext>
              </a:extLst>
            </p:cNvPr>
            <p:cNvSpPr/>
            <p:nvPr/>
          </p:nvSpPr>
          <p:spPr>
            <a:xfrm>
              <a:off x="0" y="1077"/>
              <a:ext cx="4483608" cy="239267"/>
            </a:xfrm>
            <a:custGeom>
              <a:avLst/>
              <a:gdLst/>
              <a:ahLst/>
              <a:cxnLst/>
              <a:rect l="0" t="0" r="0" b="0"/>
              <a:pathLst>
                <a:path w="7060" h="376">
                  <a:moveTo>
                    <a:pt x="0" y="0"/>
                  </a:moveTo>
                  <a:lnTo>
                    <a:pt x="6872" y="0"/>
                  </a:lnTo>
                  <a:lnTo>
                    <a:pt x="7060" y="188"/>
                  </a:lnTo>
                  <a:lnTo>
                    <a:pt x="6872" y="376"/>
                  </a:lnTo>
                  <a:lnTo>
                    <a:pt x="0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D3F6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path">
              <a:extLst>
                <a:ext uri="{FF2B5EF4-FFF2-40B4-BE49-F238E27FC236}">
                  <a16:creationId xmlns:a16="http://schemas.microsoft.com/office/drawing/2014/main" id="{C5E5C6A8-85F4-398E-F458-A2669B6EECFB}"/>
                </a:ext>
              </a:extLst>
            </p:cNvPr>
            <p:cNvSpPr/>
            <p:nvPr/>
          </p:nvSpPr>
          <p:spPr>
            <a:xfrm>
              <a:off x="0" y="1077"/>
              <a:ext cx="1479803" cy="239267"/>
            </a:xfrm>
            <a:custGeom>
              <a:avLst/>
              <a:gdLst/>
              <a:ahLst/>
              <a:cxnLst/>
              <a:rect l="0" t="0" r="0" b="0"/>
              <a:pathLst>
                <a:path w="2330" h="376">
                  <a:moveTo>
                    <a:pt x="0" y="0"/>
                  </a:moveTo>
                  <a:lnTo>
                    <a:pt x="2141" y="0"/>
                  </a:lnTo>
                  <a:lnTo>
                    <a:pt x="2330" y="188"/>
                  </a:lnTo>
                  <a:lnTo>
                    <a:pt x="2141" y="376"/>
                  </a:lnTo>
                  <a:lnTo>
                    <a:pt x="0" y="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A8E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path">
              <a:extLst>
                <a:ext uri="{FF2B5EF4-FFF2-40B4-BE49-F238E27FC236}">
                  <a16:creationId xmlns:a16="http://schemas.microsoft.com/office/drawing/2014/main" id="{94A55AAC-1A24-F0B2-7F06-7567F019DC0A}"/>
                </a:ext>
              </a:extLst>
            </p:cNvPr>
            <p:cNvSpPr/>
            <p:nvPr/>
          </p:nvSpPr>
          <p:spPr>
            <a:xfrm>
              <a:off x="1359092" y="0"/>
              <a:ext cx="121789" cy="121788"/>
            </a:xfrm>
            <a:custGeom>
              <a:avLst/>
              <a:gdLst/>
              <a:ahLst/>
              <a:cxnLst/>
              <a:rect l="0" t="0" r="0" b="0"/>
              <a:pathLst>
                <a:path w="191" h="191">
                  <a:moveTo>
                    <a:pt x="1" y="1"/>
                  </a:moveTo>
                  <a:lnTo>
                    <a:pt x="190" y="190"/>
                  </a:lnTo>
                </a:path>
              </a:pathLst>
            </a:custGeom>
            <a:noFill/>
            <a:ln w="3048" cap="flat">
              <a:solidFill>
                <a:srgbClr val="FFFFFF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3" name="group 80">
            <a:extLst>
              <a:ext uri="{FF2B5EF4-FFF2-40B4-BE49-F238E27FC236}">
                <a16:creationId xmlns:a16="http://schemas.microsoft.com/office/drawing/2014/main" id="{9E5EAA53-2929-4427-012C-62D96C2762B6}"/>
              </a:ext>
            </a:extLst>
          </p:cNvPr>
          <p:cNvGrpSpPr/>
          <p:nvPr/>
        </p:nvGrpSpPr>
        <p:grpSpPr>
          <a:xfrm rot="21600000">
            <a:off x="2257044" y="1615439"/>
            <a:ext cx="7584947" cy="2422038"/>
            <a:chOff x="0" y="0"/>
            <a:chExt cx="7584947" cy="2422038"/>
          </a:xfrm>
        </p:grpSpPr>
        <p:sp>
          <p:nvSpPr>
            <p:cNvPr id="34" name="textbox 572">
              <a:extLst>
                <a:ext uri="{FF2B5EF4-FFF2-40B4-BE49-F238E27FC236}">
                  <a16:creationId xmlns:a16="http://schemas.microsoft.com/office/drawing/2014/main" id="{4A8843A4-301E-4086-535F-6CD8F161B7B2}"/>
                </a:ext>
              </a:extLst>
            </p:cNvPr>
            <p:cNvSpPr/>
            <p:nvPr/>
          </p:nvSpPr>
          <p:spPr>
            <a:xfrm>
              <a:off x="-12700" y="-12700"/>
              <a:ext cx="7610475" cy="244792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4802505" marR="0" lvl="0" indent="0" algn="l" defTabSz="914400" rtl="0" eaLnBrk="0" fontAlgn="auto" latinLnBrk="0" hangingPunct="1">
                <a:lnSpc>
                  <a:spcPct val="89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人工介入</a:t>
              </a: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4802505" marR="0" lvl="0" indent="0" algn="l" defTabSz="914400" rtl="0" eaLnBrk="0" fontAlgn="auto" latinLnBrk="0" hangingPunct="1">
                <a:lnSpc>
                  <a:spcPts val="18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0" cap="none" spc="-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人工介入</a:t>
              </a: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82">
            <a:extLst>
              <a:ext uri="{FF2B5EF4-FFF2-40B4-BE49-F238E27FC236}">
                <a16:creationId xmlns:a16="http://schemas.microsoft.com/office/drawing/2014/main" id="{BFF3ECB7-F662-1B16-DBFE-79F3F4F0E4AE}"/>
              </a:ext>
            </a:extLst>
          </p:cNvPr>
          <p:cNvGrpSpPr/>
          <p:nvPr/>
        </p:nvGrpSpPr>
        <p:grpSpPr>
          <a:xfrm rot="21600000">
            <a:off x="2257044" y="1615439"/>
            <a:ext cx="7584947" cy="2422038"/>
            <a:chOff x="0" y="0"/>
            <a:chExt cx="7584947" cy="2422038"/>
          </a:xfrm>
        </p:grpSpPr>
        <p:sp>
          <p:nvSpPr>
            <p:cNvPr id="36" name="textbox 574">
              <a:extLst>
                <a:ext uri="{FF2B5EF4-FFF2-40B4-BE49-F238E27FC236}">
                  <a16:creationId xmlns:a16="http://schemas.microsoft.com/office/drawing/2014/main" id="{243DD2E4-D86D-4221-2437-A5DCD3B0BF4D}"/>
                </a:ext>
              </a:extLst>
            </p:cNvPr>
            <p:cNvSpPr/>
            <p:nvPr/>
          </p:nvSpPr>
          <p:spPr>
            <a:xfrm>
              <a:off x="-12700" y="-12700"/>
              <a:ext cx="7610475" cy="246126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9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454150" marR="0" lvl="0" indent="0" algn="l" defTabSz="914400" rtl="0" eaLnBrk="0" fontAlgn="auto" latinLnBrk="0" hangingPunct="1">
                <a:lnSpc>
                  <a:spcPct val="98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描述：发生了什么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454150" marR="0" lvl="0" indent="0" algn="l" defTabSz="914400" rtl="0" eaLnBrk="0" fontAlgn="auto" latinLnBrk="0" hangingPunct="1">
                <a:lnSpc>
                  <a:spcPct val="9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诊断：为什么发生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textbox 580">
            <a:extLst>
              <a:ext uri="{FF2B5EF4-FFF2-40B4-BE49-F238E27FC236}">
                <a16:creationId xmlns:a16="http://schemas.microsoft.com/office/drawing/2014/main" id="{B6F5A41A-477D-142F-6DA0-EB402702DC51}"/>
              </a:ext>
            </a:extLst>
          </p:cNvPr>
          <p:cNvSpPr/>
          <p:nvPr/>
        </p:nvSpPr>
        <p:spPr>
          <a:xfrm>
            <a:off x="9931843" y="3994734"/>
            <a:ext cx="584834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洞察预测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0" name="path">
            <a:extLst>
              <a:ext uri="{FF2B5EF4-FFF2-40B4-BE49-F238E27FC236}">
                <a16:creationId xmlns:a16="http://schemas.microsoft.com/office/drawing/2014/main" id="{9BFE8B8D-AADB-4384-BEDC-76D4D186DB6D}"/>
              </a:ext>
            </a:extLst>
          </p:cNvPr>
          <p:cNvSpPr/>
          <p:nvPr/>
        </p:nvSpPr>
        <p:spPr>
          <a:xfrm>
            <a:off x="9672827" y="3916298"/>
            <a:ext cx="530352" cy="2054821"/>
          </a:xfrm>
          <a:custGeom>
            <a:avLst/>
            <a:gdLst/>
            <a:ahLst/>
            <a:cxnLst/>
            <a:rect l="0" t="0" r="0" b="0"/>
            <a:pathLst>
              <a:path w="835" h="3235">
                <a:moveTo>
                  <a:pt x="835" y="0"/>
                </a:moveTo>
                <a:cubicBezTo>
                  <a:pt x="835" y="1376"/>
                  <a:pt x="577" y="2578"/>
                  <a:pt x="208" y="2922"/>
                </a:cubicBezTo>
                <a:lnTo>
                  <a:pt x="208" y="2818"/>
                </a:lnTo>
                <a:lnTo>
                  <a:pt x="0" y="3122"/>
                </a:lnTo>
                <a:lnTo>
                  <a:pt x="208" y="3235"/>
                </a:lnTo>
                <a:lnTo>
                  <a:pt x="208" y="3131"/>
                </a:lnTo>
                <a:cubicBezTo>
                  <a:pt x="577" y="2787"/>
                  <a:pt x="835" y="1585"/>
                  <a:pt x="835" y="208"/>
                </a:cubicBezTo>
                <a:lnTo>
                  <a:pt x="83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1" name="group 84">
            <a:extLst>
              <a:ext uri="{FF2B5EF4-FFF2-40B4-BE49-F238E27FC236}">
                <a16:creationId xmlns:a16="http://schemas.microsoft.com/office/drawing/2014/main" id="{E6F16DAB-1215-19B2-D77D-B400295F1C38}"/>
              </a:ext>
            </a:extLst>
          </p:cNvPr>
          <p:cNvGrpSpPr/>
          <p:nvPr/>
        </p:nvGrpSpPr>
        <p:grpSpPr>
          <a:xfrm rot="21600000">
            <a:off x="9655555" y="1982216"/>
            <a:ext cx="2047875" cy="4020820"/>
            <a:chOff x="-12700" y="-12700"/>
            <a:chExt cx="2047875" cy="4020820"/>
          </a:xfrm>
        </p:grpSpPr>
        <p:pic>
          <p:nvPicPr>
            <p:cNvPr id="42" name="picture 586">
              <a:extLst>
                <a:ext uri="{FF2B5EF4-FFF2-40B4-BE49-F238E27FC236}">
                  <a16:creationId xmlns:a16="http://schemas.microsoft.com/office/drawing/2014/main" id="{8F81B065-E009-5DA4-3152-FB6B33F6E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2022329" cy="3980776"/>
            </a:xfrm>
            <a:prstGeom prst="rect">
              <a:avLst/>
            </a:prstGeom>
          </p:spPr>
        </p:pic>
        <p:sp>
          <p:nvSpPr>
            <p:cNvPr id="43" name="textbox 588">
              <a:extLst>
                <a:ext uri="{FF2B5EF4-FFF2-40B4-BE49-F238E27FC236}">
                  <a16:creationId xmlns:a16="http://schemas.microsoft.com/office/drawing/2014/main" id="{42248F62-BB08-73B9-43D7-82F5B6FD2456}"/>
                </a:ext>
              </a:extLst>
            </p:cNvPr>
            <p:cNvSpPr/>
            <p:nvPr/>
          </p:nvSpPr>
          <p:spPr>
            <a:xfrm>
              <a:off x="-12700" y="-12700"/>
              <a:ext cx="2047875" cy="402082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675005" marR="0" lvl="0" indent="0" algn="l" defTabSz="914400" rtl="0" eaLnBrk="0" fontAlgn="auto" latinLnBrk="0" hangingPunct="1">
                <a:lnSpc>
                  <a:spcPts val="149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数据接入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675005" marR="0" lvl="0" indent="0" algn="l" defTabSz="914400" rtl="0" eaLnBrk="0" fontAlgn="auto" latinLnBrk="0" hangingPunct="1">
                <a:lnSpc>
                  <a:spcPts val="1495"/>
                </a:lnSpc>
                <a:spcBef>
                  <a:spcPts val="51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数据整合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675005" marR="0" lvl="0" indent="0" algn="l" defTabSz="914400" rtl="0" eaLnBrk="0" fontAlgn="auto" latinLnBrk="0" hangingPunct="1">
                <a:lnSpc>
                  <a:spcPts val="1495"/>
                </a:lnSpc>
                <a:spcBef>
                  <a:spcPts val="49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数据分享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675005" marR="0" lvl="0" indent="0" algn="l" defTabSz="914400" rtl="0" eaLnBrk="0" fontAlgn="auto" latinLnBrk="0" hangingPunct="1">
                <a:lnSpc>
                  <a:spcPts val="1495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数据洞察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86">
            <a:extLst>
              <a:ext uri="{FF2B5EF4-FFF2-40B4-BE49-F238E27FC236}">
                <a16:creationId xmlns:a16="http://schemas.microsoft.com/office/drawing/2014/main" id="{EC583510-25D4-A3B4-D8C4-E946DDB336C2}"/>
              </a:ext>
            </a:extLst>
          </p:cNvPr>
          <p:cNvGrpSpPr/>
          <p:nvPr/>
        </p:nvGrpSpPr>
        <p:grpSpPr>
          <a:xfrm rot="21600000">
            <a:off x="9832594" y="4866132"/>
            <a:ext cx="1857740" cy="1177679"/>
            <a:chOff x="0" y="0"/>
            <a:chExt cx="1857740" cy="1177679"/>
          </a:xfrm>
        </p:grpSpPr>
        <p:pic>
          <p:nvPicPr>
            <p:cNvPr id="45" name="picture 592">
              <a:extLst>
                <a:ext uri="{FF2B5EF4-FFF2-40B4-BE49-F238E27FC236}">
                  <a16:creationId xmlns:a16="http://schemas.microsoft.com/office/drawing/2014/main" id="{B445004D-92FD-9530-CD8C-27867D286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857740" cy="1177679"/>
            </a:xfrm>
            <a:prstGeom prst="rect">
              <a:avLst/>
            </a:prstGeom>
          </p:spPr>
        </p:pic>
        <p:sp>
          <p:nvSpPr>
            <p:cNvPr id="46" name="textbox 594">
              <a:extLst>
                <a:ext uri="{FF2B5EF4-FFF2-40B4-BE49-F238E27FC236}">
                  <a16:creationId xmlns:a16="http://schemas.microsoft.com/office/drawing/2014/main" id="{FAA0937D-B064-FE49-4098-DBD7BE9672F5}"/>
                </a:ext>
              </a:extLst>
            </p:cNvPr>
            <p:cNvSpPr/>
            <p:nvPr/>
          </p:nvSpPr>
          <p:spPr>
            <a:xfrm>
              <a:off x="-12700" y="-12700"/>
              <a:ext cx="1883410" cy="1219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510540" marR="0" lvl="0" indent="0" algn="l" defTabSz="914400" rtl="0" eaLnBrk="0" fontAlgn="auto" latinLnBrk="0" hangingPunct="1">
                <a:lnSpc>
                  <a:spcPts val="15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1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2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11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</a:t>
              </a: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Owner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510540" marR="0" lvl="0" indent="0" algn="l" defTabSz="914400" rtl="0" eaLnBrk="0" fontAlgn="auto" latinLnBrk="0" hangingPunct="1">
                <a:lnSpc>
                  <a:spcPts val="1505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架构及标准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510540" marR="0" lvl="0" indent="0" algn="l" defTabSz="914400" rtl="0" eaLnBrk="0" fontAlgn="auto" latinLnBrk="0" hangingPunct="1">
                <a:lnSpc>
                  <a:spcPts val="1495"/>
                </a:lnSpc>
                <a:spcBef>
                  <a:spcPts val="4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数据同源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510540" marR="0" lvl="0" indent="0" algn="l" defTabSz="914400" rtl="0" eaLnBrk="0" fontAlgn="auto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提升质量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88">
            <a:extLst>
              <a:ext uri="{FF2B5EF4-FFF2-40B4-BE49-F238E27FC236}">
                <a16:creationId xmlns:a16="http://schemas.microsoft.com/office/drawing/2014/main" id="{E5ED6201-D51B-C2B2-3997-72C3989B3302}"/>
              </a:ext>
            </a:extLst>
          </p:cNvPr>
          <p:cNvGrpSpPr/>
          <p:nvPr/>
        </p:nvGrpSpPr>
        <p:grpSpPr>
          <a:xfrm rot="21600000">
            <a:off x="528827" y="2575559"/>
            <a:ext cx="1814576" cy="1178173"/>
            <a:chOff x="0" y="0"/>
            <a:chExt cx="1814576" cy="1178173"/>
          </a:xfrm>
        </p:grpSpPr>
        <p:pic>
          <p:nvPicPr>
            <p:cNvPr id="48" name="picture 596">
              <a:extLst>
                <a:ext uri="{FF2B5EF4-FFF2-40B4-BE49-F238E27FC236}">
                  <a16:creationId xmlns:a16="http://schemas.microsoft.com/office/drawing/2014/main" id="{2DF06A8D-755C-3F43-3A20-A643EE4FF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814576" cy="1178173"/>
            </a:xfrm>
            <a:prstGeom prst="rect">
              <a:avLst/>
            </a:prstGeom>
          </p:spPr>
        </p:pic>
        <p:sp>
          <p:nvSpPr>
            <p:cNvPr id="49" name="textbox 598">
              <a:extLst>
                <a:ext uri="{FF2B5EF4-FFF2-40B4-BE49-F238E27FC236}">
                  <a16:creationId xmlns:a16="http://schemas.microsoft.com/office/drawing/2014/main" id="{A7C504B8-49C9-22E9-FCB2-48A6DA804B10}"/>
                </a:ext>
              </a:extLst>
            </p:cNvPr>
            <p:cNvSpPr/>
            <p:nvPr/>
          </p:nvSpPr>
          <p:spPr>
            <a:xfrm>
              <a:off x="-12700" y="-12700"/>
              <a:ext cx="1840229" cy="1219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375285" marR="0" lvl="0" indent="0" algn="l" defTabSz="914400" rtl="0" eaLnBrk="0" fontAlgn="auto" latinLnBrk="0" hangingPunct="1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第二阶段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0" fontAlgn="auto" latinLnBrk="0" hangingPunct="1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42240" marR="0" lvl="0" indent="0" algn="l" defTabSz="914400" rtl="0" eaLnBrk="0" fontAlgn="auto" latinLnBrk="0" hangingPunct="1">
                <a:lnSpc>
                  <a:spcPts val="1505"/>
                </a:lnSpc>
                <a:spcBef>
                  <a:spcPts val="36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2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发现增长点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42240" marR="0" lvl="0" indent="0" algn="l" defTabSz="914400" rtl="0" eaLnBrk="0" fontAlgn="auto" latinLnBrk="0" hangingPunct="1">
                <a:lnSpc>
                  <a:spcPts val="1510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辅助决策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142240" marR="0" lvl="0" indent="0" algn="l" defTabSz="914400" rtl="0" eaLnBrk="0" fontAlgn="auto" latinLnBrk="0" hangingPunct="1">
                <a:lnSpc>
                  <a:spcPts val="1500"/>
                </a:lnSpc>
                <a:spcBef>
                  <a:spcPts val="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7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风险预警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90">
            <a:extLst>
              <a:ext uri="{FF2B5EF4-FFF2-40B4-BE49-F238E27FC236}">
                <a16:creationId xmlns:a16="http://schemas.microsoft.com/office/drawing/2014/main" id="{04EF8ACD-4703-D455-2FB1-A8A641839631}"/>
              </a:ext>
            </a:extLst>
          </p:cNvPr>
          <p:cNvGrpSpPr/>
          <p:nvPr/>
        </p:nvGrpSpPr>
        <p:grpSpPr>
          <a:xfrm rot="21600000">
            <a:off x="528827" y="4866132"/>
            <a:ext cx="1814576" cy="1177679"/>
            <a:chOff x="0" y="0"/>
            <a:chExt cx="1814576" cy="1177679"/>
          </a:xfrm>
        </p:grpSpPr>
        <p:pic>
          <p:nvPicPr>
            <p:cNvPr id="51" name="picture 600">
              <a:extLst>
                <a:ext uri="{FF2B5EF4-FFF2-40B4-BE49-F238E27FC236}">
                  <a16:creationId xmlns:a16="http://schemas.microsoft.com/office/drawing/2014/main" id="{96BA9D0C-0ED6-268A-FE6C-956B48DB2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814576" cy="1177679"/>
            </a:xfrm>
            <a:prstGeom prst="rect">
              <a:avLst/>
            </a:prstGeom>
          </p:spPr>
        </p:pic>
        <p:sp>
          <p:nvSpPr>
            <p:cNvPr id="52" name="textbox 602">
              <a:extLst>
                <a:ext uri="{FF2B5EF4-FFF2-40B4-BE49-F238E27FC236}">
                  <a16:creationId xmlns:a16="http://schemas.microsoft.com/office/drawing/2014/main" id="{CDE55739-34EE-0328-430E-D982E0F6B58D}"/>
                </a:ext>
              </a:extLst>
            </p:cNvPr>
            <p:cNvSpPr/>
            <p:nvPr/>
          </p:nvSpPr>
          <p:spPr>
            <a:xfrm>
              <a:off x="-12700" y="-12700"/>
              <a:ext cx="1840229" cy="1219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marL="0" marR="0" lvl="0" indent="0" algn="l" defTabSz="914400" rtl="0" eaLnBrk="0" fontAlgn="auto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375285" marR="0" lvl="0" indent="0" algn="l" defTabSz="914400" rtl="0" eaLnBrk="0" fontAlgn="auto" latinLnBrk="0" hangingPunct="1">
                <a:lnSpc>
                  <a:spcPct val="98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第一阶段</a:t>
              </a:r>
              <a:endPara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255905" marR="0" lvl="0" indent="-113665" algn="l" defTabSz="914400" rtl="0" eaLnBrk="0" fontAlgn="auto" latinLnBrk="0" hangingPunct="1">
                <a:lnSpc>
                  <a:spcPct val="106000"/>
                </a:lnSpc>
                <a:spcBef>
                  <a:spcPts val="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4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通过数字化提</a:t>
              </a:r>
              <a:r>
                <a:rPr kumimoji="0" sz="1200" b="0" i="0" u="none" strike="noStrike" kern="0" cap="none" spc="8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升</a:t>
              </a:r>
              <a:endParaRPr kumimoji="0" lang="en-US" sz="1200" b="0" i="0" u="none" strike="noStrike" kern="0" cap="none" spc="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55905" marR="0" lvl="0" indent="-113665" algn="l" defTabSz="914400" rtl="0" eaLnBrk="0" fontAlgn="auto" latinLnBrk="0" hangingPunct="1">
                <a:lnSpc>
                  <a:spcPct val="106000"/>
                </a:lnSpc>
                <a:spcBef>
                  <a:spcPts val="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kumimoji="0" sz="1200" b="0" i="0" u="none" strike="noStrike" kern="0" cap="none" spc="8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业务效率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  <a:p>
              <a:pPr marL="254000" marR="0" lvl="0" indent="-111760" algn="l" defTabSz="914400" rtl="0" eaLnBrk="0" fontAlgn="auto" latinLnBrk="0" hangingPunct="1">
                <a:lnSpc>
                  <a:spcPct val="106000"/>
                </a:lnSpc>
                <a:spcBef>
                  <a:spcPts val="7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kumimoji="0" sz="1200" b="0" i="0" u="none" strike="noStrike" kern="0" cap="none" spc="1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kumimoji="0" sz="1200" b="0" i="0" u="none" strike="noStrike" kern="0" cap="none" spc="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通过过程管理           </a:t>
              </a:r>
              <a:r>
                <a:rPr kumimoji="0" sz="1200" b="0" i="0" u="none" strike="noStrike" kern="0" cap="none" spc="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kumimoji="0" sz="1200" b="0" i="0" u="none" strike="noStrike" kern="0" cap="none" spc="8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提升质量</a:t>
              </a:r>
              <a:endPara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604">
            <a:extLst>
              <a:ext uri="{FF2B5EF4-FFF2-40B4-BE49-F238E27FC236}">
                <a16:creationId xmlns:a16="http://schemas.microsoft.com/office/drawing/2014/main" id="{67CBC8C0-98E8-BB2B-3724-E721A4885335}"/>
              </a:ext>
            </a:extLst>
          </p:cNvPr>
          <p:cNvSpPr/>
          <p:nvPr/>
        </p:nvSpPr>
        <p:spPr>
          <a:xfrm>
            <a:off x="2775204" y="1691640"/>
            <a:ext cx="812800" cy="1152525"/>
          </a:xfrm>
          <a:prstGeom prst="rect">
            <a:avLst/>
          </a:prstGeom>
          <a:solidFill>
            <a:srgbClr val="355EA9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254635" marR="0" lvl="0" indent="0" algn="l" defTabSz="914400" rtl="0" eaLnBrk="0" fontAlgn="auto" latinLnBrk="0" hangingPunct="1">
              <a:lnSpc>
                <a:spcPct val="97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4" name="textbox 606">
            <a:extLst>
              <a:ext uri="{FF2B5EF4-FFF2-40B4-BE49-F238E27FC236}">
                <a16:creationId xmlns:a16="http://schemas.microsoft.com/office/drawing/2014/main" id="{D52BD416-CE99-4888-A740-45389E511314}"/>
              </a:ext>
            </a:extLst>
          </p:cNvPr>
          <p:cNvSpPr/>
          <p:nvPr/>
        </p:nvSpPr>
        <p:spPr>
          <a:xfrm>
            <a:off x="2312923" y="1846707"/>
            <a:ext cx="425450" cy="2352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kumimoji="0" sz="15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kumimoji="0" sz="15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500" b="1" i="0" u="none" strike="noStrike" kern="0" cap="none" spc="7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kumimoji="0" lang="en-US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4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4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33020" marR="0" lvl="0" indent="-635" algn="l" defTabSz="914400" rtl="0" eaLnBrk="0" fontAlgn="auto" latinLnBrk="0" hangingPunct="1">
              <a:lnSpc>
                <a:spcPct val="99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2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kumimoji="0" sz="15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汇聚</a:t>
            </a: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500" b="1" i="0" u="none" strike="noStrike" kern="0" cap="none" spc="7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sz="15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sz="15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联接</a:t>
            </a:r>
            <a:endParaRPr kumimoji="0" lang="en-US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5" name="textbox 608">
            <a:extLst>
              <a:ext uri="{FF2B5EF4-FFF2-40B4-BE49-F238E27FC236}">
                <a16:creationId xmlns:a16="http://schemas.microsoft.com/office/drawing/2014/main" id="{D4D3FDA2-ED3D-F727-5A4E-31FED2BE2EAA}"/>
              </a:ext>
            </a:extLst>
          </p:cNvPr>
          <p:cNvSpPr/>
          <p:nvPr/>
        </p:nvSpPr>
        <p:spPr>
          <a:xfrm>
            <a:off x="3685956" y="2250008"/>
            <a:ext cx="1146175" cy="4933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预测：什么将发生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8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指导：该做什么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6" name="textbox 610">
            <a:extLst>
              <a:ext uri="{FF2B5EF4-FFF2-40B4-BE49-F238E27FC236}">
                <a16:creationId xmlns:a16="http://schemas.microsoft.com/office/drawing/2014/main" id="{E0C067FE-03E2-9494-192F-BA35B11D2A41}"/>
              </a:ext>
            </a:extLst>
          </p:cNvPr>
          <p:cNvSpPr/>
          <p:nvPr/>
        </p:nvSpPr>
        <p:spPr>
          <a:xfrm>
            <a:off x="2351277" y="5044947"/>
            <a:ext cx="405129" cy="9340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kumimoji="0" sz="1500" b="1" i="0" u="none" strike="noStrike" kern="0" cap="none" spc="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500" b="1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500" b="1" i="0" u="none" strike="noStrike" kern="0" cap="none" spc="7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zh-CN" altLang="en-US" sz="1500" b="1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endParaRPr kumimoji="0" lang="en-US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7" name="rect">
            <a:extLst>
              <a:ext uri="{FF2B5EF4-FFF2-40B4-BE49-F238E27FC236}">
                <a16:creationId xmlns:a16="http://schemas.microsoft.com/office/drawing/2014/main" id="{D0CF477F-FB3A-4E2F-74E8-2BCCC6FE28EF}"/>
              </a:ext>
            </a:extLst>
          </p:cNvPr>
          <p:cNvSpPr/>
          <p:nvPr/>
        </p:nvSpPr>
        <p:spPr>
          <a:xfrm>
            <a:off x="380238" y="4541519"/>
            <a:ext cx="11536679" cy="19811"/>
          </a:xfrm>
          <a:prstGeom prst="rect">
            <a:avLst/>
          </a:prstGeom>
          <a:solidFill>
            <a:srgbClr val="6C6C6C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8" name="picture 614">
            <a:extLst>
              <a:ext uri="{FF2B5EF4-FFF2-40B4-BE49-F238E27FC236}">
                <a16:creationId xmlns:a16="http://schemas.microsoft.com/office/drawing/2014/main" id="{A1EE4750-1E37-2062-A469-3D5357378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1152" y="4297679"/>
            <a:ext cx="489204" cy="477012"/>
          </a:xfrm>
          <a:prstGeom prst="rect">
            <a:avLst/>
          </a:prstGeom>
        </p:spPr>
      </p:pic>
      <p:pic>
        <p:nvPicPr>
          <p:cNvPr id="59" name="picture 616">
            <a:extLst>
              <a:ext uri="{FF2B5EF4-FFF2-40B4-BE49-F238E27FC236}">
                <a16:creationId xmlns:a16="http://schemas.microsoft.com/office/drawing/2014/main" id="{C83B001A-1C2B-98B8-69BA-27983DCD7D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1747" y="4297679"/>
            <a:ext cx="489203" cy="477012"/>
          </a:xfrm>
          <a:prstGeom prst="rect">
            <a:avLst/>
          </a:prstGeom>
        </p:spPr>
      </p:pic>
      <p:grpSp>
        <p:nvGrpSpPr>
          <p:cNvPr id="99" name="group 92">
            <a:extLst>
              <a:ext uri="{FF2B5EF4-FFF2-40B4-BE49-F238E27FC236}">
                <a16:creationId xmlns:a16="http://schemas.microsoft.com/office/drawing/2014/main" id="{9E8016F6-42E4-46CD-D6CE-C952E4ECBD14}"/>
              </a:ext>
            </a:extLst>
          </p:cNvPr>
          <p:cNvGrpSpPr/>
          <p:nvPr/>
        </p:nvGrpSpPr>
        <p:grpSpPr>
          <a:xfrm rot="21600000">
            <a:off x="5759628" y="2845406"/>
            <a:ext cx="797710" cy="156873"/>
            <a:chOff x="0" y="0"/>
            <a:chExt cx="797710" cy="156873"/>
          </a:xfrm>
        </p:grpSpPr>
        <p:sp>
          <p:nvSpPr>
            <p:cNvPr id="100" name="path">
              <a:extLst>
                <a:ext uri="{FF2B5EF4-FFF2-40B4-BE49-F238E27FC236}">
                  <a16:creationId xmlns:a16="http://schemas.microsoft.com/office/drawing/2014/main" id="{0D67960C-6090-9635-D6F4-FDC021631857}"/>
                </a:ext>
              </a:extLst>
            </p:cNvPr>
            <p:cNvSpPr/>
            <p:nvPr/>
          </p:nvSpPr>
          <p:spPr>
            <a:xfrm>
              <a:off x="1091" y="5997"/>
              <a:ext cx="795527" cy="144779"/>
            </a:xfrm>
            <a:custGeom>
              <a:avLst/>
              <a:gdLst/>
              <a:ahLst/>
              <a:cxnLst/>
              <a:rect l="0" t="0" r="0" b="0"/>
              <a:pathLst>
                <a:path w="1252" h="227">
                  <a:moveTo>
                    <a:pt x="1252" y="113"/>
                  </a:moveTo>
                  <a:lnTo>
                    <a:pt x="939" y="113"/>
                  </a:lnTo>
                  <a:lnTo>
                    <a:pt x="939" y="227"/>
                  </a:lnTo>
                  <a:lnTo>
                    <a:pt x="313" y="227"/>
                  </a:lnTo>
                  <a:lnTo>
                    <a:pt x="313" y="113"/>
                  </a:lnTo>
                  <a:lnTo>
                    <a:pt x="0" y="113"/>
                  </a:lnTo>
                  <a:lnTo>
                    <a:pt x="626" y="0"/>
                  </a:lnTo>
                  <a:lnTo>
                    <a:pt x="1252" y="113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path">
              <a:extLst>
                <a:ext uri="{FF2B5EF4-FFF2-40B4-BE49-F238E27FC236}">
                  <a16:creationId xmlns:a16="http://schemas.microsoft.com/office/drawing/2014/main" id="{B2C3BF80-F310-1E6B-13CA-CFCFD8895FD2}"/>
                </a:ext>
              </a:extLst>
            </p:cNvPr>
            <p:cNvSpPr/>
            <p:nvPr/>
          </p:nvSpPr>
          <p:spPr>
            <a:xfrm>
              <a:off x="0" y="0"/>
              <a:ext cx="797710" cy="156873"/>
            </a:xfrm>
            <a:custGeom>
              <a:avLst/>
              <a:gdLst/>
              <a:ahLst/>
              <a:cxnLst/>
              <a:rect l="0" t="0" r="0" b="0"/>
              <a:pathLst>
                <a:path w="1256" h="247">
                  <a:moveTo>
                    <a:pt x="1254" y="123"/>
                  </a:moveTo>
                  <a:lnTo>
                    <a:pt x="941" y="123"/>
                  </a:lnTo>
                  <a:lnTo>
                    <a:pt x="941" y="237"/>
                  </a:lnTo>
                  <a:lnTo>
                    <a:pt x="314" y="237"/>
                  </a:lnTo>
                  <a:lnTo>
                    <a:pt x="314" y="123"/>
                  </a:lnTo>
                  <a:lnTo>
                    <a:pt x="1" y="123"/>
                  </a:lnTo>
                  <a:lnTo>
                    <a:pt x="628" y="9"/>
                  </a:lnTo>
                  <a:lnTo>
                    <a:pt x="1254" y="123"/>
                  </a:lnTo>
                  <a:close/>
                </a:path>
              </a:pathLst>
            </a:custGeom>
            <a:noFill/>
            <a:ln w="12192" cap="flat">
              <a:solidFill>
                <a:srgbClr val="41719C">
                  <a:alpha val="100000"/>
                </a:srgbClr>
              </a:solidFill>
              <a:prstDash val="solid"/>
              <a:miter lim="1000000"/>
            </a:ln>
          </p:spPr>
          <p:txBody>
            <a:bodyPr rtlCol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2" name="path">
            <a:extLst>
              <a:ext uri="{FF2B5EF4-FFF2-40B4-BE49-F238E27FC236}">
                <a16:creationId xmlns:a16="http://schemas.microsoft.com/office/drawing/2014/main" id="{9CC38ECD-0A86-913D-0C80-FE9218E78EDA}"/>
              </a:ext>
            </a:extLst>
          </p:cNvPr>
          <p:cNvSpPr/>
          <p:nvPr/>
        </p:nvSpPr>
        <p:spPr>
          <a:xfrm>
            <a:off x="3572255" y="2446020"/>
            <a:ext cx="4399788" cy="27432"/>
          </a:xfrm>
          <a:custGeom>
            <a:avLst/>
            <a:gdLst/>
            <a:ahLst/>
            <a:cxnLst/>
            <a:rect l="0" t="0" r="0" b="0"/>
            <a:pathLst>
              <a:path w="6928" h="43">
                <a:moveTo>
                  <a:pt x="0" y="40"/>
                </a:moveTo>
                <a:lnTo>
                  <a:pt x="6928" y="40"/>
                </a:lnTo>
                <a:moveTo>
                  <a:pt x="6872" y="2"/>
                </a:moveTo>
                <a:lnTo>
                  <a:pt x="0" y="2"/>
                </a:lnTo>
                <a:moveTo>
                  <a:pt x="4997" y="2"/>
                </a:moveTo>
                <a:lnTo>
                  <a:pt x="0" y="2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path">
            <a:extLst>
              <a:ext uri="{FF2B5EF4-FFF2-40B4-BE49-F238E27FC236}">
                <a16:creationId xmlns:a16="http://schemas.microsoft.com/office/drawing/2014/main" id="{2FA423F5-7E9A-2B68-B1C7-913D601F88BA}"/>
              </a:ext>
            </a:extLst>
          </p:cNvPr>
          <p:cNvSpPr/>
          <p:nvPr/>
        </p:nvSpPr>
        <p:spPr>
          <a:xfrm>
            <a:off x="7934390" y="1696658"/>
            <a:ext cx="122551" cy="943986"/>
          </a:xfrm>
          <a:custGeom>
            <a:avLst/>
            <a:gdLst/>
            <a:ahLst/>
            <a:cxnLst/>
            <a:rect l="0" t="0" r="0" b="0"/>
            <a:pathLst>
              <a:path w="192" h="1486">
                <a:moveTo>
                  <a:pt x="59" y="1220"/>
                </a:moveTo>
                <a:lnTo>
                  <a:pt x="191" y="1352"/>
                </a:lnTo>
                <a:lnTo>
                  <a:pt x="59" y="1484"/>
                </a:lnTo>
                <a:moveTo>
                  <a:pt x="2" y="805"/>
                </a:moveTo>
                <a:lnTo>
                  <a:pt x="191" y="994"/>
                </a:lnTo>
                <a:lnTo>
                  <a:pt x="2" y="1182"/>
                </a:lnTo>
                <a:moveTo>
                  <a:pt x="1" y="402"/>
                </a:moveTo>
                <a:lnTo>
                  <a:pt x="191" y="592"/>
                </a:lnTo>
                <a:lnTo>
                  <a:pt x="1" y="781"/>
                </a:lnTo>
                <a:moveTo>
                  <a:pt x="2" y="1"/>
                </a:moveTo>
                <a:lnTo>
                  <a:pt x="191" y="190"/>
                </a:lnTo>
                <a:lnTo>
                  <a:pt x="2" y="378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path">
            <a:extLst>
              <a:ext uri="{FF2B5EF4-FFF2-40B4-BE49-F238E27FC236}">
                <a16:creationId xmlns:a16="http://schemas.microsoft.com/office/drawing/2014/main" id="{B189392D-214F-4D99-D270-86DD55FC244B}"/>
              </a:ext>
            </a:extLst>
          </p:cNvPr>
          <p:cNvSpPr/>
          <p:nvPr/>
        </p:nvSpPr>
        <p:spPr>
          <a:xfrm>
            <a:off x="3572255" y="1935480"/>
            <a:ext cx="4363974" cy="18287"/>
          </a:xfrm>
          <a:custGeom>
            <a:avLst/>
            <a:gdLst/>
            <a:ahLst/>
            <a:cxnLst/>
            <a:rect l="0" t="0" r="0" b="0"/>
            <a:pathLst>
              <a:path w="6872" h="28">
                <a:moveTo>
                  <a:pt x="0" y="26"/>
                </a:moveTo>
                <a:lnTo>
                  <a:pt x="6871" y="26"/>
                </a:lnTo>
                <a:moveTo>
                  <a:pt x="0" y="26"/>
                </a:moveTo>
                <a:lnTo>
                  <a:pt x="3275" y="26"/>
                </a:lnTo>
                <a:moveTo>
                  <a:pt x="6872" y="2"/>
                </a:moveTo>
                <a:lnTo>
                  <a:pt x="0" y="2"/>
                </a:lnTo>
                <a:moveTo>
                  <a:pt x="2141" y="2"/>
                </a:moveTo>
                <a:lnTo>
                  <a:pt x="0" y="2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path">
            <a:extLst>
              <a:ext uri="{FF2B5EF4-FFF2-40B4-BE49-F238E27FC236}">
                <a16:creationId xmlns:a16="http://schemas.microsoft.com/office/drawing/2014/main" id="{5DCDCE59-557A-6B43-3085-88ED06242429}"/>
              </a:ext>
            </a:extLst>
          </p:cNvPr>
          <p:cNvSpPr/>
          <p:nvPr/>
        </p:nvSpPr>
        <p:spPr>
          <a:xfrm>
            <a:off x="3572255" y="2191512"/>
            <a:ext cx="4363974" cy="18287"/>
          </a:xfrm>
          <a:custGeom>
            <a:avLst/>
            <a:gdLst/>
            <a:ahLst/>
            <a:cxnLst/>
            <a:rect l="0" t="0" r="0" b="0"/>
            <a:pathLst>
              <a:path w="6872" h="28">
                <a:moveTo>
                  <a:pt x="0" y="26"/>
                </a:moveTo>
                <a:lnTo>
                  <a:pt x="6872" y="26"/>
                </a:lnTo>
                <a:moveTo>
                  <a:pt x="0" y="26"/>
                </a:moveTo>
                <a:lnTo>
                  <a:pt x="4997" y="26"/>
                </a:lnTo>
                <a:moveTo>
                  <a:pt x="6871" y="2"/>
                </a:moveTo>
                <a:lnTo>
                  <a:pt x="0" y="2"/>
                </a:lnTo>
                <a:moveTo>
                  <a:pt x="3275" y="2"/>
                </a:moveTo>
                <a:lnTo>
                  <a:pt x="0" y="2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path">
            <a:extLst>
              <a:ext uri="{FF2B5EF4-FFF2-40B4-BE49-F238E27FC236}">
                <a16:creationId xmlns:a16="http://schemas.microsoft.com/office/drawing/2014/main" id="{5C34B1A3-1440-C70D-D859-50DECAADF667}"/>
              </a:ext>
            </a:extLst>
          </p:cNvPr>
          <p:cNvSpPr/>
          <p:nvPr/>
        </p:nvSpPr>
        <p:spPr>
          <a:xfrm>
            <a:off x="3468623" y="3355847"/>
            <a:ext cx="120396" cy="384048"/>
          </a:xfrm>
          <a:custGeom>
            <a:avLst/>
            <a:gdLst/>
            <a:ahLst/>
            <a:cxnLst/>
            <a:rect l="0" t="0" r="0" b="0"/>
            <a:pathLst>
              <a:path w="189" h="604">
                <a:moveTo>
                  <a:pt x="0" y="490"/>
                </a:moveTo>
                <a:cubicBezTo>
                  <a:pt x="0" y="427"/>
                  <a:pt x="42" y="376"/>
                  <a:pt x="94" y="376"/>
                </a:cubicBezTo>
                <a:cubicBezTo>
                  <a:pt x="147" y="376"/>
                  <a:pt x="189" y="427"/>
                  <a:pt x="189" y="490"/>
                </a:cubicBezTo>
                <a:cubicBezTo>
                  <a:pt x="189" y="553"/>
                  <a:pt x="147" y="604"/>
                  <a:pt x="94" y="604"/>
                </a:cubicBezTo>
                <a:cubicBezTo>
                  <a:pt x="42" y="604"/>
                  <a:pt x="0" y="553"/>
                  <a:pt x="0" y="490"/>
                </a:cubicBezTo>
              </a:path>
              <a:path w="189" h="604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5"/>
                  <a:pt x="147" y="225"/>
                  <a:pt x="94" y="225"/>
                </a:cubicBezTo>
                <a:cubicBezTo>
                  <a:pt x="42" y="225"/>
                  <a:pt x="0" y="175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7" name="path">
            <a:extLst>
              <a:ext uri="{FF2B5EF4-FFF2-40B4-BE49-F238E27FC236}">
                <a16:creationId xmlns:a16="http://schemas.microsoft.com/office/drawing/2014/main" id="{B5B97C98-6D14-051E-C7A9-A79AEF772918}"/>
              </a:ext>
            </a:extLst>
          </p:cNvPr>
          <p:cNvSpPr/>
          <p:nvPr/>
        </p:nvSpPr>
        <p:spPr>
          <a:xfrm>
            <a:off x="6092952" y="3355847"/>
            <a:ext cx="120396" cy="384048"/>
          </a:xfrm>
          <a:custGeom>
            <a:avLst/>
            <a:gdLst/>
            <a:ahLst/>
            <a:cxnLst/>
            <a:rect l="0" t="0" r="0" b="0"/>
            <a:pathLst>
              <a:path w="189" h="604">
                <a:moveTo>
                  <a:pt x="0" y="490"/>
                </a:moveTo>
                <a:cubicBezTo>
                  <a:pt x="0" y="427"/>
                  <a:pt x="42" y="376"/>
                  <a:pt x="94" y="376"/>
                </a:cubicBezTo>
                <a:cubicBezTo>
                  <a:pt x="147" y="376"/>
                  <a:pt x="189" y="427"/>
                  <a:pt x="189" y="490"/>
                </a:cubicBezTo>
                <a:cubicBezTo>
                  <a:pt x="189" y="553"/>
                  <a:pt x="147" y="604"/>
                  <a:pt x="94" y="604"/>
                </a:cubicBezTo>
                <a:cubicBezTo>
                  <a:pt x="42" y="604"/>
                  <a:pt x="0" y="553"/>
                  <a:pt x="0" y="490"/>
                </a:cubicBezTo>
              </a:path>
              <a:path w="189" h="604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5"/>
                  <a:pt x="147" y="225"/>
                  <a:pt x="94" y="225"/>
                </a:cubicBezTo>
                <a:cubicBezTo>
                  <a:pt x="42" y="225"/>
                  <a:pt x="0" y="175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8" name="path">
            <a:extLst>
              <a:ext uri="{FF2B5EF4-FFF2-40B4-BE49-F238E27FC236}">
                <a16:creationId xmlns:a16="http://schemas.microsoft.com/office/drawing/2014/main" id="{B90B2F77-595B-06CC-4842-1D59C63935E2}"/>
              </a:ext>
            </a:extLst>
          </p:cNvPr>
          <p:cNvSpPr/>
          <p:nvPr/>
        </p:nvSpPr>
        <p:spPr>
          <a:xfrm>
            <a:off x="8717280" y="3355847"/>
            <a:ext cx="120395" cy="384048"/>
          </a:xfrm>
          <a:custGeom>
            <a:avLst/>
            <a:gdLst/>
            <a:ahLst/>
            <a:cxnLst/>
            <a:rect l="0" t="0" r="0" b="0"/>
            <a:pathLst>
              <a:path w="189" h="604">
                <a:moveTo>
                  <a:pt x="0" y="490"/>
                </a:moveTo>
                <a:cubicBezTo>
                  <a:pt x="0" y="427"/>
                  <a:pt x="42" y="376"/>
                  <a:pt x="94" y="376"/>
                </a:cubicBezTo>
                <a:cubicBezTo>
                  <a:pt x="147" y="376"/>
                  <a:pt x="189" y="427"/>
                  <a:pt x="189" y="490"/>
                </a:cubicBezTo>
                <a:cubicBezTo>
                  <a:pt x="189" y="553"/>
                  <a:pt x="147" y="604"/>
                  <a:pt x="94" y="604"/>
                </a:cubicBezTo>
                <a:cubicBezTo>
                  <a:pt x="42" y="604"/>
                  <a:pt x="0" y="553"/>
                  <a:pt x="0" y="490"/>
                </a:cubicBezTo>
              </a:path>
              <a:path w="189" h="604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5"/>
                  <a:pt x="147" y="225"/>
                  <a:pt x="94" y="225"/>
                </a:cubicBezTo>
                <a:cubicBezTo>
                  <a:pt x="42" y="225"/>
                  <a:pt x="0" y="175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path">
            <a:extLst>
              <a:ext uri="{FF2B5EF4-FFF2-40B4-BE49-F238E27FC236}">
                <a16:creationId xmlns:a16="http://schemas.microsoft.com/office/drawing/2014/main" id="{AF269ADF-4149-E4F4-3CE8-81F0C6A8C23F}"/>
              </a:ext>
            </a:extLst>
          </p:cNvPr>
          <p:cNvSpPr/>
          <p:nvPr/>
        </p:nvSpPr>
        <p:spPr>
          <a:xfrm>
            <a:off x="7405116" y="3355847"/>
            <a:ext cx="120395" cy="384048"/>
          </a:xfrm>
          <a:custGeom>
            <a:avLst/>
            <a:gdLst/>
            <a:ahLst/>
            <a:cxnLst/>
            <a:rect l="0" t="0" r="0" b="0"/>
            <a:pathLst>
              <a:path w="189" h="604">
                <a:moveTo>
                  <a:pt x="0" y="490"/>
                </a:moveTo>
                <a:cubicBezTo>
                  <a:pt x="0" y="427"/>
                  <a:pt x="42" y="376"/>
                  <a:pt x="94" y="376"/>
                </a:cubicBezTo>
                <a:cubicBezTo>
                  <a:pt x="147" y="376"/>
                  <a:pt x="189" y="427"/>
                  <a:pt x="189" y="490"/>
                </a:cubicBezTo>
                <a:cubicBezTo>
                  <a:pt x="189" y="553"/>
                  <a:pt x="147" y="604"/>
                  <a:pt x="94" y="604"/>
                </a:cubicBezTo>
                <a:cubicBezTo>
                  <a:pt x="42" y="604"/>
                  <a:pt x="0" y="553"/>
                  <a:pt x="0" y="490"/>
                </a:cubicBezTo>
              </a:path>
              <a:path w="189" h="604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5"/>
                  <a:pt x="147" y="225"/>
                  <a:pt x="94" y="225"/>
                </a:cubicBezTo>
                <a:cubicBezTo>
                  <a:pt x="42" y="225"/>
                  <a:pt x="0" y="175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path">
            <a:extLst>
              <a:ext uri="{FF2B5EF4-FFF2-40B4-BE49-F238E27FC236}">
                <a16:creationId xmlns:a16="http://schemas.microsoft.com/office/drawing/2014/main" id="{EFA8A7E7-445C-1818-2D0E-207E80B62F71}"/>
              </a:ext>
            </a:extLst>
          </p:cNvPr>
          <p:cNvSpPr/>
          <p:nvPr/>
        </p:nvSpPr>
        <p:spPr>
          <a:xfrm>
            <a:off x="4791455" y="3355847"/>
            <a:ext cx="118872" cy="384048"/>
          </a:xfrm>
          <a:custGeom>
            <a:avLst/>
            <a:gdLst/>
            <a:ahLst/>
            <a:cxnLst/>
            <a:rect l="0" t="0" r="0" b="0"/>
            <a:pathLst>
              <a:path w="187" h="604">
                <a:moveTo>
                  <a:pt x="0" y="490"/>
                </a:moveTo>
                <a:cubicBezTo>
                  <a:pt x="0" y="427"/>
                  <a:pt x="41" y="376"/>
                  <a:pt x="93" y="376"/>
                </a:cubicBezTo>
                <a:cubicBezTo>
                  <a:pt x="145" y="376"/>
                  <a:pt x="187" y="427"/>
                  <a:pt x="187" y="490"/>
                </a:cubicBezTo>
                <a:cubicBezTo>
                  <a:pt x="187" y="553"/>
                  <a:pt x="145" y="604"/>
                  <a:pt x="93" y="604"/>
                </a:cubicBezTo>
                <a:cubicBezTo>
                  <a:pt x="41" y="604"/>
                  <a:pt x="0" y="553"/>
                  <a:pt x="0" y="490"/>
                </a:cubicBezTo>
              </a:path>
              <a:path w="187" h="604">
                <a:moveTo>
                  <a:pt x="0" y="112"/>
                </a:moveTo>
                <a:cubicBezTo>
                  <a:pt x="0" y="50"/>
                  <a:pt x="41" y="0"/>
                  <a:pt x="93" y="0"/>
                </a:cubicBezTo>
                <a:cubicBezTo>
                  <a:pt x="145" y="0"/>
                  <a:pt x="187" y="50"/>
                  <a:pt x="187" y="112"/>
                </a:cubicBezTo>
                <a:cubicBezTo>
                  <a:pt x="187" y="175"/>
                  <a:pt x="145" y="225"/>
                  <a:pt x="93" y="225"/>
                </a:cubicBezTo>
                <a:cubicBezTo>
                  <a:pt x="41" y="225"/>
                  <a:pt x="0" y="175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textbox 720">
            <a:extLst>
              <a:ext uri="{FF2B5EF4-FFF2-40B4-BE49-F238E27FC236}">
                <a16:creationId xmlns:a16="http://schemas.microsoft.com/office/drawing/2014/main" id="{D1669552-CF47-C0DB-5DC9-3E7B76E79584}"/>
              </a:ext>
            </a:extLst>
          </p:cNvPr>
          <p:cNvSpPr/>
          <p:nvPr/>
        </p:nvSpPr>
        <p:spPr>
          <a:xfrm>
            <a:off x="3574577" y="4598943"/>
            <a:ext cx="432434" cy="144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2" name="textbox 722">
            <a:extLst>
              <a:ext uri="{FF2B5EF4-FFF2-40B4-BE49-F238E27FC236}">
                <a16:creationId xmlns:a16="http://schemas.microsoft.com/office/drawing/2014/main" id="{4CD0DEE1-2E08-D0C1-51AD-3CF47244B8DD}"/>
              </a:ext>
            </a:extLst>
          </p:cNvPr>
          <p:cNvSpPr/>
          <p:nvPr/>
        </p:nvSpPr>
        <p:spPr>
          <a:xfrm>
            <a:off x="4870612" y="4598943"/>
            <a:ext cx="432434" cy="144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3" name="textbox 724">
            <a:extLst>
              <a:ext uri="{FF2B5EF4-FFF2-40B4-BE49-F238E27FC236}">
                <a16:creationId xmlns:a16="http://schemas.microsoft.com/office/drawing/2014/main" id="{6BCCCB79-3730-9F39-490F-652AC2719CA4}"/>
              </a:ext>
            </a:extLst>
          </p:cNvPr>
          <p:cNvSpPr/>
          <p:nvPr/>
        </p:nvSpPr>
        <p:spPr>
          <a:xfrm>
            <a:off x="6172742" y="4598943"/>
            <a:ext cx="432434" cy="144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4" name="textbox 726">
            <a:extLst>
              <a:ext uri="{FF2B5EF4-FFF2-40B4-BE49-F238E27FC236}">
                <a16:creationId xmlns:a16="http://schemas.microsoft.com/office/drawing/2014/main" id="{E5CCECD2-E100-FDD5-88A0-D53F6017D632}"/>
              </a:ext>
            </a:extLst>
          </p:cNvPr>
          <p:cNvSpPr/>
          <p:nvPr/>
        </p:nvSpPr>
        <p:spPr>
          <a:xfrm>
            <a:off x="7495194" y="4598943"/>
            <a:ext cx="432434" cy="144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5" name="textbox 728">
            <a:extLst>
              <a:ext uri="{FF2B5EF4-FFF2-40B4-BE49-F238E27FC236}">
                <a16:creationId xmlns:a16="http://schemas.microsoft.com/office/drawing/2014/main" id="{DD3C8FED-5C95-AEE3-83BE-331AB154DB13}"/>
              </a:ext>
            </a:extLst>
          </p:cNvPr>
          <p:cNvSpPr/>
          <p:nvPr/>
        </p:nvSpPr>
        <p:spPr>
          <a:xfrm>
            <a:off x="8827551" y="4598943"/>
            <a:ext cx="432434" cy="1441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270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6" name="path">
            <a:extLst>
              <a:ext uri="{FF2B5EF4-FFF2-40B4-BE49-F238E27FC236}">
                <a16:creationId xmlns:a16="http://schemas.microsoft.com/office/drawing/2014/main" id="{70EEDBC2-7828-95FA-8F14-1CAC04B21DC6}"/>
              </a:ext>
            </a:extLst>
          </p:cNvPr>
          <p:cNvSpPr/>
          <p:nvPr/>
        </p:nvSpPr>
        <p:spPr>
          <a:xfrm>
            <a:off x="5651438" y="1951166"/>
            <a:ext cx="122551" cy="242947"/>
          </a:xfrm>
          <a:custGeom>
            <a:avLst/>
            <a:gdLst/>
            <a:ahLst/>
            <a:cxnLst/>
            <a:rect l="0" t="0" r="0" b="0"/>
            <a:pathLst>
              <a:path w="192" h="382">
                <a:moveTo>
                  <a:pt x="1" y="1"/>
                </a:moveTo>
                <a:lnTo>
                  <a:pt x="191" y="191"/>
                </a:lnTo>
                <a:lnTo>
                  <a:pt x="1" y="380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path">
            <a:extLst>
              <a:ext uri="{FF2B5EF4-FFF2-40B4-BE49-F238E27FC236}">
                <a16:creationId xmlns:a16="http://schemas.microsoft.com/office/drawing/2014/main" id="{737FDAA0-32D3-0792-CD6D-B99A13740429}"/>
              </a:ext>
            </a:extLst>
          </p:cNvPr>
          <p:cNvSpPr/>
          <p:nvPr/>
        </p:nvSpPr>
        <p:spPr>
          <a:xfrm>
            <a:off x="6744908" y="2207198"/>
            <a:ext cx="121788" cy="241422"/>
          </a:xfrm>
          <a:custGeom>
            <a:avLst/>
            <a:gdLst/>
            <a:ahLst/>
            <a:cxnLst/>
            <a:rect l="0" t="0" r="0" b="0"/>
            <a:pathLst>
              <a:path w="191" h="380">
                <a:moveTo>
                  <a:pt x="1" y="1"/>
                </a:moveTo>
                <a:lnTo>
                  <a:pt x="190" y="190"/>
                </a:lnTo>
                <a:lnTo>
                  <a:pt x="1" y="378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path">
            <a:extLst>
              <a:ext uri="{FF2B5EF4-FFF2-40B4-BE49-F238E27FC236}">
                <a16:creationId xmlns:a16="http://schemas.microsoft.com/office/drawing/2014/main" id="{8045E146-EDF3-84C7-9499-77055C9A433B}"/>
              </a:ext>
            </a:extLst>
          </p:cNvPr>
          <p:cNvSpPr/>
          <p:nvPr/>
        </p:nvSpPr>
        <p:spPr>
          <a:xfrm>
            <a:off x="3468623" y="3846576"/>
            <a:ext cx="120396" cy="144780"/>
          </a:xfrm>
          <a:custGeom>
            <a:avLst/>
            <a:gdLst/>
            <a:ahLst/>
            <a:cxnLst/>
            <a:rect l="0" t="0" r="0" b="0"/>
            <a:pathLst>
              <a:path w="189" h="228">
                <a:moveTo>
                  <a:pt x="0" y="114"/>
                </a:moveTo>
                <a:cubicBezTo>
                  <a:pt x="0" y="51"/>
                  <a:pt x="42" y="0"/>
                  <a:pt x="94" y="0"/>
                </a:cubicBezTo>
                <a:cubicBezTo>
                  <a:pt x="147" y="0"/>
                  <a:pt x="189" y="51"/>
                  <a:pt x="189" y="114"/>
                </a:cubicBezTo>
                <a:cubicBezTo>
                  <a:pt x="189" y="177"/>
                  <a:pt x="147" y="228"/>
                  <a:pt x="94" y="228"/>
                </a:cubicBezTo>
                <a:cubicBezTo>
                  <a:pt x="42" y="228"/>
                  <a:pt x="0" y="177"/>
                  <a:pt x="0" y="114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path">
            <a:extLst>
              <a:ext uri="{FF2B5EF4-FFF2-40B4-BE49-F238E27FC236}">
                <a16:creationId xmlns:a16="http://schemas.microsoft.com/office/drawing/2014/main" id="{7A3DFF27-6C69-4EED-0990-CB72A4C51835}"/>
              </a:ext>
            </a:extLst>
          </p:cNvPr>
          <p:cNvSpPr/>
          <p:nvPr/>
        </p:nvSpPr>
        <p:spPr>
          <a:xfrm>
            <a:off x="6092952" y="3846576"/>
            <a:ext cx="120396" cy="144780"/>
          </a:xfrm>
          <a:custGeom>
            <a:avLst/>
            <a:gdLst/>
            <a:ahLst/>
            <a:cxnLst/>
            <a:rect l="0" t="0" r="0" b="0"/>
            <a:pathLst>
              <a:path w="189" h="228">
                <a:moveTo>
                  <a:pt x="0" y="114"/>
                </a:moveTo>
                <a:cubicBezTo>
                  <a:pt x="0" y="51"/>
                  <a:pt x="42" y="0"/>
                  <a:pt x="94" y="0"/>
                </a:cubicBezTo>
                <a:cubicBezTo>
                  <a:pt x="147" y="0"/>
                  <a:pt x="189" y="51"/>
                  <a:pt x="189" y="114"/>
                </a:cubicBezTo>
                <a:cubicBezTo>
                  <a:pt x="189" y="177"/>
                  <a:pt x="147" y="228"/>
                  <a:pt x="94" y="228"/>
                </a:cubicBezTo>
                <a:cubicBezTo>
                  <a:pt x="42" y="228"/>
                  <a:pt x="0" y="177"/>
                  <a:pt x="0" y="114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path">
            <a:extLst>
              <a:ext uri="{FF2B5EF4-FFF2-40B4-BE49-F238E27FC236}">
                <a16:creationId xmlns:a16="http://schemas.microsoft.com/office/drawing/2014/main" id="{301BF511-E975-FF98-FB3B-B6D5C022278C}"/>
              </a:ext>
            </a:extLst>
          </p:cNvPr>
          <p:cNvSpPr/>
          <p:nvPr/>
        </p:nvSpPr>
        <p:spPr>
          <a:xfrm>
            <a:off x="8717280" y="3846576"/>
            <a:ext cx="120395" cy="144780"/>
          </a:xfrm>
          <a:custGeom>
            <a:avLst/>
            <a:gdLst/>
            <a:ahLst/>
            <a:cxnLst/>
            <a:rect l="0" t="0" r="0" b="0"/>
            <a:pathLst>
              <a:path w="189" h="228">
                <a:moveTo>
                  <a:pt x="0" y="114"/>
                </a:moveTo>
                <a:cubicBezTo>
                  <a:pt x="0" y="51"/>
                  <a:pt x="42" y="0"/>
                  <a:pt x="94" y="0"/>
                </a:cubicBezTo>
                <a:cubicBezTo>
                  <a:pt x="147" y="0"/>
                  <a:pt x="189" y="51"/>
                  <a:pt x="189" y="114"/>
                </a:cubicBezTo>
                <a:cubicBezTo>
                  <a:pt x="189" y="177"/>
                  <a:pt x="147" y="228"/>
                  <a:pt x="94" y="228"/>
                </a:cubicBezTo>
                <a:cubicBezTo>
                  <a:pt x="42" y="228"/>
                  <a:pt x="0" y="177"/>
                  <a:pt x="0" y="114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path">
            <a:extLst>
              <a:ext uri="{FF2B5EF4-FFF2-40B4-BE49-F238E27FC236}">
                <a16:creationId xmlns:a16="http://schemas.microsoft.com/office/drawing/2014/main" id="{07F1C737-D4EF-00FF-B6B3-5DAF0B1AB193}"/>
              </a:ext>
            </a:extLst>
          </p:cNvPr>
          <p:cNvSpPr/>
          <p:nvPr/>
        </p:nvSpPr>
        <p:spPr>
          <a:xfrm>
            <a:off x="7405116" y="3846576"/>
            <a:ext cx="120395" cy="144780"/>
          </a:xfrm>
          <a:custGeom>
            <a:avLst/>
            <a:gdLst/>
            <a:ahLst/>
            <a:cxnLst/>
            <a:rect l="0" t="0" r="0" b="0"/>
            <a:pathLst>
              <a:path w="189" h="228">
                <a:moveTo>
                  <a:pt x="0" y="114"/>
                </a:moveTo>
                <a:cubicBezTo>
                  <a:pt x="0" y="51"/>
                  <a:pt x="42" y="0"/>
                  <a:pt x="94" y="0"/>
                </a:cubicBezTo>
                <a:cubicBezTo>
                  <a:pt x="147" y="0"/>
                  <a:pt x="189" y="51"/>
                  <a:pt x="189" y="114"/>
                </a:cubicBezTo>
                <a:cubicBezTo>
                  <a:pt x="189" y="177"/>
                  <a:pt x="147" y="228"/>
                  <a:pt x="94" y="228"/>
                </a:cubicBezTo>
                <a:cubicBezTo>
                  <a:pt x="42" y="228"/>
                  <a:pt x="0" y="177"/>
                  <a:pt x="0" y="114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2" name="path">
            <a:extLst>
              <a:ext uri="{FF2B5EF4-FFF2-40B4-BE49-F238E27FC236}">
                <a16:creationId xmlns:a16="http://schemas.microsoft.com/office/drawing/2014/main" id="{640D51FB-6FEB-8D77-3BE2-E4D6EC0204F2}"/>
              </a:ext>
            </a:extLst>
          </p:cNvPr>
          <p:cNvSpPr/>
          <p:nvPr/>
        </p:nvSpPr>
        <p:spPr>
          <a:xfrm>
            <a:off x="3468623" y="4122420"/>
            <a:ext cx="120396" cy="143255"/>
          </a:xfrm>
          <a:custGeom>
            <a:avLst/>
            <a:gdLst/>
            <a:ahLst/>
            <a:cxnLst/>
            <a:rect l="0" t="0" r="0" b="0"/>
            <a:pathLst>
              <a:path w="189" h="225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4"/>
                  <a:pt x="147" y="225"/>
                  <a:pt x="94" y="225"/>
                </a:cubicBezTo>
                <a:cubicBezTo>
                  <a:pt x="42" y="225"/>
                  <a:pt x="0" y="174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3" name="path">
            <a:extLst>
              <a:ext uri="{FF2B5EF4-FFF2-40B4-BE49-F238E27FC236}">
                <a16:creationId xmlns:a16="http://schemas.microsoft.com/office/drawing/2014/main" id="{DB5CDA3E-E7AA-C259-DC0E-B15446932036}"/>
              </a:ext>
            </a:extLst>
          </p:cNvPr>
          <p:cNvSpPr/>
          <p:nvPr/>
        </p:nvSpPr>
        <p:spPr>
          <a:xfrm>
            <a:off x="6092952" y="4122420"/>
            <a:ext cx="120396" cy="143255"/>
          </a:xfrm>
          <a:custGeom>
            <a:avLst/>
            <a:gdLst/>
            <a:ahLst/>
            <a:cxnLst/>
            <a:rect l="0" t="0" r="0" b="0"/>
            <a:pathLst>
              <a:path w="189" h="225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4"/>
                  <a:pt x="147" y="225"/>
                  <a:pt x="94" y="225"/>
                </a:cubicBezTo>
                <a:cubicBezTo>
                  <a:pt x="42" y="225"/>
                  <a:pt x="0" y="174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path">
            <a:extLst>
              <a:ext uri="{FF2B5EF4-FFF2-40B4-BE49-F238E27FC236}">
                <a16:creationId xmlns:a16="http://schemas.microsoft.com/office/drawing/2014/main" id="{7805D0E8-20F8-D57E-19BC-96A6115B6B3C}"/>
              </a:ext>
            </a:extLst>
          </p:cNvPr>
          <p:cNvSpPr/>
          <p:nvPr/>
        </p:nvSpPr>
        <p:spPr>
          <a:xfrm>
            <a:off x="8717280" y="4122420"/>
            <a:ext cx="120395" cy="143255"/>
          </a:xfrm>
          <a:custGeom>
            <a:avLst/>
            <a:gdLst/>
            <a:ahLst/>
            <a:cxnLst/>
            <a:rect l="0" t="0" r="0" b="0"/>
            <a:pathLst>
              <a:path w="189" h="225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4"/>
                  <a:pt x="147" y="225"/>
                  <a:pt x="94" y="225"/>
                </a:cubicBezTo>
                <a:cubicBezTo>
                  <a:pt x="42" y="225"/>
                  <a:pt x="0" y="174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path">
            <a:extLst>
              <a:ext uri="{FF2B5EF4-FFF2-40B4-BE49-F238E27FC236}">
                <a16:creationId xmlns:a16="http://schemas.microsoft.com/office/drawing/2014/main" id="{1B825E17-98FD-732A-4104-754027C6E986}"/>
              </a:ext>
            </a:extLst>
          </p:cNvPr>
          <p:cNvSpPr/>
          <p:nvPr/>
        </p:nvSpPr>
        <p:spPr>
          <a:xfrm>
            <a:off x="7405116" y="4122420"/>
            <a:ext cx="120395" cy="143255"/>
          </a:xfrm>
          <a:custGeom>
            <a:avLst/>
            <a:gdLst/>
            <a:ahLst/>
            <a:cxnLst/>
            <a:rect l="0" t="0" r="0" b="0"/>
            <a:pathLst>
              <a:path w="189" h="225">
                <a:moveTo>
                  <a:pt x="0" y="112"/>
                </a:moveTo>
                <a:cubicBezTo>
                  <a:pt x="0" y="50"/>
                  <a:pt x="42" y="0"/>
                  <a:pt x="94" y="0"/>
                </a:cubicBezTo>
                <a:cubicBezTo>
                  <a:pt x="147" y="0"/>
                  <a:pt x="189" y="50"/>
                  <a:pt x="189" y="112"/>
                </a:cubicBezTo>
                <a:cubicBezTo>
                  <a:pt x="189" y="174"/>
                  <a:pt x="147" y="225"/>
                  <a:pt x="94" y="225"/>
                </a:cubicBezTo>
                <a:cubicBezTo>
                  <a:pt x="42" y="225"/>
                  <a:pt x="0" y="174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path">
            <a:extLst>
              <a:ext uri="{FF2B5EF4-FFF2-40B4-BE49-F238E27FC236}">
                <a16:creationId xmlns:a16="http://schemas.microsoft.com/office/drawing/2014/main" id="{DAB671AD-1DB7-1032-734E-291D394EEAEB}"/>
              </a:ext>
            </a:extLst>
          </p:cNvPr>
          <p:cNvSpPr/>
          <p:nvPr/>
        </p:nvSpPr>
        <p:spPr>
          <a:xfrm>
            <a:off x="4791455" y="3846576"/>
            <a:ext cx="118872" cy="144780"/>
          </a:xfrm>
          <a:custGeom>
            <a:avLst/>
            <a:gdLst/>
            <a:ahLst/>
            <a:cxnLst/>
            <a:rect l="0" t="0" r="0" b="0"/>
            <a:pathLst>
              <a:path w="187" h="228">
                <a:moveTo>
                  <a:pt x="0" y="114"/>
                </a:moveTo>
                <a:cubicBezTo>
                  <a:pt x="0" y="51"/>
                  <a:pt x="41" y="0"/>
                  <a:pt x="93" y="0"/>
                </a:cubicBezTo>
                <a:cubicBezTo>
                  <a:pt x="145" y="0"/>
                  <a:pt x="187" y="51"/>
                  <a:pt x="187" y="114"/>
                </a:cubicBezTo>
                <a:cubicBezTo>
                  <a:pt x="187" y="177"/>
                  <a:pt x="145" y="228"/>
                  <a:pt x="93" y="228"/>
                </a:cubicBezTo>
                <a:cubicBezTo>
                  <a:pt x="41" y="228"/>
                  <a:pt x="0" y="177"/>
                  <a:pt x="0" y="114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8" name="path">
            <a:extLst>
              <a:ext uri="{FF2B5EF4-FFF2-40B4-BE49-F238E27FC236}">
                <a16:creationId xmlns:a16="http://schemas.microsoft.com/office/drawing/2014/main" id="{D051080F-91FD-A1FC-DBCA-14D7BE97FDA7}"/>
              </a:ext>
            </a:extLst>
          </p:cNvPr>
          <p:cNvSpPr/>
          <p:nvPr/>
        </p:nvSpPr>
        <p:spPr>
          <a:xfrm>
            <a:off x="4791455" y="4122420"/>
            <a:ext cx="118872" cy="143255"/>
          </a:xfrm>
          <a:custGeom>
            <a:avLst/>
            <a:gdLst/>
            <a:ahLst/>
            <a:cxnLst/>
            <a:rect l="0" t="0" r="0" b="0"/>
            <a:pathLst>
              <a:path w="187" h="225">
                <a:moveTo>
                  <a:pt x="0" y="112"/>
                </a:moveTo>
                <a:cubicBezTo>
                  <a:pt x="0" y="50"/>
                  <a:pt x="41" y="0"/>
                  <a:pt x="93" y="0"/>
                </a:cubicBezTo>
                <a:cubicBezTo>
                  <a:pt x="145" y="0"/>
                  <a:pt x="187" y="50"/>
                  <a:pt x="187" y="112"/>
                </a:cubicBezTo>
                <a:cubicBezTo>
                  <a:pt x="187" y="174"/>
                  <a:pt x="145" y="225"/>
                  <a:pt x="93" y="225"/>
                </a:cubicBezTo>
                <a:cubicBezTo>
                  <a:pt x="41" y="225"/>
                  <a:pt x="0" y="174"/>
                  <a:pt x="0" y="112"/>
                </a:cubicBezTo>
              </a:path>
            </a:pathLst>
          </a:custGeom>
          <a:solidFill>
            <a:srgbClr val="366B7E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rect">
            <a:extLst>
              <a:ext uri="{FF2B5EF4-FFF2-40B4-BE49-F238E27FC236}">
                <a16:creationId xmlns:a16="http://schemas.microsoft.com/office/drawing/2014/main" id="{D62FDAF0-7388-9E87-E216-F2E5F0FFD3F5}"/>
              </a:ext>
            </a:extLst>
          </p:cNvPr>
          <p:cNvSpPr/>
          <p:nvPr/>
        </p:nvSpPr>
        <p:spPr>
          <a:xfrm>
            <a:off x="3572255" y="2823972"/>
            <a:ext cx="5269991" cy="3047"/>
          </a:xfrm>
          <a:prstGeom prst="rect">
            <a:avLst/>
          </a:pr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path">
            <a:extLst>
              <a:ext uri="{FF2B5EF4-FFF2-40B4-BE49-F238E27FC236}">
                <a16:creationId xmlns:a16="http://schemas.microsoft.com/office/drawing/2014/main" id="{EA21A9E5-9374-5670-4777-1277BD89811C}"/>
              </a:ext>
            </a:extLst>
          </p:cNvPr>
          <p:cNvSpPr/>
          <p:nvPr/>
        </p:nvSpPr>
        <p:spPr>
          <a:xfrm>
            <a:off x="4931348" y="1816292"/>
            <a:ext cx="121789" cy="121789"/>
          </a:xfrm>
          <a:custGeom>
            <a:avLst/>
            <a:gdLst/>
            <a:ahLst/>
            <a:cxnLst/>
            <a:rect l="0" t="0" r="0" b="0"/>
            <a:pathLst>
              <a:path w="191" h="191">
                <a:moveTo>
                  <a:pt x="190" y="1"/>
                </a:moveTo>
                <a:lnTo>
                  <a:pt x="1" y="190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path">
            <a:extLst>
              <a:ext uri="{FF2B5EF4-FFF2-40B4-BE49-F238E27FC236}">
                <a16:creationId xmlns:a16="http://schemas.microsoft.com/office/drawing/2014/main" id="{19A9ABBC-EBBA-D8DA-CDF8-80AF8143E362}"/>
              </a:ext>
            </a:extLst>
          </p:cNvPr>
          <p:cNvSpPr/>
          <p:nvPr/>
        </p:nvSpPr>
        <p:spPr>
          <a:xfrm>
            <a:off x="8841170" y="2662874"/>
            <a:ext cx="82926" cy="163699"/>
          </a:xfrm>
          <a:custGeom>
            <a:avLst/>
            <a:gdLst/>
            <a:ahLst/>
            <a:cxnLst/>
            <a:rect l="0" t="0" r="0" b="0"/>
            <a:pathLst>
              <a:path w="130" h="257">
                <a:moveTo>
                  <a:pt x="1" y="1"/>
                </a:moveTo>
                <a:lnTo>
                  <a:pt x="128" y="128"/>
                </a:lnTo>
                <a:lnTo>
                  <a:pt x="1" y="256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path">
            <a:extLst>
              <a:ext uri="{FF2B5EF4-FFF2-40B4-BE49-F238E27FC236}">
                <a16:creationId xmlns:a16="http://schemas.microsoft.com/office/drawing/2014/main" id="{8D318499-CC8E-725A-B260-337D93AC432D}"/>
              </a:ext>
            </a:extLst>
          </p:cNvPr>
          <p:cNvSpPr/>
          <p:nvPr/>
        </p:nvSpPr>
        <p:spPr>
          <a:xfrm>
            <a:off x="3572255" y="1696212"/>
            <a:ext cx="4363974" cy="3047"/>
          </a:xfrm>
          <a:custGeom>
            <a:avLst/>
            <a:gdLst/>
            <a:ahLst/>
            <a:cxnLst/>
            <a:rect l="0" t="0" r="0" b="0"/>
            <a:pathLst>
              <a:path w="6872" h="4">
                <a:moveTo>
                  <a:pt x="0" y="2"/>
                </a:moveTo>
                <a:lnTo>
                  <a:pt x="6872" y="2"/>
                </a:lnTo>
                <a:moveTo>
                  <a:pt x="0" y="2"/>
                </a:moveTo>
                <a:lnTo>
                  <a:pt x="2141" y="2"/>
                </a:lnTo>
              </a:path>
            </a:pathLst>
          </a:custGeom>
          <a:noFill/>
          <a:ln w="3048" cap="flat">
            <a:solidFill>
              <a:srgbClr val="FFFFFF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507474C-82C5-CB8A-C600-1160C9138C1D}"/>
              </a:ext>
            </a:extLst>
          </p:cNvPr>
          <p:cNvSpPr txBox="1"/>
          <p:nvPr/>
        </p:nvSpPr>
        <p:spPr>
          <a:xfrm>
            <a:off x="225144" y="313662"/>
            <a:ext cx="8833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通过数据治理，制定数据架构与标准，然后建立数据中台，实现数据数据汇聚与联接，进而实现数据分析与决策</a:t>
            </a:r>
          </a:p>
        </p:txBody>
      </p:sp>
      <p:pic>
        <p:nvPicPr>
          <p:cNvPr id="4" name="picture 526">
            <a:extLst>
              <a:ext uri="{FF2B5EF4-FFF2-40B4-BE49-F238E27FC236}">
                <a16:creationId xmlns:a16="http://schemas.microsoft.com/office/drawing/2014/main" id="{1816AF40-A52F-634D-5286-57D9043E8F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7044" y="4770119"/>
            <a:ext cx="7584947" cy="1453896"/>
          </a:xfrm>
          <a:prstGeom prst="rect">
            <a:avLst/>
          </a:prstGeom>
        </p:spPr>
      </p:pic>
      <p:pic>
        <p:nvPicPr>
          <p:cNvPr id="37" name="picture 576">
            <a:extLst>
              <a:ext uri="{FF2B5EF4-FFF2-40B4-BE49-F238E27FC236}">
                <a16:creationId xmlns:a16="http://schemas.microsoft.com/office/drawing/2014/main" id="{DC9F94CD-4030-52A9-D75E-448DAB7699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8656" y="5265420"/>
            <a:ext cx="140080" cy="76200"/>
          </a:xfrm>
          <a:prstGeom prst="rect">
            <a:avLst/>
          </a:prstGeom>
        </p:spPr>
      </p:pic>
      <p:pic>
        <p:nvPicPr>
          <p:cNvPr id="38" name="picture 578">
            <a:extLst>
              <a:ext uri="{FF2B5EF4-FFF2-40B4-BE49-F238E27FC236}">
                <a16:creationId xmlns:a16="http://schemas.microsoft.com/office/drawing/2014/main" id="{6428D107-8E73-AC0E-839C-353F59315C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07264" y="5175810"/>
            <a:ext cx="510540" cy="307247"/>
          </a:xfrm>
          <a:prstGeom prst="rect">
            <a:avLst/>
          </a:prstGeom>
        </p:spPr>
      </p:pic>
      <p:pic>
        <p:nvPicPr>
          <p:cNvPr id="60" name="picture 618">
            <a:extLst>
              <a:ext uri="{FF2B5EF4-FFF2-40B4-BE49-F238E27FC236}">
                <a16:creationId xmlns:a16="http://schemas.microsoft.com/office/drawing/2014/main" id="{F5AE8151-B405-0E8E-BF42-1D93F141DD6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4725" y="5643665"/>
            <a:ext cx="657150" cy="307247"/>
          </a:xfrm>
          <a:prstGeom prst="rect">
            <a:avLst/>
          </a:prstGeom>
        </p:spPr>
      </p:pic>
      <p:pic>
        <p:nvPicPr>
          <p:cNvPr id="61" name="picture 620">
            <a:extLst>
              <a:ext uri="{FF2B5EF4-FFF2-40B4-BE49-F238E27FC236}">
                <a16:creationId xmlns:a16="http://schemas.microsoft.com/office/drawing/2014/main" id="{7658948F-F976-4CC4-BA67-811E076BF8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97483" y="5643665"/>
            <a:ext cx="657150" cy="307247"/>
          </a:xfrm>
          <a:prstGeom prst="rect">
            <a:avLst/>
          </a:prstGeom>
        </p:spPr>
      </p:pic>
      <p:pic>
        <p:nvPicPr>
          <p:cNvPr id="62" name="picture 622">
            <a:extLst>
              <a:ext uri="{FF2B5EF4-FFF2-40B4-BE49-F238E27FC236}">
                <a16:creationId xmlns:a16="http://schemas.microsoft.com/office/drawing/2014/main" id="{91BE6CF1-84D2-A4D0-B41E-B7EC90B7487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5665" y="5643665"/>
            <a:ext cx="654456" cy="307247"/>
          </a:xfrm>
          <a:prstGeom prst="rect">
            <a:avLst/>
          </a:prstGeom>
        </p:spPr>
      </p:pic>
      <p:pic>
        <p:nvPicPr>
          <p:cNvPr id="63" name="picture 624">
            <a:extLst>
              <a:ext uri="{FF2B5EF4-FFF2-40B4-BE49-F238E27FC236}">
                <a16:creationId xmlns:a16="http://schemas.microsoft.com/office/drawing/2014/main" id="{785B4AC6-1EB6-B4B0-748A-A36A1BB8F6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78331" y="5643665"/>
            <a:ext cx="654456" cy="307247"/>
          </a:xfrm>
          <a:prstGeom prst="rect">
            <a:avLst/>
          </a:prstGeom>
        </p:spPr>
      </p:pic>
      <p:pic>
        <p:nvPicPr>
          <p:cNvPr id="64" name="picture 626">
            <a:extLst>
              <a:ext uri="{FF2B5EF4-FFF2-40B4-BE49-F238E27FC236}">
                <a16:creationId xmlns:a16="http://schemas.microsoft.com/office/drawing/2014/main" id="{650D8199-F5B8-C9C9-39A2-360C0D4A725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1820" y="5440679"/>
            <a:ext cx="76200" cy="195211"/>
          </a:xfrm>
          <a:prstGeom prst="rect">
            <a:avLst/>
          </a:prstGeom>
        </p:spPr>
      </p:pic>
      <p:pic>
        <p:nvPicPr>
          <p:cNvPr id="65" name="picture 628">
            <a:extLst>
              <a:ext uri="{FF2B5EF4-FFF2-40B4-BE49-F238E27FC236}">
                <a16:creationId xmlns:a16="http://schemas.microsoft.com/office/drawing/2014/main" id="{131E652D-801B-6E09-9B51-AE0BF75EC6E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07616" y="5175810"/>
            <a:ext cx="654378" cy="307247"/>
          </a:xfrm>
          <a:prstGeom prst="rect">
            <a:avLst/>
          </a:prstGeom>
        </p:spPr>
      </p:pic>
      <p:graphicFrame>
        <p:nvGraphicFramePr>
          <p:cNvPr id="66" name="table 630">
            <a:extLst>
              <a:ext uri="{FF2B5EF4-FFF2-40B4-BE49-F238E27FC236}">
                <a16:creationId xmlns:a16="http://schemas.microsoft.com/office/drawing/2014/main" id="{8098E268-9CD9-8B0E-76CC-A6F3BA07861B}"/>
              </a:ext>
            </a:extLst>
          </p:cNvPr>
          <p:cNvGraphicFramePr>
            <a:graphicFrameLocks noGrp="1"/>
          </p:cNvGraphicFramePr>
          <p:nvPr/>
        </p:nvGraphicFramePr>
        <p:xfrm>
          <a:off x="6907784" y="5632704"/>
          <a:ext cx="629284" cy="275589"/>
        </p:xfrm>
        <a:graphic>
          <a:graphicData uri="http://schemas.openxmlformats.org/drawingml/2006/table">
            <a:tbl>
              <a:tblPr/>
              <a:tblGrid>
                <a:gridCol w="629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7" name="picture 632">
            <a:extLst>
              <a:ext uri="{FF2B5EF4-FFF2-40B4-BE49-F238E27FC236}">
                <a16:creationId xmlns:a16="http://schemas.microsoft.com/office/drawing/2014/main" id="{20142B46-CA14-BAFF-4D77-4A326556604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29885" y="5413107"/>
            <a:ext cx="206680" cy="369849"/>
          </a:xfrm>
          <a:prstGeom prst="rect">
            <a:avLst/>
          </a:prstGeom>
        </p:spPr>
      </p:pic>
      <p:pic>
        <p:nvPicPr>
          <p:cNvPr id="68" name="picture 634">
            <a:extLst>
              <a:ext uri="{FF2B5EF4-FFF2-40B4-BE49-F238E27FC236}">
                <a16:creationId xmlns:a16="http://schemas.microsoft.com/office/drawing/2014/main" id="{10DEE4EB-D221-2B40-21BE-625C85D3AC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80276" y="5265420"/>
            <a:ext cx="140081" cy="76200"/>
          </a:xfrm>
          <a:prstGeom prst="rect">
            <a:avLst/>
          </a:prstGeom>
        </p:spPr>
      </p:pic>
      <p:pic>
        <p:nvPicPr>
          <p:cNvPr id="69" name="picture 636">
            <a:extLst>
              <a:ext uri="{FF2B5EF4-FFF2-40B4-BE49-F238E27FC236}">
                <a16:creationId xmlns:a16="http://schemas.microsoft.com/office/drawing/2014/main" id="{3CFF9D8F-A65D-18FF-EF61-F103A58BFA0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8092" y="5175810"/>
            <a:ext cx="654378" cy="307247"/>
          </a:xfrm>
          <a:prstGeom prst="rect">
            <a:avLst/>
          </a:prstGeom>
        </p:spPr>
      </p:pic>
      <p:pic>
        <p:nvPicPr>
          <p:cNvPr id="70" name="picture 638">
            <a:extLst>
              <a:ext uri="{FF2B5EF4-FFF2-40B4-BE49-F238E27FC236}">
                <a16:creationId xmlns:a16="http://schemas.microsoft.com/office/drawing/2014/main" id="{5647C0EA-7D73-6FEA-2BA0-9B7A19B9308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88827" y="5175810"/>
            <a:ext cx="653101" cy="307247"/>
          </a:xfrm>
          <a:prstGeom prst="rect">
            <a:avLst/>
          </a:prstGeom>
        </p:spPr>
      </p:pic>
      <p:pic>
        <p:nvPicPr>
          <p:cNvPr id="71" name="picture 640">
            <a:extLst>
              <a:ext uri="{FF2B5EF4-FFF2-40B4-BE49-F238E27FC236}">
                <a16:creationId xmlns:a16="http://schemas.microsoft.com/office/drawing/2014/main" id="{DD979B82-72E1-B3B8-B28C-C2116EE541C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88159" y="5175810"/>
            <a:ext cx="653101" cy="307247"/>
          </a:xfrm>
          <a:prstGeom prst="rect">
            <a:avLst/>
          </a:prstGeom>
        </p:spPr>
      </p:pic>
      <p:pic>
        <p:nvPicPr>
          <p:cNvPr id="72" name="picture 642">
            <a:extLst>
              <a:ext uri="{FF2B5EF4-FFF2-40B4-BE49-F238E27FC236}">
                <a16:creationId xmlns:a16="http://schemas.microsoft.com/office/drawing/2014/main" id="{E68C1257-4364-159C-5FA0-D9FC8808E6F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39895" y="5265420"/>
            <a:ext cx="140081" cy="76200"/>
          </a:xfrm>
          <a:prstGeom prst="rect">
            <a:avLst/>
          </a:prstGeom>
        </p:spPr>
      </p:pic>
      <p:pic>
        <p:nvPicPr>
          <p:cNvPr id="73" name="picture 644">
            <a:extLst>
              <a:ext uri="{FF2B5EF4-FFF2-40B4-BE49-F238E27FC236}">
                <a16:creationId xmlns:a16="http://schemas.microsoft.com/office/drawing/2014/main" id="{44A60BEF-193C-A1E8-9F0C-3D1624BE3F3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29796" y="5175810"/>
            <a:ext cx="651746" cy="307247"/>
          </a:xfrm>
          <a:prstGeom prst="rect">
            <a:avLst/>
          </a:prstGeom>
        </p:spPr>
      </p:pic>
      <p:pic>
        <p:nvPicPr>
          <p:cNvPr id="74" name="picture 646">
            <a:extLst>
              <a:ext uri="{FF2B5EF4-FFF2-40B4-BE49-F238E27FC236}">
                <a16:creationId xmlns:a16="http://schemas.microsoft.com/office/drawing/2014/main" id="{58C8746C-2012-3621-DD8C-325EB1D4B12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49224" y="5175810"/>
            <a:ext cx="651746" cy="307247"/>
          </a:xfrm>
          <a:prstGeom prst="rect">
            <a:avLst/>
          </a:prstGeom>
        </p:spPr>
      </p:pic>
      <p:graphicFrame>
        <p:nvGraphicFramePr>
          <p:cNvPr id="75" name="table 648">
            <a:extLst>
              <a:ext uri="{FF2B5EF4-FFF2-40B4-BE49-F238E27FC236}">
                <a16:creationId xmlns:a16="http://schemas.microsoft.com/office/drawing/2014/main" id="{3102F2F5-835F-4A68-8694-62D098104781}"/>
              </a:ext>
            </a:extLst>
          </p:cNvPr>
          <p:cNvGraphicFramePr>
            <a:graphicFrameLocks noGrp="1"/>
          </p:cNvGraphicFramePr>
          <p:nvPr/>
        </p:nvGraphicFramePr>
        <p:xfrm>
          <a:off x="8433816" y="5632704"/>
          <a:ext cx="627380" cy="276225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altLang="en-US" sz="100" dirty="0"/>
                    </a:p>
                    <a:p>
                      <a:pPr marL="257810" indent="-227330" algn="ctr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9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采购订单</a:t>
                      </a:r>
                      <a:endParaRPr lang="en-US" altLang="en-US" sz="9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6" name="picture 650">
            <a:extLst>
              <a:ext uri="{FF2B5EF4-FFF2-40B4-BE49-F238E27FC236}">
                <a16:creationId xmlns:a16="http://schemas.microsoft.com/office/drawing/2014/main" id="{E6AC1106-ECD6-0387-74D0-254859F8AC6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10676" y="5440679"/>
            <a:ext cx="76200" cy="195211"/>
          </a:xfrm>
          <a:prstGeom prst="rect">
            <a:avLst/>
          </a:prstGeom>
        </p:spPr>
      </p:pic>
      <p:pic>
        <p:nvPicPr>
          <p:cNvPr id="77" name="picture 652">
            <a:extLst>
              <a:ext uri="{FF2B5EF4-FFF2-40B4-BE49-F238E27FC236}">
                <a16:creationId xmlns:a16="http://schemas.microsoft.com/office/drawing/2014/main" id="{62013E82-D5DA-5B51-320F-F75805552B5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48557" y="5175810"/>
            <a:ext cx="651746" cy="307247"/>
          </a:xfrm>
          <a:prstGeom prst="rect">
            <a:avLst/>
          </a:prstGeom>
        </p:spPr>
      </p:pic>
      <p:pic>
        <p:nvPicPr>
          <p:cNvPr id="78" name="picture 654">
            <a:extLst>
              <a:ext uri="{FF2B5EF4-FFF2-40B4-BE49-F238E27FC236}">
                <a16:creationId xmlns:a16="http://schemas.microsoft.com/office/drawing/2014/main" id="{AF7E30B6-1F0F-8F47-F6BB-8EB29D25545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39227" y="5265420"/>
            <a:ext cx="140081" cy="76200"/>
          </a:xfrm>
          <a:prstGeom prst="rect">
            <a:avLst/>
          </a:prstGeom>
        </p:spPr>
      </p:pic>
      <p:pic>
        <p:nvPicPr>
          <p:cNvPr id="79" name="picture 656">
            <a:extLst>
              <a:ext uri="{FF2B5EF4-FFF2-40B4-BE49-F238E27FC236}">
                <a16:creationId xmlns:a16="http://schemas.microsoft.com/office/drawing/2014/main" id="{A1F61D78-17FB-A1E0-736E-4D8A2A54B8B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29128" y="5175810"/>
            <a:ext cx="651746" cy="307247"/>
          </a:xfrm>
          <a:prstGeom prst="rect">
            <a:avLst/>
          </a:prstGeom>
        </p:spPr>
      </p:pic>
      <p:graphicFrame>
        <p:nvGraphicFramePr>
          <p:cNvPr id="80" name="table 658">
            <a:extLst>
              <a:ext uri="{FF2B5EF4-FFF2-40B4-BE49-F238E27FC236}">
                <a16:creationId xmlns:a16="http://schemas.microsoft.com/office/drawing/2014/main" id="{E255AC51-33BF-00A3-4F87-01FA163C4F32}"/>
              </a:ext>
            </a:extLst>
          </p:cNvPr>
          <p:cNvGraphicFramePr>
            <a:graphicFrameLocks noGrp="1"/>
          </p:cNvGraphicFramePr>
          <p:nvPr/>
        </p:nvGraphicFramePr>
        <p:xfrm>
          <a:off x="5393435" y="5632704"/>
          <a:ext cx="629284" cy="275589"/>
        </p:xfrm>
        <a:graphic>
          <a:graphicData uri="http://schemas.openxmlformats.org/drawingml/2006/table">
            <a:tbl>
              <a:tblPr/>
              <a:tblGrid>
                <a:gridCol w="629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660">
            <a:extLst>
              <a:ext uri="{FF2B5EF4-FFF2-40B4-BE49-F238E27FC236}">
                <a16:creationId xmlns:a16="http://schemas.microsoft.com/office/drawing/2014/main" id="{84608949-0CBD-7833-69E8-4AF43654FBAB}"/>
              </a:ext>
            </a:extLst>
          </p:cNvPr>
          <p:cNvGraphicFramePr>
            <a:graphicFrameLocks noGrp="1"/>
          </p:cNvGraphicFramePr>
          <p:nvPr/>
        </p:nvGraphicFramePr>
        <p:xfrm>
          <a:off x="7698231" y="5632704"/>
          <a:ext cx="627380" cy="275589"/>
        </p:xfrm>
        <a:graphic>
          <a:graphicData uri="http://schemas.openxmlformats.org/drawingml/2006/table">
            <a:tbl>
              <a:tblPr/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" name="table 662">
            <a:extLst>
              <a:ext uri="{FF2B5EF4-FFF2-40B4-BE49-F238E27FC236}">
                <a16:creationId xmlns:a16="http://schemas.microsoft.com/office/drawing/2014/main" id="{CEDBC158-8531-AC81-C4C4-E9BC1386633B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5164835"/>
          <a:ext cx="626110" cy="275589"/>
        </p:xfrm>
        <a:graphic>
          <a:graphicData uri="http://schemas.openxmlformats.org/drawingml/2006/table">
            <a:tbl>
              <a:tblPr/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" name="table 664">
            <a:extLst>
              <a:ext uri="{FF2B5EF4-FFF2-40B4-BE49-F238E27FC236}">
                <a16:creationId xmlns:a16="http://schemas.microsoft.com/office/drawing/2014/main" id="{F3D02AAC-B8A9-B017-C9CA-D10FFF13C5C0}"/>
              </a:ext>
            </a:extLst>
          </p:cNvPr>
          <p:cNvGraphicFramePr>
            <a:graphicFrameLocks noGrp="1"/>
          </p:cNvGraphicFramePr>
          <p:nvPr/>
        </p:nvGraphicFramePr>
        <p:xfrm>
          <a:off x="7676388" y="5164835"/>
          <a:ext cx="626109" cy="275589"/>
        </p:xfrm>
        <a:graphic>
          <a:graphicData uri="http://schemas.openxmlformats.org/drawingml/2006/table">
            <a:tbl>
              <a:tblPr/>
              <a:tblGrid>
                <a:gridCol w="626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table 666">
            <a:extLst>
              <a:ext uri="{FF2B5EF4-FFF2-40B4-BE49-F238E27FC236}">
                <a16:creationId xmlns:a16="http://schemas.microsoft.com/office/drawing/2014/main" id="{5D906058-0622-CF37-D4E1-4B3EC4F6F4C1}"/>
              </a:ext>
            </a:extLst>
          </p:cNvPr>
          <p:cNvGraphicFramePr>
            <a:graphicFrameLocks noGrp="1"/>
          </p:cNvGraphicFramePr>
          <p:nvPr/>
        </p:nvGraphicFramePr>
        <p:xfrm>
          <a:off x="5396484" y="5164835"/>
          <a:ext cx="626109" cy="275589"/>
        </p:xfrm>
        <a:graphic>
          <a:graphicData uri="http://schemas.openxmlformats.org/drawingml/2006/table">
            <a:tbl>
              <a:tblPr/>
              <a:tblGrid>
                <a:gridCol w="626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e 668">
            <a:extLst>
              <a:ext uri="{FF2B5EF4-FFF2-40B4-BE49-F238E27FC236}">
                <a16:creationId xmlns:a16="http://schemas.microsoft.com/office/drawing/2014/main" id="{ECD0E52B-6045-6E80-54D8-A8F150BF139D}"/>
              </a:ext>
            </a:extLst>
          </p:cNvPr>
          <p:cNvGraphicFramePr>
            <a:graphicFrameLocks noGrp="1"/>
          </p:cNvGraphicFramePr>
          <p:nvPr/>
        </p:nvGraphicFramePr>
        <p:xfrm>
          <a:off x="3877055" y="5164835"/>
          <a:ext cx="626109" cy="275589"/>
        </p:xfrm>
        <a:graphic>
          <a:graphicData uri="http://schemas.openxmlformats.org/drawingml/2006/table">
            <a:tbl>
              <a:tblPr/>
              <a:tblGrid>
                <a:gridCol w="626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" name="table 670">
            <a:extLst>
              <a:ext uri="{FF2B5EF4-FFF2-40B4-BE49-F238E27FC236}">
                <a16:creationId xmlns:a16="http://schemas.microsoft.com/office/drawing/2014/main" id="{9A2245A2-9DD1-FFF8-A7D1-C90469340CFB}"/>
              </a:ext>
            </a:extLst>
          </p:cNvPr>
          <p:cNvGraphicFramePr>
            <a:graphicFrameLocks noGrp="1"/>
          </p:cNvGraphicFramePr>
          <p:nvPr/>
        </p:nvGraphicFramePr>
        <p:xfrm>
          <a:off x="8436864" y="5164835"/>
          <a:ext cx="624840" cy="275589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marL="0" algn="ctr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900" kern="0" spc="-1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库存管理</a:t>
                      </a:r>
                      <a:endParaRPr lang="en-US" altLang="en-US" sz="9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" name="table 672">
            <a:extLst>
              <a:ext uri="{FF2B5EF4-FFF2-40B4-BE49-F238E27FC236}">
                <a16:creationId xmlns:a16="http://schemas.microsoft.com/office/drawing/2014/main" id="{1656F9FA-B7A3-F3A5-428A-885A5A5689CB}"/>
              </a:ext>
            </a:extLst>
          </p:cNvPr>
          <p:cNvGraphicFramePr>
            <a:graphicFrameLocks noGrp="1"/>
          </p:cNvGraphicFramePr>
          <p:nvPr/>
        </p:nvGraphicFramePr>
        <p:xfrm>
          <a:off x="4637532" y="5164835"/>
          <a:ext cx="624204" cy="275589"/>
        </p:xfrm>
        <a:graphic>
          <a:graphicData uri="http://schemas.openxmlformats.org/drawingml/2006/table">
            <a:tbl>
              <a:tblPr/>
              <a:tblGrid>
                <a:gridCol w="62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table 674">
            <a:extLst>
              <a:ext uri="{FF2B5EF4-FFF2-40B4-BE49-F238E27FC236}">
                <a16:creationId xmlns:a16="http://schemas.microsoft.com/office/drawing/2014/main" id="{6EB866FD-AF77-256A-929F-B43390FD2373}"/>
              </a:ext>
            </a:extLst>
          </p:cNvPr>
          <p:cNvGraphicFramePr>
            <a:graphicFrameLocks noGrp="1"/>
          </p:cNvGraphicFramePr>
          <p:nvPr/>
        </p:nvGraphicFramePr>
        <p:xfrm>
          <a:off x="3118103" y="5164835"/>
          <a:ext cx="624204" cy="275589"/>
        </p:xfrm>
        <a:graphic>
          <a:graphicData uri="http://schemas.openxmlformats.org/drawingml/2006/table">
            <a:tbl>
              <a:tblPr/>
              <a:tblGrid>
                <a:gridCol w="62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table 676">
            <a:extLst>
              <a:ext uri="{FF2B5EF4-FFF2-40B4-BE49-F238E27FC236}">
                <a16:creationId xmlns:a16="http://schemas.microsoft.com/office/drawing/2014/main" id="{A7FE7A98-9559-414C-4061-FD507D2ED34B}"/>
              </a:ext>
            </a:extLst>
          </p:cNvPr>
          <p:cNvGraphicFramePr>
            <a:graphicFrameLocks noGrp="1"/>
          </p:cNvGraphicFramePr>
          <p:nvPr/>
        </p:nvGraphicFramePr>
        <p:xfrm>
          <a:off x="6917436" y="5164835"/>
          <a:ext cx="624205" cy="275589"/>
        </p:xfrm>
        <a:graphic>
          <a:graphicData uri="http://schemas.openxmlformats.org/drawingml/2006/table">
            <a:tbl>
              <a:tblPr/>
              <a:tblGrid>
                <a:gridCol w="6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" name="textbox 678">
            <a:extLst>
              <a:ext uri="{FF2B5EF4-FFF2-40B4-BE49-F238E27FC236}">
                <a16:creationId xmlns:a16="http://schemas.microsoft.com/office/drawing/2014/main" id="{A6385E87-A89D-C9E2-7B0A-F51FD3C03B4F}"/>
              </a:ext>
            </a:extLst>
          </p:cNvPr>
          <p:cNvSpPr/>
          <p:nvPr/>
        </p:nvSpPr>
        <p:spPr>
          <a:xfrm>
            <a:off x="6160008" y="5167883"/>
            <a:ext cx="620394" cy="27622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anchor="ctr"/>
          <a:lstStyle/>
          <a:p>
            <a:pPr marL="0" marR="0" lvl="0" indent="0" algn="ctr" defTabSz="914400" rtl="0" eaLnBrk="0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销售订单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1" name="textbox 682">
            <a:extLst>
              <a:ext uri="{FF2B5EF4-FFF2-40B4-BE49-F238E27FC236}">
                <a16:creationId xmlns:a16="http://schemas.microsoft.com/office/drawing/2014/main" id="{F1A74A7E-C8A1-06A1-B1F1-F46B845B4116}"/>
              </a:ext>
            </a:extLst>
          </p:cNvPr>
          <p:cNvSpPr/>
          <p:nvPr/>
        </p:nvSpPr>
        <p:spPr>
          <a:xfrm>
            <a:off x="5396483" y="5635752"/>
            <a:ext cx="623569" cy="27770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anchor="ctr">
            <a:noAutofit/>
          </a:bodyPr>
          <a:lstStyle/>
          <a:p>
            <a:pPr marL="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kumimoji="0" lang="en-US" altLang="zh-CN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2" name="textbox 684">
            <a:extLst>
              <a:ext uri="{FF2B5EF4-FFF2-40B4-BE49-F238E27FC236}">
                <a16:creationId xmlns:a16="http://schemas.microsoft.com/office/drawing/2014/main" id="{3F5C0D12-A00B-16B5-42B0-9FA0C7B700B3}"/>
              </a:ext>
            </a:extLst>
          </p:cNvPr>
          <p:cNvSpPr/>
          <p:nvPr/>
        </p:nvSpPr>
        <p:spPr>
          <a:xfrm>
            <a:off x="7706359" y="5635752"/>
            <a:ext cx="622300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85090" marR="0" lvl="0" indent="0" algn="l" defTabSz="914400" rtl="0" eaLnBrk="0" fontAlgn="auto" latinLnBrk="0" hangingPunct="1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采购寻源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3" name="textbox 686">
            <a:extLst>
              <a:ext uri="{FF2B5EF4-FFF2-40B4-BE49-F238E27FC236}">
                <a16:creationId xmlns:a16="http://schemas.microsoft.com/office/drawing/2014/main" id="{DC6D8823-989D-E2FA-AE77-B035288B46F7}"/>
              </a:ext>
            </a:extLst>
          </p:cNvPr>
          <p:cNvSpPr/>
          <p:nvPr/>
        </p:nvSpPr>
        <p:spPr>
          <a:xfrm>
            <a:off x="7679435" y="5167883"/>
            <a:ext cx="620394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anchor="ctr"/>
          <a:lstStyle/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4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生产派工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4" name="textbox 688">
            <a:extLst>
              <a:ext uri="{FF2B5EF4-FFF2-40B4-BE49-F238E27FC236}">
                <a16:creationId xmlns:a16="http://schemas.microsoft.com/office/drawing/2014/main" id="{C2F3A153-3A69-F0BE-EA47-032703131B2E}"/>
              </a:ext>
            </a:extLst>
          </p:cNvPr>
          <p:cNvSpPr/>
          <p:nvPr/>
        </p:nvSpPr>
        <p:spPr>
          <a:xfrm>
            <a:off x="3880103" y="5167883"/>
            <a:ext cx="620394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97485" marR="0" lvl="0" indent="0" algn="l" defTabSz="914400" rtl="0" eaLnBrk="0" fontAlgn="auto" latinLnBrk="0" hangingPunct="1">
              <a:lnSpc>
                <a:spcPct val="99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线索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5" name="textbox 690">
            <a:extLst>
              <a:ext uri="{FF2B5EF4-FFF2-40B4-BE49-F238E27FC236}">
                <a16:creationId xmlns:a16="http://schemas.microsoft.com/office/drawing/2014/main" id="{02F6A750-3015-E30A-53E8-B70385F7752F}"/>
              </a:ext>
            </a:extLst>
          </p:cNvPr>
          <p:cNvSpPr/>
          <p:nvPr/>
        </p:nvSpPr>
        <p:spPr>
          <a:xfrm>
            <a:off x="5399532" y="5167883"/>
            <a:ext cx="620394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anchor="ctr"/>
          <a:lstStyle/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客户框架合同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textbox 692">
            <a:extLst>
              <a:ext uri="{FF2B5EF4-FFF2-40B4-BE49-F238E27FC236}">
                <a16:creationId xmlns:a16="http://schemas.microsoft.com/office/drawing/2014/main" id="{BCA34C53-7EA0-AB47-BC22-26443493974C}"/>
              </a:ext>
            </a:extLst>
          </p:cNvPr>
          <p:cNvSpPr/>
          <p:nvPr/>
        </p:nvSpPr>
        <p:spPr>
          <a:xfrm>
            <a:off x="4640579" y="5167883"/>
            <a:ext cx="619125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39065" marR="0" lvl="0" indent="0" algn="l" defTabSz="914400" rtl="0" eaLnBrk="0" fontAlgn="auto" latinLnBrk="0" hangingPunct="1">
              <a:lnSpc>
                <a:spcPct val="97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机会点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7" name="textbox 694">
            <a:extLst>
              <a:ext uri="{FF2B5EF4-FFF2-40B4-BE49-F238E27FC236}">
                <a16:creationId xmlns:a16="http://schemas.microsoft.com/office/drawing/2014/main" id="{C073094B-448D-0193-85BB-F31A48979801}"/>
              </a:ext>
            </a:extLst>
          </p:cNvPr>
          <p:cNvSpPr/>
          <p:nvPr/>
        </p:nvSpPr>
        <p:spPr>
          <a:xfrm>
            <a:off x="3121151" y="5167883"/>
            <a:ext cx="619125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96215" marR="0" lvl="0" indent="0" algn="l" defTabSz="914400" rtl="0" eaLnBrk="0" fontAlgn="auto" latinLnBrk="0" hangingPunct="1">
              <a:lnSpc>
                <a:spcPct val="98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8" name="textbox 696">
            <a:extLst>
              <a:ext uri="{FF2B5EF4-FFF2-40B4-BE49-F238E27FC236}">
                <a16:creationId xmlns:a16="http://schemas.microsoft.com/office/drawing/2014/main" id="{A32DCC10-2B71-C0BE-EE95-3F216E2895EB}"/>
              </a:ext>
            </a:extLst>
          </p:cNvPr>
          <p:cNvSpPr/>
          <p:nvPr/>
        </p:nvSpPr>
        <p:spPr>
          <a:xfrm>
            <a:off x="6920484" y="5167883"/>
            <a:ext cx="619125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113665" marR="0" lvl="0" indent="0" algn="l" defTabSz="914400" rtl="0" eaLnBrk="0" fontAlgn="auto" latinLnBrk="0" hangingPunct="1">
              <a:lnSpc>
                <a:spcPct val="97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生产计划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127" name="picture 752">
            <a:extLst>
              <a:ext uri="{FF2B5EF4-FFF2-40B4-BE49-F238E27FC236}">
                <a16:creationId xmlns:a16="http://schemas.microsoft.com/office/drawing/2014/main" id="{0E4CE1E1-5C1B-F0FB-2B38-933B1C92EA1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75727" y="5734811"/>
            <a:ext cx="225171" cy="76200"/>
          </a:xfrm>
          <a:prstGeom prst="rect">
            <a:avLst/>
          </a:prstGeom>
        </p:spPr>
      </p:pic>
      <p:sp>
        <p:nvSpPr>
          <p:cNvPr id="133" name="textbox 680">
            <a:extLst>
              <a:ext uri="{FF2B5EF4-FFF2-40B4-BE49-F238E27FC236}">
                <a16:creationId xmlns:a16="http://schemas.microsoft.com/office/drawing/2014/main" id="{D2E11D84-2172-7B3C-9C7F-9BC0A7BE7AF5}"/>
              </a:ext>
            </a:extLst>
          </p:cNvPr>
          <p:cNvSpPr/>
          <p:nvPr/>
        </p:nvSpPr>
        <p:spPr>
          <a:xfrm>
            <a:off x="6916040" y="5632704"/>
            <a:ext cx="623569" cy="27305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采购需求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aphicFrame>
        <p:nvGraphicFramePr>
          <p:cNvPr id="134" name="table 584">
            <a:extLst>
              <a:ext uri="{FF2B5EF4-FFF2-40B4-BE49-F238E27FC236}">
                <a16:creationId xmlns:a16="http://schemas.microsoft.com/office/drawing/2014/main" id="{E1C99942-954D-8B0A-B288-C8DACD189C0F}"/>
              </a:ext>
            </a:extLst>
          </p:cNvPr>
          <p:cNvGraphicFramePr>
            <a:graphicFrameLocks noGrp="1"/>
          </p:cNvGraphicFramePr>
          <p:nvPr/>
        </p:nvGraphicFramePr>
        <p:xfrm>
          <a:off x="9171450" y="4805170"/>
          <a:ext cx="504000" cy="275589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marL="0" algn="ctr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9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开票</a:t>
                      </a:r>
                      <a:r>
                        <a:rPr lang="en-US" altLang="zh-CN" sz="9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9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应收</a:t>
                      </a:r>
                      <a:endParaRPr lang="en-US" altLang="en-US" sz="9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5" name="picture 650">
            <a:extLst>
              <a:ext uri="{FF2B5EF4-FFF2-40B4-BE49-F238E27FC236}">
                <a16:creationId xmlns:a16="http://schemas.microsoft.com/office/drawing/2014/main" id="{B64DE540-8EF4-E763-081D-49E94E62C8F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86334" y="5061743"/>
            <a:ext cx="76200" cy="195211"/>
          </a:xfrm>
          <a:prstGeom prst="rect">
            <a:avLst/>
          </a:prstGeom>
        </p:spPr>
      </p:pic>
      <p:graphicFrame>
        <p:nvGraphicFramePr>
          <p:cNvPr id="136" name="table 584">
            <a:extLst>
              <a:ext uri="{FF2B5EF4-FFF2-40B4-BE49-F238E27FC236}">
                <a16:creationId xmlns:a16="http://schemas.microsoft.com/office/drawing/2014/main" id="{677D3C52-0DC5-E199-C352-63B443EE3403}"/>
              </a:ext>
            </a:extLst>
          </p:cNvPr>
          <p:cNvGraphicFramePr>
            <a:graphicFrameLocks noGrp="1"/>
          </p:cNvGraphicFramePr>
          <p:nvPr/>
        </p:nvGraphicFramePr>
        <p:xfrm>
          <a:off x="9195816" y="5164835"/>
          <a:ext cx="482600" cy="275589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589">
                <a:tc>
                  <a:txBody>
                    <a:bodyPr/>
                    <a:lstStyle/>
                    <a:p>
                      <a:pPr marL="0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900" kern="0" spc="-2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成品入库</a:t>
                      </a:r>
                      <a:endParaRPr lang="en-US" altLang="en-US" sz="900"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9" name="picture 752">
            <a:extLst>
              <a:ext uri="{FF2B5EF4-FFF2-40B4-BE49-F238E27FC236}">
                <a16:creationId xmlns:a16="http://schemas.microsoft.com/office/drawing/2014/main" id="{7560F655-CD90-71EC-1BF6-D462B56010E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08027" y="5729770"/>
            <a:ext cx="225171" cy="76200"/>
          </a:xfrm>
          <a:prstGeom prst="rect">
            <a:avLst/>
          </a:prstGeom>
        </p:spPr>
      </p:pic>
      <p:sp>
        <p:nvSpPr>
          <p:cNvPr id="3" name="textbox 682">
            <a:extLst>
              <a:ext uri="{FF2B5EF4-FFF2-40B4-BE49-F238E27FC236}">
                <a16:creationId xmlns:a16="http://schemas.microsoft.com/office/drawing/2014/main" id="{2D1258C6-5161-2860-0B55-A10F1B33678B}"/>
              </a:ext>
            </a:extLst>
          </p:cNvPr>
          <p:cNvSpPr/>
          <p:nvPr/>
        </p:nvSpPr>
        <p:spPr>
          <a:xfrm>
            <a:off x="6156961" y="5637715"/>
            <a:ext cx="623315" cy="27770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anchor="ctr">
            <a:noAutofit/>
          </a:bodyPr>
          <a:lstStyle/>
          <a:p>
            <a:pPr marL="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物料</a:t>
            </a: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997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 bwMode="auto">
          <a:xfrm flipH="1">
            <a:off x="9942196" y="3432280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11522068" y="2962214"/>
            <a:ext cx="2490" cy="338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数据治理解决方案</a:t>
            </a:r>
          </a:p>
        </p:txBody>
      </p:sp>
      <p:sp>
        <p:nvSpPr>
          <p:cNvPr id="3" name="矩形 2"/>
          <p:cNvSpPr/>
          <p:nvPr/>
        </p:nvSpPr>
        <p:spPr>
          <a:xfrm>
            <a:off x="315557" y="696608"/>
            <a:ext cx="11610553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以建设统一的数据标准为根本出发点，以数据可视化、提高数据质量、保障数据安全为工作目标，以数据的全生命管理为工作内容，构建数据治理体系。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 flipH="1">
            <a:off x="8201830" y="3441519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直接连接符 4"/>
          <p:cNvCxnSpPr/>
          <p:nvPr/>
        </p:nvCxnSpPr>
        <p:spPr bwMode="auto">
          <a:xfrm flipH="1">
            <a:off x="312642" y="3472353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 flipH="1">
            <a:off x="1881740" y="3471714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/>
          <p:cNvCxnSpPr/>
          <p:nvPr/>
        </p:nvCxnSpPr>
        <p:spPr bwMode="auto">
          <a:xfrm flipH="1">
            <a:off x="3424867" y="3437972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 flipH="1">
            <a:off x="4864397" y="3437055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/>
        </p:nvCxnSpPr>
        <p:spPr bwMode="auto">
          <a:xfrm flipH="1">
            <a:off x="6701114" y="3502214"/>
            <a:ext cx="2490" cy="28440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五边形 9"/>
          <p:cNvSpPr>
            <a:spLocks noChangeArrowheads="1"/>
          </p:cNvSpPr>
          <p:nvPr/>
        </p:nvSpPr>
        <p:spPr bwMode="auto">
          <a:xfrm>
            <a:off x="295337" y="6059388"/>
            <a:ext cx="11630772" cy="444928"/>
          </a:xfrm>
          <a:prstGeom prst="homePlate">
            <a:avLst>
              <a:gd name="adj" fmla="val 49957"/>
            </a:avLst>
          </a:prstGeom>
          <a:solidFill>
            <a:srgbClr val="00999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随着数据治理工作的推进不断完善标准规范体系和治理工具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09302" y="1628800"/>
            <a:ext cx="11616807" cy="2160240"/>
            <a:chOff x="309302" y="1628800"/>
            <a:chExt cx="11616807" cy="2160240"/>
          </a:xfrm>
        </p:grpSpPr>
        <p:sp>
          <p:nvSpPr>
            <p:cNvPr id="11" name="AutoShape 2"/>
            <p:cNvSpPr>
              <a:spLocks noChangeArrowheads="1"/>
            </p:cNvSpPr>
            <p:nvPr/>
          </p:nvSpPr>
          <p:spPr bwMode="gray">
            <a:xfrm>
              <a:off x="309302" y="1628800"/>
              <a:ext cx="11616807" cy="2160240"/>
            </a:xfrm>
            <a:prstGeom prst="homePlate">
              <a:avLst>
                <a:gd name="adj" fmla="val 31650"/>
              </a:avLst>
            </a:prstGeom>
            <a:solidFill>
              <a:schemeClr val="bg2">
                <a:lumMod val="90000"/>
                <a:alpha val="45097"/>
              </a:schemeClr>
            </a:solidFill>
            <a:ln w="6350" algn="ctr">
              <a:solidFill>
                <a:srgbClr val="A0D35D"/>
              </a:solidFill>
              <a:miter lim="800000"/>
            </a:ln>
          </p:spPr>
          <p:txBody>
            <a:bodyPr lIns="108000" tIns="72009" rIns="72009" bIns="72009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数据治理解决方案</a:t>
              </a:r>
            </a:p>
          </p:txBody>
        </p:sp>
        <p:sp>
          <p:nvSpPr>
            <p:cNvPr id="12" name="AutoShape 6"/>
            <p:cNvSpPr>
              <a:spLocks noChangeArrowheads="1"/>
            </p:cNvSpPr>
            <p:nvPr/>
          </p:nvSpPr>
          <p:spPr bwMode="gray">
            <a:xfrm>
              <a:off x="9636319" y="2358512"/>
              <a:ext cx="1995228" cy="1335508"/>
            </a:xfrm>
            <a:prstGeom prst="homePlate">
              <a:avLst>
                <a:gd name="adj" fmla="val 32943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wrap="square" lIns="1008000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3.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持续维护提升</a:t>
              </a: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gray">
            <a:xfrm>
              <a:off x="1576995" y="2358512"/>
              <a:ext cx="9084519" cy="1335508"/>
            </a:xfrm>
            <a:prstGeom prst="homePlate">
              <a:avLst>
                <a:gd name="adj" fmla="val 33791"/>
              </a:avLst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  <a:effectLst/>
          </p:spPr>
          <p:txBody>
            <a:bodyPr vert="horz" wrap="square" lIns="91416" tIns="108000" rIns="91416" bIns="45708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2.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数据治理实施</a:t>
              </a:r>
            </a:p>
          </p:txBody>
        </p:sp>
        <p:sp>
          <p:nvSpPr>
            <p:cNvPr id="14" name="等腰三角形 13"/>
            <p:cNvSpPr/>
            <p:nvPr/>
          </p:nvSpPr>
          <p:spPr bwMode="auto">
            <a:xfrm>
              <a:off x="437889" y="1705927"/>
              <a:ext cx="10787830" cy="652584"/>
            </a:xfrm>
            <a:prstGeom prst="triangle">
              <a:avLst>
                <a:gd name="adj" fmla="val 51485"/>
              </a:avLst>
            </a:prstGeom>
            <a:solidFill>
              <a:schemeClr val="accent5"/>
            </a:solidFill>
            <a:ln w="127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66462" tIns="42203" rIns="66462" bIns="72000" numCol="1" rtlCol="0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1.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数据可视化  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2.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提高数据质量  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3.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保障数据安全 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4.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促进数据共享和融合</a:t>
              </a:r>
            </a:p>
          </p:txBody>
        </p:sp>
        <p:sp>
          <p:nvSpPr>
            <p:cNvPr id="15" name="AutoShape 8"/>
            <p:cNvSpPr>
              <a:spLocks noChangeArrowheads="1"/>
            </p:cNvSpPr>
            <p:nvPr/>
          </p:nvSpPr>
          <p:spPr bwMode="gray">
            <a:xfrm>
              <a:off x="1596874" y="3295372"/>
              <a:ext cx="8840905" cy="398648"/>
            </a:xfrm>
            <a:prstGeom prst="parallelogram">
              <a:avLst>
                <a:gd name="adj" fmla="val 6924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0" tIns="36000" rIns="0" bIns="36000" anchor="b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技术工具支撑</a:t>
              </a:r>
            </a:p>
          </p:txBody>
        </p:sp>
        <p:sp>
          <p:nvSpPr>
            <p:cNvPr id="50" name="AutoShape 6"/>
            <p:cNvSpPr>
              <a:spLocks noChangeArrowheads="1"/>
            </p:cNvSpPr>
            <p:nvPr/>
          </p:nvSpPr>
          <p:spPr bwMode="gray">
            <a:xfrm>
              <a:off x="8452634" y="2785798"/>
              <a:ext cx="2160240" cy="509574"/>
            </a:xfrm>
            <a:prstGeom prst="homePlate">
              <a:avLst>
                <a:gd name="adj" fmla="val 3294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400072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2.5.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数据资产管理</a:t>
              </a:r>
            </a:p>
          </p:txBody>
        </p:sp>
        <p:sp>
          <p:nvSpPr>
            <p:cNvPr id="49" name="AutoShape 6"/>
            <p:cNvSpPr>
              <a:spLocks noChangeArrowheads="1"/>
            </p:cNvSpPr>
            <p:nvPr/>
          </p:nvSpPr>
          <p:spPr bwMode="gray">
            <a:xfrm>
              <a:off x="6719806" y="2785798"/>
              <a:ext cx="2160240" cy="509574"/>
            </a:xfrm>
            <a:prstGeom prst="homePlate">
              <a:avLst>
                <a:gd name="adj" fmla="val 3294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400072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2.4.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数据安全管理</a:t>
              </a:r>
            </a:p>
          </p:txBody>
        </p:sp>
        <p:sp>
          <p:nvSpPr>
            <p:cNvPr id="16" name="AutoShape 6"/>
            <p:cNvSpPr>
              <a:spLocks noChangeArrowheads="1"/>
            </p:cNvSpPr>
            <p:nvPr/>
          </p:nvSpPr>
          <p:spPr bwMode="gray">
            <a:xfrm>
              <a:off x="4986978" y="2785798"/>
              <a:ext cx="2160240" cy="509574"/>
            </a:xfrm>
            <a:prstGeom prst="homePlate">
              <a:avLst>
                <a:gd name="adj" fmla="val 3294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400072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2.3.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数据质量管理</a:t>
              </a:r>
            </a:p>
          </p:txBody>
        </p:sp>
        <p:sp>
          <p:nvSpPr>
            <p:cNvPr id="17" name="AutoShape 6"/>
            <p:cNvSpPr>
              <a:spLocks noChangeArrowheads="1"/>
            </p:cNvSpPr>
            <p:nvPr/>
          </p:nvSpPr>
          <p:spPr bwMode="gray">
            <a:xfrm>
              <a:off x="3204865" y="2785798"/>
              <a:ext cx="2209525" cy="509574"/>
            </a:xfrm>
            <a:prstGeom prst="homePlate">
              <a:avLst>
                <a:gd name="adj" fmla="val 4361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400072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2.2.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元数据管理</a:t>
              </a:r>
            </a:p>
          </p:txBody>
        </p:sp>
        <p:sp>
          <p:nvSpPr>
            <p:cNvPr id="18" name="AutoShape 8"/>
            <p:cNvSpPr>
              <a:spLocks noChangeArrowheads="1"/>
            </p:cNvSpPr>
            <p:nvPr/>
          </p:nvSpPr>
          <p:spPr bwMode="gray">
            <a:xfrm>
              <a:off x="1650437" y="2785798"/>
              <a:ext cx="1981840" cy="509574"/>
            </a:xfrm>
            <a:prstGeom prst="homePlate">
              <a:avLst>
                <a:gd name="adj" fmla="val 463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algn="ctr">
              <a:solidFill>
                <a:srgbClr val="20296A"/>
              </a:solidFill>
              <a:miter lim="800000"/>
            </a:ln>
            <a:effectLst/>
          </p:spPr>
          <p:txBody>
            <a:bodyPr lIns="576000" tIns="72009" rIns="0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2.1.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主数据管理</a:t>
              </a:r>
            </a:p>
          </p:txBody>
        </p:sp>
        <p:sp>
          <p:nvSpPr>
            <p:cNvPr id="19" name="AutoShape 9"/>
            <p:cNvSpPr>
              <a:spLocks noChangeArrowheads="1"/>
            </p:cNvSpPr>
            <p:nvPr/>
          </p:nvSpPr>
          <p:spPr bwMode="gray">
            <a:xfrm>
              <a:off x="437889" y="2358511"/>
              <a:ext cx="1762125" cy="1335509"/>
            </a:xfrm>
            <a:prstGeom prst="homePlate">
              <a:avLst>
                <a:gd name="adj" fmla="val 42593"/>
              </a:avLst>
            </a:prstGeom>
            <a:solidFill>
              <a:schemeClr val="tx2"/>
            </a:solidFill>
            <a:ln w="6350" algn="ctr">
              <a:solidFill>
                <a:srgbClr val="20296A"/>
              </a:solidFill>
              <a:miter lim="800000"/>
            </a:ln>
          </p:spPr>
          <p:txBody>
            <a:bodyPr lIns="72009" tIns="72009" rIns="72009" bIns="72009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1. 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战略规划及制度规范</a:t>
              </a:r>
            </a:p>
          </p:txBody>
        </p:sp>
      </p:grpSp>
      <p:sp>
        <p:nvSpPr>
          <p:cNvPr id="55" name="Rectangle 4"/>
          <p:cNvSpPr txBox="1">
            <a:spLocks noChangeArrowheads="1"/>
          </p:cNvSpPr>
          <p:nvPr/>
        </p:nvSpPr>
        <p:spPr bwMode="gray">
          <a:xfrm>
            <a:off x="407287" y="3866901"/>
            <a:ext cx="1418609" cy="217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数据治理规划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数据治理内容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协调决策机制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管理组织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数据蓝图规划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数据定责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数据规划执行规范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</a:p>
        </p:txBody>
      </p:sp>
      <p:sp>
        <p:nvSpPr>
          <p:cNvPr id="56" name="Rectangle 4"/>
          <p:cNvSpPr txBox="1">
            <a:spLocks noChangeArrowheads="1"/>
          </p:cNvSpPr>
          <p:nvPr/>
        </p:nvSpPr>
        <p:spPr bwMode="gray">
          <a:xfrm>
            <a:off x="2059325" y="3866901"/>
            <a:ext cx="1611029" cy="2087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物料主数据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会计科目主数据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lang="zh-CN" altLang="en-US" sz="1200" b="0" dirty="0">
                <a:solidFill>
                  <a:srgbClr val="1C1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工艺路线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</a:p>
        </p:txBody>
      </p:sp>
      <p:sp>
        <p:nvSpPr>
          <p:cNvPr id="57" name="Rectangle 4"/>
          <p:cNvSpPr txBox="1">
            <a:spLocks noChangeArrowheads="1"/>
          </p:cNvSpPr>
          <p:nvPr/>
        </p:nvSpPr>
        <p:spPr bwMode="gray">
          <a:xfrm>
            <a:off x="3639000" y="3866901"/>
            <a:ext cx="1563939" cy="209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质量元数据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稽核元数据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血缘分析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影响分析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Rectangle 4"/>
          <p:cNvSpPr txBox="1">
            <a:spLocks noChangeArrowheads="1"/>
          </p:cNvSpPr>
          <p:nvPr/>
        </p:nvSpPr>
        <p:spPr bwMode="gray">
          <a:xfrm>
            <a:off x="4978854" y="3866901"/>
            <a:ext cx="1673400" cy="20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标准规则库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数据清洗与转换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数据质量状态评估诊断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数据质量改进评估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绩效</a:t>
            </a:r>
            <a:r>
              <a:rPr lang="zh-CN" altLang="en-US" sz="1200" b="0" dirty="0">
                <a:solidFill>
                  <a:srgbClr val="1C1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Rectangle 4"/>
          <p:cNvSpPr txBox="1">
            <a:spLocks noChangeArrowheads="1"/>
          </p:cNvSpPr>
          <p:nvPr/>
        </p:nvSpPr>
        <p:spPr bwMode="gray">
          <a:xfrm>
            <a:off x="6862158" y="3866901"/>
            <a:ext cx="1130151" cy="192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数据安全等级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数据密级权限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数据脱敏机制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数据加密策略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Rectangle 4"/>
          <p:cNvSpPr txBox="1">
            <a:spLocks noChangeArrowheads="1"/>
          </p:cNvSpPr>
          <p:nvPr/>
        </p:nvSpPr>
        <p:spPr bwMode="gray">
          <a:xfrm>
            <a:off x="8327416" y="3866901"/>
            <a:ext cx="1515439" cy="192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数据资产分类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数据资产全生命周期</a:t>
            </a: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资产全景式地图（应用者视图，管理者视图）</a:t>
            </a: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数据服务发布与监控</a:t>
            </a: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ct val="600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Rectangle 4"/>
          <p:cNvSpPr txBox="1">
            <a:spLocks noChangeArrowheads="1"/>
          </p:cNvSpPr>
          <p:nvPr/>
        </p:nvSpPr>
        <p:spPr bwMode="gray">
          <a:xfrm>
            <a:off x="9998037" y="3866901"/>
            <a:ext cx="1476000" cy="1929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2075" indent="-920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lang="zh-CN" altLang="en-US" sz="1200" b="0" dirty="0">
                <a:solidFill>
                  <a:srgbClr val="1C1C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标准维护与完善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数据标准贯彻和执行</a:t>
            </a: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数据标准固化与落地</a:t>
            </a:r>
          </a:p>
          <a:p>
            <a:pPr marL="92075" marR="0" lvl="0" indent="-92075" algn="l" defTabSz="914400" rtl="0" eaLnBrk="0" fontAlgn="base" latinLnBrk="0" hangingPunct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>
                <a:srgbClr val="008000"/>
              </a:buClr>
              <a:buSzPct val="7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数据标准检查与反馈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75726-6DE1-225A-CA20-1CABF481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SAP MDG</a:t>
            </a:r>
            <a:r>
              <a:rPr lang="zh-CN" altLang="en-US" dirty="0"/>
              <a:t>功能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9F57EE-B152-4F50-26B3-E82907B3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87"/>
            <a:ext cx="10284843" cy="56209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48311F2-8062-F6DD-1025-51F75F831CE8}"/>
              </a:ext>
            </a:extLst>
          </p:cNvPr>
          <p:cNvSpPr txBox="1"/>
          <p:nvPr/>
        </p:nvSpPr>
        <p:spPr>
          <a:xfrm>
            <a:off x="9876773" y="885286"/>
            <a:ext cx="2223369" cy="539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/>
              <a:t>MDM</a:t>
            </a:r>
            <a:r>
              <a:rPr lang="zh-CN" altLang="en-US" sz="1050" dirty="0"/>
              <a:t>（</a:t>
            </a:r>
            <a:r>
              <a:rPr lang="en-US" altLang="zh-CN" sz="1050" dirty="0"/>
              <a:t>MDG</a:t>
            </a:r>
            <a:r>
              <a:rPr lang="zh-CN" altLang="en-US" sz="1050" dirty="0"/>
              <a:t>）产品的核心功能：</a:t>
            </a:r>
            <a:br>
              <a:rPr lang="zh-CN" altLang="en-US" sz="1050" dirty="0"/>
            </a:br>
            <a:endParaRPr lang="zh-CN" altLang="en-US" sz="1050" dirty="0"/>
          </a:p>
          <a:p>
            <a:pPr>
              <a:lnSpc>
                <a:spcPct val="150000"/>
              </a:lnSpc>
            </a:pPr>
            <a:r>
              <a:rPr lang="en-US" altLang="zh-CN" sz="1050" b="1" dirty="0"/>
              <a:t>1. </a:t>
            </a:r>
            <a:r>
              <a:rPr lang="zh-CN" altLang="en-US" sz="1050" b="1" dirty="0"/>
              <a:t>统一数据标准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制定统一编码规则，实现一物一码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实现一数一源，一源多用</a:t>
            </a:r>
            <a:endParaRPr lang="en-US" altLang="zh-CN" sz="1050" dirty="0"/>
          </a:p>
          <a:p>
            <a:pPr>
              <a:lnSpc>
                <a:spcPct val="150000"/>
              </a:lnSpc>
            </a:pPr>
            <a:endParaRPr lang="zh-CN" altLang="en-US" sz="1050" dirty="0"/>
          </a:p>
          <a:p>
            <a:pPr>
              <a:lnSpc>
                <a:spcPct val="150000"/>
              </a:lnSpc>
            </a:pPr>
            <a:r>
              <a:rPr lang="en-US" altLang="zh-CN" sz="1050" b="1" dirty="0"/>
              <a:t>2. </a:t>
            </a:r>
            <a:r>
              <a:rPr lang="zh-CN" altLang="en-US" sz="1050" b="1" dirty="0"/>
              <a:t>智能数据治理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数据标准定义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自动识别重复数据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灵活定义数据校验规则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数据质量监控</a:t>
            </a:r>
            <a:endParaRPr lang="en-US" altLang="zh-CN" sz="1050" dirty="0"/>
          </a:p>
          <a:p>
            <a:pPr>
              <a:lnSpc>
                <a:spcPct val="150000"/>
              </a:lnSpc>
            </a:pPr>
            <a:endParaRPr lang="zh-CN" altLang="en-US" sz="1050" dirty="0"/>
          </a:p>
          <a:p>
            <a:pPr>
              <a:lnSpc>
                <a:spcPct val="150000"/>
              </a:lnSpc>
            </a:pPr>
            <a:r>
              <a:rPr lang="en-US" altLang="zh-CN" sz="1050" b="1" dirty="0"/>
              <a:t>3. </a:t>
            </a:r>
            <a:r>
              <a:rPr lang="zh-CN" altLang="en-US" sz="1050" b="1" dirty="0"/>
              <a:t>全流程管控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从主数据创建、修改、冻结的全生命周期管理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多维度权限控制</a:t>
            </a:r>
            <a:endParaRPr lang="en-US" altLang="zh-CN" sz="1050" dirty="0"/>
          </a:p>
          <a:p>
            <a:pPr>
              <a:lnSpc>
                <a:spcPct val="150000"/>
              </a:lnSpc>
            </a:pPr>
            <a:endParaRPr lang="zh-CN" altLang="en-US" sz="1050" dirty="0"/>
          </a:p>
          <a:p>
            <a:pPr>
              <a:lnSpc>
                <a:spcPct val="150000"/>
              </a:lnSpc>
            </a:pPr>
            <a:r>
              <a:rPr lang="en-US" altLang="zh-CN" sz="1050" b="1" dirty="0"/>
              <a:t>4. </a:t>
            </a:r>
            <a:r>
              <a:rPr lang="zh-CN" altLang="en-US" sz="1050" b="1" dirty="0"/>
              <a:t>无缝系统集成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支持与</a:t>
            </a:r>
            <a:r>
              <a:rPr lang="en-US" altLang="zh-CN" sz="1050" dirty="0"/>
              <a:t>ERP</a:t>
            </a:r>
            <a:r>
              <a:rPr lang="zh-CN" altLang="en-US" sz="1050" dirty="0"/>
              <a:t>、</a:t>
            </a:r>
            <a:r>
              <a:rPr lang="en-US" altLang="zh-CN" sz="1050" dirty="0"/>
              <a:t>CRM</a:t>
            </a:r>
            <a:r>
              <a:rPr lang="zh-CN" altLang="en-US" sz="1050" dirty="0"/>
              <a:t>、</a:t>
            </a:r>
            <a:r>
              <a:rPr lang="en-US" altLang="zh-CN" sz="1050" dirty="0"/>
              <a:t>SCM</a:t>
            </a:r>
            <a:r>
              <a:rPr lang="zh-CN" altLang="en-US" sz="1050" dirty="0"/>
              <a:t>等主流系统对接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实时数据同步</a:t>
            </a:r>
          </a:p>
          <a:p>
            <a:pPr>
              <a:lnSpc>
                <a:spcPct val="150000"/>
              </a:lnSpc>
            </a:pPr>
            <a:r>
              <a:rPr lang="zh-CN" altLang="en-US" sz="1050" dirty="0"/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2340618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A5FD-C567-9377-1AE8-1B0E95D7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7CFDC-09C9-3D01-EF84-52F59BC8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SAP MDG</a:t>
            </a:r>
            <a:r>
              <a:rPr lang="zh-CN" altLang="en-US" dirty="0"/>
              <a:t>功能的亮点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C5E2A2-B288-F780-454C-44C0C03FDE12}"/>
              </a:ext>
            </a:extLst>
          </p:cNvPr>
          <p:cNvSpPr txBox="1"/>
          <p:nvPr/>
        </p:nvSpPr>
        <p:spPr>
          <a:xfrm>
            <a:off x="259915" y="678770"/>
            <a:ext cx="41805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支持SAP中所有的主数据对象（物料、客商、会计科目等）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支持多组织（公司代码、销售组织、采购组织等）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与SAP系统预配置，快速部署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支持AI查重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物料描述</a:t>
            </a:r>
            <a:r>
              <a:rPr lang="zh-CN" altLang="en-US" sz="1200" dirty="0"/>
              <a:t>可以</a:t>
            </a:r>
            <a:r>
              <a:rPr lang="zh-CN" altLang="zh-CN" sz="1200" dirty="0"/>
              <a:t>自动根据分类和特征值产生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支持对主数据定义各种校验规则和质量监控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dirty="0"/>
              <a:t>支持多语言，全球使用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C8B98E3-6B89-C1CA-D075-F3DCCF314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5" y="2707063"/>
            <a:ext cx="5736833" cy="29629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2EA2FAF-8DA4-FFC0-B72F-C07977C96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33" y="2904877"/>
            <a:ext cx="6102625" cy="174970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E74897A-632E-7974-D073-86F6766CB036}"/>
              </a:ext>
            </a:extLst>
          </p:cNvPr>
          <p:cNvSpPr txBox="1"/>
          <p:nvPr/>
        </p:nvSpPr>
        <p:spPr>
          <a:xfrm>
            <a:off x="6325733" y="2442321"/>
            <a:ext cx="278704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100" dirty="0"/>
              <a:t>支持自定义数据检查规则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3F015C-BC11-2A9A-ED4D-5A8BC5D7D718}"/>
              </a:ext>
            </a:extLst>
          </p:cNvPr>
          <p:cNvSpPr txBox="1"/>
          <p:nvPr/>
        </p:nvSpPr>
        <p:spPr>
          <a:xfrm>
            <a:off x="259915" y="2420964"/>
            <a:ext cx="5032332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100" dirty="0"/>
              <a:t>字段规则灵活定义：比如根据特征属性及拼接符（如</a:t>
            </a:r>
            <a:r>
              <a:rPr lang="en-US" altLang="zh-CN" sz="1100" dirty="0"/>
              <a:t>\</a:t>
            </a:r>
            <a:r>
              <a:rPr lang="zh-CN" altLang="en-US" sz="1100" dirty="0"/>
              <a:t>）确定物料的描述</a:t>
            </a:r>
          </a:p>
        </p:txBody>
      </p:sp>
    </p:spTree>
    <p:extLst>
      <p:ext uri="{BB962C8B-B14F-4D97-AF65-F5344CB8AC3E}">
        <p14:creationId xmlns:p14="http://schemas.microsoft.com/office/powerpoint/2010/main" val="3696931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FCACF-3CC4-40A1-57B0-189435BB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75" y="2278905"/>
            <a:ext cx="10515600" cy="618809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数据资产目录</a:t>
            </a:r>
          </a:p>
        </p:txBody>
      </p:sp>
    </p:spTree>
    <p:extLst>
      <p:ext uri="{BB962C8B-B14F-4D97-AF65-F5344CB8AC3E}">
        <p14:creationId xmlns:p14="http://schemas.microsoft.com/office/powerpoint/2010/main" val="133908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7806926-EDD1-9CD7-A0D6-C1C6DEBE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43" y="1152809"/>
            <a:ext cx="10285714" cy="45523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F32607-A1BE-CEDE-D328-3E91160DC5E3}"/>
              </a:ext>
            </a:extLst>
          </p:cNvPr>
          <p:cNvSpPr txBox="1"/>
          <p:nvPr/>
        </p:nvSpPr>
        <p:spPr>
          <a:xfrm>
            <a:off x="621234" y="24430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数据资产目录</a:t>
            </a:r>
          </a:p>
        </p:txBody>
      </p:sp>
    </p:spTree>
    <p:extLst>
      <p:ext uri="{BB962C8B-B14F-4D97-AF65-F5344CB8AC3E}">
        <p14:creationId xmlns:p14="http://schemas.microsoft.com/office/powerpoint/2010/main" val="68766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31695-7FE4-FE34-655C-177346F9AF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9800" y="68627"/>
            <a:ext cx="10972800" cy="6720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数据资产目录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3DF2100-2CE0-26FF-871A-736D171EE012}"/>
              </a:ext>
            </a:extLst>
          </p:cNvPr>
          <p:cNvGraphicFramePr>
            <a:graphicFrameLocks noGrp="1"/>
          </p:cNvGraphicFramePr>
          <p:nvPr/>
        </p:nvGraphicFramePr>
        <p:xfrm>
          <a:off x="240594" y="1027908"/>
          <a:ext cx="10633243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277">
                  <a:extLst>
                    <a:ext uri="{9D8B030D-6E8A-4147-A177-3AD203B41FA5}">
                      <a16:colId xmlns:a16="http://schemas.microsoft.com/office/drawing/2014/main" val="2576423490"/>
                    </a:ext>
                  </a:extLst>
                </a:gridCol>
                <a:gridCol w="1749212">
                  <a:extLst>
                    <a:ext uri="{9D8B030D-6E8A-4147-A177-3AD203B41FA5}">
                      <a16:colId xmlns:a16="http://schemas.microsoft.com/office/drawing/2014/main" val="3265761308"/>
                    </a:ext>
                  </a:extLst>
                </a:gridCol>
                <a:gridCol w="1600423">
                  <a:extLst>
                    <a:ext uri="{9D8B030D-6E8A-4147-A177-3AD203B41FA5}">
                      <a16:colId xmlns:a16="http://schemas.microsoft.com/office/drawing/2014/main" val="676311462"/>
                    </a:ext>
                  </a:extLst>
                </a:gridCol>
                <a:gridCol w="2775896">
                  <a:extLst>
                    <a:ext uri="{9D8B030D-6E8A-4147-A177-3AD203B41FA5}">
                      <a16:colId xmlns:a16="http://schemas.microsoft.com/office/drawing/2014/main" val="2754338038"/>
                    </a:ext>
                  </a:extLst>
                </a:gridCol>
                <a:gridCol w="3457435">
                  <a:extLst>
                    <a:ext uri="{9D8B030D-6E8A-4147-A177-3AD203B41FA5}">
                      <a16:colId xmlns:a16="http://schemas.microsoft.com/office/drawing/2014/main" val="3142798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分级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业务划分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IT</a:t>
                      </a:r>
                      <a:r>
                        <a:rPr lang="zh-CN" altLang="en-US" sz="1400"/>
                        <a:t>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举例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18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latin typeface="+mn-ea"/>
                          <a:ea typeface="+mn-ea"/>
                        </a:rPr>
                        <a:t>L1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业务域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CRM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latin typeface="+mn-ea"/>
                          <a:ea typeface="+mn-ea"/>
                        </a:rPr>
                        <a:t>销售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业务视野，主要是分类用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21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latin typeface="+mn-ea"/>
                          <a:ea typeface="+mn-ea"/>
                        </a:rPr>
                        <a:t>L2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latin typeface="+mn-ea"/>
                          <a:ea typeface="+mn-ea"/>
                        </a:rPr>
                        <a:t>主题域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市场管理、商机管理、客户管理、销售管理、发货管理、开票管理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latin typeface="+mn-ea"/>
                          <a:ea typeface="+mn-ea"/>
                        </a:rPr>
                        <a:t>业务视野，主要是分类用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87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latin typeface="+mn-ea"/>
                          <a:ea typeface="+mn-ea"/>
                        </a:rPr>
                        <a:t>L3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latin typeface="+mn-ea"/>
                          <a:ea typeface="+mn-ea"/>
                        </a:rPr>
                        <a:t>业务对象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业务对象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销售订单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业务视野，这个是重点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68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+mn-ea"/>
                          <a:ea typeface="+mn-ea"/>
                        </a:rPr>
                        <a:t>L4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+mn-ea"/>
                          <a:ea typeface="+mn-ea"/>
                        </a:rPr>
                        <a:t>逻辑数据实体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VBAK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代表销售订单抬头，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VBAP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代表行项目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IT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视野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741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+mn-ea"/>
                          <a:ea typeface="+mn-ea"/>
                        </a:rPr>
                        <a:t>L5</a:t>
                      </a:r>
                      <a:endParaRPr lang="zh-CN" altLang="en-US" sz="12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+mn-ea"/>
                          <a:ea typeface="+mn-ea"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销售订单类型：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AUART</a:t>
                      </a:r>
                      <a:endParaRPr lang="zh-CN" altLang="en-US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工厂：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WEKRS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80344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5357C0D-41C5-09F4-3F4E-654C9F84E6CF}"/>
              </a:ext>
            </a:extLst>
          </p:cNvPr>
          <p:cNvSpPr txBox="1"/>
          <p:nvPr/>
        </p:nvSpPr>
        <p:spPr>
          <a:xfrm>
            <a:off x="187967" y="653473"/>
            <a:ext cx="9873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数据资产目录就是指对下面的每个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Level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进行梳理。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分别是什么，有什么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56D907-C1AA-ACD9-B743-6F99FF6C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4" y="3578686"/>
            <a:ext cx="11851651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83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E643-029D-4E00-8B3A-7320645C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3EC10-570D-B8FB-0F66-6EF78765B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75" y="2278905"/>
            <a:ext cx="10515600" cy="618809"/>
          </a:xfrm>
        </p:spPr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数据标准</a:t>
            </a:r>
          </a:p>
        </p:txBody>
      </p:sp>
    </p:spTree>
    <p:extLst>
      <p:ext uri="{BB962C8B-B14F-4D97-AF65-F5344CB8AC3E}">
        <p14:creationId xmlns:p14="http://schemas.microsoft.com/office/powerpoint/2010/main" val="417552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E0AE-7183-1098-50BE-D3A794B1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A29FD96-0218-7A14-B4E5-15B4F20C1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43" y="829000"/>
            <a:ext cx="10285714" cy="5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9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9884E42-A27B-F004-0213-FDAEA915F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95" y="1097078"/>
            <a:ext cx="10169009" cy="466384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44A1864-5026-F17D-C7F4-E8A8E840D031}"/>
              </a:ext>
            </a:extLst>
          </p:cNvPr>
          <p:cNvSpPr txBox="1"/>
          <p:nvPr/>
        </p:nvSpPr>
        <p:spPr>
          <a:xfrm>
            <a:off x="515744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</a:rPr>
              <a:t>数据标准</a:t>
            </a:r>
          </a:p>
        </p:txBody>
      </p:sp>
    </p:spTree>
    <p:extLst>
      <p:ext uri="{BB962C8B-B14F-4D97-AF65-F5344CB8AC3E}">
        <p14:creationId xmlns:p14="http://schemas.microsoft.com/office/powerpoint/2010/main" val="2516438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330746" y="207069"/>
            <a:ext cx="10619740" cy="100169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dirty="0" err="1"/>
              <a:t>数据标准</a:t>
            </a:r>
            <a:r>
              <a:rPr lang="zh-CN" altLang="en-US" sz="2000" b="1" dirty="0"/>
              <a:t>：</a:t>
            </a:r>
            <a:r>
              <a:rPr lang="en-US" sz="2000" b="1" dirty="0"/>
              <a:t> </a:t>
            </a:r>
            <a:r>
              <a:rPr sz="2000" b="1" dirty="0" err="1"/>
              <a:t>规范示例</a:t>
            </a:r>
            <a:endParaRPr sz="2000" b="1" dirty="0"/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对业务上认为重要的、跨部门或跨系统共享的数据元进行属性统一定义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DDD4BB-5941-9FC0-34C3-E35CBC885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57" y="1070607"/>
            <a:ext cx="5474682" cy="27251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2873F7-9542-BA6C-FB6E-94E46214B479}"/>
              </a:ext>
            </a:extLst>
          </p:cNvPr>
          <p:cNvSpPr txBox="1"/>
          <p:nvPr/>
        </p:nvSpPr>
        <p:spPr>
          <a:xfrm>
            <a:off x="317848" y="199797"/>
            <a:ext cx="674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数据标准要进一步精细化，尤其是属性标准和属性值标准</a:t>
            </a:r>
          </a:p>
        </p:txBody>
      </p:sp>
    </p:spTree>
    <p:extLst>
      <p:ext uri="{BB962C8B-B14F-4D97-AF65-F5344CB8AC3E}">
        <p14:creationId xmlns:p14="http://schemas.microsoft.com/office/powerpoint/2010/main" val="3768681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242D-F567-DC5E-CBCD-19C44120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ED3AD-7005-3D7B-EB1D-6D905FDD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75" y="2278905"/>
            <a:ext cx="10515600" cy="618809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数据质量</a:t>
            </a:r>
          </a:p>
        </p:txBody>
      </p:sp>
    </p:spTree>
    <p:extLst>
      <p:ext uri="{BB962C8B-B14F-4D97-AF65-F5344CB8AC3E}">
        <p14:creationId xmlns:p14="http://schemas.microsoft.com/office/powerpoint/2010/main" val="2388026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0BB46-0C4D-6A75-9966-FFDF2484F745}"/>
              </a:ext>
            </a:extLst>
          </p:cNvPr>
          <p:cNvSpPr txBox="1"/>
          <p:nvPr/>
        </p:nvSpPr>
        <p:spPr>
          <a:xfrm>
            <a:off x="520663" y="2278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数据质量的维度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6BF464D-E13D-7CE2-AD55-541CE9822AA0}"/>
              </a:ext>
            </a:extLst>
          </p:cNvPr>
          <p:cNvGraphicFramePr>
            <a:graphicFrameLocks noGrp="1"/>
          </p:cNvGraphicFramePr>
          <p:nvPr/>
        </p:nvGraphicFramePr>
        <p:xfrm>
          <a:off x="568846" y="742615"/>
          <a:ext cx="11054308" cy="54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793">
                  <a:extLst>
                    <a:ext uri="{9D8B030D-6E8A-4147-A177-3AD203B41FA5}">
                      <a16:colId xmlns:a16="http://schemas.microsoft.com/office/drawing/2014/main" val="1041593669"/>
                    </a:ext>
                  </a:extLst>
                </a:gridCol>
                <a:gridCol w="4315581">
                  <a:extLst>
                    <a:ext uri="{9D8B030D-6E8A-4147-A177-3AD203B41FA5}">
                      <a16:colId xmlns:a16="http://schemas.microsoft.com/office/drawing/2014/main" val="585378225"/>
                    </a:ext>
                  </a:extLst>
                </a:gridCol>
                <a:gridCol w="5350934">
                  <a:extLst>
                    <a:ext uri="{9D8B030D-6E8A-4147-A177-3AD203B41FA5}">
                      <a16:colId xmlns:a16="http://schemas.microsoft.com/office/drawing/2014/main" val="1504647080"/>
                    </a:ext>
                  </a:extLst>
                </a:gridCol>
              </a:tblGrid>
              <a:tr h="626180">
                <a:tc>
                  <a:txBody>
                    <a:bodyPr/>
                    <a:lstStyle/>
                    <a:p>
                      <a:r>
                        <a:rPr lang="zh-CN" altLang="en-US"/>
                        <a:t>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解释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核心问题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63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完备性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是否存在所有必要的数据字段；是否数据记录是全的；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所有必要的数据都存在吗？有没有缺失的记录或字段？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200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/>
                        <a:t>准确性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/>
                        <a:t>数据正确表示了真实实体的程度，即观测值与真实值之间的接近程度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数据是否准确反映了它意图描述的“真实世界”实体或事件？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38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一致性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数据值在数据集内和数据集之间表达的相符程度，也可以表示系统之间或不同时间的数据集大小和组成的一致程度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同一数据在不同地方的表现形式是否一致？逻辑关系是否冲突？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04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及时性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数据是否在合适的时间内更新，确保其在需要的时候是最新的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数据的“新鲜度”和“可用延迟”是否符合业务预期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05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唯一性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数据集内的任何实体不会重复出现，意味着数据在数据集中没有重复或冗余的记录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数据集中，同一个现实实体是否只被表示了一次？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874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合理性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数据模式符合预期的程度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数据的值、类型或格式是否符合常识或特定领域内的预期模式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013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引用完整性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引用的完整程度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数据之间的关联关系是否完整、有效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1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/>
                        <a:t>有效性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/>
                        <a:t>数据是否符合业务规则和标准要求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数据是否符合预先定义的业务规则、语法格式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25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39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3080509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1426">
            <a:extLst>
              <a:ext uri="{FF2B5EF4-FFF2-40B4-BE49-F238E27FC236}">
                <a16:creationId xmlns:a16="http://schemas.microsoft.com/office/drawing/2014/main" id="{88F35BA8-E077-916D-4110-3FAEBA7CF29C}"/>
              </a:ext>
            </a:extLst>
          </p:cNvPr>
          <p:cNvSpPr/>
          <p:nvPr/>
        </p:nvSpPr>
        <p:spPr>
          <a:xfrm>
            <a:off x="4226859" y="2725524"/>
            <a:ext cx="4212590" cy="325120"/>
          </a:xfrm>
          <a:prstGeom prst="rect">
            <a:avLst/>
          </a:prstGeom>
          <a:solidFill>
            <a:srgbClr val="F1F1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0622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70" normalizeH="0" baseline="0" noProof="0" dirty="0">
                <a:ln>
                  <a:noFill/>
                </a:ln>
                <a:solidFill>
                  <a:srgbClr val="001F5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515744" y="289261"/>
            <a:ext cx="6094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1953469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496269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数据质量原则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496269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496269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496269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524306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数据质量原则：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69571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040572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36814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7130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385435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053745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721318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427068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088358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385435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71409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04275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37142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700082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053745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721318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42500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088358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299800" y="839493"/>
            <a:ext cx="11145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企业数据来源于多个不同的业务系统，数据流转、处理环节多，用“垃圾进，垃圾出”原则保证数据质量已成为数字化转型企业的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共识。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数据质量管理是一个系统性的工程，数据质量从数据质量原则、数据质量规则、数据质量监控、数据质量持续改进流程等四个方面展开，有机结合形成联动。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532284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当用户通过主数据查询功能，可大大缩短获得编码的时间；创建申请一条物资主数据的时间通常在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2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天左右，而通过查询功能查询到编码，再进行分发申请，通常可在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0.5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天内完成。</a:t>
            </a:r>
            <a:endParaRPr lang="en-US" altLang="zh-CN" sz="105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查询选用一条编码耗时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1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分钟，申请一条编码耗时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5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分钟，每个审核节点耗时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3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分钟，总共需要</a:t>
            </a:r>
            <a:r>
              <a:rPr lang="en-US" altLang="zh-CN" sz="1050" dirty="0">
                <a:solidFill>
                  <a:srgbClr val="000000"/>
                </a:solidFill>
                <a:latin typeface="微软雅黑"/>
                <a:ea typeface="微软雅黑"/>
              </a:rPr>
              <a:t>14</a:t>
            </a: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微软雅黑"/>
                <a:ea typeface="微软雅黑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b="1" dirty="0">
                <a:solidFill>
                  <a:srgbClr val="000000"/>
                </a:solidFill>
                <a:latin typeface="微软雅黑"/>
                <a:ea typeface="微软雅黑"/>
              </a:rPr>
              <a:t>缩短主数据申请时间</a:t>
            </a:r>
            <a:endParaRPr lang="en-US" altLang="zh-CN" sz="1050" b="1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b="1" dirty="0">
                <a:solidFill>
                  <a:srgbClr val="000000"/>
                </a:solidFill>
                <a:latin typeface="微软雅黑"/>
                <a:ea typeface="微软雅黑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50" b="1" dirty="0">
                <a:solidFill>
                  <a:srgbClr val="000000"/>
                </a:solidFill>
                <a:latin typeface="微软雅黑"/>
                <a:ea typeface="微软雅黑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en-US" sz="1400" dirty="0"/>
              <a:t>重点提升</a:t>
            </a:r>
            <a:r>
              <a:rPr lang="en-US" altLang="zh-CN" sz="1400" dirty="0"/>
              <a:t>MDM</a:t>
            </a:r>
            <a:r>
              <a:rPr lang="zh-CN" altLang="en-US" sz="1400" dirty="0"/>
              <a:t>平台主数据查询功能，推行先查询后申请的数据管理模式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MDM</a:t>
            </a: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地区公司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基于质量工具技术，将复杂的数据规则固化到</a:t>
            </a:r>
            <a:r>
              <a:rPr lang="en-US" altLang="zh-CN" dirty="0"/>
              <a:t>MDM</a:t>
            </a:r>
            <a:r>
              <a:rPr lang="zh-CN" altLang="en-US" dirty="0"/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输入“公称压力”属性时，会验证填写的值需在</a:t>
            </a:r>
            <a:r>
              <a:rPr lang="en-US" altLang="zh-CN" sz="900" b="1" dirty="0">
                <a:solidFill>
                  <a:srgbClr val="000000"/>
                </a:solidFill>
                <a:latin typeface="+mn-ea"/>
                <a:ea typeface="+mn-ea"/>
              </a:rPr>
              <a:t>1.6~6.4</a:t>
            </a:r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缩短主数据申请时间</a:t>
            </a:r>
            <a:endParaRPr lang="en-US" altLang="zh-CN" sz="105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2. </a:t>
            </a:r>
            <a:r>
              <a:rPr lang="zh-CN" altLang="en-US" sz="1400" dirty="0"/>
              <a:t>通过属性阈值管理从数据申请源头，保证数据填写的规范性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algn="ctr"/>
              <a:endParaRPr lang="zh-CN" alt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en-US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MDM</a:t>
            </a: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地区公司</a:t>
            </a:r>
            <a:endParaRPr kumimoji="0" lang="en-US" altLang="zh-C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当用户确认所申请数据与编码库中数据不重复，则继续提交。在申请环节保证了数据唯一性。</a:t>
            </a:r>
            <a:endParaRPr lang="en-US" altLang="zh-CN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  <a:ea typeface="+mn-ea"/>
              </a:rPr>
              <a:t>十二五提升中，增加了预检查节点，当用户完成数据填写后，</a:t>
            </a:r>
            <a:r>
              <a:rPr lang="en-US" altLang="zh-CN" sz="1100" dirty="0">
                <a:latin typeface="+mn-ea"/>
                <a:ea typeface="+mn-ea"/>
              </a:rPr>
              <a:t>MDM</a:t>
            </a:r>
            <a:r>
              <a:rPr lang="zh-CN" altLang="en-US" sz="1100" dirty="0">
                <a:latin typeface="+mn-ea"/>
                <a:ea typeface="+mn-ea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缩短主数据申请时间</a:t>
            </a:r>
            <a:endParaRPr lang="en-US" altLang="zh-CN" sz="105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6826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3.</a:t>
            </a:r>
            <a:r>
              <a:rPr lang="zh-CN" altLang="en-US" sz="1400" dirty="0"/>
              <a:t>通过数据质量预检查从数据申请源头，保证数据填写的唯一性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en-US" altLang="zh-CN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地区公司</a:t>
            </a:r>
            <a:endParaRPr lang="en-US" altLang="zh-CN" sz="1100" b="1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Tx/>
              <a:tabLst/>
            </a:pPr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latin typeface="+mn-ea"/>
                <a:ea typeface="+mn-ea"/>
              </a:rPr>
              <a:t>质量工具辅助审核：</a:t>
            </a:r>
            <a:r>
              <a:rPr lang="zh-CN" altLang="en-US" sz="1100" dirty="0">
                <a:latin typeface="+mn-ea"/>
                <a:ea typeface="+mn-ea"/>
              </a:rPr>
              <a:t>由于</a:t>
            </a:r>
            <a:r>
              <a:rPr lang="zh-CN" altLang="en-US" sz="1100" dirty="0">
                <a:solidFill>
                  <a:srgbClr val="000000"/>
                </a:solidFill>
                <a:latin typeface="+mn-ea"/>
                <a:ea typeface="+mn-ea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lang="zh-CN" altLang="en-US" sz="1100" dirty="0">
              <a:latin typeface="+mn-ea"/>
              <a:ea typeface="+mn-ea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FFC000"/>
                </a:solidFill>
              </a:rPr>
              <a:t>△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警告：公称通径应填写为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开头加数字的格式，例如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DN50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申请人理由：该物资为进口阀门，采用英制表示法，无法换算为公制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r>
              <a:rPr lang="zh-CN" altLang="en-US" sz="900" b="1" dirty="0">
                <a:solidFill>
                  <a:srgbClr val="000000"/>
                </a:solidFill>
                <a:latin typeface="+mn-ea"/>
                <a:ea typeface="+mn-ea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1"/>
              </a:buClr>
            </a:pPr>
            <a:r>
              <a:rPr lang="zh-CN" altLang="en-US" sz="11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通过数据质量规则引擎的辅助，审核人员的审核内容更明确，效率更高。</a:t>
            </a:r>
            <a:endParaRPr lang="en-US" altLang="zh-CN" sz="105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提高主数据审核效率</a:t>
            </a:r>
            <a:endParaRPr lang="en-US" altLang="zh-CN" sz="105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将数据检查规范划分为可量化规则，形成数据质量规则库由程序统一检查，不可量化规则，形成</a:t>
            </a:r>
            <a:r>
              <a:rPr lang="en-US" altLang="zh-CN" sz="1050" dirty="0">
                <a:solidFill>
                  <a:srgbClr val="000000"/>
                </a:solidFill>
                <a:latin typeface="+mn-ea"/>
                <a:ea typeface="+mn-ea"/>
              </a:rPr>
              <a:t>《</a:t>
            </a: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数据检查手册</a:t>
            </a:r>
            <a:r>
              <a:rPr lang="en-US" altLang="zh-CN" sz="1050" dirty="0">
                <a:solidFill>
                  <a:srgbClr val="000000"/>
                </a:solidFill>
                <a:latin typeface="+mn-ea"/>
                <a:ea typeface="+mn-ea"/>
              </a:rPr>
              <a:t>》</a:t>
            </a:r>
            <a:r>
              <a:rPr lang="zh-CN" altLang="en-US" sz="1050" dirty="0">
                <a:solidFill>
                  <a:srgbClr val="000000"/>
                </a:solidFill>
                <a:latin typeface="+mn-ea"/>
                <a:ea typeface="+mn-ea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b="1" dirty="0">
                <a:solidFill>
                  <a:srgbClr val="000000"/>
                </a:solidFill>
                <a:latin typeface="+mn-ea"/>
                <a:ea typeface="+mn-ea"/>
              </a:rPr>
              <a:t>保证审核的标准化</a:t>
            </a:r>
            <a:endParaRPr lang="en-US" altLang="zh-CN" sz="105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latin typeface="+mn-ea"/>
                <a:ea typeface="+mn-ea"/>
              </a:rPr>
              <a:t>审核意见标准化：</a:t>
            </a:r>
            <a:r>
              <a:rPr lang="zh-CN" altLang="en-US" sz="1100" dirty="0">
                <a:latin typeface="+mn-ea"/>
                <a:ea typeface="+mn-ea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097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4. </a:t>
            </a:r>
            <a:r>
              <a:rPr lang="zh-CN" altLang="en-US" sz="1400" dirty="0"/>
              <a:t>审核环节提高处理效率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95841B-E8B6-BE98-7D67-45115FC7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252" y="2891461"/>
            <a:ext cx="8405190" cy="132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65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D587-F533-0063-C1EB-73849BD1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6221B7-AEEE-CDEF-8598-6B6572A33B9C}"/>
              </a:ext>
            </a:extLst>
          </p:cNvPr>
          <p:cNvSpPr txBox="1"/>
          <p:nvPr/>
        </p:nvSpPr>
        <p:spPr>
          <a:xfrm>
            <a:off x="515744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</a:rPr>
              <a:t>数据分布地图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D0A142-0A26-9239-0375-A8F83351E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43" y="867095"/>
            <a:ext cx="10285714" cy="5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14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50995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6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8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0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9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7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0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9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7776</Words>
  <Application>Microsoft Office PowerPoint</Application>
  <PresentationFormat>宽屏</PresentationFormat>
  <Paragraphs>657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ui-sans-serif</vt:lpstr>
      <vt:lpstr>等线</vt:lpstr>
      <vt:lpstr>等线 Light</vt:lpstr>
      <vt:lpstr>黑体</vt:lpstr>
      <vt:lpstr>楷体</vt:lpstr>
      <vt:lpstr>宋体</vt:lpstr>
      <vt:lpstr>Microsoft YaHei</vt:lpstr>
      <vt:lpstr>Microsoft YaHei</vt:lpstr>
      <vt:lpstr>Arial</vt:lpstr>
      <vt:lpstr>Arial Black</vt:lpstr>
      <vt:lpstr>Calibri</vt:lpstr>
      <vt:lpstr>Times New Roman</vt:lpstr>
      <vt:lpstr>Wingdings</vt:lpstr>
      <vt:lpstr>Office 主题​​</vt:lpstr>
      <vt:lpstr>Office 主题</vt:lpstr>
      <vt:lpstr>1_Office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数据治理解决方案</vt:lpstr>
      <vt:lpstr>SAP MDG功能</vt:lpstr>
      <vt:lpstr>SAP MDG功能的亮点</vt:lpstr>
      <vt:lpstr>1. 数据资产目录</vt:lpstr>
      <vt:lpstr>PowerPoint 演示文稿</vt:lpstr>
      <vt:lpstr>数据资产目录</vt:lpstr>
      <vt:lpstr>2. 数据标准</vt:lpstr>
      <vt:lpstr>PowerPoint 演示文稿</vt:lpstr>
      <vt:lpstr>PowerPoint 演示文稿</vt:lpstr>
      <vt:lpstr>PowerPoint 演示文稿</vt:lpstr>
      <vt:lpstr>PowerPoint 演示文稿</vt:lpstr>
      <vt:lpstr>3. 数据质量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Zhao</dc:creator>
  <cp:lastModifiedBy>Frank Zhao</cp:lastModifiedBy>
  <cp:revision>4</cp:revision>
  <dcterms:created xsi:type="dcterms:W3CDTF">2026-08-25T01:28:23Z</dcterms:created>
  <dcterms:modified xsi:type="dcterms:W3CDTF">2026-08-25T08:48:10Z</dcterms:modified>
</cp:coreProperties>
</file>