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24.03.2026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大家好，欢迎参加本次关于Collibra数据治理概念验证，也就是PoC的方案介绍。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在今天的分享中，我们将详细阐述如何通过私有化部署的方式，在我们公司内部环境中实施Collibra平台，以解决当前面临的数据挑战，并验证其技术可行性与业务价值。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这份方案将为我们后续的数据治理战略提供坚实的决策依据。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方案将分为六个部分。首先，我们会介绍项目的背景、目标和范围。接着，详细阐述PoC的方法论和我们设计的核心测试场景。第三部分是具体的实施计划和时间安排。第四部分明确了所需的资源和团队职责。第五部分，我们会定义成功的标准并进行风险评估。最后，对整个PoC项目进行总结，并提出下一步的行动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现在，让我们进入第一部分：项目概述与目标。在本章节中，我们将深入探讨为什么我们需要进行数据治理，明确本次PoC的核心目标，并清晰地界定项目的范围，确保所有参与者对项目有统一的认识。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谈谈为什么数据治理如此重要。在数字化转型中，数据已成为核心资产，但我们面临着数据孤岛、质量低下、标准不一和安全合规等严峻挑战。这些问题直接导致业务人员查找数据困难、报表不准确、协作效率低下。因此，我们希望通过引入Collibra这样的专业平台，建立一个统一的数据治理体系，从而释放数据的真正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PoC的核心目标非常明确。首先，我们要从技术上验证Collibra能否在我们的内网环境中稳定运行。其次，要验证它的核心功能是否真的能解决我们的数据治理痛点。同时，我们也会重点评估不同用户角色的体验，确保平台易用。最终，我们希望通过具体的测试场景，直观地展示Collibra能带来的业务价值，为决策提供有力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PoC的聚焦和高效，我们对范围进行了明确界定。业务上，我们选择零售客户分析和供应链管理作为试点领域。技术上，我们将在私有化环境中，通过标准连接器集成Oracle、SAP等多种数据源。功能上，我们将重点验证数据目录、术语表、血缘和数据质量这四大核心功能，并探索数据隐私等高级功能的可能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接下来进入第二部分，我们将介绍本次PoC所采用的结构化方法论，以及为全面评估Collibra能力而设计的四个核心测试场景。这部分内容将阐明我们如何科学、系统地进行验证。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PoC将遵循一个清晰的五阶段方法论。从最初的准备规划，到环境搭建，再到核心的集成配置和场景测试，最后进行评估总结。这个结构化的流程将确保我们的每一步都有明确的目标和交付物，从而保证PoC的顺利进行和结果的有效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四个核心测试场景来全面检验Collibra的能力。第一，构建数据目录，看它能否帮我们把所有数据资产管理起来。第二，定义业务术语表，验证它能否打通IT与业务的沟通壁垒。第三，进行端到端的数据血缘分析，看它能否清晰地展示数据的来龙去脉。第四，实施数据质量监控，验证它能否主动发现数据问题。这四个场景将从不同维度验证平台的核心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场景是构建企业级数据目录。我们将连接多种异构数据源，利用Collibra的自动扫描功能来采集元数据。测试的核心是看最终能否形成一个统一、可搜索的数据资产目录，让用户像使用搜索引擎一样，轻松找到他们需要的数据。这将极大提升数据的可发现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场景是定义和管理业务术语表。我们将在Collibra中创建一套核心业务术语，并将它们与具体的数据字段关联起来。这样做的目的是建立一个企业统一的数据语言，让业务人员和IT人员能够基于共同的理解进行沟通，从而消除因术语歧义导致的误解和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场景是端到端的数据血缘分析。我们将测试Collibra能否自动捕获并可视化展示数据从源头到最终报表的完整链路。这对于理解数据的来源、确保数据合规性，以及在数据出现问题时进行快速的根源追溯至关重要。我们还将测试其影响分析功能，评估其在变更管理中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场景是实施数据质量监控。我们将针对关键业务数据定义一系列质量规则，例如非空、唯一性等，并配置自动化的监控任务。测试的目标是看Collibra能否主动地发现数据质量问题，并通过直观的仪表盘进行展示和预警。这将帮助我们从被动处理数据问题，转变为主动管理数据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了解了测试场景后，我们来看第三部分：具体的实施计划与时间线。本章将详细介绍PoC项目的整体时间安排，以及每个阶段的具体任务和交付物，确保项目能够按时、高质量地完成。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本次PoC制定了一个为期8周的详细计划。第一周进行准备和规划。第二周完成环境搭建。第三和第四周是核心的集成与配置阶段。第五和第六周进行场景测试和用户体验评估。第七周进行评估总结，最后在第八周进行成果汇报。整个计划环环相扣，确保项目稳步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的前两周是基础准备阶段。第一周，我们将完成团队组建、范围确认和环境准备等工作，并召开项目启动会。第二周，我们将进行Collibra平台的私有化部署和基础配置，包括安装软件、配置数据库和网络安全策略，并完成初步的系统健康检查，为后续的集成工作打好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到第六周是项目的核心执行阶段。第三和第四周，我们将重点进行集成与配置工作，包括连接数据源、采集元数据、定义业务术语并将其与数据资产关联。第五和第六周，我们将正式进入场景测试阶段，全面执行我们之前设计的四个核心场景，并邀请真实用户参与体验，收集宝贵的反馈意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最后两周是项目的收尾阶段，也是决定项目价值能否被认可的关键期。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七周，我们将重点放在“评估与总结”上。团队需要对所有测试数据和用户反馈进行深入的定性与定量分析，严格对照项目初期设定的成功标准进行全面评估，并撰写详细的PoC总结报告，明确指出成果、遇到的挑战以及改进建议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第八周，进入“报告与汇报”环节。我们将精心准备汇报材料，向管理层清晰地展示PoC的价值验证结论，用数据说话，并共同探讨下一步的正式立项或迭代优化计划，确保项目成果能顺利转化为实际业务价值。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一个成功的项目离不开充足的资源和明确的职责分工。第四部分，我们将详细说明本次PoC所需的硬件、软件资源，以及项目团队中各个角色的职责，确保项目能够得到有力的支持。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在资源方面，我们需要准备两台满足特定配置的服务器，运行Linux系统和PostgreSQL数据库。软件方面，我们将使用Collibra DGC和Connect的最新版本，并确保能够访问到Oracle、SAP等目标数据源。这些资源是保障PoC顺利进行的基础。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人员方面，我们需要一个跨职能的团队。项目指导委员会将提供战略支持。项目经理负责整体协调。Collibra技术专家提供专业的技术支持。我们内部的IT架构师和DBA负责基础设施保障。同样重要的是，需要有业务用户代表深度参与，确保PoC的业务相关性和实用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第五部分，我们将明确PoC成功的标准，并对潜在的风险进行评估，提前制定应对策略。这有助于我们科学地衡量PoC的成果，并确保项目在可控的风险范围内进行。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为PoC设定了清晰、可衡量的成功标准。技术上，要求部署和集成100%成功，并达到一定的性能指标。功能上，要求数据目录覆盖率、术语表完成度等达到预设目标。用户体验上，要求参与测试的用户满意度达到4分以上。这些量化指标将是我们评估PoC是否成功的客观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也对潜在的风险进行了评估。主要包括技术风险，如基础设施不匹配或集成困难；业务风险，如业务用户参与度不足；以及项目管理和安全风险。针对每一项风险，我们都制定了相应的缓解策略，例如提前进行环境检查、获得管理层支持、预留缓冲时间等，以确保项目能够顺利进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最后，我们来到第六部分：结论与下一步。本章将总结本次PoC的价值与意义，并根据PoC的可能结果，提出清晰的下一步行动计划。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本次PoC具有重要的价值和意义。它不仅能从技术上验证Collibra是否适合我们，更能直观地展示其业务价值。同时，PoC过程也是一个培养内部数据治理人才的过程。最重要的是，通过小范围的试点，我们可以提前识别并解决问题，从而大大降低未来全面实施的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PoC的结果，我们有清晰的下一步计划。如果PoC成功，我们将立即启动正式项目的立项流程，制定全面的推广计划，并逐步将成功实践扩展到更多业务领域。如果PoC未完全达到预期，我们将深入分析原因，并据此决定是进行第二轮PoC还是考虑其他方案。无论结果如何，这次PoC都将为我们的数据治理之路提供宝贵的指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我的介绍到此结束。通过这次PoC，我们期望开启一个数据驱动、治理有序的新篇章。现在，欢迎大家提问，我很乐意就方案中的任何细节与大家进行交流。谢谢大家！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3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10" Type="http://schemas.openxmlformats.org/officeDocument/2006/relationships/image" Target="../media/image17.jpeg"/><Relationship Id="rId4" Type="http://schemas.openxmlformats.org/officeDocument/2006/relationships/image" Target="../media/image12.sv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Relationship Id="rId9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3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.jpe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8.svg"/><Relationship Id="rId10" Type="http://schemas.openxmlformats.org/officeDocument/2006/relationships/image" Target="../media/image30.svg"/><Relationship Id="rId4" Type="http://schemas.openxmlformats.org/officeDocument/2006/relationships/image" Target="../media/image26.svg"/><Relationship Id="rId9" Type="http://schemas.openxmlformats.org/officeDocument/2006/relationships/image" Target="../media/image2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35.svg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jpeg"/><Relationship Id="rId5" Type="http://schemas.openxmlformats.org/officeDocument/2006/relationships/image" Target="../media/image37.svg"/><Relationship Id="rId4" Type="http://schemas.openxmlformats.org/officeDocument/2006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.jpeg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37.svg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3" Type="http://schemas.openxmlformats.org/officeDocument/2006/relationships/image" Target="../media/image3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5" Type="http://schemas.openxmlformats.org/officeDocument/2006/relationships/image" Target="../media/image14.svg"/><Relationship Id="rId4" Type="http://schemas.openxmlformats.org/officeDocument/2006/relationships/image" Target="../media/image11.svg"/><Relationship Id="rId9" Type="http://schemas.openxmlformats.org/officeDocument/2006/relationships/image" Target="../media/image4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.jpe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18.svg"/><Relationship Id="rId10" Type="http://schemas.openxmlformats.org/officeDocument/2006/relationships/image" Target="../media/image8.svg"/><Relationship Id="rId4" Type="http://schemas.openxmlformats.org/officeDocument/2006/relationships/image" Target="../media/image20.svg"/><Relationship Id="rId9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svg"/><Relationship Id="rId4" Type="http://schemas.openxmlformats.org/officeDocument/2006/relationships/image" Target="../media/image4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svg"/><Relationship Id="rId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svg"/><Relationship Id="rId4" Type="http://schemas.openxmlformats.org/officeDocument/2006/relationships/image" Target="../media/image1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3.jpe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52.svg"/><Relationship Id="rId10" Type="http://schemas.openxmlformats.org/officeDocument/2006/relationships/image" Target="../media/image55.svg"/><Relationship Id="rId4" Type="http://schemas.openxmlformats.org/officeDocument/2006/relationships/image" Target="../media/image51.svg"/><Relationship Id="rId9" Type="http://schemas.openxmlformats.org/officeDocument/2006/relationships/image" Target="../media/image5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eg"/><Relationship Id="rId3" Type="http://schemas.openxmlformats.org/officeDocument/2006/relationships/image" Target="../media/image3.jpe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5" Type="http://schemas.openxmlformats.org/officeDocument/2006/relationships/image" Target="../media/image45.svg"/><Relationship Id="rId4" Type="http://schemas.openxmlformats.org/officeDocument/2006/relationships/image" Target="../media/image18.svg"/><Relationship Id="rId9" Type="http://schemas.openxmlformats.org/officeDocument/2006/relationships/image" Target="../media/image30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0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3.svg"/><Relationship Id="rId5" Type="http://schemas.openxmlformats.org/officeDocument/2006/relationships/image" Target="../media/image62.svg"/><Relationship Id="rId4" Type="http://schemas.openxmlformats.org/officeDocument/2006/relationships/image" Target="../media/image61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3.jpeg"/><Relationship Id="rId7" Type="http://schemas.openxmlformats.org/officeDocument/2006/relationships/image" Target="../media/image65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svg"/><Relationship Id="rId11" Type="http://schemas.openxmlformats.org/officeDocument/2006/relationships/image" Target="../media/image69.svg"/><Relationship Id="rId5" Type="http://schemas.openxmlformats.org/officeDocument/2006/relationships/image" Target="../media/image48.svg"/><Relationship Id="rId10" Type="http://schemas.openxmlformats.org/officeDocument/2006/relationships/image" Target="../media/image68.svg"/><Relationship Id="rId4" Type="http://schemas.openxmlformats.org/officeDocument/2006/relationships/image" Target="../media/image64.svg"/><Relationship Id="rId9" Type="http://schemas.openxmlformats.org/officeDocument/2006/relationships/image" Target="../media/image67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2.png"/><Relationship Id="rId4" Type="http://schemas.openxmlformats.org/officeDocument/2006/relationships/image" Target="../media/image7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B5E20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1397000"/>
            <a:ext cx="812800" cy="812800"/>
          </a:xfrm>
          <a:prstGeom prst="rect">
            <a:avLst/>
          </a:prstGeom>
          <a:effectLst>
            <a:outerShdw blurRad="1016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08000" y="2413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Collibra 数据治理概念验证 (PoC) 实施方案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3302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200">
                <a:solidFill>
                  <a:srgbClr val="A5D6A7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私有化部署版实施规划 ——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556000" y="4191000"/>
            <a:ext cx="5080000" cy="50800"/>
          </a:xfrm>
          <a:prstGeom prst="roundRect">
            <a:avLst>
              <a:gd name="adj" fmla="val 400000"/>
            </a:avLst>
          </a:prstGeom>
          <a:gradFill rotWithShape="1">
            <a:gsLst>
              <a:gs pos="0">
                <a:srgbClr val="66BB6A">
                  <a:alpha val="100000"/>
                </a:srgbClr>
              </a:gs>
              <a:gs pos="100000">
                <a:srgbClr val="C8E6C9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546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核心目标：资产标准化 | 合规自动化 | 价值可视化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812800"/>
            <a:ext cx="76200" cy="406400"/>
          </a:xfrm>
          <a:prstGeom prst="roundRect">
            <a:avLst>
              <a:gd name="adj" fmla="val 5000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762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项目实施与PoC验证方案目录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3970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Implementation &amp; PoC Verification Plan Contents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032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346200" y="2286000"/>
            <a:ext cx="711200" cy="7112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98600" y="24384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222500" y="2286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项目概述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22500" y="2794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明确项目背景、核心目标及实施范围界定，奠定执行基础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2032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72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902200" y="2286000"/>
            <a:ext cx="711200" cy="7112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54600" y="24384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778500" y="2286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核心方法论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778500" y="2794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详述PoC实施方法论，并拆解四大核心测试场景与步骤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2032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28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458200" y="2286000"/>
            <a:ext cx="711200" cy="7112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10600" y="24384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334500" y="2286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03 实施计划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334500" y="27940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展示总体时间线规划，明确各阶段关键任务节点与交付物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16000" y="40005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" y="4000500"/>
            <a:ext cx="76200" cy="1714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346200" y="4254500"/>
            <a:ext cx="711200" cy="7112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8600" y="44069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2222500" y="4254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04 资源与职责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2222500" y="4762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列出所需软硬件资源清单，界定项目团队成员职责分工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4572000" y="40005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4572000" y="4000500"/>
            <a:ext cx="76200" cy="1714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4902200" y="4254500"/>
            <a:ext cx="711200" cy="7112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54600" y="44069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5778500" y="4254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05 风险与标准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5778500" y="4762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定义项目成功验收指标，预判潜在风险并制定缓解策略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8128000" y="40005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8128000" y="4000500"/>
            <a:ext cx="76200" cy="1714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8458200" y="4254500"/>
            <a:ext cx="711200" cy="7112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10600" y="4406900"/>
            <a:ext cx="406400" cy="4064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9334500" y="4254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06 总结与展望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9334500" y="4762500"/>
            <a:ext cx="190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总结PoC核心价值，提出后续正式项目的推进建议与行动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FFFFFF">
                  <a:alpha val="5000"/>
                </a:srgbClr>
              </a:gs>
              <a:gs pos="100000">
                <a:srgbClr val="FFFFFF">
                  <a:alpha val="3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207000" y="1778000"/>
            <a:ext cx="6223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588000" y="2159000"/>
            <a:ext cx="546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01 / 章节导览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588000" y="2921000"/>
            <a:ext cx="546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项目概述与核心目标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368300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588000" y="3937000"/>
            <a:ext cx="546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深入探讨数据治理的必要性，明确本次PoC验证的核心价值，界定项目范围与实施边界，达成全员认知对齐。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8000" y="5588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096000" y="56134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聚焦目标 · 清晰界定 · 统一认知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数据治理的必要性：打破壁垒，释放数据核心价值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▍数据驱动决策的四大挑战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2921000" cy="1079500"/>
          </a:xfrm>
          <a:prstGeom prst="roundRect">
            <a:avLst>
              <a:gd name="adj" fmla="val 11764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22606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159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数据孤岛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各系统数据不通，信息壁垒严重</a:t>
            </a:r>
          </a:p>
        </p:txBody>
      </p:sp>
      <p:sp>
        <p:nvSpPr>
          <p:cNvPr id="9" name="AutoShape 9"/>
          <p:cNvSpPr/>
          <p:nvPr/>
        </p:nvSpPr>
        <p:spPr>
          <a:xfrm>
            <a:off x="4064000" y="2032000"/>
            <a:ext cx="2921000" cy="1079500"/>
          </a:xfrm>
          <a:prstGeom prst="roundRect">
            <a:avLst>
              <a:gd name="adj" fmla="val 11764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54500" y="22606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826000" y="21590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质量低下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数据不准确/缺失，影响分析可靠度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3238500"/>
            <a:ext cx="2921000" cy="1079500"/>
          </a:xfrm>
          <a:prstGeom prst="roundRect">
            <a:avLst>
              <a:gd name="adj" fmla="val 11764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34671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33655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标准不一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缺乏统一定义，跨部门沟通混乱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064000" y="3238500"/>
            <a:ext cx="2921000" cy="1079500"/>
          </a:xfrm>
          <a:prstGeom prst="roundRect">
            <a:avLst>
              <a:gd name="adj" fmla="val 11764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54500" y="34671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826000" y="3365500"/>
            <a:ext cx="203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安全合规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面对GDPR等法规，合规风险激增</a:t>
            </a:r>
          </a:p>
        </p:txBody>
      </p:sp>
      <p:sp>
        <p:nvSpPr>
          <p:cNvPr id="18" name="AutoShape 18"/>
          <p:cNvSpPr/>
          <p:nvPr/>
        </p:nvSpPr>
        <p:spPr>
          <a:xfrm>
            <a:off x="1016000" y="4572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▍核心业务痛点直击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016000" y="5080000"/>
            <a:ext cx="2921000" cy="635000"/>
          </a:xfrm>
          <a:prstGeom prst="roundRect">
            <a:avLst>
              <a:gd name="adj" fmla="val 20000"/>
            </a:avLst>
          </a:prstGeom>
          <a:solidFill>
            <a:srgbClr val="FFF3E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6500" y="5207000"/>
            <a:ext cx="381000" cy="381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14500" y="5080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查找困难：决策延迟效率低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064000" y="5080000"/>
            <a:ext cx="2921000" cy="635000"/>
          </a:xfrm>
          <a:prstGeom prst="roundRect">
            <a:avLst>
              <a:gd name="adj" fmla="val 20000"/>
            </a:avLst>
          </a:prstGeom>
          <a:solidFill>
            <a:srgbClr val="FFF3E0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254500" y="5207000"/>
            <a:ext cx="381000" cy="381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762500" y="5080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协作低效：语言不通成本高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rcRect l="11734" r="11734"/>
          <a:stretch>
            <a:fillRect/>
          </a:stretch>
        </p:blipFill>
        <p:spPr>
          <a:xfrm>
            <a:off x="7366000" y="1778000"/>
            <a:ext cx="3810000" cy="2794000"/>
          </a:xfrm>
          <a:prstGeom prst="roundRect">
            <a:avLst>
              <a:gd name="adj" fmla="val 6818"/>
            </a:avLst>
          </a:prstGeom>
          <a:noFill/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6" name="AutoShape 26"/>
          <p:cNvSpPr/>
          <p:nvPr/>
        </p:nvSpPr>
        <p:spPr>
          <a:xfrm>
            <a:off x="7366000" y="4699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现状洞察：信息断层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数据分散导致业务决策缺乏支撑，部门间存在明显协作壁垒。</a:t>
            </a:r>
          </a:p>
        </p:txBody>
      </p:sp>
      <p:sp>
        <p:nvSpPr>
          <p:cNvPr id="27" name="AutoShape 27"/>
          <p:cNvSpPr/>
          <p:nvPr/>
        </p:nvSpPr>
        <p:spPr>
          <a:xfrm>
            <a:off x="1016000" y="5905500"/>
            <a:ext cx="10160000" cy="571500"/>
          </a:xfrm>
          <a:prstGeom prst="roundRect">
            <a:avLst>
              <a:gd name="adj" fmla="val 44444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1016000" y="5905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愿景：引入Collibra，建立统一、智能、自动化的数据治理体系，赋能业务创新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PoC 核心目标：验证Collibra私有化适用性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33500"/>
            <a:ext cx="1016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3111500" cy="1905000"/>
          </a:xfrm>
          <a:prstGeom prst="roundRect">
            <a:avLst>
              <a:gd name="adj" fmla="val 6666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2032000"/>
            <a:ext cx="609600" cy="609600"/>
          </a:xfrm>
          <a:prstGeom prst="ellipse">
            <a:avLst/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71600" y="21336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032000" y="2032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技术可行性验证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70000" y="2794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验证基础设施部署与集成能力，评估系统性能与稳定性。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254500" y="1778000"/>
            <a:ext cx="3111500" cy="1905000"/>
          </a:xfrm>
          <a:prstGeom prst="roundRect">
            <a:avLst>
              <a:gd name="adj" fmla="val 6666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08500" y="2032000"/>
            <a:ext cx="609600" cy="609600"/>
          </a:xfrm>
          <a:prstGeom prst="ellipse">
            <a:avLst/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10100" y="2133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70500" y="2032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功能适用性验证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08500" y="2794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验证目录、血缘等核心功能对业务痛点的解决能力及流程匹配度。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3937000"/>
            <a:ext cx="3111500" cy="1905000"/>
          </a:xfrm>
          <a:prstGeom prst="roundRect">
            <a:avLst>
              <a:gd name="adj" fmla="val 6666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270000" y="4191000"/>
            <a:ext cx="609600" cy="609600"/>
          </a:xfrm>
          <a:prstGeom prst="ellipse">
            <a:avLst/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0" y="42926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2032000" y="419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用户体验评估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270000" y="4953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评估管理员与业务用户的操作易用性，收集反馈优化推广路径。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254500" y="3937000"/>
            <a:ext cx="3111500" cy="1905000"/>
          </a:xfrm>
          <a:prstGeom prst="roundRect">
            <a:avLst>
              <a:gd name="adj" fmla="val 6666"/>
            </a:avLst>
          </a:prstGeom>
          <a:solidFill>
            <a:srgbClr val="F1F8E9">
              <a:alpha val="100000"/>
            </a:srgbClr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508500" y="4191000"/>
            <a:ext cx="609600" cy="609600"/>
          </a:xfrm>
          <a:prstGeom prst="ellipse">
            <a:avLst/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0100" y="42926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270500" y="41910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价值呈现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508500" y="49530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通过具体场景展示平台在提升数据可发现性、信任度及合规性的价值。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rcRect l="6250" r="6250"/>
          <a:stretch>
            <a:fillRect/>
          </a:stretch>
        </p:blipFill>
        <p:spPr>
          <a:xfrm>
            <a:off x="7620000" y="1778000"/>
            <a:ext cx="3556000" cy="2286000"/>
          </a:xfrm>
          <a:prstGeom prst="roundRect">
            <a:avLst>
              <a:gd name="adj" fmla="val 11111"/>
            </a:avLst>
          </a:prstGeom>
          <a:noFill/>
          <a:ln w="508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7" name="AutoShape 27"/>
          <p:cNvSpPr/>
          <p:nvPr/>
        </p:nvSpPr>
        <p:spPr>
          <a:xfrm>
            <a:off x="7620000" y="4254500"/>
            <a:ext cx="3556000" cy="1587500"/>
          </a:xfrm>
          <a:prstGeom prst="roundRect">
            <a:avLst>
              <a:gd name="adj" fmla="val 8000"/>
            </a:avLst>
          </a:prstGeom>
          <a:solidFill>
            <a:srgbClr val="2E7D32">
              <a:alpha val="8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74000" y="4508500"/>
            <a:ext cx="508000" cy="508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509000" y="4445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精准验证 · 价值导向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以结果为导向，全方位评估平台落地能力，确保项目成功。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785" r="2000" b="17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PoC 范围界定与实施规划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5588000" cy="1397000"/>
          </a:xfrm>
          <a:prstGeom prst="roundRect">
            <a:avLst>
              <a:gd name="adj" fmla="val 909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" y="2159000"/>
            <a:ext cx="635000" cy="635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1905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业务范围：零售与供应链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试点领域：零售客户分析、供应链管理优化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核心数据：客户主数据、交易流水、产品目录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3365500"/>
            <a:ext cx="5588000" cy="1397000"/>
          </a:xfrm>
          <a:prstGeom prst="roundRect">
            <a:avLst>
              <a:gd name="adj" fmla="val 909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0" y="37465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159000" y="3492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技术架构：私有化集成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数据源：Oracle / SAP BW / Snowflake / CSV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部署模式：私有化 (On-Premise) + 标准API集成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016000" y="4953000"/>
            <a:ext cx="5588000" cy="1397000"/>
          </a:xfrm>
          <a:prstGeom prst="roundRect">
            <a:avLst>
              <a:gd name="adj" fmla="val 909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  <a:effectLst>
            <a:outerShdw blurRad="101600" dist="50800" dir="27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3500" y="5334000"/>
            <a:ext cx="635000" cy="635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159000" y="5080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功能验证：核心与扩展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必选：数据目录、术语表、血缘分析、质量检测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可选：数据隐私合规、数据政策自动化管理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 l="8951" r="9207"/>
          <a:stretch>
            <a:fillRect/>
          </a:stretch>
        </p:blipFill>
        <p:spPr>
          <a:xfrm>
            <a:off x="7112000" y="1778000"/>
            <a:ext cx="4064000" cy="2794000"/>
          </a:xfrm>
          <a:prstGeom prst="roundRect">
            <a:avLst>
              <a:gd name="adj" fmla="val 6818"/>
            </a:avLst>
          </a:prstGeom>
          <a:noFill/>
          <a:ln w="25400" cap="flat" cmpd="sng">
            <a:solidFill>
              <a:srgbClr val="2E7D32">
                <a:alpha val="3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7112000" y="4826000"/>
            <a:ext cx="4064000" cy="1524000"/>
          </a:xfrm>
          <a:prstGeom prst="roundRect">
            <a:avLst>
              <a:gd name="adj" fmla="val 8333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6000" y="5080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128000" y="5016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核心目标：安全可控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在私有化环境中验证数据治理全流程，确保生产落地的稳定性与合规性。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8255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D3C14">
                  <a:alpha val="95000"/>
                </a:srgbClr>
              </a:gs>
              <a:gs pos="60000">
                <a:srgbClr val="1B5E20">
                  <a:alpha val="85000"/>
                </a:srgbClr>
              </a:gs>
              <a:gs pos="100000">
                <a:srgbClr val="2E7D32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635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5600" b="1" i="0" u="none" strike="noStrike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84500"/>
            <a:ext cx="698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PoC方法论与核心场景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873500"/>
            <a:ext cx="1778000" cy="76200"/>
          </a:xfrm>
          <a:prstGeom prst="roundRect">
            <a:avLst>
              <a:gd name="adj" fmla="val 0"/>
            </a:avLst>
          </a:prstGeom>
          <a:solidFill>
            <a:srgbClr val="FF98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2545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8F5E9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基于结构化验证体系，覆盖四大核心业务场景，</a:t>
            </a:r>
            <a:br>
              <a:rPr lang="en-US" sz="1800" b="0" i="0" u="none" strike="noStrike">
                <a:solidFill>
                  <a:srgbClr val="E8F5E9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800" b="0" i="0" u="none" strike="noStrike">
                <a:solidFill>
                  <a:srgbClr val="E8F5E9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全方位评估数据治理平台的适配性与价值潜力。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98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PoC 实施方法论：五阶段全流程解析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587500"/>
            <a:ext cx="6604000" cy="889000"/>
          </a:xfrm>
          <a:prstGeom prst="roundRect">
            <a:avLst>
              <a:gd name="adj" fmla="val 14285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101600" cy="889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" y="18034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68500" y="1651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阶段一：准备与规划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组建团队，明确业务目标与测试范围，完成前期环境准备。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6604000" cy="889000"/>
          </a:xfrm>
          <a:prstGeom prst="roundRect">
            <a:avLst>
              <a:gd name="adj" fmla="val 14285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2603500"/>
            <a:ext cx="101600" cy="889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3500" y="28194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968500" y="2667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阶段二：环境搭建与配置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部署Collibra平台核心组件，配置基础运行环境与安全策略。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3619500"/>
            <a:ext cx="6604000" cy="889000"/>
          </a:xfrm>
          <a:prstGeom prst="roundRect">
            <a:avLst>
              <a:gd name="adj" fmla="val 14285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3619500"/>
            <a:ext cx="101600" cy="889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3500" y="38354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968500" y="3683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阶段三：集成与配置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连接源数据系统，采集核心元数据，定义关键业务术语与标准。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4635500"/>
            <a:ext cx="6604000" cy="889000"/>
          </a:xfrm>
          <a:prstGeom prst="roundRect">
            <a:avLst>
              <a:gd name="adj" fmla="val 14285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4635500"/>
            <a:ext cx="101600" cy="889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3500" y="48514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968500" y="4699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阶段四：场景测试与验证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执行预设的关键业务测试场景，收集运行数据，评估功能表现。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016000" y="5651500"/>
            <a:ext cx="6604000" cy="889000"/>
          </a:xfrm>
          <a:prstGeom prst="roundRect">
            <a:avLst>
              <a:gd name="adj" fmla="val 14285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5651500"/>
            <a:ext cx="101600" cy="889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33500" y="58674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968500" y="5715000"/>
            <a:ext cx="546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阶段五：评估与总结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综合分析测试结果，量化PoC价值产出，形成最终验收报告。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/>
          <a:srcRect t="1219" b="1219"/>
          <a:stretch>
            <a:fillRect/>
          </a:stretch>
        </p:blipFill>
        <p:spPr>
          <a:xfrm>
            <a:off x="7874000" y="1587500"/>
            <a:ext cx="3683000" cy="2032000"/>
          </a:xfrm>
          <a:prstGeom prst="roundRect">
            <a:avLst>
              <a:gd name="adj" fmla="val 625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6" name="AutoShape 26"/>
          <p:cNvSpPr/>
          <p:nvPr/>
        </p:nvSpPr>
        <p:spPr>
          <a:xfrm>
            <a:off x="7874000" y="3937000"/>
            <a:ext cx="3683000" cy="2222500"/>
          </a:xfrm>
          <a:prstGeom prst="roundRect">
            <a:avLst>
              <a:gd name="adj" fmla="val 5714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762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4500" y="4191000"/>
            <a:ext cx="508000" cy="508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064500" y="48260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全流程闭环保障</a:t>
            </a:r>
            <a:endParaRPr lang="en-US" sz="1100"/>
          </a:p>
          <a:p>
            <a:pPr indent="0" algn="ctr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从规划到验收层层递进，确保PoC过程透明可控，交付成果精准匹配业务预期，降低实施风险。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核心测试场景概览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2349500" cy="3937000"/>
          </a:xfrm>
          <a:prstGeom prst="roundRect">
            <a:avLst>
              <a:gd name="adj" fmla="val 54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892300" y="2032000"/>
            <a:ext cx="609600" cy="6096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3900" y="21336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794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构建数据目录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2178">
            <a:off x="1206520" y="3295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143000" y="3429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测试目标：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验证自动发现、编目和管理异构数据源的能力。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143000" y="4445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形成统一、可搜索的数据资产目录。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1778000"/>
            <a:ext cx="2349500" cy="3937000"/>
          </a:xfrm>
          <a:prstGeom prst="roundRect">
            <a:avLst>
              <a:gd name="adj" fmla="val 54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495800" y="2032000"/>
            <a:ext cx="609600" cy="6096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21336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3746500" y="2794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定义业务术语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2178">
            <a:off x="3810020" y="3295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3746500" y="3429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测试目标：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验证建立和维护统一业务语言的能力。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746500" y="4445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创建与业务对齐的术语表，链接物理数据。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778000"/>
            <a:ext cx="2349500" cy="3937000"/>
          </a:xfrm>
          <a:prstGeom prst="roundRect">
            <a:avLst>
              <a:gd name="adj" fmla="val 54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099300" y="2032000"/>
            <a:ext cx="609600" cy="6096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900" y="21336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350000" y="2794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数据血缘分析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22178">
            <a:off x="6413520" y="3295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350000" y="3429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测试目标：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验证追踪数据从源头到消费端完整链路的能力。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350000" y="4445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可视化展示数据流动和转换过程。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826500" y="1778000"/>
            <a:ext cx="2349500" cy="3937000"/>
          </a:xfrm>
          <a:prstGeom prst="roundRect">
            <a:avLst>
              <a:gd name="adj" fmla="val 54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9702800" y="2032000"/>
            <a:ext cx="609600" cy="6096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4400" y="21336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8953500" y="27940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质量监控实施</a:t>
            </a:r>
            <a:endParaRPr lang="en-US" sz="1100"/>
          </a:p>
        </p:txBody>
      </p:sp>
      <p:cxnSp>
        <p:nvCxnSpPr>
          <p:cNvPr id="31" name="Connector 31"/>
          <p:cNvCxnSpPr/>
          <p:nvPr/>
        </p:nvCxnSpPr>
        <p:spPr>
          <a:xfrm rot="-22178">
            <a:off x="9017020" y="3295650"/>
            <a:ext cx="196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" name="AutoShape 32"/>
          <p:cNvSpPr/>
          <p:nvPr/>
        </p:nvSpPr>
        <p:spPr>
          <a:xfrm>
            <a:off x="8953500" y="3429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测试目标：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验证定义、监控和报告数据质量规则的能力。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953500" y="4445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建立关键数据质量指标的监控仪表盘。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0" y="6096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0" y="609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全面验证Collibra平台的核心数据治理能力，确保业务价值落地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398" t="3448" r="339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构建企业级数据目录：Collibra 核心能力验证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1016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6096000" cy="1270000"/>
          </a:xfrm>
          <a:prstGeom prst="roundRect">
            <a:avLst>
              <a:gd name="adj" fmla="val 10000"/>
            </a:avLst>
          </a:prstGeom>
          <a:solidFill>
            <a:srgbClr val="F0F9F0">
              <a:alpha val="100000"/>
            </a:srgbClr>
          </a:solidFill>
          <a:ln w="12700" cap="flat" cmpd="sng">
            <a:solidFill>
              <a:srgbClr val="2E7D32">
                <a:alpha val="15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70000" y="2159000"/>
            <a:ext cx="762000" cy="762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400" y="23114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286000" y="20320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验证目标：全域资产纳管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测试Collibra自动发现、编目和管理Oracle、SAP等异构数据源的能力。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16000" y="3429000"/>
            <a:ext cx="6096000" cy="1397000"/>
          </a:xfrm>
          <a:prstGeom prst="roundRect">
            <a:avLst>
              <a:gd name="adj" fmla="val 9090"/>
            </a:avLst>
          </a:prstGeom>
          <a:solidFill>
            <a:srgbClr val="F0F9F0">
              <a:alpha val="100000"/>
            </a:srgbClr>
          </a:solidFill>
          <a:ln w="12700" cap="flat" cmpd="sng">
            <a:solidFill>
              <a:srgbClr val="2E7D32">
                <a:alpha val="15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270000" y="3683000"/>
            <a:ext cx="762000" cy="762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400" y="38354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2286000" y="3556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关键步骤：扫描与采集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1. 连接多源异构数据库   2. 自动扫描采集元数据   3. 目录中筛选资产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6096000" cy="1143000"/>
          </a:xfrm>
          <a:prstGeom prst="roundRect">
            <a:avLst>
              <a:gd name="adj" fmla="val 11111"/>
            </a:avLst>
          </a:prstGeom>
          <a:solidFill>
            <a:srgbClr val="F0F9F0">
              <a:alpha val="100000"/>
            </a:srgbClr>
          </a:solidFill>
          <a:ln w="12700" cap="flat" cmpd="sng">
            <a:solidFill>
              <a:srgbClr val="2E7D32">
                <a:alpha val="15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70000" y="5270500"/>
            <a:ext cx="762000" cy="7620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2400" y="54229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286000" y="5207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预期成果：可搜索的统一目录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用户可通过关键词轻松检索表、字段及描述，消除数据孤岛。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 l="12820" r="12820"/>
          <a:stretch>
            <a:fillRect/>
          </a:stretch>
        </p:blipFill>
        <p:spPr>
          <a:xfrm>
            <a:off x="7493000" y="1905000"/>
            <a:ext cx="3683000" cy="2794000"/>
          </a:xfrm>
          <a:prstGeom prst="roundRect">
            <a:avLst>
              <a:gd name="adj" fmla="val 6818"/>
            </a:avLst>
          </a:prstGeom>
          <a:noFill/>
          <a:ln w="25400" cap="flat" cmpd="sng">
            <a:solidFill>
              <a:srgbClr val="2E7D32">
                <a:alpha val="30000"/>
              </a:srgbClr>
            </a:solidFill>
            <a:prstDash val="solid"/>
            <a:round/>
          </a:ln>
          <a:effectLst>
            <a:outerShdw blurRad="190500" dist="1016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7493000" y="4953000"/>
            <a:ext cx="3683000" cy="10160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E7D32">
                  <a:alpha val="90000"/>
                </a:srgbClr>
              </a:gs>
              <a:gs pos="100000">
                <a:srgbClr val="1B5E20">
                  <a:alpha val="95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493000" y="5105400"/>
            <a:ext cx="3683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打破数据孤岛，实现资产统一治理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E8F5E9"/>
                </a:solidFill>
                <a:latin typeface="Noto Sans SC"/>
                <a:ea typeface="Noto Sans SC"/>
                <a:cs typeface="Noto Sans SC"/>
                <a:sym typeface="Noto Sans SC"/>
              </a:rPr>
              <a:t>Data Discovery &amp; Governance</a:t>
            </a:r>
          </a:p>
        </p:txBody>
      </p:sp>
      <p:sp>
        <p:nvSpPr>
          <p:cNvPr id="21" name="AutoShape 21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场景二：定义与管理业务术语表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1016000" cy="76200"/>
          </a:xfrm>
          <a:prstGeom prst="roundRect">
            <a:avLst>
              <a:gd name="adj" fmla="val 5000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场景目标：构建统一业务语言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49500"/>
            <a:ext cx="533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验证Collibra建立和维护统一业务语言的能力，确保全组织对核心概念理解一致。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11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0734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核心执行步骤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619500"/>
            <a:ext cx="5334000" cy="609600"/>
          </a:xfrm>
          <a:prstGeom prst="roundRect">
            <a:avLst>
              <a:gd name="adj" fmla="val 16666"/>
            </a:avLst>
          </a:prstGeom>
          <a:solidFill>
            <a:srgbClr val="2E7D32">
              <a:alpha val="8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206500" y="36957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14500" y="36957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创建核心术语：录入“客户/订单”等关键业务概念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318000"/>
            <a:ext cx="5334000" cy="609600"/>
          </a:xfrm>
          <a:prstGeom prst="roundRect">
            <a:avLst>
              <a:gd name="adj" fmla="val 16666"/>
            </a:avLst>
          </a:prstGeom>
          <a:solidFill>
            <a:srgbClr val="2E7D32">
              <a:alpha val="8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206500" y="43942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714500" y="43942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完善属性：添加定义、业务规则及数据负责人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016500"/>
            <a:ext cx="5334000" cy="609600"/>
          </a:xfrm>
          <a:prstGeom prst="roundRect">
            <a:avLst>
              <a:gd name="adj" fmla="val 16666"/>
            </a:avLst>
          </a:prstGeom>
          <a:solidFill>
            <a:srgbClr val="2E7D32">
              <a:alpha val="8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206500" y="50927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714500" y="50927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资产关联：将术语映射到底层物理表与字段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rcRect t="2617" b="3141"/>
          <a:stretch>
            <a:fillRect/>
          </a:stretch>
        </p:blipFill>
        <p:spPr>
          <a:xfrm>
            <a:off x="6858000" y="1778000"/>
            <a:ext cx="4318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6858000" y="4254500"/>
            <a:ext cx="4318000" cy="1460500"/>
          </a:xfrm>
          <a:prstGeom prst="roundRect">
            <a:avLst>
              <a:gd name="adj" fmla="val 8695"/>
            </a:avLst>
          </a:prstGeom>
          <a:solidFill>
            <a:srgbClr val="2E7D32">
              <a:alpha val="6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12000" y="4508500"/>
            <a:ext cx="609600" cy="609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874000" y="4470400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预期成果：消除沟通歧义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874000" y="48895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建立与业务紧密对齐的术语体系，打通IT与业务部门壁垒，实现数据语言标准化。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0" y="6286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Collibra 业务术语表管理实战 · 核心价值：统一语言，提升协作效率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2127" r="2000" b="21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场景三：端到端数据血缘分析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5842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879600"/>
            <a:ext cx="711200" cy="7112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400" y="2032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17780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测试目标：全链路追踪验证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验证Collibra追踪数据从源头系统到最终消费端（报表/应用）完整链路的能力。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1016000" y="2984500"/>
            <a:ext cx="584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270000" y="3302000"/>
            <a:ext cx="711200" cy="7112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2400" y="34544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159000" y="3111500"/>
            <a:ext cx="444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核心测试步骤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1. 触发典型的ETL作业或数据处理流程。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2. 查看源系统到报表的完整血缘路径图。</a:t>
            </a: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3. 执行影响分析，评估源字段变更波及范围。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16000" y="4889500"/>
            <a:ext cx="5842000" cy="12065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270000" y="5118100"/>
            <a:ext cx="711200" cy="711200"/>
          </a:xfrm>
          <a:prstGeom prst="ellipse">
            <a:avLst/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2400" y="527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2159000" y="50165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预期成果与价值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可视化数据流转过程，实现快速的根源追溯与影响评估，提升数据治理效率。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t="3296" b="3296"/>
          <a:stretch>
            <a:fillRect/>
          </a:stretch>
        </p:blipFill>
        <p:spPr>
          <a:xfrm>
            <a:off x="7239000" y="1651000"/>
            <a:ext cx="3937000" cy="2159000"/>
          </a:xfrm>
          <a:prstGeom prst="roundRect">
            <a:avLst>
              <a:gd name="adj" fmla="val 8823"/>
            </a:avLst>
          </a:prstGeom>
          <a:noFill/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7239000" y="4000500"/>
            <a:ext cx="3937000" cy="1587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E8F5E9">
                  <a:alpha val="100000"/>
                </a:srgbClr>
              </a:gs>
              <a:gs pos="100000">
                <a:srgbClr val="C8E6C9">
                  <a:alpha val="100000"/>
                </a:srgbClr>
              </a:gs>
            </a:gsLst>
            <a:lin ang="5400000"/>
          </a:gra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93000" y="4254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937500" y="4191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B5E20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可视化血缘拓扑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33691E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直观呈现数据节点关联，支持一键钻取字段级详情，帮助团队快速理解数据资产流向。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Collibra 数据治理实战场景测试 | 确保数据资产透明与合规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场景四：实施数据质量监控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524000"/>
            <a:ext cx="6096000" cy="1143000"/>
          </a:xfrm>
          <a:prstGeom prst="roundRect">
            <a:avLst>
              <a:gd name="adj" fmla="val 11111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7526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095500" y="1651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测试目标：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验证Collibra在数据质量规则定义、自动化监控及可视化报告方面的核心能力。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▍核心执行步骤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6096000" cy="6985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355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41500" y="35052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定义质量规则：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针对客户ID、金额等关键字段设定非空、唯一性、格式等校验规则。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254500"/>
            <a:ext cx="6096000" cy="6985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4381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841500" y="43307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配置监控任务：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设定执行频率（日/周），配置自动化作业定期扫描并检测数据质量。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080000"/>
            <a:ext cx="6096000" cy="6985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520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841500" y="51562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查看质量报告：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登录Collibra查看质量仪表盘，分析整体健康度并定位具体异常数据。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rcRect l="4687" r="4687"/>
          <a:stretch>
            <a:fillRect/>
          </a:stretch>
        </p:blipFill>
        <p:spPr>
          <a:xfrm>
            <a:off x="7493000" y="1524000"/>
            <a:ext cx="3683000" cy="2286000"/>
          </a:xfrm>
          <a:prstGeom prst="roundRect">
            <a:avLst>
              <a:gd name="adj" fmla="val 555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7493000" y="3937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Collibra 实时数据质量监控看板示意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93000" y="4445000"/>
            <a:ext cx="3683000" cy="1333500"/>
          </a:xfrm>
          <a:prstGeom prst="roundRect">
            <a:avLst>
              <a:gd name="adj" fmla="val 9523"/>
            </a:avLst>
          </a:prstGeom>
          <a:solidFill>
            <a:srgbClr val="E8F5E9">
              <a:alpha val="100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47000" y="46355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191500" y="4597400"/>
            <a:ext cx="279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预期成果：主动治理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747000" y="50800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建立可视化监控体系，变“被动修复”为“主动预警”，大幅提升数据资产的可信度与可用性。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394" t="3448" r="3491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E7D3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762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338621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实施计划与时间线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305591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698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明确PoC项目各阶段核心任务、交付标准与关键时间节点，确保项目资源合理配置，按时高质量落地。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017000" y="2413000"/>
            <a:ext cx="1651000" cy="1651000"/>
          </a:xfrm>
          <a:prstGeom prst="ellipse">
            <a:avLst/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2700000" algn="tl" rotWithShape="0">
              <a:srgbClr val="2E7D3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98000" y="2794000"/>
            <a:ext cx="889000" cy="889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90000" y="4318000"/>
            <a:ext cx="190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项目里程碑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cap="flat" cmpd="sng">
            <a:solidFill>
              <a:srgbClr val="E6CFCF">
                <a:alpha val="9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98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PoC 项目实施全周期规划（8周战略部署）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1778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143000" y="2095500"/>
            <a:ext cx="762000" cy="762000"/>
          </a:xfrm>
          <a:prstGeom prst="ellipse">
            <a:avLst/>
          </a:prstGeom>
          <a:solidFill>
            <a:srgbClr val="2E7D3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20800" y="22733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032000" y="2057400"/>
            <a:ext cx="196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Week 1 启动阶段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准备与规划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组建核心团队，确认项目范围，完成实施环境的初步准备。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99000" y="2095500"/>
            <a:ext cx="762000" cy="762000"/>
          </a:xfrm>
          <a:prstGeom prst="ellipse">
            <a:avLst/>
          </a:prstGeom>
          <a:solidFill>
            <a:srgbClr val="2E7D3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6800" y="22733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588000" y="2057400"/>
            <a:ext cx="196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Week 2 基础搭建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环境配置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安装Collibra DGC软件，配置服务器与基础网络环境。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01000" y="1778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001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255000" y="2095500"/>
            <a:ext cx="762000" cy="762000"/>
          </a:xfrm>
          <a:prstGeom prst="ellipse">
            <a:avLst/>
          </a:prstGeom>
          <a:solidFill>
            <a:srgbClr val="2E7D3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32800" y="22733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144000" y="2057400"/>
            <a:ext cx="196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Week 3-4 核心攻坚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集成与配置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连接数据源，采集元数据，定义关键业务术语与数据标准。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89000" y="3810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889000" y="3810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143000" y="4127500"/>
            <a:ext cx="762000" cy="762000"/>
          </a:xfrm>
          <a:prstGeom prst="ellipse">
            <a:avLst/>
          </a:prstGeom>
          <a:solidFill>
            <a:srgbClr val="2E7D3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0800" y="43053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032000" y="4089400"/>
            <a:ext cx="196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Week 5-6 验证阶段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场景测试与验证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执行四大核心场景测试，收集用户反馈并优化配置。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445000" y="3810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4445000" y="3810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4699000" y="4127500"/>
            <a:ext cx="762000" cy="762000"/>
          </a:xfrm>
          <a:prstGeom prst="ellipse">
            <a:avLst/>
          </a:prstGeom>
          <a:solidFill>
            <a:srgbClr val="2E7D3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6800" y="43053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588000" y="4089400"/>
            <a:ext cx="196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Week 7 评估总结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效果复盘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深度分析测试结果，量化项目价值，撰写最终总结报告。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8001000" y="3810000"/>
            <a:ext cx="3302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2E7D32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001000" y="3810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8255000" y="4127500"/>
            <a:ext cx="762000" cy="762000"/>
          </a:xfrm>
          <a:prstGeom prst="ellipse">
            <a:avLst/>
          </a:prstGeom>
          <a:solidFill>
            <a:srgbClr val="2E7D32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32800" y="43053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144000" y="4089400"/>
            <a:ext cx="1968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Week 8 成果交付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汇报与验收</a:t>
            </a:r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准备并进行PoC成果汇报，展示关键产出与业务收益。</a:t>
            </a:r>
          </a:p>
        </p:txBody>
      </p:sp>
      <p:sp>
        <p:nvSpPr>
          <p:cNvPr id="35" name="AutoShape 35"/>
          <p:cNvSpPr/>
          <p:nvPr/>
        </p:nvSpPr>
        <p:spPr>
          <a:xfrm>
            <a:off x="889000" y="5778500"/>
            <a:ext cx="10414000" cy="609600"/>
          </a:xfrm>
          <a:prstGeom prst="roundRect">
            <a:avLst>
              <a:gd name="adj" fmla="val 20833"/>
            </a:avLst>
          </a:prstGeom>
          <a:solidFill>
            <a:srgbClr val="2E7D32">
              <a:alpha val="12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6500" y="5930900"/>
            <a:ext cx="304800" cy="3048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1651000" y="5867400"/>
            <a:ext cx="9398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全流程保障：通过标准化节点管控与风险预判机制，确保项目按期、高质量完成交付。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 &amp; 二：准备与环境搭建 (Week 1-2)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889500" cy="3937000"/>
          </a:xfrm>
          <a:prstGeom prst="roundRect">
            <a:avLst>
              <a:gd name="adj" fmla="val 32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8895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222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2260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Week 1: 准备与规划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0577">
            <a:off x="1397010" y="2978150"/>
            <a:ext cx="412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397000" y="3175000"/>
            <a:ext cx="419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组建PoC项目团队，明确各方职责分工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最终确认PoC范围、核心目标及成功标准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完成服务器资源分配与网络环境预准备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获取Collibra安装介质与正式授权文件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召开项目启动会 (Kick-off Meeting)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86500" y="1778000"/>
            <a:ext cx="4889500" cy="3937000"/>
          </a:xfrm>
          <a:prstGeom prst="roundRect">
            <a:avLst>
              <a:gd name="adj" fmla="val 322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86500" y="1778000"/>
            <a:ext cx="48895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500" y="2222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429500" y="22606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Week 2: 环境搭建与配置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0577">
            <a:off x="6667510" y="2978150"/>
            <a:ext cx="412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67500" y="3175000"/>
            <a:ext cx="4191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在私有化服务器完成Collibra DGC软件安装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配置基础运行环境（数据库、用户与权限）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配置防火墙策略与网络访问安全组规则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执行系统健康检查，确保平台可正常访问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● 完成基础的平台初始化与测试账号创建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5969000"/>
            <a:ext cx="10160000" cy="508000"/>
          </a:xfrm>
          <a:prstGeom prst="roundRect">
            <a:avLst>
              <a:gd name="adj" fmla="val 20000"/>
            </a:avLst>
          </a:prstGeom>
          <a:solidFill>
            <a:srgbClr val="2E7D32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76200" dist="25400" dir="54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16000" y="6045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核心目标：完成团队组建与平台环境就绪，为后续集成测试打好坚实基础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931" r="3846" b="376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阶段三 &amp; 四：集成配置与场景测试 (Week 3-6)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953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953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032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21336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Week 3-4：集成与配置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0417">
            <a:off x="1397010" y="28511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F5E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/>
          <p:nvPr/>
        </p:nvSpPr>
        <p:spPr>
          <a:xfrm>
            <a:off x="1397000" y="3048000"/>
            <a:ext cx="431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● 数据源连接：配置并测试目标源连接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● 元数据采集：利用Collibra Catalog采集技术元数据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● 术语定义：创建核心业务术语库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● 资产映射：关联业务术语与物理数据资产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1651000"/>
            <a:ext cx="4953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2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223000" y="1651000"/>
            <a:ext cx="4953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032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366000" y="2133600"/>
            <a:ext cx="355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Week 5-6：场景测试与验证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0417">
            <a:off x="6604010" y="285115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E8F5E9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6" name="AutoShape 16"/>
          <p:cNvSpPr/>
          <p:nvPr/>
        </p:nvSpPr>
        <p:spPr>
          <a:xfrm>
            <a:off x="6604000" y="3048000"/>
            <a:ext cx="4318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● 场景测试：执行四大核心场景的详细功能测试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● 用户验收：邀请多角色用户实操并收集反馈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● 流程验证：确保功能与业务流程高度匹配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424242"/>
                </a:solidFill>
                <a:latin typeface="Noto Sans SC"/>
                <a:ea typeface="Noto Sans SC"/>
                <a:cs typeface="Noto Sans SC"/>
                <a:sym typeface="Noto Sans SC"/>
              </a:rPr>
              <a:t>● 问题修复：根据反馈快速迭代优化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5969000"/>
            <a:ext cx="10160000" cy="508000"/>
          </a:xfrm>
          <a:prstGeom prst="roundRect">
            <a:avLst>
              <a:gd name="adj" fmla="val 50000"/>
            </a:avLst>
          </a:prstGeom>
          <a:solidFill>
            <a:srgbClr val="2E7D32">
              <a:alpha val="10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核心目标：打通数据链路，验证业务价值闭环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5882" t="5882" r="5882" b="588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35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阶段五：评估与总结 (Week 7-8)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826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97200" y="20955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285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Week 7：评估与总结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0742">
            <a:off x="1397010" y="3359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270000" y="35560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16666"/>
              </a:lnSpc>
              <a:buClr>
                <a:srgbClr val="555555"/>
              </a:buClr>
              <a:buFont typeface="Wingdings"/>
              <a:buChar char="v"/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收集并深度分析测试数据与用户反馈</a:t>
            </a:r>
            <a:endParaRPr lang="en-US" sz="1100"/>
          </a:p>
          <a:p>
            <a:pPr marL="177800" indent="-177800" algn="l">
              <a:lnSpc>
                <a:spcPct val="116666"/>
              </a:lnSpc>
              <a:buClr>
                <a:srgbClr val="555555"/>
              </a:buClr>
              <a:buFont typeface="Wingdings"/>
              <a:buChar char="v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对照项目预设的成功标准进行全面复盘评估</a:t>
            </a:r>
          </a:p>
          <a:p>
            <a:pPr marL="177800" indent="-177800" algn="l">
              <a:lnSpc>
                <a:spcPct val="116666"/>
              </a:lnSpc>
              <a:buClr>
                <a:srgbClr val="555555"/>
              </a:buClr>
              <a:buFont typeface="Wingdings"/>
              <a:buChar char="v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撰写完整的PoC总结报告（含成果/挑战/建议）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1651000"/>
            <a:ext cx="4826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1651000"/>
            <a:ext cx="4826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1200" y="20955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350000" y="285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Week 8：报告与汇报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0742">
            <a:off x="6731010" y="3359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35560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16666"/>
              </a:lnSpc>
              <a:buClr>
                <a:srgbClr val="555555"/>
              </a:buClr>
              <a:buFont typeface="Wingdings"/>
              <a:buChar char="v"/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准备最终演示文稿，进行PoC成果汇报</a:t>
            </a:r>
            <a:endParaRPr lang="en-US" sz="1100"/>
          </a:p>
          <a:p>
            <a:pPr marL="177800" indent="-177800" algn="l">
              <a:lnSpc>
                <a:spcPct val="116666"/>
              </a:lnSpc>
              <a:buClr>
                <a:srgbClr val="555555"/>
              </a:buClr>
              <a:buFont typeface="Wingdings"/>
              <a:buChar char="v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向决策层清晰展示项目价值验证结论与数据支撑</a:t>
            </a:r>
          </a:p>
          <a:p>
            <a:pPr marL="177800" indent="-177800" algn="l">
              <a:lnSpc>
                <a:spcPct val="116666"/>
              </a:lnSpc>
              <a:buClr>
                <a:srgbClr val="555555"/>
              </a:buClr>
              <a:buFont typeface="Wingdings"/>
              <a:buChar char="v"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讨论并制定后续的正式立项或迭代行动计划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5969000"/>
            <a:ext cx="10160000" cy="508000"/>
          </a:xfrm>
          <a:prstGeom prst="roundRect">
            <a:avLst>
              <a:gd name="adj" fmla="val 25000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核心产出目标：形成可落地的决策依据，确保项目价值闭环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488" t="3448" r="3488" b="344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254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资源需求与团队职责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937000"/>
            <a:ext cx="1016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4318000"/>
            <a:ext cx="660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明确本次PoC项目所需的硬件设施与软件授权资源，清晰界定项目组核心成员的权责边界，为项目落地提供坚实保障。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0" y="2540000"/>
            <a:ext cx="1524000" cy="1524000"/>
          </a:xfrm>
          <a:prstGeom prst="rect">
            <a:avLst/>
          </a:prstGeom>
          <a:effectLst>
            <a:outerShdw blurRad="254000" dist="127000" dir="2700000" algn="tl" rotWithShape="0">
              <a:srgbClr val="2E7D32">
                <a:alpha val="30000"/>
              </a:srgbClr>
            </a:outerShdw>
          </a:effectLst>
        </p:spPr>
      </p:pic>
      <p:sp>
        <p:nvSpPr>
          <p:cNvPr id="9" name="AutoShape 9"/>
          <p:cNvSpPr/>
          <p:nvPr/>
        </p:nvSpPr>
        <p:spPr>
          <a:xfrm>
            <a:off x="8890000" y="4191000"/>
            <a:ext cx="152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6477000"/>
            <a:ext cx="12192000" cy="381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4971" t="5000" r="4971" b="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838200"/>
            <a:ext cx="101600" cy="4064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PoC 环境资源配置清单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778000"/>
            <a:ext cx="5080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22225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159000" y="2286000"/>
            <a:ext cx="355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硬件基础设施资源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0110">
            <a:off x="1397009" y="3041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1397000" y="3238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核心服务器 (2台物理机/VM)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97000" y="3683000"/>
            <a:ext cx="4318000" cy="635000"/>
          </a:xfrm>
          <a:prstGeom prst="roundRect">
            <a:avLst>
              <a:gd name="adj" fmla="val 10000"/>
            </a:avLst>
          </a:prstGeom>
          <a:solidFill>
            <a:srgbClr val="E8F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524000" y="3810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CPU: 16核 | 内存: 64GB | 存储: 500GB SSD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97000" y="4572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数据库：PostgreSQL 13.x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操作系统：Linux CentOS 7.x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350000" y="1778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508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50000" y="1778000"/>
            <a:ext cx="5080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22225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493000" y="2286000"/>
            <a:ext cx="3556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软件生态与工具链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0110">
            <a:off x="6731009" y="3041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731000" y="3238500"/>
            <a:ext cx="431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Collibra 平台：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DGC 2023.x + Connect 集成工具</a:t>
            </a:r>
            <a:endParaRPr lang="en-US" sz="1100"/>
          </a:p>
          <a:p>
            <a:pPr indent="0" algn="l">
              <a:lnSpc>
                <a:spcPct val="133333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目标数据源：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Oracle, SAP BW, Snowflake 等</a:t>
            </a:r>
          </a:p>
          <a:p>
            <a:pPr indent="0" algn="l">
              <a:lnSpc>
                <a:spcPct val="133333"/>
              </a:lnSpc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访问支持：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Chrome / Firefox 现代浏览器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016000" y="6096000"/>
            <a:ext cx="10414000" cy="508000"/>
          </a:xfrm>
          <a:prstGeom prst="roundRect">
            <a:avLst>
              <a:gd name="adj" fmla="val 5000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254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6172200"/>
            <a:ext cx="1041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资源就绪是保障 PoC 顺利实施的关键基石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6985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人员与职责分工：构建高效PoC执行团队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5842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18288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41500" y="17272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项目指导委员会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提供战略指导，审批关键决策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成员：CIO、业务部门负责人</a:t>
            </a:r>
          </a:p>
        </p:txBody>
      </p:sp>
      <p:sp>
        <p:nvSpPr>
          <p:cNvPr id="8" name="AutoShape 8"/>
          <p:cNvSpPr/>
          <p:nvPr/>
        </p:nvSpPr>
        <p:spPr>
          <a:xfrm>
            <a:off x="1016000" y="2641600"/>
            <a:ext cx="5842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28194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841500" y="27178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PoC项目经理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负责整体规划、协调和执行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成员：IT部门项目经理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016000" y="3632200"/>
            <a:ext cx="5842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6500" y="381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841500" y="37084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Collibra技术专家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负责平台安装、配置及技术支持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成员：原厂工程师/合作伙伴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16000" y="4622800"/>
            <a:ext cx="5842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8006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841500" y="4699000"/>
            <a:ext cx="482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IT架构师/DBA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提供基础设施支持与数据源连接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成员：内部IT团队</a:t>
            </a:r>
          </a:p>
        </p:txBody>
      </p:sp>
      <p:sp>
        <p:nvSpPr>
          <p:cNvPr id="17" name="AutoShape 17"/>
          <p:cNvSpPr/>
          <p:nvPr/>
        </p:nvSpPr>
        <p:spPr>
          <a:xfrm>
            <a:off x="1016000" y="5613400"/>
            <a:ext cx="5842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6500" y="57404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841500" y="56769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业务用户代表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| 定义术语，验证场景适用性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成员：业务分析师、数据分析师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rcRect l="5056" r="5056"/>
          <a:stretch>
            <a:fillRect/>
          </a:stretch>
        </p:blipFill>
        <p:spPr>
          <a:xfrm>
            <a:off x="7112000" y="1651000"/>
            <a:ext cx="4064000" cy="2540000"/>
          </a:xfrm>
          <a:prstGeom prst="roundRect">
            <a:avLst>
              <a:gd name="adj" fmla="val 7500"/>
            </a:avLst>
          </a:prstGeom>
          <a:noFill/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20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7112000" y="4445000"/>
            <a:ext cx="4064000" cy="1651000"/>
          </a:xfrm>
          <a:prstGeom prst="roundRect">
            <a:avLst>
              <a:gd name="adj" fmla="val 11538"/>
            </a:avLst>
          </a:prstGeom>
          <a:solidFill>
            <a:srgbClr val="2E7D32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63500" dir="2700000" algn="tl" rotWithShape="0">
              <a:srgbClr val="2E7D3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02500" y="4635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810500" y="4572000"/>
            <a:ext cx="3238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核心协作原则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跨职能团队紧密配合，技术专家与业务代表深度协同，确保项目战略对齐与落地执行高效闭环。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960" t="2631" r="3921" b="26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000"/>
            </a:srgbClr>
          </a:solidFill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5334000" y="1778000"/>
            <a:ext cx="5842000" cy="3556000"/>
          </a:xfrm>
          <a:prstGeom prst="roundRect">
            <a:avLst>
              <a:gd name="adj" fmla="val 4285"/>
            </a:avLst>
          </a:prstGeom>
          <a:solidFill>
            <a:srgbClr val="FFFFFF">
              <a:alpha val="92000"/>
            </a:srgbClr>
          </a:solidFill>
          <a:ln w="254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304800" dist="1524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842000" y="2222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3111500"/>
            <a:ext cx="8128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5842000" y="3429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成功标准与风险评估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842000" y="4127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Success Criteria &amp; Risk Assessment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842000" y="4699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核心目标：科学衡量PoC成果 · 制定风险应对策略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667500"/>
            <a:ext cx="12192000" cy="190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PoC 成功标准：可衡量的核心指标体系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762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905000"/>
            <a:ext cx="3175000" cy="4064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905000"/>
            <a:ext cx="31750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21082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778000" y="2032000"/>
            <a:ext cx="228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技术落地指标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28575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部署成功率：</a:t>
            </a: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100% 私有化落地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集成能力：连接全量目标数据源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页面加载：</a:t>
            </a: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&lt; 3秒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血缘刷新：</a:t>
            </a: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&lt; 10秒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508500" y="1905000"/>
            <a:ext cx="3175000" cy="4064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508500" y="1905000"/>
            <a:ext cx="31750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21082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70500" y="2032000"/>
            <a:ext cx="228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功能覆盖指标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99000" y="28575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目录覆盖：试点资产</a:t>
            </a: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&gt; 80%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术语定义：完成</a:t>
            </a: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100个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核心映射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数据血缘：端到端链路展示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质量监控：配置</a:t>
            </a: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5+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关键规则</a:t>
            </a:r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175000" cy="4064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3175000" cy="812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1082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63000" y="2032000"/>
            <a:ext cx="228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用户体验指标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91500" y="28575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易用性评分：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36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4.0 / 5.0</a:t>
            </a:r>
            <a:r>
              <a:rPr lang="en-US" sz="1400" b="0" i="0" u="none" strike="noStrike">
                <a:solidFill>
                  <a:srgbClr val="787878"/>
                </a:solidFill>
                <a:latin typeface="Noto Sans SC"/>
                <a:ea typeface="Noto Sans SC"/>
                <a:cs typeface="Noto Sans SC"/>
                <a:sym typeface="Noto Sans SC"/>
              </a:rPr>
              <a:t>分以上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核心诉求：满足业务数据管理痛点</a:t>
            </a:r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• 操作反馈：用户操作流畅无阻塞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016000" y="6223000"/>
            <a:ext cx="10160000" cy="381000"/>
          </a:xfrm>
          <a:prstGeom prst="roundRect">
            <a:avLst>
              <a:gd name="adj" fmla="val 33333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核心洞察：以量化数据为依据，全方位评估PoC实施效果与价值落地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风险评估与缓解策略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685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1778000"/>
            <a:ext cx="76200" cy="8636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558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968500" y="1854200"/>
            <a:ext cx="457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技术风险：基础设施配置不足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策略：PoC前IT团队进行环境深度核查与资源扩容。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604000" y="1930400"/>
            <a:ext cx="1079500" cy="558800"/>
          </a:xfrm>
          <a:prstGeom prst="roundRect">
            <a:avLst>
              <a:gd name="adj" fmla="val 11363"/>
            </a:avLst>
          </a:prstGeom>
          <a:solidFill>
            <a:srgbClr val="FF704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  <a:t>可能:中</a:t>
            </a:r>
            <a:br>
              <a:rPr lang="en-US" sz="1100" b="1" i="0" u="none" strike="noStrike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1" i="0" u="none" strike="noStrike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  <a:t>影响:高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2768600"/>
            <a:ext cx="685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2768600"/>
            <a:ext cx="76200" cy="8636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29464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68500" y="2844800"/>
            <a:ext cx="457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技术风险：老旧系统集成障碍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策略：联合Collibra专家预演集成方案，准备备选接口。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04000" y="2921000"/>
            <a:ext cx="1079500" cy="558800"/>
          </a:xfrm>
          <a:prstGeom prst="roundRect">
            <a:avLst>
              <a:gd name="adj" fmla="val 11363"/>
            </a:avLst>
          </a:prstGeom>
          <a:solidFill>
            <a:srgbClr val="FFA72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57F17"/>
                </a:solidFill>
                <a:latin typeface="Noto Sans SC"/>
                <a:ea typeface="Noto Sans SC"/>
                <a:cs typeface="Noto Sans SC"/>
                <a:sym typeface="Noto Sans SC"/>
              </a:rPr>
              <a:t>可能:中</a:t>
            </a:r>
            <a:br>
              <a:rPr lang="en-US" sz="1100" b="1" i="0" u="none" strike="noStrike">
                <a:solidFill>
                  <a:srgbClr val="F57F1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1" i="0" u="none" strike="noStrike">
                <a:solidFill>
                  <a:srgbClr val="F57F17"/>
                </a:solidFill>
                <a:latin typeface="Noto Sans SC"/>
                <a:ea typeface="Noto Sans SC"/>
                <a:cs typeface="Noto Sans SC"/>
                <a:sym typeface="Noto Sans SC"/>
              </a:rPr>
              <a:t>影响:中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3759200"/>
            <a:ext cx="685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3759200"/>
            <a:ext cx="76200" cy="8636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3937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68500" y="3835400"/>
            <a:ext cx="457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业务风险：用户参与度不足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策略：高层背书明确职责，确保业务代表深度参与定义。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604000" y="3911600"/>
            <a:ext cx="1079500" cy="558800"/>
          </a:xfrm>
          <a:prstGeom prst="roundRect">
            <a:avLst>
              <a:gd name="adj" fmla="val 11363"/>
            </a:avLst>
          </a:prstGeom>
          <a:solidFill>
            <a:srgbClr val="FF704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  <a:t>可能:中</a:t>
            </a:r>
            <a:br>
              <a:rPr lang="en-US" sz="1100" b="1" i="0" u="none" strike="noStrike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1" i="0" u="none" strike="noStrike">
                <a:solidFill>
                  <a:srgbClr val="E64A19"/>
                </a:solidFill>
                <a:latin typeface="Noto Sans SC"/>
                <a:ea typeface="Noto Sans SC"/>
                <a:cs typeface="Noto Sans SC"/>
                <a:sym typeface="Noto Sans SC"/>
              </a:rPr>
              <a:t>影响:高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1016000" y="4749800"/>
            <a:ext cx="6858000" cy="863600"/>
          </a:xfrm>
          <a:prstGeom prst="roundRect">
            <a:avLst>
              <a:gd name="adj" fmla="val 147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1016000" y="4749800"/>
            <a:ext cx="76200" cy="8636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9276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968500" y="4826000"/>
            <a:ext cx="457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管理风险：PoC时间线延误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策略：制定详细里程碑，预留20%缓冲时间应对冲突。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604000" y="4902200"/>
            <a:ext cx="1079500" cy="558800"/>
          </a:xfrm>
          <a:prstGeom prst="roundRect">
            <a:avLst>
              <a:gd name="adj" fmla="val 11363"/>
            </a:avLst>
          </a:prstGeom>
          <a:solidFill>
            <a:srgbClr val="FFA72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F57F17"/>
                </a:solidFill>
                <a:latin typeface="Noto Sans SC"/>
                <a:ea typeface="Noto Sans SC"/>
                <a:cs typeface="Noto Sans SC"/>
                <a:sym typeface="Noto Sans SC"/>
              </a:rPr>
              <a:t>可能:高</a:t>
            </a:r>
            <a:br>
              <a:rPr lang="en-US" sz="1100" b="1" i="0" u="none" strike="noStrike">
                <a:solidFill>
                  <a:srgbClr val="F57F17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1" i="0" u="none" strike="noStrike">
                <a:solidFill>
                  <a:srgbClr val="F57F17"/>
                </a:solidFill>
                <a:latin typeface="Noto Sans SC"/>
                <a:ea typeface="Noto Sans SC"/>
                <a:cs typeface="Noto Sans SC"/>
                <a:sym typeface="Noto Sans SC"/>
              </a:rPr>
              <a:t>影响:中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rcRect l="12500" r="12500"/>
          <a:stretch>
            <a:fillRect/>
          </a:stretch>
        </p:blipFill>
        <p:spPr>
          <a:xfrm>
            <a:off x="8128000" y="1778000"/>
            <a:ext cx="3048000" cy="2032000"/>
          </a:xfrm>
          <a:prstGeom prst="roundRect">
            <a:avLst>
              <a:gd name="adj" fmla="val 9375"/>
            </a:avLst>
          </a:prstGeom>
          <a:noFill/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</a:ln>
          <a:effectLst>
            <a:outerShdw blurRad="1270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7" name="AutoShape 27"/>
          <p:cNvSpPr/>
          <p:nvPr/>
        </p:nvSpPr>
        <p:spPr>
          <a:xfrm>
            <a:off x="8128000" y="4000500"/>
            <a:ext cx="3048000" cy="1612900"/>
          </a:xfrm>
          <a:prstGeom prst="roundRect">
            <a:avLst>
              <a:gd name="adj" fmla="val 7874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762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4254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890000" y="4254500"/>
            <a:ext cx="203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安全可控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全方位管控体系，保障项目从PoC到落地的每一步安全。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0" y="6286500"/>
            <a:ext cx="12192000" cy="5715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0" y="6286500"/>
            <a:ext cx="1219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风险评估报告 | 2026年度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7" r="3846" b="376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143C19">
                  <a:alpha val="98000"/>
                </a:srgbClr>
              </a:gs>
              <a:gs pos="40000">
                <a:srgbClr val="1B5E20">
                  <a:alpha val="90000"/>
                </a:srgbClr>
              </a:gs>
              <a:gs pos="100000">
                <a:srgbClr val="1B5E20">
                  <a:alpha val="1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21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spc="1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结论与下一步行动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746500"/>
            <a:ext cx="698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E8F5E9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总结本次PoC验证的核心价值与业务意义，并基于验证结果，明确后续项目落地的关键里程碑与具体执行路径。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762500"/>
            <a:ext cx="1270000" cy="76200"/>
          </a:xfrm>
          <a:prstGeom prst="roundRect">
            <a:avLst>
              <a:gd name="adj" fmla="val 50000"/>
            </a:avLst>
          </a:prstGeom>
          <a:solidFill>
            <a:srgbClr val="66BB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5842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2026年度 PoC 项目成果汇报 | 战略规划部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5000" y="57785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125" t="3125" r="3125" b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PoC 的价值与意义：从试点到成功的关键路径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460500"/>
            <a:ext cx="1016000" cy="762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2413000" cy="3556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841500" y="2413000"/>
            <a:ext cx="762000" cy="762000"/>
          </a:xfrm>
          <a:prstGeom prst="ellipse">
            <a:avLst/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9300" y="25908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3365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验证技术可行性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143000" y="3937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确认Collibra架构与本地环境的兼容性，确保解决方案的落地基础稳固。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94100" y="2032000"/>
            <a:ext cx="2413000" cy="3556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19600" y="2413000"/>
            <a:ext cx="762000" cy="762000"/>
          </a:xfrm>
          <a:prstGeom prst="ellipse">
            <a:avLst/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7400" y="2590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721100" y="3365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展示业务价值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721100" y="3937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直观呈现数据治理带来的效率提升与决策优化，增强管理层与业务部门的信心。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172200" y="2032000"/>
            <a:ext cx="2413000" cy="3556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997700" y="2413000"/>
            <a:ext cx="762000" cy="762000"/>
          </a:xfrm>
          <a:prstGeom prst="ellipse">
            <a:avLst/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75500" y="25908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299200" y="3365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培养内部能力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99200" y="3937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通过实战操作，打造一支既懂业务又精通Collibra平台的数据治理核心团队。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763000" y="2032000"/>
            <a:ext cx="2413000" cy="3556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cap="flat" cmpd="sng">
            <a:solidFill>
              <a:srgbClr val="E6CFCF">
                <a:alpha val="10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588500" y="2413000"/>
            <a:ext cx="762000" cy="762000"/>
          </a:xfrm>
          <a:prstGeom prst="ellipse">
            <a:avLst/>
          </a:prstGeom>
          <a:solidFill>
            <a:srgbClr val="2E7D32">
              <a:alpha val="100000"/>
            </a:srgbClr>
          </a:solidFill>
          <a:ln cap="flat" cmpd="sng">
            <a:solidFill>
              <a:srgbClr val="1B631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6300" y="25908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890000" y="3365500"/>
            <a:ext cx="215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降低实施风险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890000" y="3937000"/>
            <a:ext cx="215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在小范围试点中识别潜在问题与瓶颈，制定应对策略，为全面推广扫清障碍。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1016000" y="5842000"/>
            <a:ext cx="10160000" cy="508000"/>
          </a:xfrm>
          <a:prstGeom prst="roundRect">
            <a:avLst>
              <a:gd name="adj" fmla="val 50000"/>
            </a:avLst>
          </a:prstGeom>
          <a:solidFill>
            <a:srgbClr val="2E7D32">
              <a:alpha val="10000"/>
            </a:srgbClr>
          </a:solidFill>
          <a:ln w="12700" cap="flat" cmpd="sng">
            <a:solidFill>
              <a:srgbClr val="2E7D32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16000" y="59182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核心洞察：PoC不仅是技术验证，更是人才培养与风险控制的战略抓手。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46" t="3760" r="3846" b="3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762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下一步计划：基于PoC结果的行动路线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953000" cy="4191000"/>
          </a:xfrm>
          <a:prstGeom prst="roundRect">
            <a:avLst>
              <a:gd name="adj" fmla="val 30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2E7D3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4953000" cy="812800"/>
          </a:xfrm>
          <a:prstGeom prst="roundRect">
            <a:avLst>
              <a:gd name="adj" fmla="val 15625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000" y="19304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905000" y="19304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PoC成功：全面推进与深化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2794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27686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决策立项：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汇报成果，申请正式预算与立项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9822">
            <a:off x="1270009" y="3422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7D32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0000" y="35814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35560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规划落地：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制定详细的实施范围与资源时间表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822">
            <a:off x="1270009" y="42100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7D32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3688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778000" y="43434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业务扩展：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推广成功实践至更多业务领域与数据源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822">
            <a:off x="1270009" y="49974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E7D32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0000" y="51562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778000" y="51308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能力深化：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探索数据隐私、政策管理等高级功能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778000"/>
            <a:ext cx="4953000" cy="4191000"/>
          </a:xfrm>
          <a:prstGeom prst="roundRect">
            <a:avLst>
              <a:gd name="adj" fmla="val 303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76200" dir="27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223000" y="1778000"/>
            <a:ext cx="4953000" cy="812800"/>
          </a:xfrm>
          <a:prstGeom prst="roundRect">
            <a:avLst>
              <a:gd name="adj" fmla="val 15625"/>
            </a:avLst>
          </a:prstGeom>
          <a:solidFill>
            <a:srgbClr val="558B2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1930400"/>
            <a:ext cx="508000" cy="508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112000" y="19304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未达预期：深度复盘与决策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9845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239000" y="29464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深度归因分析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排查技术瓶颈、功能匹配度及实施流程中的问题，定位根因。</a:t>
            </a:r>
          </a:p>
        </p:txBody>
      </p:sp>
      <p:cxnSp>
        <p:nvCxnSpPr>
          <p:cNvPr id="26" name="Connector 26"/>
          <p:cNvCxnSpPr/>
          <p:nvPr/>
        </p:nvCxnSpPr>
        <p:spPr>
          <a:xfrm rot="-9822">
            <a:off x="6477009" y="40576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558B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381500"/>
            <a:ext cx="609600" cy="609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239000" y="4343400"/>
            <a:ext cx="368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方案调整决策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基于分析结果，决定开展第二轮PoC验证或切换适配方案。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1016000" y="6159500"/>
            <a:ext cx="10160000" cy="444500"/>
          </a:xfrm>
          <a:prstGeom prst="roundRect">
            <a:avLst>
              <a:gd name="adj" fmla="val 28571"/>
            </a:avLst>
          </a:prstGeom>
          <a:solidFill>
            <a:srgbClr val="2E7D3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E7D32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总结：无论结果如何，均以数据治理价值为导向推进后续工作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2000" t="1957" r="2000" b="19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43C1E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600" y="1651000"/>
            <a:ext cx="812800" cy="812800"/>
          </a:xfrm>
          <a:prstGeom prst="rect">
            <a:avLst/>
          </a:prstGeom>
          <a:effectLst>
            <a:outerShdw blurRad="101600" dist="50800" dir="2700000" algn="tl" rotWithShape="0">
              <a:srgbClr val="000000">
                <a:alpha val="3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1016000" y="2667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25400" dir="2700000" algn="tl" rotWithShape="0">
              <a:srgbClr val="000000">
                <a:alpha val="2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期待交流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286000" y="3556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spc="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 互动环节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34376">
            <a:off x="5461032" y="4375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8" name="AutoShape 8"/>
          <p:cNvSpPr/>
          <p:nvPr/>
        </p:nvSpPr>
        <p:spPr>
          <a:xfrm>
            <a:off x="1651000" y="48260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开启数据驱动新篇章 · 共建治理有序新未来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4CAF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1954</Words>
  <Application>Microsoft Office PowerPoint</Application>
  <PresentationFormat>宽屏</PresentationFormat>
  <Paragraphs>376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Noto Sans SC</vt:lpstr>
      <vt:lpstr>Arial</vt:lpstr>
      <vt:lpstr>Wingdings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Frank Zhao</cp:lastModifiedBy>
  <cp:revision>1</cp:revision>
  <dcterms:modified xsi:type="dcterms:W3CDTF">2026-03-24T10:41:45Z</dcterms:modified>
</cp:coreProperties>
</file>