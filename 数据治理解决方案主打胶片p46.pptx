
<file path=[Content_Types].xml><?xml version="1.0" encoding="utf-8"?>
<Types xmlns="http://schemas.openxmlformats.org/package/2006/content-types">
  <Default Extension="jpeg" ContentType="image/jpeg"/>
  <Default Extension="JPG" ContentType="image/.jp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6" r:id="rId5"/>
  </p:sldMasterIdLst>
  <p:notesMasterIdLst>
    <p:notesMasterId r:id="rId9"/>
  </p:notesMasterIdLst>
  <p:handoutMasterIdLst>
    <p:handoutMasterId r:id="rId53"/>
  </p:handoutMasterIdLst>
  <p:sldIdLst>
    <p:sldId id="278" r:id="rId6"/>
    <p:sldId id="276" r:id="rId7"/>
    <p:sldId id="329" r:id="rId8"/>
    <p:sldId id="372" r:id="rId10"/>
    <p:sldId id="287" r:id="rId11"/>
    <p:sldId id="331" r:id="rId12"/>
    <p:sldId id="332" r:id="rId13"/>
    <p:sldId id="330" r:id="rId14"/>
    <p:sldId id="348" r:id="rId15"/>
    <p:sldId id="336" r:id="rId16"/>
    <p:sldId id="337" r:id="rId17"/>
    <p:sldId id="338" r:id="rId18"/>
    <p:sldId id="290" r:id="rId19"/>
    <p:sldId id="341" r:id="rId20"/>
    <p:sldId id="349" r:id="rId21"/>
    <p:sldId id="279" r:id="rId22"/>
    <p:sldId id="373" r:id="rId23"/>
    <p:sldId id="291" r:id="rId24"/>
    <p:sldId id="353" r:id="rId25"/>
    <p:sldId id="354" r:id="rId26"/>
    <p:sldId id="355" r:id="rId27"/>
    <p:sldId id="356" r:id="rId28"/>
    <p:sldId id="342" r:id="rId29"/>
    <p:sldId id="345" r:id="rId30"/>
    <p:sldId id="344" r:id="rId31"/>
    <p:sldId id="346" r:id="rId32"/>
    <p:sldId id="357" r:id="rId33"/>
    <p:sldId id="281" r:id="rId34"/>
    <p:sldId id="282" r:id="rId35"/>
    <p:sldId id="347" r:id="rId36"/>
    <p:sldId id="283" r:id="rId37"/>
    <p:sldId id="316" r:id="rId38"/>
    <p:sldId id="366" r:id="rId39"/>
    <p:sldId id="367" r:id="rId40"/>
    <p:sldId id="368" r:id="rId41"/>
    <p:sldId id="371" r:id="rId42"/>
    <p:sldId id="358" r:id="rId43"/>
    <p:sldId id="359" r:id="rId44"/>
    <p:sldId id="360" r:id="rId45"/>
    <p:sldId id="361" r:id="rId46"/>
    <p:sldId id="362" r:id="rId47"/>
    <p:sldId id="363" r:id="rId48"/>
    <p:sldId id="364" r:id="rId49"/>
    <p:sldId id="369" r:id="rId50"/>
    <p:sldId id="370" r:id="rId51"/>
    <p:sldId id="259" r:id="rId52"/>
  </p:sldIdLst>
  <p:sldSz cx="12195175" cy="6859270"/>
  <p:notesSz cx="6858000" cy="9144000"/>
  <p:custDataLst>
    <p:tags r:id="rId58"/>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76" userDrawn="1">
          <p15:clr>
            <a:srgbClr val="A4A3A4"/>
          </p15:clr>
        </p15:guide>
        <p15:guide id="2" orient="horz" pos="104" userDrawn="1">
          <p15:clr>
            <a:srgbClr val="A4A3A4"/>
          </p15:clr>
        </p15:guide>
        <p15:guide id="3" orient="horz" pos="3976" userDrawn="1">
          <p15:clr>
            <a:srgbClr val="A4A3A4"/>
          </p15:clr>
        </p15:guide>
        <p15:guide id="4" orient="horz" pos="952" userDrawn="1">
          <p15:clr>
            <a:srgbClr val="A4A3A4"/>
          </p15:clr>
        </p15:guide>
        <p15:guide id="5" pos="367" userDrawn="1">
          <p15:clr>
            <a:srgbClr val="A4A3A4"/>
          </p15:clr>
        </p15:guide>
        <p15:guide id="6" pos="733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邹东啟" initials="邹东啟" lastIdx="1" clrIdx="0"/>
  <p:cmAuthor id="2" name="lq" initials="l" lastIdx="1" clrIdx="1"/>
  <p:cmAuthor id="0" name="李云峰，德勤咨询" initials="Felix Li"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3489"/>
    <a:srgbClr val="E37248"/>
    <a:srgbClr val="E47951"/>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4" autoAdjust="0"/>
    <p:restoredTop sz="99181" autoAdjust="0"/>
  </p:normalViewPr>
  <p:slideViewPr>
    <p:cSldViewPr snapToObjects="1" showGuides="1">
      <p:cViewPr varScale="1">
        <p:scale>
          <a:sx n="70" d="100"/>
          <a:sy n="70" d="100"/>
        </p:scale>
        <p:origin x="380" y="56"/>
      </p:cViewPr>
      <p:guideLst>
        <p:guide orient="horz" pos="776"/>
        <p:guide orient="horz" pos="104"/>
        <p:guide orient="horz" pos="3976"/>
        <p:guide orient="horz" pos="952"/>
        <p:guide pos="367"/>
        <p:guide pos="73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varScale="1">
        <p:scale>
          <a:sx n="89" d="100"/>
          <a:sy n="89" d="100"/>
        </p:scale>
        <p:origin x="381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8" Type="http://schemas.openxmlformats.org/officeDocument/2006/relationships/tags" Target="tags/tag4.xml"/><Relationship Id="rId57" Type="http://schemas.openxmlformats.org/officeDocument/2006/relationships/commentAuthors" Target="commentAuthors.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handoutMaster" Target="handoutMasters/handoutMaster1.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oleObject" Target="../embeddings/oleObject1.bin"/></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zh-CN" sz="2000" b="1" i="0" u="none" strike="noStrike" kern="1200" cap="all" spc="120" normalizeH="0" baseline="0">
                <a:solidFill>
                  <a:schemeClr val="tx1">
                    <a:lumMod val="65000"/>
                    <a:lumOff val="35000"/>
                  </a:schemeClr>
                </a:solidFill>
                <a:latin typeface="+mn-lt"/>
                <a:ea typeface="+mn-ea"/>
                <a:cs typeface="+mn-cs"/>
              </a:defRPr>
            </a:pPr>
            <a:r>
              <a:rPr lang="zh-CN" sz="2000"/>
              <a:t>各部门供应数据情况</a:t>
            </a:r>
            <a:endParaRPr lang="zh-CN" sz="2000"/>
          </a:p>
        </c:rich>
      </c:tx>
      <c:layout/>
      <c:overlay val="0"/>
      <c:spPr>
        <a:noFill/>
        <a:ln>
          <a:noFill/>
        </a:ln>
        <a:effectLst/>
      </c:spPr>
    </c:title>
    <c:autoTitleDeleted val="0"/>
    <c:plotArea>
      <c:layout/>
      <c:barChart>
        <c:barDir val="col"/>
        <c:grouping val="stacked"/>
        <c:varyColors val="0"/>
        <c:ser>
          <c:idx val="0"/>
          <c:order val="0"/>
          <c:tx>
            <c:strRef>
              <c:f>'汇总（全部门）'!$C$2</c:f>
              <c:strCache>
                <c:ptCount val="1"/>
                <c:pt idx="0">
                  <c:v>线上数据</c:v>
                </c:pt>
              </c:strCache>
            </c:strRef>
          </c:tx>
          <c:spPr>
            <a:solidFill>
              <a:schemeClr val="accent1"/>
            </a:solidFill>
            <a:ln>
              <a:noFill/>
            </a:ln>
            <a:effectLst/>
          </c:spPr>
          <c:invertIfNegative val="0"/>
          <c:dLbls>
            <c:spPr>
              <a:solidFill>
                <a:srgbClr val="FF0000"/>
              </a:solidFill>
              <a:ln>
                <a:noFill/>
              </a:ln>
              <a:effectLst/>
            </c:spPr>
            <c:txPr>
              <a:bodyPr rot="0" spcFirstLastPara="1" vertOverflow="ellipsis" vert="horz" wrap="square" lIns="38100" tIns="19050" rIns="38100" bIns="19050" anchor="ctr" anchorCtr="1">
                <a:spAutoFit/>
              </a:bodyPr>
              <a:lstStyle/>
              <a:p>
                <a:pPr>
                  <a:defRPr lang="zh-CN" sz="1100" b="0" i="0" u="none" strike="noStrike" kern="1200" baseline="0">
                    <a:solidFill>
                      <a:schemeClr val="lt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'汇总（全部门）'!$B$3:$B$25</c:f>
              <c:strCache>
                <c:ptCount val="23"/>
                <c:pt idx="0">
                  <c:v>人事处</c:v>
                </c:pt>
                <c:pt idx="1">
                  <c:v>教务处</c:v>
                </c:pt>
                <c:pt idx="2">
                  <c:v>学工（含招就）</c:v>
                </c:pt>
                <c:pt idx="3">
                  <c:v>科研</c:v>
                </c:pt>
                <c:pt idx="4">
                  <c:v>研究生</c:v>
                </c:pt>
                <c:pt idx="5">
                  <c:v>国资（含设备处）</c:v>
                </c:pt>
                <c:pt idx="6">
                  <c:v>校办</c:v>
                </c:pt>
                <c:pt idx="7">
                  <c:v>财务处</c:v>
                </c:pt>
                <c:pt idx="8">
                  <c:v>党委组织部</c:v>
                </c:pt>
                <c:pt idx="9">
                  <c:v>国际与合作交流处</c:v>
                </c:pt>
                <c:pt idx="10">
                  <c:v>后勤</c:v>
                </c:pt>
                <c:pt idx="11">
                  <c:v>教师教育学院</c:v>
                </c:pt>
                <c:pt idx="12">
                  <c:v>离退</c:v>
                </c:pt>
                <c:pt idx="13">
                  <c:v>图书馆</c:v>
                </c:pt>
                <c:pt idx="14">
                  <c:v>工会</c:v>
                </c:pt>
                <c:pt idx="15">
                  <c:v>校医院</c:v>
                </c:pt>
                <c:pt idx="16">
                  <c:v>招标办</c:v>
                </c:pt>
                <c:pt idx="17">
                  <c:v>保卫处</c:v>
                </c:pt>
                <c:pt idx="18">
                  <c:v>统战部</c:v>
                </c:pt>
                <c:pt idx="19">
                  <c:v>公共管理学院</c:v>
                </c:pt>
                <c:pt idx="20">
                  <c:v>校友捐赠</c:v>
                </c:pt>
                <c:pt idx="21">
                  <c:v>宣传部</c:v>
                </c:pt>
                <c:pt idx="22">
                  <c:v>&lt;空白&gt;</c:v>
                </c:pt>
              </c:strCache>
            </c:strRef>
          </c:cat>
          <c:val>
            <c:numRef>
              <c:f>'汇总（全部门）'!$C$3:$C$25</c:f>
              <c:numCache>
                <c:formatCode>General</c:formatCode>
                <c:ptCount val="23"/>
                <c:pt idx="0">
                  <c:v>240</c:v>
                </c:pt>
                <c:pt idx="1">
                  <c:v>337</c:v>
                </c:pt>
                <c:pt idx="2">
                  <c:v>435</c:v>
                </c:pt>
                <c:pt idx="3">
                  <c:v>458</c:v>
                </c:pt>
                <c:pt idx="4">
                  <c:v>456</c:v>
                </c:pt>
                <c:pt idx="5">
                  <c:v>266</c:v>
                </c:pt>
                <c:pt idx="6">
                  <c:v>196</c:v>
                </c:pt>
                <c:pt idx="7">
                  <c:v>507</c:v>
                </c:pt>
                <c:pt idx="8">
                  <c:v>39</c:v>
                </c:pt>
                <c:pt idx="9">
                  <c:v>146</c:v>
                </c:pt>
                <c:pt idx="10">
                  <c:v>55</c:v>
                </c:pt>
                <c:pt idx="11">
                  <c:v>66</c:v>
                </c:pt>
                <c:pt idx="12">
                  <c:v>43</c:v>
                </c:pt>
                <c:pt idx="13">
                  <c:v>125</c:v>
                </c:pt>
                <c:pt idx="14">
                  <c:v>159</c:v>
                </c:pt>
                <c:pt idx="15">
                  <c:v>68</c:v>
                </c:pt>
                <c:pt idx="16">
                  <c:v>32</c:v>
                </c:pt>
                <c:pt idx="22">
                  <c:v>30</c:v>
                </c:pt>
              </c:numCache>
            </c:numRef>
          </c:val>
        </c:ser>
        <c:ser>
          <c:idx val="1"/>
          <c:order val="1"/>
          <c:tx>
            <c:strRef>
              <c:f>'汇总（全部门）'!$D$2</c:f>
              <c:strCache>
                <c:ptCount val="1"/>
                <c:pt idx="0">
                  <c:v>表格数据</c:v>
                </c:pt>
              </c:strCache>
            </c:strRef>
          </c:tx>
          <c:spPr>
            <a:solidFill>
              <a:schemeClr val="accent2"/>
            </a:solidFill>
            <a:ln>
              <a:noFill/>
            </a:ln>
            <a:effectLst/>
          </c:spPr>
          <c:invertIfNegative val="0"/>
          <c:dLbls>
            <c:spPr>
              <a:solidFill>
                <a:srgbClr val="FFFF00"/>
              </a:solidFill>
              <a:ln>
                <a:noFill/>
              </a:ln>
              <a:effectLst/>
            </c:spPr>
            <c:txPr>
              <a:bodyPr rot="0" spcFirstLastPara="1" vertOverflow="ellipsis" vert="horz" wrap="square" lIns="38100" tIns="19050" rIns="38100" bIns="19050" anchor="ctr" anchorCtr="1">
                <a:spAutoFit/>
              </a:bodyPr>
              <a:lstStyle/>
              <a:p>
                <a:pPr>
                  <a:defRPr lang="zh-CN" sz="10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'汇总（全部门）'!$B$3:$B$25</c:f>
              <c:strCache>
                <c:ptCount val="23"/>
                <c:pt idx="0">
                  <c:v>人事处</c:v>
                </c:pt>
                <c:pt idx="1">
                  <c:v>教务处</c:v>
                </c:pt>
                <c:pt idx="2">
                  <c:v>学工（含招就）</c:v>
                </c:pt>
                <c:pt idx="3">
                  <c:v>科研</c:v>
                </c:pt>
                <c:pt idx="4">
                  <c:v>研究生</c:v>
                </c:pt>
                <c:pt idx="5">
                  <c:v>国资（含设备处）</c:v>
                </c:pt>
                <c:pt idx="6">
                  <c:v>校办</c:v>
                </c:pt>
                <c:pt idx="7">
                  <c:v>财务处</c:v>
                </c:pt>
                <c:pt idx="8">
                  <c:v>党委组织部</c:v>
                </c:pt>
                <c:pt idx="9">
                  <c:v>国际与合作交流处</c:v>
                </c:pt>
                <c:pt idx="10">
                  <c:v>后勤</c:v>
                </c:pt>
                <c:pt idx="11">
                  <c:v>教师教育学院</c:v>
                </c:pt>
                <c:pt idx="12">
                  <c:v>离退</c:v>
                </c:pt>
                <c:pt idx="13">
                  <c:v>图书馆</c:v>
                </c:pt>
                <c:pt idx="14">
                  <c:v>工会</c:v>
                </c:pt>
                <c:pt idx="15">
                  <c:v>校医院</c:v>
                </c:pt>
                <c:pt idx="16">
                  <c:v>招标办</c:v>
                </c:pt>
                <c:pt idx="17">
                  <c:v>保卫处</c:v>
                </c:pt>
                <c:pt idx="18">
                  <c:v>统战部</c:v>
                </c:pt>
                <c:pt idx="19">
                  <c:v>公共管理学院</c:v>
                </c:pt>
                <c:pt idx="20">
                  <c:v>校友捐赠</c:v>
                </c:pt>
                <c:pt idx="21">
                  <c:v>宣传部</c:v>
                </c:pt>
                <c:pt idx="22">
                  <c:v>&lt;空白&gt;</c:v>
                </c:pt>
              </c:strCache>
            </c:strRef>
          </c:cat>
          <c:val>
            <c:numRef>
              <c:f>'汇总（全部门）'!$D$3:$D$25</c:f>
              <c:numCache>
                <c:formatCode>General</c:formatCode>
                <c:ptCount val="23"/>
                <c:pt idx="18">
                  <c:v>5</c:v>
                </c:pt>
                <c:pt idx="19">
                  <c:v>59</c:v>
                </c:pt>
                <c:pt idx="20">
                  <c:v>63</c:v>
                </c:pt>
              </c:numCache>
            </c:numRef>
          </c:val>
        </c:ser>
        <c:ser>
          <c:idx val="2"/>
          <c:order val="2"/>
          <c:tx>
            <c:strRef>
              <c:f>'汇总（全部门）'!$E$2</c:f>
              <c:strCache>
                <c:ptCount val="1"/>
                <c:pt idx="0">
                  <c:v>有字段未录入</c:v>
                </c:pt>
              </c:strCache>
            </c:strRef>
          </c:tx>
          <c:spPr>
            <a:solidFill>
              <a:schemeClr val="accent3"/>
            </a:solidFill>
            <a:ln>
              <a:noFill/>
            </a:ln>
            <a:effectLst/>
          </c:spPr>
          <c:invertIfNegative val="0"/>
          <c:dLbls>
            <c:spPr>
              <a:solidFill>
                <a:schemeClr val="accent2">
                  <a:lumMod val="75000"/>
                </a:schemeClr>
              </a:solidFill>
              <a:ln>
                <a:noFill/>
              </a:ln>
              <a:effectLst/>
            </c:spPr>
            <c:txPr>
              <a:bodyPr rot="0" spcFirstLastPara="1" vertOverflow="ellipsis" vert="horz" wrap="square" lIns="38100" tIns="19050" rIns="38100" bIns="19050" anchor="ctr" anchorCtr="1">
                <a:spAutoFit/>
              </a:bodyPr>
              <a:lstStyle/>
              <a:p>
                <a:pPr>
                  <a:defRPr lang="zh-CN" sz="1050" b="0" i="0" u="none" strike="noStrike" kern="1200" baseline="0">
                    <a:solidFill>
                      <a:schemeClr val="lt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'汇总（全部门）'!$B$3:$B$25</c:f>
              <c:strCache>
                <c:ptCount val="23"/>
                <c:pt idx="0">
                  <c:v>人事处</c:v>
                </c:pt>
                <c:pt idx="1">
                  <c:v>教务处</c:v>
                </c:pt>
                <c:pt idx="2">
                  <c:v>学工（含招就）</c:v>
                </c:pt>
                <c:pt idx="3">
                  <c:v>科研</c:v>
                </c:pt>
                <c:pt idx="4">
                  <c:v>研究生</c:v>
                </c:pt>
                <c:pt idx="5">
                  <c:v>国资（含设备处）</c:v>
                </c:pt>
                <c:pt idx="6">
                  <c:v>校办</c:v>
                </c:pt>
                <c:pt idx="7">
                  <c:v>财务处</c:v>
                </c:pt>
                <c:pt idx="8">
                  <c:v>党委组织部</c:v>
                </c:pt>
                <c:pt idx="9">
                  <c:v>国际与合作交流处</c:v>
                </c:pt>
                <c:pt idx="10">
                  <c:v>后勤</c:v>
                </c:pt>
                <c:pt idx="11">
                  <c:v>教师教育学院</c:v>
                </c:pt>
                <c:pt idx="12">
                  <c:v>离退</c:v>
                </c:pt>
                <c:pt idx="13">
                  <c:v>图书馆</c:v>
                </c:pt>
                <c:pt idx="14">
                  <c:v>工会</c:v>
                </c:pt>
                <c:pt idx="15">
                  <c:v>校医院</c:v>
                </c:pt>
                <c:pt idx="16">
                  <c:v>招标办</c:v>
                </c:pt>
                <c:pt idx="17">
                  <c:v>保卫处</c:v>
                </c:pt>
                <c:pt idx="18">
                  <c:v>统战部</c:v>
                </c:pt>
                <c:pt idx="19">
                  <c:v>公共管理学院</c:v>
                </c:pt>
                <c:pt idx="20">
                  <c:v>校友捐赠</c:v>
                </c:pt>
                <c:pt idx="21">
                  <c:v>宣传部</c:v>
                </c:pt>
                <c:pt idx="22">
                  <c:v>&lt;空白&gt;</c:v>
                </c:pt>
              </c:strCache>
            </c:strRef>
          </c:cat>
          <c:val>
            <c:numRef>
              <c:f>'汇总（全部门）'!$E$3:$E$25</c:f>
              <c:numCache>
                <c:formatCode>General</c:formatCode>
                <c:ptCount val="23"/>
                <c:pt idx="0">
                  <c:v>55</c:v>
                </c:pt>
                <c:pt idx="1">
                  <c:v>85</c:v>
                </c:pt>
                <c:pt idx="2">
                  <c:v>47</c:v>
                </c:pt>
                <c:pt idx="3">
                  <c:v>85</c:v>
                </c:pt>
                <c:pt idx="4">
                  <c:v>121</c:v>
                </c:pt>
                <c:pt idx="5">
                  <c:v>41</c:v>
                </c:pt>
                <c:pt idx="6">
                  <c:v>24</c:v>
                </c:pt>
                <c:pt idx="7">
                  <c:v>12</c:v>
                </c:pt>
                <c:pt idx="8">
                  <c:v>8</c:v>
                </c:pt>
                <c:pt idx="9">
                  <c:v>43</c:v>
                </c:pt>
                <c:pt idx="10">
                  <c:v>4</c:v>
                </c:pt>
                <c:pt idx="11">
                  <c:v>4</c:v>
                </c:pt>
                <c:pt idx="12">
                  <c:v>10</c:v>
                </c:pt>
                <c:pt idx="13">
                  <c:v>7</c:v>
                </c:pt>
                <c:pt idx="14">
                  <c:v>42</c:v>
                </c:pt>
                <c:pt idx="15">
                  <c:v>13</c:v>
                </c:pt>
                <c:pt idx="16">
                  <c:v>21</c:v>
                </c:pt>
              </c:numCache>
            </c:numRef>
          </c:val>
        </c:ser>
        <c:ser>
          <c:idx val="3"/>
          <c:order val="3"/>
          <c:tx>
            <c:strRef>
              <c:f>'汇总（全部门）'!$F$2</c:f>
              <c:strCache>
                <c:ptCount val="1"/>
                <c:pt idx="0">
                  <c:v>有表无字段</c:v>
                </c:pt>
              </c:strCache>
            </c:strRef>
          </c:tx>
          <c:spPr>
            <a:solidFill>
              <a:schemeClr val="accent4"/>
            </a:solidFill>
            <a:ln>
              <a:noFill/>
            </a:ln>
            <a:effectLst/>
          </c:spPr>
          <c:invertIfNegative val="0"/>
          <c:dLbls>
            <c:spPr>
              <a:solidFill>
                <a:schemeClr val="accent2">
                  <a:lumMod val="75000"/>
                </a:schemeClr>
              </a:solidFill>
              <a:ln>
                <a:noFill/>
              </a:ln>
              <a:effectLst/>
            </c:spPr>
            <c:txPr>
              <a:bodyPr rot="0" spcFirstLastPara="1" vertOverflow="ellipsis" vert="horz" wrap="square" lIns="38100" tIns="19050" rIns="38100" bIns="19050" anchor="ctr" anchorCtr="1">
                <a:spAutoFit/>
              </a:bodyPr>
              <a:lstStyle/>
              <a:p>
                <a:pPr>
                  <a:defRPr lang="zh-CN" sz="1100" b="0" i="0" u="none" strike="noStrike" kern="1200" baseline="0">
                    <a:solidFill>
                      <a:schemeClr val="bg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'汇总（全部门）'!$B$3:$B$25</c:f>
              <c:strCache>
                <c:ptCount val="23"/>
                <c:pt idx="0">
                  <c:v>人事处</c:v>
                </c:pt>
                <c:pt idx="1">
                  <c:v>教务处</c:v>
                </c:pt>
                <c:pt idx="2">
                  <c:v>学工（含招就）</c:v>
                </c:pt>
                <c:pt idx="3">
                  <c:v>科研</c:v>
                </c:pt>
                <c:pt idx="4">
                  <c:v>研究生</c:v>
                </c:pt>
                <c:pt idx="5">
                  <c:v>国资（含设备处）</c:v>
                </c:pt>
                <c:pt idx="6">
                  <c:v>校办</c:v>
                </c:pt>
                <c:pt idx="7">
                  <c:v>财务处</c:v>
                </c:pt>
                <c:pt idx="8">
                  <c:v>党委组织部</c:v>
                </c:pt>
                <c:pt idx="9">
                  <c:v>国际与合作交流处</c:v>
                </c:pt>
                <c:pt idx="10">
                  <c:v>后勤</c:v>
                </c:pt>
                <c:pt idx="11">
                  <c:v>教师教育学院</c:v>
                </c:pt>
                <c:pt idx="12">
                  <c:v>离退</c:v>
                </c:pt>
                <c:pt idx="13">
                  <c:v>图书馆</c:v>
                </c:pt>
                <c:pt idx="14">
                  <c:v>工会</c:v>
                </c:pt>
                <c:pt idx="15">
                  <c:v>校医院</c:v>
                </c:pt>
                <c:pt idx="16">
                  <c:v>招标办</c:v>
                </c:pt>
                <c:pt idx="17">
                  <c:v>保卫处</c:v>
                </c:pt>
                <c:pt idx="18">
                  <c:v>统战部</c:v>
                </c:pt>
                <c:pt idx="19">
                  <c:v>公共管理学院</c:v>
                </c:pt>
                <c:pt idx="20">
                  <c:v>校友捐赠</c:v>
                </c:pt>
                <c:pt idx="21">
                  <c:v>宣传部</c:v>
                </c:pt>
                <c:pt idx="22">
                  <c:v>&lt;空白&gt;</c:v>
                </c:pt>
              </c:strCache>
            </c:strRef>
          </c:cat>
          <c:val>
            <c:numRef>
              <c:f>'汇总（全部门）'!$F$3:$F$25</c:f>
              <c:numCache>
                <c:formatCode>General</c:formatCode>
                <c:ptCount val="23"/>
                <c:pt idx="0">
                  <c:v>6</c:v>
                </c:pt>
                <c:pt idx="1">
                  <c:v>13</c:v>
                </c:pt>
                <c:pt idx="2">
                  <c:v>89</c:v>
                </c:pt>
                <c:pt idx="3">
                  <c:v>1</c:v>
                </c:pt>
                <c:pt idx="4">
                  <c:v>57</c:v>
                </c:pt>
                <c:pt idx="5">
                  <c:v>10</c:v>
                </c:pt>
                <c:pt idx="7">
                  <c:v>20</c:v>
                </c:pt>
                <c:pt idx="9">
                  <c:v>3</c:v>
                </c:pt>
                <c:pt idx="12">
                  <c:v>2</c:v>
                </c:pt>
                <c:pt idx="14">
                  <c:v>36</c:v>
                </c:pt>
                <c:pt idx="16">
                  <c:v>1</c:v>
                </c:pt>
                <c:pt idx="18">
                  <c:v>0</c:v>
                </c:pt>
                <c:pt idx="22">
                  <c:v>2</c:v>
                </c:pt>
              </c:numCache>
            </c:numRef>
          </c:val>
        </c:ser>
        <c:ser>
          <c:idx val="4"/>
          <c:order val="4"/>
          <c:tx>
            <c:strRef>
              <c:f>'汇总（全部门）'!$G$2</c:f>
              <c:strCache>
                <c:ptCount val="1"/>
                <c:pt idx="0">
                  <c:v>未设计该表</c:v>
                </c:pt>
              </c:strCache>
            </c:strRef>
          </c:tx>
          <c:spPr>
            <a:solidFill>
              <a:schemeClr val="accent5"/>
            </a:solidFill>
            <a:ln>
              <a:noFill/>
            </a:ln>
            <a:effectLst/>
          </c:spPr>
          <c:invertIfNegative val="0"/>
          <c:dLbls>
            <c:spPr>
              <a:solidFill>
                <a:schemeClr val="accent2">
                  <a:lumMod val="75000"/>
                </a:schemeClr>
              </a:solidFill>
              <a:ln>
                <a:noFill/>
              </a:ln>
              <a:effectLst/>
            </c:spPr>
            <c:txPr>
              <a:bodyPr rot="0" spcFirstLastPara="1" vertOverflow="ellipsis" vert="horz" wrap="square" lIns="38100" tIns="19050" rIns="38100" bIns="19050" anchor="ctr" anchorCtr="0">
                <a:spAutoFit/>
              </a:bodyPr>
              <a:lstStyle/>
              <a:p>
                <a:pPr algn="ctr">
                  <a:defRPr lang="zh-CN" altLang="en-US" sz="1050" b="0" i="0" u="none" strike="noStrike" kern="1200" baseline="0">
                    <a:solidFill>
                      <a:schemeClr val="bg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'汇总（全部门）'!$B$3:$B$25</c:f>
              <c:strCache>
                <c:ptCount val="23"/>
                <c:pt idx="0">
                  <c:v>人事处</c:v>
                </c:pt>
                <c:pt idx="1">
                  <c:v>教务处</c:v>
                </c:pt>
                <c:pt idx="2">
                  <c:v>学工（含招就）</c:v>
                </c:pt>
                <c:pt idx="3">
                  <c:v>科研</c:v>
                </c:pt>
                <c:pt idx="4">
                  <c:v>研究生</c:v>
                </c:pt>
                <c:pt idx="5">
                  <c:v>国资（含设备处）</c:v>
                </c:pt>
                <c:pt idx="6">
                  <c:v>校办</c:v>
                </c:pt>
                <c:pt idx="7">
                  <c:v>财务处</c:v>
                </c:pt>
                <c:pt idx="8">
                  <c:v>党委组织部</c:v>
                </c:pt>
                <c:pt idx="9">
                  <c:v>国际与合作交流处</c:v>
                </c:pt>
                <c:pt idx="10">
                  <c:v>后勤</c:v>
                </c:pt>
                <c:pt idx="11">
                  <c:v>教师教育学院</c:v>
                </c:pt>
                <c:pt idx="12">
                  <c:v>离退</c:v>
                </c:pt>
                <c:pt idx="13">
                  <c:v>图书馆</c:v>
                </c:pt>
                <c:pt idx="14">
                  <c:v>工会</c:v>
                </c:pt>
                <c:pt idx="15">
                  <c:v>校医院</c:v>
                </c:pt>
                <c:pt idx="16">
                  <c:v>招标办</c:v>
                </c:pt>
                <c:pt idx="17">
                  <c:v>保卫处</c:v>
                </c:pt>
                <c:pt idx="18">
                  <c:v>统战部</c:v>
                </c:pt>
                <c:pt idx="19">
                  <c:v>公共管理学院</c:v>
                </c:pt>
                <c:pt idx="20">
                  <c:v>校友捐赠</c:v>
                </c:pt>
                <c:pt idx="21">
                  <c:v>宣传部</c:v>
                </c:pt>
                <c:pt idx="22">
                  <c:v>&lt;空白&gt;</c:v>
                </c:pt>
              </c:strCache>
            </c:strRef>
          </c:cat>
          <c:val>
            <c:numRef>
              <c:f>'汇总（全部门）'!$G$3:$G$25</c:f>
              <c:numCache>
                <c:formatCode>General</c:formatCode>
                <c:ptCount val="23"/>
                <c:pt idx="0">
                  <c:v>131</c:v>
                </c:pt>
                <c:pt idx="1">
                  <c:v>3</c:v>
                </c:pt>
                <c:pt idx="2">
                  <c:v>51</c:v>
                </c:pt>
                <c:pt idx="5">
                  <c:v>16</c:v>
                </c:pt>
                <c:pt idx="7">
                  <c:v>26</c:v>
                </c:pt>
                <c:pt idx="10">
                  <c:v>10</c:v>
                </c:pt>
                <c:pt idx="15">
                  <c:v>23</c:v>
                </c:pt>
                <c:pt idx="17">
                  <c:v>19</c:v>
                </c:pt>
                <c:pt idx="21">
                  <c:v>5</c:v>
                </c:pt>
              </c:numCache>
            </c:numRef>
          </c:val>
        </c:ser>
        <c:dLbls>
          <c:showLegendKey val="0"/>
          <c:showVal val="1"/>
          <c:showCatName val="0"/>
          <c:showSerName val="0"/>
          <c:showPercent val="0"/>
          <c:showBubbleSize val="0"/>
        </c:dLbls>
        <c:gapWidth val="79"/>
        <c:overlap val="100"/>
        <c:axId val="1880955408"/>
        <c:axId val="1880955952"/>
      </c:barChart>
      <c:catAx>
        <c:axId val="18809554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cap="all" spc="120" normalizeH="0" baseline="0">
                <a:solidFill>
                  <a:schemeClr val="tx1">
                    <a:lumMod val="65000"/>
                    <a:lumOff val="35000"/>
                  </a:schemeClr>
                </a:solidFill>
                <a:latin typeface="+mn-lt"/>
                <a:ea typeface="+mn-ea"/>
                <a:cs typeface="+mn-cs"/>
              </a:defRPr>
            </a:pPr>
          </a:p>
        </c:txPr>
        <c:crossAx val="1880955952"/>
        <c:crosses val="autoZero"/>
        <c:auto val="1"/>
        <c:lblAlgn val="ctr"/>
        <c:lblOffset val="100"/>
        <c:noMultiLvlLbl val="0"/>
      </c:catAx>
      <c:valAx>
        <c:axId val="1880955952"/>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880955408"/>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lang="zh-CN" sz="16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w="9525" cap="flat" cmpd="sng" algn="ctr">
      <a:no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F8DBAF7-2C62-48B8-A6DC-BD8E4BC287BE}" type="doc">
      <dgm:prSet loTypeId="urn:microsoft.com/office/officeart/2005/8/layout/cycle8" loCatId="cycle" qsTypeId="urn:microsoft.com/office/officeart/2005/8/quickstyle/simple5" qsCatId="simple" csTypeId="urn:microsoft.com/office/officeart/2005/8/colors/accent0_3" csCatId="mainScheme" phldr="1"/>
      <dgm:spPr/>
    </dgm:pt>
    <dgm:pt modelId="{B72D3886-4FB8-461E-A40C-9BAC1A234090}">
      <dgm:prSet phldrT="[文本]" custT="1"/>
      <dgm:spPr>
        <a:xfrm>
          <a:off x="2337669" y="464840"/>
          <a:ext cx="6308016" cy="6308016"/>
        </a:xfrm>
        <a:prstGeom prst="pie">
          <a:avLst>
            <a:gd name="adj1" fmla="val 16200000"/>
            <a:gd name="adj2" fmla="val 2052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500" dirty="0">
              <a:solidFill>
                <a:sysClr val="window" lastClr="FFFFFF"/>
              </a:solidFill>
              <a:latin typeface="Lato Light"/>
              <a:ea typeface="+mn-ea"/>
              <a:cs typeface="+mn-cs"/>
            </a:rPr>
            <a:t>现状调研</a:t>
          </a:r>
        </a:p>
      </dgm:t>
    </dgm:pt>
    <dgm:pt modelId="{450B5F3A-3C2F-4889-BA9F-D8A2948137B5}" cxnId="{89AF770F-2E82-4650-82BB-74B16CF0B028}" type="parTrans">
      <dgm:prSet/>
      <dgm:spPr/>
      <dgm:t>
        <a:bodyPr/>
        <a:lstStyle/>
        <a:p>
          <a:endParaRPr lang="zh-CN" altLang="en-US" sz="2800"/>
        </a:p>
      </dgm:t>
    </dgm:pt>
    <dgm:pt modelId="{EAEEF6D6-56F8-478F-BC76-9292631B3ADE}" cxnId="{89AF770F-2E82-4650-82BB-74B16CF0B028}" type="sibTrans">
      <dgm:prSet/>
      <dgm:spPr/>
      <dgm:t>
        <a:bodyPr/>
        <a:lstStyle/>
        <a:p>
          <a:endParaRPr lang="zh-CN" altLang="en-US" sz="2800"/>
        </a:p>
      </dgm:t>
    </dgm:pt>
    <dgm:pt modelId="{53E45188-7E9F-40DA-A2DC-36E24E33F66E}">
      <dgm:prSet phldrT="[文本]" custT="1"/>
      <dgm:spPr>
        <a:xfrm>
          <a:off x="2106375" y="633054"/>
          <a:ext cx="6308016" cy="6308016"/>
        </a:xfrm>
        <a:prstGeom prst="pie">
          <a:avLst>
            <a:gd name="adj1" fmla="val 7560000"/>
            <a:gd name="adj2" fmla="val 1188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500" dirty="0">
              <a:solidFill>
                <a:sysClr val="window" lastClr="FFFFFF"/>
              </a:solidFill>
              <a:latin typeface="Lato Light"/>
              <a:ea typeface="+mn-ea"/>
              <a:cs typeface="+mn-cs"/>
            </a:rPr>
            <a:t>标准制定</a:t>
          </a:r>
        </a:p>
      </dgm:t>
    </dgm:pt>
    <dgm:pt modelId="{22DAF55D-C2E4-4B29-B95C-041718234686}" cxnId="{7D3B49D0-66AA-49D8-9235-E65677ECEA61}" type="parTrans">
      <dgm:prSet/>
      <dgm:spPr/>
      <dgm:t>
        <a:bodyPr/>
        <a:lstStyle/>
        <a:p>
          <a:endParaRPr lang="zh-CN" altLang="en-US" sz="2800"/>
        </a:p>
      </dgm:t>
    </dgm:pt>
    <dgm:pt modelId="{25EA1C14-9F51-4FA8-98C1-B2CCBF096E18}" cxnId="{7D3B49D0-66AA-49D8-9235-E65677ECEA61}" type="sibTrans">
      <dgm:prSet/>
      <dgm:spPr/>
      <dgm:t>
        <a:bodyPr/>
        <a:lstStyle/>
        <a:p>
          <a:endParaRPr lang="zh-CN" altLang="en-US" sz="2800"/>
        </a:p>
      </dgm:t>
    </dgm:pt>
    <dgm:pt modelId="{6A353EDC-4377-4CA4-9C18-FC4B5841EB02}">
      <dgm:prSet phldrT="[文本]" custT="1"/>
      <dgm:spPr>
        <a:xfrm>
          <a:off x="2160444" y="464840"/>
          <a:ext cx="6308016" cy="6308016"/>
        </a:xfrm>
        <a:prstGeom prst="pie">
          <a:avLst>
            <a:gd name="adj1" fmla="val 11880000"/>
            <a:gd name="adj2" fmla="val 162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500" dirty="0">
              <a:solidFill>
                <a:sysClr val="window" lastClr="FFFFFF"/>
              </a:solidFill>
              <a:latin typeface="Lato Light"/>
              <a:ea typeface="+mn-ea"/>
              <a:cs typeface="+mn-cs"/>
            </a:rPr>
            <a:t>标准确认</a:t>
          </a:r>
        </a:p>
      </dgm:t>
    </dgm:pt>
    <dgm:pt modelId="{06BBD384-089D-4B70-BD90-D2D905024C0F}" cxnId="{8E05149D-15F4-4561-8099-2ACE184671AD}" type="parTrans">
      <dgm:prSet/>
      <dgm:spPr/>
      <dgm:t>
        <a:bodyPr/>
        <a:lstStyle/>
        <a:p>
          <a:endParaRPr lang="zh-CN" altLang="en-US" sz="2800"/>
        </a:p>
      </dgm:t>
    </dgm:pt>
    <dgm:pt modelId="{0B5C1912-1B70-4C96-AB22-D06C18916341}" cxnId="{8E05149D-15F4-4561-8099-2ACE184671AD}" type="sibTrans">
      <dgm:prSet/>
      <dgm:spPr/>
      <dgm:t>
        <a:bodyPr/>
        <a:lstStyle/>
        <a:p>
          <a:endParaRPr lang="zh-CN" altLang="en-US" sz="2800"/>
        </a:p>
      </dgm:t>
    </dgm:pt>
    <dgm:pt modelId="{A6125FBF-648B-4B17-82B2-4760CC03243E}">
      <dgm:prSet phldrT="[文本]" custT="1"/>
      <dgm:spPr>
        <a:xfrm>
          <a:off x="2391738" y="633054"/>
          <a:ext cx="6308016" cy="6308016"/>
        </a:xfrm>
        <a:prstGeom prst="pie">
          <a:avLst>
            <a:gd name="adj1" fmla="val 20520000"/>
            <a:gd name="adj2" fmla="val 324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500" dirty="0">
              <a:solidFill>
                <a:sysClr val="window" lastClr="FFFFFF"/>
              </a:solidFill>
              <a:latin typeface="Lato Light"/>
              <a:ea typeface="+mn-ea"/>
              <a:cs typeface="+mn-cs"/>
            </a:rPr>
            <a:t>数据采集</a:t>
          </a:r>
        </a:p>
      </dgm:t>
    </dgm:pt>
    <dgm:pt modelId="{75EAE327-DA35-484C-BBDB-1BF78DF7C169}" cxnId="{1533F8DE-FF57-4D58-BFEE-DAA47B8C5BC7}" type="parTrans">
      <dgm:prSet/>
      <dgm:spPr/>
      <dgm:t>
        <a:bodyPr/>
        <a:lstStyle/>
        <a:p>
          <a:endParaRPr lang="zh-CN" altLang="en-US" sz="2800"/>
        </a:p>
      </dgm:t>
    </dgm:pt>
    <dgm:pt modelId="{F520B3BD-BD36-4BC8-A86C-1E3C15C83A4D}" cxnId="{1533F8DE-FF57-4D58-BFEE-DAA47B8C5BC7}" type="sibTrans">
      <dgm:prSet/>
      <dgm:spPr/>
      <dgm:t>
        <a:bodyPr/>
        <a:lstStyle/>
        <a:p>
          <a:endParaRPr lang="zh-CN" altLang="en-US" sz="2800"/>
        </a:p>
      </dgm:t>
    </dgm:pt>
    <dgm:pt modelId="{56149757-2050-4DC4-A1C5-ED452BFA4614}">
      <dgm:prSet phldrT="[文本]" custT="1"/>
      <dgm:spPr>
        <a:xfrm>
          <a:off x="2249057" y="736686"/>
          <a:ext cx="6308016" cy="6308016"/>
        </a:xfrm>
        <a:prstGeom prst="pie">
          <a:avLst>
            <a:gd name="adj1" fmla="val 3240000"/>
            <a:gd name="adj2" fmla="val 756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500" dirty="0">
              <a:solidFill>
                <a:sysClr val="window" lastClr="FFFFFF"/>
              </a:solidFill>
              <a:latin typeface="Lato Light"/>
              <a:ea typeface="+mn-ea"/>
              <a:cs typeface="+mn-cs"/>
            </a:rPr>
            <a:t>数据识别</a:t>
          </a:r>
        </a:p>
      </dgm:t>
    </dgm:pt>
    <dgm:pt modelId="{9F182363-B829-4492-BC56-C07C0B105FB2}" cxnId="{89FF0CEB-2775-47D9-8F41-3C7FCB900FFB}" type="parTrans">
      <dgm:prSet/>
      <dgm:spPr/>
      <dgm:t>
        <a:bodyPr/>
        <a:lstStyle/>
        <a:p>
          <a:endParaRPr lang="zh-CN" altLang="en-US" sz="2800"/>
        </a:p>
      </dgm:t>
    </dgm:pt>
    <dgm:pt modelId="{808D3F17-5B17-4FF7-817A-B8B3C20A4364}" cxnId="{89FF0CEB-2775-47D9-8F41-3C7FCB900FFB}" type="sibTrans">
      <dgm:prSet/>
      <dgm:spPr/>
      <dgm:t>
        <a:bodyPr/>
        <a:lstStyle/>
        <a:p>
          <a:endParaRPr lang="zh-CN" altLang="en-US" sz="2800"/>
        </a:p>
      </dgm:t>
    </dgm:pt>
    <dgm:pt modelId="{C14BCE21-92BB-40C4-83DA-47477F10D43D}" type="pres">
      <dgm:prSet presAssocID="{0F8DBAF7-2C62-48B8-A6DC-BD8E4BC287BE}" presName="compositeShape" presStyleCnt="0">
        <dgm:presLayoutVars>
          <dgm:chMax val="7"/>
          <dgm:dir/>
          <dgm:resizeHandles val="exact"/>
        </dgm:presLayoutVars>
      </dgm:prSet>
      <dgm:spPr/>
    </dgm:pt>
    <dgm:pt modelId="{634F9B89-6071-4137-A248-9CA0248D2E90}" type="pres">
      <dgm:prSet presAssocID="{0F8DBAF7-2C62-48B8-A6DC-BD8E4BC287BE}" presName="wedge1" presStyleLbl="node1" presStyleIdx="0" presStyleCnt="5"/>
      <dgm:spPr/>
      <dgm:t>
        <a:bodyPr/>
        <a:lstStyle/>
        <a:p>
          <a:endParaRPr lang="zh-CN" altLang="en-US"/>
        </a:p>
      </dgm:t>
    </dgm:pt>
    <dgm:pt modelId="{D982E784-FCB8-4E4A-A855-29DDD1C6ED93}" type="pres">
      <dgm:prSet presAssocID="{0F8DBAF7-2C62-48B8-A6DC-BD8E4BC287BE}" presName="dummy1a" presStyleCnt="0"/>
      <dgm:spPr/>
    </dgm:pt>
    <dgm:pt modelId="{A62C7449-D0C4-4062-8820-BD711C3E692E}" type="pres">
      <dgm:prSet presAssocID="{0F8DBAF7-2C62-48B8-A6DC-BD8E4BC287BE}" presName="dummy1b" presStyleCnt="0"/>
      <dgm:spPr/>
    </dgm:pt>
    <dgm:pt modelId="{68C72513-9F87-47B5-893A-87426D5337FE}" type="pres">
      <dgm:prSet presAssocID="{0F8DBAF7-2C62-48B8-A6DC-BD8E4BC287BE}" presName="wedge1Tx" presStyleLbl="node1" presStyleIdx="0" presStyleCnt="5">
        <dgm:presLayoutVars>
          <dgm:chMax val="0"/>
          <dgm:chPref val="0"/>
          <dgm:bulletEnabled val="1"/>
        </dgm:presLayoutVars>
      </dgm:prSet>
      <dgm:spPr/>
      <dgm:t>
        <a:bodyPr/>
        <a:lstStyle/>
        <a:p>
          <a:endParaRPr lang="zh-CN" altLang="en-US"/>
        </a:p>
      </dgm:t>
    </dgm:pt>
    <dgm:pt modelId="{9FCA8F13-40C7-4E67-8AD3-63B136DBA565}" type="pres">
      <dgm:prSet presAssocID="{0F8DBAF7-2C62-48B8-A6DC-BD8E4BC287BE}" presName="wedge2" presStyleLbl="node1" presStyleIdx="1" presStyleCnt="5"/>
      <dgm:spPr/>
      <dgm:t>
        <a:bodyPr/>
        <a:lstStyle/>
        <a:p>
          <a:endParaRPr lang="zh-CN" altLang="en-US"/>
        </a:p>
      </dgm:t>
    </dgm:pt>
    <dgm:pt modelId="{E4C1D0B8-DA1F-4398-9B61-821BCEE52D05}" type="pres">
      <dgm:prSet presAssocID="{0F8DBAF7-2C62-48B8-A6DC-BD8E4BC287BE}" presName="dummy2a" presStyleCnt="0"/>
      <dgm:spPr/>
    </dgm:pt>
    <dgm:pt modelId="{A6AC48C2-7EF6-4835-A920-BE62D064B9F5}" type="pres">
      <dgm:prSet presAssocID="{0F8DBAF7-2C62-48B8-A6DC-BD8E4BC287BE}" presName="dummy2b" presStyleCnt="0"/>
      <dgm:spPr/>
    </dgm:pt>
    <dgm:pt modelId="{BB48B8C3-250D-41BA-B834-B4AC96963780}" type="pres">
      <dgm:prSet presAssocID="{0F8DBAF7-2C62-48B8-A6DC-BD8E4BC287BE}" presName="wedge2Tx" presStyleLbl="node1" presStyleIdx="1" presStyleCnt="5">
        <dgm:presLayoutVars>
          <dgm:chMax val="0"/>
          <dgm:chPref val="0"/>
          <dgm:bulletEnabled val="1"/>
        </dgm:presLayoutVars>
      </dgm:prSet>
      <dgm:spPr/>
      <dgm:t>
        <a:bodyPr/>
        <a:lstStyle/>
        <a:p>
          <a:endParaRPr lang="zh-CN" altLang="en-US"/>
        </a:p>
      </dgm:t>
    </dgm:pt>
    <dgm:pt modelId="{350B8A2F-4A35-4F3E-AC00-67F1975BF569}" type="pres">
      <dgm:prSet presAssocID="{0F8DBAF7-2C62-48B8-A6DC-BD8E4BC287BE}" presName="wedge3" presStyleLbl="node1" presStyleIdx="2" presStyleCnt="5"/>
      <dgm:spPr/>
      <dgm:t>
        <a:bodyPr/>
        <a:lstStyle/>
        <a:p>
          <a:endParaRPr lang="zh-CN" altLang="en-US"/>
        </a:p>
      </dgm:t>
    </dgm:pt>
    <dgm:pt modelId="{E7B8A624-7329-457A-8018-A23FBC2E5164}" type="pres">
      <dgm:prSet presAssocID="{0F8DBAF7-2C62-48B8-A6DC-BD8E4BC287BE}" presName="dummy3a" presStyleCnt="0"/>
      <dgm:spPr/>
    </dgm:pt>
    <dgm:pt modelId="{708AC600-4EF2-4163-93DD-3E6284E43DD2}" type="pres">
      <dgm:prSet presAssocID="{0F8DBAF7-2C62-48B8-A6DC-BD8E4BC287BE}" presName="dummy3b" presStyleCnt="0"/>
      <dgm:spPr/>
    </dgm:pt>
    <dgm:pt modelId="{08DDB98E-F5A0-4F05-9F2C-2396D773541C}" type="pres">
      <dgm:prSet presAssocID="{0F8DBAF7-2C62-48B8-A6DC-BD8E4BC287BE}" presName="wedge3Tx" presStyleLbl="node1" presStyleIdx="2" presStyleCnt="5">
        <dgm:presLayoutVars>
          <dgm:chMax val="0"/>
          <dgm:chPref val="0"/>
          <dgm:bulletEnabled val="1"/>
        </dgm:presLayoutVars>
      </dgm:prSet>
      <dgm:spPr/>
      <dgm:t>
        <a:bodyPr/>
        <a:lstStyle/>
        <a:p>
          <a:endParaRPr lang="zh-CN" altLang="en-US"/>
        </a:p>
      </dgm:t>
    </dgm:pt>
    <dgm:pt modelId="{3566A59F-2CCC-42F1-B9EB-D9372B5A39E4}" type="pres">
      <dgm:prSet presAssocID="{0F8DBAF7-2C62-48B8-A6DC-BD8E4BC287BE}" presName="wedge4" presStyleLbl="node1" presStyleIdx="3" presStyleCnt="5"/>
      <dgm:spPr/>
      <dgm:t>
        <a:bodyPr/>
        <a:lstStyle/>
        <a:p>
          <a:endParaRPr lang="zh-CN" altLang="en-US"/>
        </a:p>
      </dgm:t>
    </dgm:pt>
    <dgm:pt modelId="{F5B0DBFA-BB18-475B-A700-62DE380F9CF9}" type="pres">
      <dgm:prSet presAssocID="{0F8DBAF7-2C62-48B8-A6DC-BD8E4BC287BE}" presName="dummy4a" presStyleCnt="0"/>
      <dgm:spPr/>
    </dgm:pt>
    <dgm:pt modelId="{3AC43405-44EF-48C7-A8F5-CDD7EF734FDD}" type="pres">
      <dgm:prSet presAssocID="{0F8DBAF7-2C62-48B8-A6DC-BD8E4BC287BE}" presName="dummy4b" presStyleCnt="0"/>
      <dgm:spPr/>
    </dgm:pt>
    <dgm:pt modelId="{CBA0CE03-15F5-40B8-B85A-56050FD3E5DA}" type="pres">
      <dgm:prSet presAssocID="{0F8DBAF7-2C62-48B8-A6DC-BD8E4BC287BE}" presName="wedge4Tx" presStyleLbl="node1" presStyleIdx="3" presStyleCnt="5">
        <dgm:presLayoutVars>
          <dgm:chMax val="0"/>
          <dgm:chPref val="0"/>
          <dgm:bulletEnabled val="1"/>
        </dgm:presLayoutVars>
      </dgm:prSet>
      <dgm:spPr/>
      <dgm:t>
        <a:bodyPr/>
        <a:lstStyle/>
        <a:p>
          <a:endParaRPr lang="zh-CN" altLang="en-US"/>
        </a:p>
      </dgm:t>
    </dgm:pt>
    <dgm:pt modelId="{3A8DB93C-42B2-4D1F-BA97-7A7A9FE0636E}" type="pres">
      <dgm:prSet presAssocID="{0F8DBAF7-2C62-48B8-A6DC-BD8E4BC287BE}" presName="wedge5" presStyleLbl="node1" presStyleIdx="4" presStyleCnt="5"/>
      <dgm:spPr/>
      <dgm:t>
        <a:bodyPr/>
        <a:lstStyle/>
        <a:p>
          <a:endParaRPr lang="zh-CN" altLang="en-US"/>
        </a:p>
      </dgm:t>
    </dgm:pt>
    <dgm:pt modelId="{EC801620-3FB8-49D6-8FCD-C74D5A7FE6D9}" type="pres">
      <dgm:prSet presAssocID="{0F8DBAF7-2C62-48B8-A6DC-BD8E4BC287BE}" presName="dummy5a" presStyleCnt="0"/>
      <dgm:spPr/>
    </dgm:pt>
    <dgm:pt modelId="{C7281234-9820-4E11-BCB9-F6521B66FB6D}" type="pres">
      <dgm:prSet presAssocID="{0F8DBAF7-2C62-48B8-A6DC-BD8E4BC287BE}" presName="dummy5b" presStyleCnt="0"/>
      <dgm:spPr/>
    </dgm:pt>
    <dgm:pt modelId="{A4EA57A7-C611-4CDE-AC65-38677E114E89}" type="pres">
      <dgm:prSet presAssocID="{0F8DBAF7-2C62-48B8-A6DC-BD8E4BC287BE}" presName="wedge5Tx" presStyleLbl="node1" presStyleIdx="4" presStyleCnt="5">
        <dgm:presLayoutVars>
          <dgm:chMax val="0"/>
          <dgm:chPref val="0"/>
          <dgm:bulletEnabled val="1"/>
        </dgm:presLayoutVars>
      </dgm:prSet>
      <dgm:spPr/>
      <dgm:t>
        <a:bodyPr/>
        <a:lstStyle/>
        <a:p>
          <a:endParaRPr lang="zh-CN" altLang="en-US"/>
        </a:p>
      </dgm:t>
    </dgm:pt>
    <dgm:pt modelId="{FA7E983F-CAEE-4950-B57D-90DEEF9F2DA5}" type="pres">
      <dgm:prSet presAssocID="{EAEEF6D6-56F8-478F-BC76-9292631B3ADE}" presName="arrowWedge1" presStyleLbl="fgSibTrans2D1" presStyleIdx="0" presStyleCnt="5"/>
      <dgm:spPr>
        <a:xfrm>
          <a:off x="1946876" y="74344"/>
          <a:ext cx="7089009" cy="7089009"/>
        </a:xfrm>
        <a:prstGeom prst="circularArrow">
          <a:avLst>
            <a:gd name="adj1" fmla="val 5085"/>
            <a:gd name="adj2" fmla="val 327528"/>
            <a:gd name="adj3" fmla="val 20192361"/>
            <a:gd name="adj4" fmla="val 16200324"/>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 modelId="{572A265D-96E6-4965-A5F4-962120D1397E}" type="pres">
      <dgm:prSet presAssocID="{F520B3BD-BD36-4BC8-A86C-1E3C15C83A4D}" presName="arrowWedge2" presStyleLbl="fgSibTrans2D1" presStyleIdx="1" presStyleCnt="5"/>
      <dgm:spPr>
        <a:xfrm>
          <a:off x="2001677" y="242502"/>
          <a:ext cx="7089009" cy="7089009"/>
        </a:xfrm>
        <a:prstGeom prst="circularArrow">
          <a:avLst>
            <a:gd name="adj1" fmla="val 5085"/>
            <a:gd name="adj2" fmla="val 327528"/>
            <a:gd name="adj3" fmla="val 2912753"/>
            <a:gd name="adj4" fmla="val 20519953"/>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 modelId="{4DA96DCD-A1D2-40A8-B462-BD9171574959}" type="pres">
      <dgm:prSet presAssocID="{808D3F17-5B17-4FF7-817A-B8B3C20A4364}" presName="arrowWedge3" presStyleLbl="fgSibTrans2D1" presStyleIdx="2" presStyleCnt="5"/>
      <dgm:spPr>
        <a:xfrm>
          <a:off x="1858560" y="346451"/>
          <a:ext cx="7089009" cy="7089009"/>
        </a:xfrm>
        <a:prstGeom prst="circularArrow">
          <a:avLst>
            <a:gd name="adj1" fmla="val 5085"/>
            <a:gd name="adj2" fmla="val 327528"/>
            <a:gd name="adj3" fmla="val 7232777"/>
            <a:gd name="adj4" fmla="val 3239695"/>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 modelId="{04C657FB-97F8-482F-87EC-B173C85954BC}" type="pres">
      <dgm:prSet presAssocID="{25EA1C14-9F51-4FA8-98C1-B2CCBF096E18}" presName="arrowWedge4" presStyleLbl="fgSibTrans2D1" presStyleIdx="3" presStyleCnt="5"/>
      <dgm:spPr>
        <a:xfrm>
          <a:off x="1715443" y="242502"/>
          <a:ext cx="7089009" cy="7089009"/>
        </a:xfrm>
        <a:prstGeom prst="circularArrow">
          <a:avLst>
            <a:gd name="adj1" fmla="val 5085"/>
            <a:gd name="adj2" fmla="val 327528"/>
            <a:gd name="adj3" fmla="val 11552519"/>
            <a:gd name="adj4" fmla="val 7559718"/>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 modelId="{A184181E-421F-454E-859E-712B7C7CD1E4}" type="pres">
      <dgm:prSet presAssocID="{0B5C1912-1B70-4C96-AB22-D06C18916341}" presName="arrowWedge5" presStyleLbl="fgSibTrans2D1" presStyleIdx="4" presStyleCnt="5"/>
      <dgm:spPr>
        <a:xfrm>
          <a:off x="1770245" y="74344"/>
          <a:ext cx="7089009" cy="7089009"/>
        </a:xfrm>
        <a:prstGeom prst="circularArrow">
          <a:avLst>
            <a:gd name="adj1" fmla="val 5085"/>
            <a:gd name="adj2" fmla="val 327528"/>
            <a:gd name="adj3" fmla="val 15872148"/>
            <a:gd name="adj4" fmla="val 11880111"/>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Lst>
  <dgm:cxnLst>
    <dgm:cxn modelId="{89AF770F-2E82-4650-82BB-74B16CF0B028}" srcId="{0F8DBAF7-2C62-48B8-A6DC-BD8E4BC287BE}" destId="{B72D3886-4FB8-461E-A40C-9BAC1A234090}" srcOrd="0" destOrd="0" parTransId="{450B5F3A-3C2F-4889-BA9F-D8A2948137B5}" sibTransId="{EAEEF6D6-56F8-478F-BC76-9292631B3ADE}"/>
    <dgm:cxn modelId="{40218A7D-C207-4CE2-BBD3-6C591B689463}" type="presOf" srcId="{56149757-2050-4DC4-A1C5-ED452BFA4614}" destId="{350B8A2F-4A35-4F3E-AC00-67F1975BF569}" srcOrd="0" destOrd="0" presId="urn:microsoft.com/office/officeart/2005/8/layout/cycle8"/>
    <dgm:cxn modelId="{80AEB398-B418-4141-B4A5-45A6FC491C96}" type="presOf" srcId="{6A353EDC-4377-4CA4-9C18-FC4B5841EB02}" destId="{3A8DB93C-42B2-4D1F-BA97-7A7A9FE0636E}" srcOrd="0" destOrd="0" presId="urn:microsoft.com/office/officeart/2005/8/layout/cycle8"/>
    <dgm:cxn modelId="{C8D37FAA-CA1B-425B-B825-FC28228BB14B}" type="presOf" srcId="{6A353EDC-4377-4CA4-9C18-FC4B5841EB02}" destId="{A4EA57A7-C611-4CDE-AC65-38677E114E89}" srcOrd="1" destOrd="0" presId="urn:microsoft.com/office/officeart/2005/8/layout/cycle8"/>
    <dgm:cxn modelId="{42A3CD4F-6739-4BD2-94DD-945139177CC3}" type="presOf" srcId="{53E45188-7E9F-40DA-A2DC-36E24E33F66E}" destId="{3566A59F-2CCC-42F1-B9EB-D9372B5A39E4}" srcOrd="0" destOrd="0" presId="urn:microsoft.com/office/officeart/2005/8/layout/cycle8"/>
    <dgm:cxn modelId="{8E05149D-15F4-4561-8099-2ACE184671AD}" srcId="{0F8DBAF7-2C62-48B8-A6DC-BD8E4BC287BE}" destId="{6A353EDC-4377-4CA4-9C18-FC4B5841EB02}" srcOrd="4" destOrd="0" parTransId="{06BBD384-089D-4B70-BD90-D2D905024C0F}" sibTransId="{0B5C1912-1B70-4C96-AB22-D06C18916341}"/>
    <dgm:cxn modelId="{D3788352-1C04-4733-BAF4-27C5EB0C73C3}" type="presOf" srcId="{53E45188-7E9F-40DA-A2DC-36E24E33F66E}" destId="{CBA0CE03-15F5-40B8-B85A-56050FD3E5DA}" srcOrd="1" destOrd="0" presId="urn:microsoft.com/office/officeart/2005/8/layout/cycle8"/>
    <dgm:cxn modelId="{83228F50-3D9A-4B23-89DB-5525F73B0216}" type="presOf" srcId="{56149757-2050-4DC4-A1C5-ED452BFA4614}" destId="{08DDB98E-F5A0-4F05-9F2C-2396D773541C}" srcOrd="1" destOrd="0" presId="urn:microsoft.com/office/officeart/2005/8/layout/cycle8"/>
    <dgm:cxn modelId="{0CB8F8B5-884F-4472-8466-398A8704E0CB}" type="presOf" srcId="{B72D3886-4FB8-461E-A40C-9BAC1A234090}" destId="{634F9B89-6071-4137-A248-9CA0248D2E90}" srcOrd="0" destOrd="0" presId="urn:microsoft.com/office/officeart/2005/8/layout/cycle8"/>
    <dgm:cxn modelId="{7D3B49D0-66AA-49D8-9235-E65677ECEA61}" srcId="{0F8DBAF7-2C62-48B8-A6DC-BD8E4BC287BE}" destId="{53E45188-7E9F-40DA-A2DC-36E24E33F66E}" srcOrd="3" destOrd="0" parTransId="{22DAF55D-C2E4-4B29-B95C-041718234686}" sibTransId="{25EA1C14-9F51-4FA8-98C1-B2CCBF096E18}"/>
    <dgm:cxn modelId="{C6DB9249-344E-44AB-848F-20D5C2E7CA2D}" type="presOf" srcId="{B72D3886-4FB8-461E-A40C-9BAC1A234090}" destId="{68C72513-9F87-47B5-893A-87426D5337FE}" srcOrd="1" destOrd="0" presId="urn:microsoft.com/office/officeart/2005/8/layout/cycle8"/>
    <dgm:cxn modelId="{57E03A7F-04E0-495E-983B-CE1360D199EC}" type="presOf" srcId="{A6125FBF-648B-4B17-82B2-4760CC03243E}" destId="{9FCA8F13-40C7-4E67-8AD3-63B136DBA565}" srcOrd="0" destOrd="0" presId="urn:microsoft.com/office/officeart/2005/8/layout/cycle8"/>
    <dgm:cxn modelId="{1533F8DE-FF57-4D58-BFEE-DAA47B8C5BC7}" srcId="{0F8DBAF7-2C62-48B8-A6DC-BD8E4BC287BE}" destId="{A6125FBF-648B-4B17-82B2-4760CC03243E}" srcOrd="1" destOrd="0" parTransId="{75EAE327-DA35-484C-BBDB-1BF78DF7C169}" sibTransId="{F520B3BD-BD36-4BC8-A86C-1E3C15C83A4D}"/>
    <dgm:cxn modelId="{E5333982-AEFA-465C-A815-B97DD11A0F7B}" type="presOf" srcId="{0F8DBAF7-2C62-48B8-A6DC-BD8E4BC287BE}" destId="{C14BCE21-92BB-40C4-83DA-47477F10D43D}" srcOrd="0" destOrd="0" presId="urn:microsoft.com/office/officeart/2005/8/layout/cycle8"/>
    <dgm:cxn modelId="{71401C34-D1C2-4F3F-9A50-CA3B23F165C1}" type="presOf" srcId="{A6125FBF-648B-4B17-82B2-4760CC03243E}" destId="{BB48B8C3-250D-41BA-B834-B4AC96963780}" srcOrd="1" destOrd="0" presId="urn:microsoft.com/office/officeart/2005/8/layout/cycle8"/>
    <dgm:cxn modelId="{89FF0CEB-2775-47D9-8F41-3C7FCB900FFB}" srcId="{0F8DBAF7-2C62-48B8-A6DC-BD8E4BC287BE}" destId="{56149757-2050-4DC4-A1C5-ED452BFA4614}" srcOrd="2" destOrd="0" parTransId="{9F182363-B829-4492-BC56-C07C0B105FB2}" sibTransId="{808D3F17-5B17-4FF7-817A-B8B3C20A4364}"/>
    <dgm:cxn modelId="{A34EFCD3-AD4E-4E3B-970B-1D18ED07FF3A}" type="presParOf" srcId="{C14BCE21-92BB-40C4-83DA-47477F10D43D}" destId="{634F9B89-6071-4137-A248-9CA0248D2E90}" srcOrd="0" destOrd="0" presId="urn:microsoft.com/office/officeart/2005/8/layout/cycle8"/>
    <dgm:cxn modelId="{457CDD3D-2FFA-4A61-976C-633299169A36}" type="presParOf" srcId="{C14BCE21-92BB-40C4-83DA-47477F10D43D}" destId="{D982E784-FCB8-4E4A-A855-29DDD1C6ED93}" srcOrd="1" destOrd="0" presId="urn:microsoft.com/office/officeart/2005/8/layout/cycle8"/>
    <dgm:cxn modelId="{C305860C-186E-4627-B39C-896207510DD9}" type="presParOf" srcId="{C14BCE21-92BB-40C4-83DA-47477F10D43D}" destId="{A62C7449-D0C4-4062-8820-BD711C3E692E}" srcOrd="2" destOrd="0" presId="urn:microsoft.com/office/officeart/2005/8/layout/cycle8"/>
    <dgm:cxn modelId="{9D346C5E-105E-4B45-B235-ADEA9BD972DE}" type="presParOf" srcId="{C14BCE21-92BB-40C4-83DA-47477F10D43D}" destId="{68C72513-9F87-47B5-893A-87426D5337FE}" srcOrd="3" destOrd="0" presId="urn:microsoft.com/office/officeart/2005/8/layout/cycle8"/>
    <dgm:cxn modelId="{CA710FFC-E46B-483C-BB24-52EF85E39EF1}" type="presParOf" srcId="{C14BCE21-92BB-40C4-83DA-47477F10D43D}" destId="{9FCA8F13-40C7-4E67-8AD3-63B136DBA565}" srcOrd="4" destOrd="0" presId="urn:microsoft.com/office/officeart/2005/8/layout/cycle8"/>
    <dgm:cxn modelId="{4E0C14C1-33FE-447E-8801-6C5D8F3D7A5A}" type="presParOf" srcId="{C14BCE21-92BB-40C4-83DA-47477F10D43D}" destId="{E4C1D0B8-DA1F-4398-9B61-821BCEE52D05}" srcOrd="5" destOrd="0" presId="urn:microsoft.com/office/officeart/2005/8/layout/cycle8"/>
    <dgm:cxn modelId="{B65BDEA7-920B-4720-9680-807DA1613A77}" type="presParOf" srcId="{C14BCE21-92BB-40C4-83DA-47477F10D43D}" destId="{A6AC48C2-7EF6-4835-A920-BE62D064B9F5}" srcOrd="6" destOrd="0" presId="urn:microsoft.com/office/officeart/2005/8/layout/cycle8"/>
    <dgm:cxn modelId="{F90B1A28-499E-48FB-9571-D7E99812163B}" type="presParOf" srcId="{C14BCE21-92BB-40C4-83DA-47477F10D43D}" destId="{BB48B8C3-250D-41BA-B834-B4AC96963780}" srcOrd="7" destOrd="0" presId="urn:microsoft.com/office/officeart/2005/8/layout/cycle8"/>
    <dgm:cxn modelId="{370D0F16-87C3-4F38-831D-F10ADC199FC1}" type="presParOf" srcId="{C14BCE21-92BB-40C4-83DA-47477F10D43D}" destId="{350B8A2F-4A35-4F3E-AC00-67F1975BF569}" srcOrd="8" destOrd="0" presId="urn:microsoft.com/office/officeart/2005/8/layout/cycle8"/>
    <dgm:cxn modelId="{03AB1A1C-D8A2-4FDA-8F47-1257B0EEA368}" type="presParOf" srcId="{C14BCE21-92BB-40C4-83DA-47477F10D43D}" destId="{E7B8A624-7329-457A-8018-A23FBC2E5164}" srcOrd="9" destOrd="0" presId="urn:microsoft.com/office/officeart/2005/8/layout/cycle8"/>
    <dgm:cxn modelId="{53066FD8-7BB0-4587-91A1-3E32F19F5EDF}" type="presParOf" srcId="{C14BCE21-92BB-40C4-83DA-47477F10D43D}" destId="{708AC600-4EF2-4163-93DD-3E6284E43DD2}" srcOrd="10" destOrd="0" presId="urn:microsoft.com/office/officeart/2005/8/layout/cycle8"/>
    <dgm:cxn modelId="{33E5BD62-4005-428F-BB2F-40DD95B27AD6}" type="presParOf" srcId="{C14BCE21-92BB-40C4-83DA-47477F10D43D}" destId="{08DDB98E-F5A0-4F05-9F2C-2396D773541C}" srcOrd="11" destOrd="0" presId="urn:microsoft.com/office/officeart/2005/8/layout/cycle8"/>
    <dgm:cxn modelId="{AEC6C6D3-40A5-4499-B14D-37E938B0FAB4}" type="presParOf" srcId="{C14BCE21-92BB-40C4-83DA-47477F10D43D}" destId="{3566A59F-2CCC-42F1-B9EB-D9372B5A39E4}" srcOrd="12" destOrd="0" presId="urn:microsoft.com/office/officeart/2005/8/layout/cycle8"/>
    <dgm:cxn modelId="{38BB6A06-C84D-4C93-ACBE-DC13B5EC8BBC}" type="presParOf" srcId="{C14BCE21-92BB-40C4-83DA-47477F10D43D}" destId="{F5B0DBFA-BB18-475B-A700-62DE380F9CF9}" srcOrd="13" destOrd="0" presId="urn:microsoft.com/office/officeart/2005/8/layout/cycle8"/>
    <dgm:cxn modelId="{10CBE802-EDA7-46E2-BB35-E4C64BE54E27}" type="presParOf" srcId="{C14BCE21-92BB-40C4-83DA-47477F10D43D}" destId="{3AC43405-44EF-48C7-A8F5-CDD7EF734FDD}" srcOrd="14" destOrd="0" presId="urn:microsoft.com/office/officeart/2005/8/layout/cycle8"/>
    <dgm:cxn modelId="{46B55510-C4C1-4A3C-8F9E-95C6AC753CB0}" type="presParOf" srcId="{C14BCE21-92BB-40C4-83DA-47477F10D43D}" destId="{CBA0CE03-15F5-40B8-B85A-56050FD3E5DA}" srcOrd="15" destOrd="0" presId="urn:microsoft.com/office/officeart/2005/8/layout/cycle8"/>
    <dgm:cxn modelId="{09BDF7F4-F98D-43B5-BD81-8C74929A6756}" type="presParOf" srcId="{C14BCE21-92BB-40C4-83DA-47477F10D43D}" destId="{3A8DB93C-42B2-4D1F-BA97-7A7A9FE0636E}" srcOrd="16" destOrd="0" presId="urn:microsoft.com/office/officeart/2005/8/layout/cycle8"/>
    <dgm:cxn modelId="{6081187A-95B6-4594-A0CD-4491FCEFA622}" type="presParOf" srcId="{C14BCE21-92BB-40C4-83DA-47477F10D43D}" destId="{EC801620-3FB8-49D6-8FCD-C74D5A7FE6D9}" srcOrd="17" destOrd="0" presId="urn:microsoft.com/office/officeart/2005/8/layout/cycle8"/>
    <dgm:cxn modelId="{77DC6F3E-ED14-4002-8B5A-4F7CA5EA57BA}" type="presParOf" srcId="{C14BCE21-92BB-40C4-83DA-47477F10D43D}" destId="{C7281234-9820-4E11-BCB9-F6521B66FB6D}" srcOrd="18" destOrd="0" presId="urn:microsoft.com/office/officeart/2005/8/layout/cycle8"/>
    <dgm:cxn modelId="{F12EE642-0BDF-47DD-9572-884D0C0C2F60}" type="presParOf" srcId="{C14BCE21-92BB-40C4-83DA-47477F10D43D}" destId="{A4EA57A7-C611-4CDE-AC65-38677E114E89}" srcOrd="19" destOrd="0" presId="urn:microsoft.com/office/officeart/2005/8/layout/cycle8"/>
    <dgm:cxn modelId="{C779E0D1-8155-428A-A2A2-D6916351B1AB}" type="presParOf" srcId="{C14BCE21-92BB-40C4-83DA-47477F10D43D}" destId="{FA7E983F-CAEE-4950-B57D-90DEEF9F2DA5}" srcOrd="20" destOrd="0" presId="urn:microsoft.com/office/officeart/2005/8/layout/cycle8"/>
    <dgm:cxn modelId="{ED6A054D-9FE7-4FA5-A59C-5644CFE88117}" type="presParOf" srcId="{C14BCE21-92BB-40C4-83DA-47477F10D43D}" destId="{572A265D-96E6-4965-A5F4-962120D1397E}" srcOrd="21" destOrd="0" presId="urn:microsoft.com/office/officeart/2005/8/layout/cycle8"/>
    <dgm:cxn modelId="{EE90D683-9FB1-4F65-9356-2EF9E99C4EE4}" type="presParOf" srcId="{C14BCE21-92BB-40C4-83DA-47477F10D43D}" destId="{4DA96DCD-A1D2-40A8-B462-BD9171574959}" srcOrd="22" destOrd="0" presId="urn:microsoft.com/office/officeart/2005/8/layout/cycle8"/>
    <dgm:cxn modelId="{1FDD680C-983F-47AA-A629-DC8DA04AD992}" type="presParOf" srcId="{C14BCE21-92BB-40C4-83DA-47477F10D43D}" destId="{04C657FB-97F8-482F-87EC-B173C85954BC}" srcOrd="23" destOrd="0" presId="urn:microsoft.com/office/officeart/2005/8/layout/cycle8"/>
    <dgm:cxn modelId="{B124E07E-36F3-40C5-A53D-8D76E9029ABC}" type="presParOf" srcId="{C14BCE21-92BB-40C4-83DA-47477F10D43D}" destId="{A184181E-421F-454E-859E-712B7C7CD1E4}" srcOrd="24" destOrd="0" presId="urn:microsoft.com/office/officeart/2005/8/layout/cycle8"/>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8DBAF7-2C62-48B8-A6DC-BD8E4BC287BE}" type="doc">
      <dgm:prSet loTypeId="urn:microsoft.com/office/officeart/2005/8/layout/cycle8" loCatId="cycle" qsTypeId="urn:microsoft.com/office/officeart/2005/8/quickstyle/simple5" qsCatId="simple" csTypeId="urn:microsoft.com/office/officeart/2005/8/colors/accent0_3" csCatId="mainScheme" phldr="1"/>
      <dgm:spPr/>
    </dgm:pt>
    <dgm:pt modelId="{B72D3886-4FB8-461E-A40C-9BAC1A234090}">
      <dgm:prSet phldrT="[文本]" custT="1"/>
      <dgm:spPr>
        <a:xfrm>
          <a:off x="2336941" y="476878"/>
          <a:ext cx="6308016" cy="6308016"/>
        </a:xfrm>
        <a:prstGeom prst="pie">
          <a:avLst>
            <a:gd name="adj1" fmla="val 16200000"/>
            <a:gd name="adj2" fmla="val 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500" dirty="0">
              <a:solidFill>
                <a:sysClr val="window" lastClr="FFFFFF"/>
              </a:solidFill>
              <a:latin typeface="Lato Light"/>
              <a:ea typeface="+mn-ea"/>
              <a:cs typeface="+mn-cs"/>
            </a:rPr>
            <a:t>抽取集成</a:t>
          </a:r>
        </a:p>
      </dgm:t>
    </dgm:pt>
    <dgm:pt modelId="{450B5F3A-3C2F-4889-BA9F-D8A2948137B5}" cxnId="{89AF770F-2E82-4650-82BB-74B16CF0B028}" type="parTrans">
      <dgm:prSet/>
      <dgm:spPr/>
      <dgm:t>
        <a:bodyPr/>
        <a:lstStyle/>
        <a:p>
          <a:endParaRPr lang="zh-CN" altLang="en-US"/>
        </a:p>
      </dgm:t>
    </dgm:pt>
    <dgm:pt modelId="{EAEEF6D6-56F8-478F-BC76-9292631B3ADE}" cxnId="{89AF770F-2E82-4650-82BB-74B16CF0B028}" type="sibTrans">
      <dgm:prSet/>
      <dgm:spPr/>
      <dgm:t>
        <a:bodyPr/>
        <a:lstStyle/>
        <a:p>
          <a:endParaRPr lang="zh-CN" altLang="en-US"/>
        </a:p>
      </dgm:t>
    </dgm:pt>
    <dgm:pt modelId="{A6125FBF-648B-4B17-82B2-4760CC03243E}">
      <dgm:prSet phldrT="[文本]" custT="1"/>
      <dgm:spPr>
        <a:xfrm>
          <a:off x="2125172" y="688648"/>
          <a:ext cx="6308016" cy="6308016"/>
        </a:xfrm>
        <a:prstGeom prst="pie">
          <a:avLst>
            <a:gd name="adj1" fmla="val 5400000"/>
            <a:gd name="adj2" fmla="val 108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500" dirty="0">
              <a:solidFill>
                <a:sysClr val="window" lastClr="FFFFFF"/>
              </a:solidFill>
              <a:latin typeface="Lato Light"/>
              <a:ea typeface="+mn-ea"/>
              <a:cs typeface="+mn-cs"/>
            </a:rPr>
            <a:t>反馈修正</a:t>
          </a:r>
        </a:p>
      </dgm:t>
    </dgm:pt>
    <dgm:pt modelId="{75EAE327-DA35-484C-BBDB-1BF78DF7C169}" cxnId="{1533F8DE-FF57-4D58-BFEE-DAA47B8C5BC7}" type="parTrans">
      <dgm:prSet/>
      <dgm:spPr/>
      <dgm:t>
        <a:bodyPr/>
        <a:lstStyle/>
        <a:p>
          <a:endParaRPr lang="zh-CN" altLang="en-US"/>
        </a:p>
      </dgm:t>
    </dgm:pt>
    <dgm:pt modelId="{F520B3BD-BD36-4BC8-A86C-1E3C15C83A4D}" cxnId="{1533F8DE-FF57-4D58-BFEE-DAA47B8C5BC7}" type="sibTrans">
      <dgm:prSet/>
      <dgm:spPr/>
      <dgm:t>
        <a:bodyPr/>
        <a:lstStyle/>
        <a:p>
          <a:endParaRPr lang="zh-CN" altLang="en-US"/>
        </a:p>
      </dgm:t>
    </dgm:pt>
    <dgm:pt modelId="{56149757-2050-4DC4-A1C5-ED452BFA4614}">
      <dgm:prSet phldrT="[文本]" custT="1"/>
      <dgm:spPr>
        <a:xfrm>
          <a:off x="2125172" y="476878"/>
          <a:ext cx="6308016" cy="6308016"/>
        </a:xfrm>
        <a:prstGeom prst="pie">
          <a:avLst>
            <a:gd name="adj1" fmla="val 10800000"/>
            <a:gd name="adj2" fmla="val 162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500" dirty="0">
              <a:solidFill>
                <a:sysClr val="window" lastClr="FFFFFF"/>
              </a:solidFill>
              <a:latin typeface="Lato Light"/>
              <a:ea typeface="+mn-ea"/>
              <a:cs typeface="+mn-cs"/>
            </a:rPr>
            <a:t>清洗转换</a:t>
          </a:r>
          <a:endParaRPr lang="en-US" altLang="zh-CN" sz="1500" dirty="0">
            <a:solidFill>
              <a:sysClr val="window" lastClr="FFFFFF"/>
            </a:solidFill>
            <a:latin typeface="Lato Light"/>
            <a:ea typeface="+mn-ea"/>
            <a:cs typeface="+mn-cs"/>
          </a:endParaRPr>
        </a:p>
      </dgm:t>
    </dgm:pt>
    <dgm:pt modelId="{9F182363-B829-4492-BC56-C07C0B105FB2}" cxnId="{89FF0CEB-2775-47D9-8F41-3C7FCB900FFB}" type="parTrans">
      <dgm:prSet/>
      <dgm:spPr/>
      <dgm:t>
        <a:bodyPr/>
        <a:lstStyle/>
        <a:p>
          <a:endParaRPr lang="zh-CN" altLang="en-US"/>
        </a:p>
      </dgm:t>
    </dgm:pt>
    <dgm:pt modelId="{808D3F17-5B17-4FF7-817A-B8B3C20A4364}" cxnId="{89FF0CEB-2775-47D9-8F41-3C7FCB900FFB}" type="sibTrans">
      <dgm:prSet/>
      <dgm:spPr/>
      <dgm:t>
        <a:bodyPr/>
        <a:lstStyle/>
        <a:p>
          <a:endParaRPr lang="zh-CN" altLang="en-US"/>
        </a:p>
      </dgm:t>
    </dgm:pt>
    <dgm:pt modelId="{246DEA29-4EC9-4645-9E31-8DE923680818}">
      <dgm:prSet phldrT="[文本]" custT="1"/>
      <dgm:spPr>
        <a:xfrm>
          <a:off x="2336941" y="688648"/>
          <a:ext cx="6308016" cy="6308016"/>
        </a:xfrm>
        <a:prstGeom prst="pie">
          <a:avLst>
            <a:gd name="adj1" fmla="val 0"/>
            <a:gd name="adj2" fmla="val 54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500" dirty="0">
              <a:solidFill>
                <a:sysClr val="window" lastClr="FFFFFF"/>
              </a:solidFill>
              <a:latin typeface="Lato Light"/>
              <a:ea typeface="+mn-ea"/>
              <a:cs typeface="+mn-cs"/>
            </a:rPr>
            <a:t>质量检查</a:t>
          </a:r>
        </a:p>
      </dgm:t>
    </dgm:pt>
    <dgm:pt modelId="{1E934A70-A476-4FC8-A0AF-123F3B2E5D78}" cxnId="{2307C1B2-4E58-4408-A1D8-DA0B1AF5DC22}" type="parTrans">
      <dgm:prSet/>
      <dgm:spPr/>
      <dgm:t>
        <a:bodyPr/>
        <a:lstStyle/>
        <a:p>
          <a:endParaRPr lang="zh-CN" altLang="en-US"/>
        </a:p>
      </dgm:t>
    </dgm:pt>
    <dgm:pt modelId="{C61FF707-908D-4661-96BD-A620335DC046}" cxnId="{2307C1B2-4E58-4408-A1D8-DA0B1AF5DC22}" type="sibTrans">
      <dgm:prSet/>
      <dgm:spPr/>
      <dgm:t>
        <a:bodyPr/>
        <a:lstStyle/>
        <a:p>
          <a:endParaRPr lang="zh-CN" altLang="en-US"/>
        </a:p>
      </dgm:t>
    </dgm:pt>
    <dgm:pt modelId="{C14BCE21-92BB-40C4-83DA-47477F10D43D}" type="pres">
      <dgm:prSet presAssocID="{0F8DBAF7-2C62-48B8-A6DC-BD8E4BC287BE}" presName="compositeShape" presStyleCnt="0">
        <dgm:presLayoutVars>
          <dgm:chMax val="7"/>
          <dgm:dir/>
          <dgm:resizeHandles val="exact"/>
        </dgm:presLayoutVars>
      </dgm:prSet>
      <dgm:spPr/>
    </dgm:pt>
    <dgm:pt modelId="{634F9B89-6071-4137-A248-9CA0248D2E90}" type="pres">
      <dgm:prSet presAssocID="{0F8DBAF7-2C62-48B8-A6DC-BD8E4BC287BE}" presName="wedge1" presStyleLbl="node1" presStyleIdx="0" presStyleCnt="4"/>
      <dgm:spPr/>
      <dgm:t>
        <a:bodyPr/>
        <a:lstStyle/>
        <a:p>
          <a:endParaRPr lang="zh-CN" altLang="en-US"/>
        </a:p>
      </dgm:t>
    </dgm:pt>
    <dgm:pt modelId="{D982E784-FCB8-4E4A-A855-29DDD1C6ED93}" type="pres">
      <dgm:prSet presAssocID="{0F8DBAF7-2C62-48B8-A6DC-BD8E4BC287BE}" presName="dummy1a" presStyleCnt="0"/>
      <dgm:spPr/>
    </dgm:pt>
    <dgm:pt modelId="{A62C7449-D0C4-4062-8820-BD711C3E692E}" type="pres">
      <dgm:prSet presAssocID="{0F8DBAF7-2C62-48B8-A6DC-BD8E4BC287BE}" presName="dummy1b" presStyleCnt="0"/>
      <dgm:spPr/>
    </dgm:pt>
    <dgm:pt modelId="{68C72513-9F87-47B5-893A-87426D5337FE}" type="pres">
      <dgm:prSet presAssocID="{0F8DBAF7-2C62-48B8-A6DC-BD8E4BC287BE}" presName="wedge1Tx" presStyleLbl="node1" presStyleIdx="0" presStyleCnt="4">
        <dgm:presLayoutVars>
          <dgm:chMax val="0"/>
          <dgm:chPref val="0"/>
          <dgm:bulletEnabled val="1"/>
        </dgm:presLayoutVars>
      </dgm:prSet>
      <dgm:spPr/>
      <dgm:t>
        <a:bodyPr/>
        <a:lstStyle/>
        <a:p>
          <a:endParaRPr lang="zh-CN" altLang="en-US"/>
        </a:p>
      </dgm:t>
    </dgm:pt>
    <dgm:pt modelId="{9FCA8F13-40C7-4E67-8AD3-63B136DBA565}" type="pres">
      <dgm:prSet presAssocID="{0F8DBAF7-2C62-48B8-A6DC-BD8E4BC287BE}" presName="wedge2" presStyleLbl="node1" presStyleIdx="1" presStyleCnt="4"/>
      <dgm:spPr/>
      <dgm:t>
        <a:bodyPr/>
        <a:lstStyle/>
        <a:p>
          <a:endParaRPr lang="zh-CN" altLang="en-US"/>
        </a:p>
      </dgm:t>
    </dgm:pt>
    <dgm:pt modelId="{E4C1D0B8-DA1F-4398-9B61-821BCEE52D05}" type="pres">
      <dgm:prSet presAssocID="{0F8DBAF7-2C62-48B8-A6DC-BD8E4BC287BE}" presName="dummy2a" presStyleCnt="0"/>
      <dgm:spPr/>
    </dgm:pt>
    <dgm:pt modelId="{A6AC48C2-7EF6-4835-A920-BE62D064B9F5}" type="pres">
      <dgm:prSet presAssocID="{0F8DBAF7-2C62-48B8-A6DC-BD8E4BC287BE}" presName="dummy2b" presStyleCnt="0"/>
      <dgm:spPr/>
    </dgm:pt>
    <dgm:pt modelId="{BB48B8C3-250D-41BA-B834-B4AC96963780}" type="pres">
      <dgm:prSet presAssocID="{0F8DBAF7-2C62-48B8-A6DC-BD8E4BC287BE}" presName="wedge2Tx" presStyleLbl="node1" presStyleIdx="1" presStyleCnt="4">
        <dgm:presLayoutVars>
          <dgm:chMax val="0"/>
          <dgm:chPref val="0"/>
          <dgm:bulletEnabled val="1"/>
        </dgm:presLayoutVars>
      </dgm:prSet>
      <dgm:spPr/>
      <dgm:t>
        <a:bodyPr/>
        <a:lstStyle/>
        <a:p>
          <a:endParaRPr lang="zh-CN" altLang="en-US"/>
        </a:p>
      </dgm:t>
    </dgm:pt>
    <dgm:pt modelId="{350B8A2F-4A35-4F3E-AC00-67F1975BF569}" type="pres">
      <dgm:prSet presAssocID="{0F8DBAF7-2C62-48B8-A6DC-BD8E4BC287BE}" presName="wedge3" presStyleLbl="node1" presStyleIdx="2" presStyleCnt="4"/>
      <dgm:spPr/>
      <dgm:t>
        <a:bodyPr/>
        <a:lstStyle/>
        <a:p>
          <a:endParaRPr lang="zh-CN" altLang="en-US"/>
        </a:p>
      </dgm:t>
    </dgm:pt>
    <dgm:pt modelId="{E7B8A624-7329-457A-8018-A23FBC2E5164}" type="pres">
      <dgm:prSet presAssocID="{0F8DBAF7-2C62-48B8-A6DC-BD8E4BC287BE}" presName="dummy3a" presStyleCnt="0"/>
      <dgm:spPr/>
    </dgm:pt>
    <dgm:pt modelId="{708AC600-4EF2-4163-93DD-3E6284E43DD2}" type="pres">
      <dgm:prSet presAssocID="{0F8DBAF7-2C62-48B8-A6DC-BD8E4BC287BE}" presName="dummy3b" presStyleCnt="0"/>
      <dgm:spPr/>
    </dgm:pt>
    <dgm:pt modelId="{08DDB98E-F5A0-4F05-9F2C-2396D773541C}" type="pres">
      <dgm:prSet presAssocID="{0F8DBAF7-2C62-48B8-A6DC-BD8E4BC287BE}" presName="wedge3Tx" presStyleLbl="node1" presStyleIdx="2" presStyleCnt="4">
        <dgm:presLayoutVars>
          <dgm:chMax val="0"/>
          <dgm:chPref val="0"/>
          <dgm:bulletEnabled val="1"/>
        </dgm:presLayoutVars>
      </dgm:prSet>
      <dgm:spPr/>
      <dgm:t>
        <a:bodyPr/>
        <a:lstStyle/>
        <a:p>
          <a:endParaRPr lang="zh-CN" altLang="en-US"/>
        </a:p>
      </dgm:t>
    </dgm:pt>
    <dgm:pt modelId="{276357E0-815D-4604-A3B2-AF92465F4C8E}" type="pres">
      <dgm:prSet presAssocID="{0F8DBAF7-2C62-48B8-A6DC-BD8E4BC287BE}" presName="wedge4" presStyleLbl="node1" presStyleIdx="3" presStyleCnt="4"/>
      <dgm:spPr/>
      <dgm:t>
        <a:bodyPr/>
        <a:lstStyle/>
        <a:p>
          <a:endParaRPr lang="zh-CN" altLang="en-US"/>
        </a:p>
      </dgm:t>
    </dgm:pt>
    <dgm:pt modelId="{B498C7CC-A592-4E53-B8B1-1A474961E947}" type="pres">
      <dgm:prSet presAssocID="{0F8DBAF7-2C62-48B8-A6DC-BD8E4BC287BE}" presName="dummy4a" presStyleCnt="0"/>
      <dgm:spPr/>
    </dgm:pt>
    <dgm:pt modelId="{8F6DCB2C-96AD-4C73-8306-22ACE811810C}" type="pres">
      <dgm:prSet presAssocID="{0F8DBAF7-2C62-48B8-A6DC-BD8E4BC287BE}" presName="dummy4b" presStyleCnt="0"/>
      <dgm:spPr/>
    </dgm:pt>
    <dgm:pt modelId="{424B9ADD-4CDF-40BD-AE8E-84A090AD0CA3}" type="pres">
      <dgm:prSet presAssocID="{0F8DBAF7-2C62-48B8-A6DC-BD8E4BC287BE}" presName="wedge4Tx" presStyleLbl="node1" presStyleIdx="3" presStyleCnt="4">
        <dgm:presLayoutVars>
          <dgm:chMax val="0"/>
          <dgm:chPref val="0"/>
          <dgm:bulletEnabled val="1"/>
        </dgm:presLayoutVars>
      </dgm:prSet>
      <dgm:spPr/>
      <dgm:t>
        <a:bodyPr/>
        <a:lstStyle/>
        <a:p>
          <a:endParaRPr lang="zh-CN" altLang="en-US"/>
        </a:p>
      </dgm:t>
    </dgm:pt>
    <dgm:pt modelId="{FA7E983F-CAEE-4950-B57D-90DEEF9F2DA5}" type="pres">
      <dgm:prSet presAssocID="{EAEEF6D6-56F8-478F-BC76-9292631B3ADE}" presName="arrowWedge1" presStyleLbl="fgSibTrans2D1" presStyleIdx="0" presStyleCnt="4"/>
      <dgm:spPr>
        <a:xfrm>
          <a:off x="1946445" y="86382"/>
          <a:ext cx="7089009" cy="7089009"/>
        </a:xfrm>
        <a:prstGeom prst="circularArrow">
          <a:avLst>
            <a:gd name="adj1" fmla="val 5085"/>
            <a:gd name="adj2" fmla="val 327528"/>
            <a:gd name="adj3" fmla="val 21272472"/>
            <a:gd name="adj4" fmla="val 162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 modelId="{01886063-9409-4132-A3A9-ECB27F00155A}" type="pres">
      <dgm:prSet presAssocID="{C61FF707-908D-4661-96BD-A620335DC046}" presName="arrowWedge2" presStyleLbl="fgSibTrans2D1" presStyleIdx="1" presStyleCnt="4"/>
      <dgm:spPr>
        <a:xfrm>
          <a:off x="1946445" y="298151"/>
          <a:ext cx="7089009" cy="7089009"/>
        </a:xfrm>
        <a:prstGeom prst="circularArrow">
          <a:avLst>
            <a:gd name="adj1" fmla="val 5085"/>
            <a:gd name="adj2" fmla="val 327528"/>
            <a:gd name="adj3" fmla="val 5072472"/>
            <a:gd name="adj4" fmla="val 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 modelId="{2EAA4565-4DF2-423A-B555-653FEA131AC5}" type="pres">
      <dgm:prSet presAssocID="{F520B3BD-BD36-4BC8-A86C-1E3C15C83A4D}" presName="arrowWedge3" presStyleLbl="fgSibTrans2D1" presStyleIdx="2" presStyleCnt="4"/>
      <dgm:spPr>
        <a:xfrm>
          <a:off x="1734676" y="298151"/>
          <a:ext cx="7089009" cy="7089009"/>
        </a:xfrm>
        <a:prstGeom prst="circularArrow">
          <a:avLst>
            <a:gd name="adj1" fmla="val 5085"/>
            <a:gd name="adj2" fmla="val 327528"/>
            <a:gd name="adj3" fmla="val 10472472"/>
            <a:gd name="adj4" fmla="val 54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 modelId="{CDBB71B7-66A1-4811-8884-F627BEE92AC7}" type="pres">
      <dgm:prSet presAssocID="{808D3F17-5B17-4FF7-817A-B8B3C20A4364}" presName="arrowWedge4" presStyleLbl="fgSibTrans2D1" presStyleIdx="3" presStyleCnt="4"/>
      <dgm:spPr>
        <a:xfrm>
          <a:off x="1734676" y="86382"/>
          <a:ext cx="7089009" cy="7089009"/>
        </a:xfrm>
        <a:prstGeom prst="circularArrow">
          <a:avLst>
            <a:gd name="adj1" fmla="val 5085"/>
            <a:gd name="adj2" fmla="val 327528"/>
            <a:gd name="adj3" fmla="val 15872472"/>
            <a:gd name="adj4" fmla="val 108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Lst>
  <dgm:cxnLst>
    <dgm:cxn modelId="{7557E300-960E-49D8-A2BE-34EB1DE76649}" type="presOf" srcId="{A6125FBF-648B-4B17-82B2-4760CC03243E}" destId="{350B8A2F-4A35-4F3E-AC00-67F1975BF569}" srcOrd="0" destOrd="0" presId="urn:microsoft.com/office/officeart/2005/8/layout/cycle8"/>
    <dgm:cxn modelId="{89AF770F-2E82-4650-82BB-74B16CF0B028}" srcId="{0F8DBAF7-2C62-48B8-A6DC-BD8E4BC287BE}" destId="{B72D3886-4FB8-461E-A40C-9BAC1A234090}" srcOrd="0" destOrd="0" parTransId="{450B5F3A-3C2F-4889-BA9F-D8A2948137B5}" sibTransId="{EAEEF6D6-56F8-478F-BC76-9292631B3ADE}"/>
    <dgm:cxn modelId="{1533F8DE-FF57-4D58-BFEE-DAA47B8C5BC7}" srcId="{0F8DBAF7-2C62-48B8-A6DC-BD8E4BC287BE}" destId="{A6125FBF-648B-4B17-82B2-4760CC03243E}" srcOrd="2" destOrd="0" parTransId="{75EAE327-DA35-484C-BBDB-1BF78DF7C169}" sibTransId="{F520B3BD-BD36-4BC8-A86C-1E3C15C83A4D}"/>
    <dgm:cxn modelId="{81020A4A-9B4C-40D4-94E3-F256BEFCAB71}" type="presOf" srcId="{246DEA29-4EC9-4645-9E31-8DE923680818}" destId="{BB48B8C3-250D-41BA-B834-B4AC96963780}" srcOrd="1" destOrd="0" presId="urn:microsoft.com/office/officeart/2005/8/layout/cycle8"/>
    <dgm:cxn modelId="{0CB8F8B5-884F-4472-8466-398A8704E0CB}" type="presOf" srcId="{B72D3886-4FB8-461E-A40C-9BAC1A234090}" destId="{634F9B89-6071-4137-A248-9CA0248D2E90}" srcOrd="0" destOrd="0" presId="urn:microsoft.com/office/officeart/2005/8/layout/cycle8"/>
    <dgm:cxn modelId="{EA914402-7AC5-43FF-A44C-F60E99FEBFBB}" type="presOf" srcId="{56149757-2050-4DC4-A1C5-ED452BFA4614}" destId="{276357E0-815D-4604-A3B2-AF92465F4C8E}" srcOrd="0" destOrd="0" presId="urn:microsoft.com/office/officeart/2005/8/layout/cycle8"/>
    <dgm:cxn modelId="{E5A7F94B-E1D4-435C-989C-75FF1F7AF0DD}" type="presOf" srcId="{56149757-2050-4DC4-A1C5-ED452BFA4614}" destId="{424B9ADD-4CDF-40BD-AE8E-84A090AD0CA3}" srcOrd="1" destOrd="0" presId="urn:microsoft.com/office/officeart/2005/8/layout/cycle8"/>
    <dgm:cxn modelId="{0C71DC14-1C04-4B18-BF2A-23101500A64B}" type="presOf" srcId="{A6125FBF-648B-4B17-82B2-4760CC03243E}" destId="{08DDB98E-F5A0-4F05-9F2C-2396D773541C}" srcOrd="1" destOrd="0" presId="urn:microsoft.com/office/officeart/2005/8/layout/cycle8"/>
    <dgm:cxn modelId="{89FF0CEB-2775-47D9-8F41-3C7FCB900FFB}" srcId="{0F8DBAF7-2C62-48B8-A6DC-BD8E4BC287BE}" destId="{56149757-2050-4DC4-A1C5-ED452BFA4614}" srcOrd="3" destOrd="0" parTransId="{9F182363-B829-4492-BC56-C07C0B105FB2}" sibTransId="{808D3F17-5B17-4FF7-817A-B8B3C20A4364}"/>
    <dgm:cxn modelId="{99EFEDAB-1FB7-4AF3-9BE4-DE48B70BBF2F}" type="presOf" srcId="{246DEA29-4EC9-4645-9E31-8DE923680818}" destId="{9FCA8F13-40C7-4E67-8AD3-63B136DBA565}" srcOrd="0" destOrd="0" presId="urn:microsoft.com/office/officeart/2005/8/layout/cycle8"/>
    <dgm:cxn modelId="{C6DB9249-344E-44AB-848F-20D5C2E7CA2D}" type="presOf" srcId="{B72D3886-4FB8-461E-A40C-9BAC1A234090}" destId="{68C72513-9F87-47B5-893A-87426D5337FE}" srcOrd="1" destOrd="0" presId="urn:microsoft.com/office/officeart/2005/8/layout/cycle8"/>
    <dgm:cxn modelId="{2307C1B2-4E58-4408-A1D8-DA0B1AF5DC22}" srcId="{0F8DBAF7-2C62-48B8-A6DC-BD8E4BC287BE}" destId="{246DEA29-4EC9-4645-9E31-8DE923680818}" srcOrd="1" destOrd="0" parTransId="{1E934A70-A476-4FC8-A0AF-123F3B2E5D78}" sibTransId="{C61FF707-908D-4661-96BD-A620335DC046}"/>
    <dgm:cxn modelId="{E5333982-AEFA-465C-A815-B97DD11A0F7B}" type="presOf" srcId="{0F8DBAF7-2C62-48B8-A6DC-BD8E4BC287BE}" destId="{C14BCE21-92BB-40C4-83DA-47477F10D43D}" srcOrd="0" destOrd="0" presId="urn:microsoft.com/office/officeart/2005/8/layout/cycle8"/>
    <dgm:cxn modelId="{A34EFCD3-AD4E-4E3B-970B-1D18ED07FF3A}" type="presParOf" srcId="{C14BCE21-92BB-40C4-83DA-47477F10D43D}" destId="{634F9B89-6071-4137-A248-9CA0248D2E90}" srcOrd="0" destOrd="0" presId="urn:microsoft.com/office/officeart/2005/8/layout/cycle8"/>
    <dgm:cxn modelId="{457CDD3D-2FFA-4A61-976C-633299169A36}" type="presParOf" srcId="{C14BCE21-92BB-40C4-83DA-47477F10D43D}" destId="{D982E784-FCB8-4E4A-A855-29DDD1C6ED93}" srcOrd="1" destOrd="0" presId="urn:microsoft.com/office/officeart/2005/8/layout/cycle8"/>
    <dgm:cxn modelId="{C305860C-186E-4627-B39C-896207510DD9}" type="presParOf" srcId="{C14BCE21-92BB-40C4-83DA-47477F10D43D}" destId="{A62C7449-D0C4-4062-8820-BD711C3E692E}" srcOrd="2" destOrd="0" presId="urn:microsoft.com/office/officeart/2005/8/layout/cycle8"/>
    <dgm:cxn modelId="{9D346C5E-105E-4B45-B235-ADEA9BD972DE}" type="presParOf" srcId="{C14BCE21-92BB-40C4-83DA-47477F10D43D}" destId="{68C72513-9F87-47B5-893A-87426D5337FE}" srcOrd="3" destOrd="0" presId="urn:microsoft.com/office/officeart/2005/8/layout/cycle8"/>
    <dgm:cxn modelId="{CA710FFC-E46B-483C-BB24-52EF85E39EF1}" type="presParOf" srcId="{C14BCE21-92BB-40C4-83DA-47477F10D43D}" destId="{9FCA8F13-40C7-4E67-8AD3-63B136DBA565}" srcOrd="4" destOrd="0" presId="urn:microsoft.com/office/officeart/2005/8/layout/cycle8"/>
    <dgm:cxn modelId="{4E0C14C1-33FE-447E-8801-6C5D8F3D7A5A}" type="presParOf" srcId="{C14BCE21-92BB-40C4-83DA-47477F10D43D}" destId="{E4C1D0B8-DA1F-4398-9B61-821BCEE52D05}" srcOrd="5" destOrd="0" presId="urn:microsoft.com/office/officeart/2005/8/layout/cycle8"/>
    <dgm:cxn modelId="{B65BDEA7-920B-4720-9680-807DA1613A77}" type="presParOf" srcId="{C14BCE21-92BB-40C4-83DA-47477F10D43D}" destId="{A6AC48C2-7EF6-4835-A920-BE62D064B9F5}" srcOrd="6" destOrd="0" presId="urn:microsoft.com/office/officeart/2005/8/layout/cycle8"/>
    <dgm:cxn modelId="{F90B1A28-499E-48FB-9571-D7E99812163B}" type="presParOf" srcId="{C14BCE21-92BB-40C4-83DA-47477F10D43D}" destId="{BB48B8C3-250D-41BA-B834-B4AC96963780}" srcOrd="7" destOrd="0" presId="urn:microsoft.com/office/officeart/2005/8/layout/cycle8"/>
    <dgm:cxn modelId="{370D0F16-87C3-4F38-831D-F10ADC199FC1}" type="presParOf" srcId="{C14BCE21-92BB-40C4-83DA-47477F10D43D}" destId="{350B8A2F-4A35-4F3E-AC00-67F1975BF569}" srcOrd="8" destOrd="0" presId="urn:microsoft.com/office/officeart/2005/8/layout/cycle8"/>
    <dgm:cxn modelId="{03AB1A1C-D8A2-4FDA-8F47-1257B0EEA368}" type="presParOf" srcId="{C14BCE21-92BB-40C4-83DA-47477F10D43D}" destId="{E7B8A624-7329-457A-8018-A23FBC2E5164}" srcOrd="9" destOrd="0" presId="urn:microsoft.com/office/officeart/2005/8/layout/cycle8"/>
    <dgm:cxn modelId="{53066FD8-7BB0-4587-91A1-3E32F19F5EDF}" type="presParOf" srcId="{C14BCE21-92BB-40C4-83DA-47477F10D43D}" destId="{708AC600-4EF2-4163-93DD-3E6284E43DD2}" srcOrd="10" destOrd="0" presId="urn:microsoft.com/office/officeart/2005/8/layout/cycle8"/>
    <dgm:cxn modelId="{33E5BD62-4005-428F-BB2F-40DD95B27AD6}" type="presParOf" srcId="{C14BCE21-92BB-40C4-83DA-47477F10D43D}" destId="{08DDB98E-F5A0-4F05-9F2C-2396D773541C}" srcOrd="11" destOrd="0" presId="urn:microsoft.com/office/officeart/2005/8/layout/cycle8"/>
    <dgm:cxn modelId="{55B40BBD-FE13-473A-AEBE-B8A74C674613}" type="presParOf" srcId="{C14BCE21-92BB-40C4-83DA-47477F10D43D}" destId="{276357E0-815D-4604-A3B2-AF92465F4C8E}" srcOrd="12" destOrd="0" presId="urn:microsoft.com/office/officeart/2005/8/layout/cycle8"/>
    <dgm:cxn modelId="{9C635D9D-D10A-4DAE-BE1A-F4BE46C40570}" type="presParOf" srcId="{C14BCE21-92BB-40C4-83DA-47477F10D43D}" destId="{B498C7CC-A592-4E53-B8B1-1A474961E947}" srcOrd="13" destOrd="0" presId="urn:microsoft.com/office/officeart/2005/8/layout/cycle8"/>
    <dgm:cxn modelId="{5AF80CC2-E905-4C26-8A47-92A9D02B84B5}" type="presParOf" srcId="{C14BCE21-92BB-40C4-83DA-47477F10D43D}" destId="{8F6DCB2C-96AD-4C73-8306-22ACE811810C}" srcOrd="14" destOrd="0" presId="urn:microsoft.com/office/officeart/2005/8/layout/cycle8"/>
    <dgm:cxn modelId="{26F4E88B-E017-468F-95A9-F0A001E2A0FE}" type="presParOf" srcId="{C14BCE21-92BB-40C4-83DA-47477F10D43D}" destId="{424B9ADD-4CDF-40BD-AE8E-84A090AD0CA3}" srcOrd="15" destOrd="0" presId="urn:microsoft.com/office/officeart/2005/8/layout/cycle8"/>
    <dgm:cxn modelId="{C779E0D1-8155-428A-A2A2-D6916351B1AB}" type="presParOf" srcId="{C14BCE21-92BB-40C4-83DA-47477F10D43D}" destId="{FA7E983F-CAEE-4950-B57D-90DEEF9F2DA5}" srcOrd="16" destOrd="0" presId="urn:microsoft.com/office/officeart/2005/8/layout/cycle8"/>
    <dgm:cxn modelId="{904DC34A-E572-4C93-A15D-B300B360977B}" type="presParOf" srcId="{C14BCE21-92BB-40C4-83DA-47477F10D43D}" destId="{01886063-9409-4132-A3A9-ECB27F00155A}" srcOrd="17" destOrd="0" presId="urn:microsoft.com/office/officeart/2005/8/layout/cycle8"/>
    <dgm:cxn modelId="{33118FA2-EC12-4615-BF7B-5A5A457B800C}" type="presParOf" srcId="{C14BCE21-92BB-40C4-83DA-47477F10D43D}" destId="{2EAA4565-4DF2-423A-B555-653FEA131AC5}" srcOrd="18" destOrd="0" presId="urn:microsoft.com/office/officeart/2005/8/layout/cycle8"/>
    <dgm:cxn modelId="{664DEA68-85F3-4148-BDDC-108AE86D749E}" type="presParOf" srcId="{C14BCE21-92BB-40C4-83DA-47477F10D43D}" destId="{CDBB71B7-66A1-4811-8884-F627BEE92AC7}" srcOrd="19" destOrd="0" presId="urn:microsoft.com/office/officeart/2005/8/layout/cycle8"/>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F8DBAF7-2C62-48B8-A6DC-BD8E4BC287BE}" type="doc">
      <dgm:prSet loTypeId="urn:microsoft.com/office/officeart/2005/8/layout/cycle8" loCatId="cycle" qsTypeId="urn:microsoft.com/office/officeart/2005/8/quickstyle/simple5" qsCatId="simple" csTypeId="urn:microsoft.com/office/officeart/2005/8/colors/accent0_3" csCatId="mainScheme" phldr="1"/>
      <dgm:spPr/>
    </dgm:pt>
    <dgm:pt modelId="{B72D3886-4FB8-461E-A40C-9BAC1A234090}">
      <dgm:prSet phldrT="[文本]" custT="1"/>
      <dgm:spPr>
        <a:xfrm>
          <a:off x="2336941" y="476878"/>
          <a:ext cx="6308016" cy="6308016"/>
        </a:xfrm>
        <a:prstGeom prst="pie">
          <a:avLst>
            <a:gd name="adj1" fmla="val 16200000"/>
            <a:gd name="adj2" fmla="val 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500" dirty="0">
              <a:solidFill>
                <a:sysClr val="window" lastClr="FFFFFF"/>
              </a:solidFill>
              <a:latin typeface="Lato Light"/>
              <a:ea typeface="+mn-ea"/>
              <a:cs typeface="+mn-cs"/>
            </a:rPr>
            <a:t>数仓建模</a:t>
          </a:r>
        </a:p>
      </dgm:t>
    </dgm:pt>
    <dgm:pt modelId="{450B5F3A-3C2F-4889-BA9F-D8A2948137B5}" cxnId="{89AF770F-2E82-4650-82BB-74B16CF0B028}" type="parTrans">
      <dgm:prSet/>
      <dgm:spPr/>
      <dgm:t>
        <a:bodyPr/>
        <a:lstStyle/>
        <a:p>
          <a:endParaRPr lang="zh-CN" altLang="en-US"/>
        </a:p>
      </dgm:t>
    </dgm:pt>
    <dgm:pt modelId="{EAEEF6D6-56F8-478F-BC76-9292631B3ADE}" cxnId="{89AF770F-2E82-4650-82BB-74B16CF0B028}" type="sibTrans">
      <dgm:prSet/>
      <dgm:spPr/>
      <dgm:t>
        <a:bodyPr/>
        <a:lstStyle/>
        <a:p>
          <a:endParaRPr lang="zh-CN" altLang="en-US"/>
        </a:p>
      </dgm:t>
    </dgm:pt>
    <dgm:pt modelId="{A6125FBF-648B-4B17-82B2-4760CC03243E}">
      <dgm:prSet phldrT="[文本]" custT="1"/>
      <dgm:spPr>
        <a:xfrm>
          <a:off x="2336941" y="688648"/>
          <a:ext cx="6308016" cy="6308016"/>
        </a:xfrm>
        <a:prstGeom prst="pie">
          <a:avLst>
            <a:gd name="adj1" fmla="val 0"/>
            <a:gd name="adj2" fmla="val 54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400" dirty="0">
              <a:solidFill>
                <a:sysClr val="window" lastClr="FFFFFF"/>
              </a:solidFill>
              <a:latin typeface="Lato Light"/>
              <a:ea typeface="+mn-ea"/>
              <a:cs typeface="+mn-cs"/>
            </a:rPr>
            <a:t>成果数据入库</a:t>
          </a:r>
        </a:p>
      </dgm:t>
    </dgm:pt>
    <dgm:pt modelId="{75EAE327-DA35-484C-BBDB-1BF78DF7C169}" cxnId="{1533F8DE-FF57-4D58-BFEE-DAA47B8C5BC7}" type="parTrans">
      <dgm:prSet/>
      <dgm:spPr/>
      <dgm:t>
        <a:bodyPr/>
        <a:lstStyle/>
        <a:p>
          <a:endParaRPr lang="zh-CN" altLang="en-US"/>
        </a:p>
      </dgm:t>
    </dgm:pt>
    <dgm:pt modelId="{F520B3BD-BD36-4BC8-A86C-1E3C15C83A4D}" cxnId="{1533F8DE-FF57-4D58-BFEE-DAA47B8C5BC7}" type="sibTrans">
      <dgm:prSet/>
      <dgm:spPr/>
      <dgm:t>
        <a:bodyPr/>
        <a:lstStyle/>
        <a:p>
          <a:endParaRPr lang="zh-CN" altLang="en-US"/>
        </a:p>
      </dgm:t>
    </dgm:pt>
    <dgm:pt modelId="{56149757-2050-4DC4-A1C5-ED452BFA4614}">
      <dgm:prSet phldrT="[文本]" custT="1"/>
      <dgm:spPr>
        <a:xfrm>
          <a:off x="2125172" y="476878"/>
          <a:ext cx="6308016" cy="6308016"/>
        </a:xfrm>
        <a:prstGeom prst="pie">
          <a:avLst>
            <a:gd name="adj1" fmla="val 10800000"/>
            <a:gd name="adj2" fmla="val 162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400" dirty="0">
              <a:solidFill>
                <a:sysClr val="window" lastClr="FFFFFF"/>
              </a:solidFill>
              <a:latin typeface="Lato Light"/>
              <a:ea typeface="+mn-ea"/>
              <a:cs typeface="+mn-cs"/>
            </a:rPr>
            <a:t>数据封装发布</a:t>
          </a:r>
        </a:p>
      </dgm:t>
    </dgm:pt>
    <dgm:pt modelId="{9F182363-B829-4492-BC56-C07C0B105FB2}" cxnId="{89FF0CEB-2775-47D9-8F41-3C7FCB900FFB}" type="parTrans">
      <dgm:prSet/>
      <dgm:spPr/>
      <dgm:t>
        <a:bodyPr/>
        <a:lstStyle/>
        <a:p>
          <a:endParaRPr lang="zh-CN" altLang="en-US"/>
        </a:p>
      </dgm:t>
    </dgm:pt>
    <dgm:pt modelId="{808D3F17-5B17-4FF7-817A-B8B3C20A4364}" cxnId="{89FF0CEB-2775-47D9-8F41-3C7FCB900FFB}" type="sibTrans">
      <dgm:prSet/>
      <dgm:spPr/>
      <dgm:t>
        <a:bodyPr/>
        <a:lstStyle/>
        <a:p>
          <a:endParaRPr lang="zh-CN" altLang="en-US"/>
        </a:p>
      </dgm:t>
    </dgm:pt>
    <dgm:pt modelId="{E11B3565-7258-4DC8-981F-E0867DCA4CD9}">
      <dgm:prSet phldrT="[文本]" custT="1"/>
      <dgm:spPr>
        <a:xfrm>
          <a:off x="2125172" y="688648"/>
          <a:ext cx="6308016" cy="6308016"/>
        </a:xfrm>
        <a:prstGeom prst="pie">
          <a:avLst>
            <a:gd name="adj1" fmla="val 5400000"/>
            <a:gd name="adj2" fmla="val 108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a:lstStyle/>
        <a:p>
          <a:pPr>
            <a:buNone/>
          </a:pPr>
          <a:r>
            <a:rPr lang="zh-CN" altLang="en-US" sz="1400" dirty="0">
              <a:solidFill>
                <a:sysClr val="window" lastClr="FFFFFF"/>
              </a:solidFill>
              <a:latin typeface="Lato Light"/>
              <a:ea typeface="+mn-ea"/>
              <a:cs typeface="+mn-cs"/>
            </a:rPr>
            <a:t>历史数据积累</a:t>
          </a:r>
        </a:p>
      </dgm:t>
    </dgm:pt>
    <dgm:pt modelId="{A1C51F1F-F504-48D8-9CBF-DDFFAFEFAE1D}" cxnId="{33F26DE0-DC28-404D-8C1D-A1B853DB18BF}" type="parTrans">
      <dgm:prSet/>
      <dgm:spPr/>
      <dgm:t>
        <a:bodyPr/>
        <a:lstStyle/>
        <a:p>
          <a:endParaRPr lang="zh-CN" altLang="en-US"/>
        </a:p>
      </dgm:t>
    </dgm:pt>
    <dgm:pt modelId="{4AE01B59-DA82-4809-BAC9-5AA2E8F7E70A}" cxnId="{33F26DE0-DC28-404D-8C1D-A1B853DB18BF}" type="sibTrans">
      <dgm:prSet/>
      <dgm:spPr/>
      <dgm:t>
        <a:bodyPr/>
        <a:lstStyle/>
        <a:p>
          <a:endParaRPr lang="zh-CN" altLang="en-US"/>
        </a:p>
      </dgm:t>
    </dgm:pt>
    <dgm:pt modelId="{C14BCE21-92BB-40C4-83DA-47477F10D43D}" type="pres">
      <dgm:prSet presAssocID="{0F8DBAF7-2C62-48B8-A6DC-BD8E4BC287BE}" presName="compositeShape" presStyleCnt="0">
        <dgm:presLayoutVars>
          <dgm:chMax val="7"/>
          <dgm:dir/>
          <dgm:resizeHandles val="exact"/>
        </dgm:presLayoutVars>
      </dgm:prSet>
      <dgm:spPr/>
    </dgm:pt>
    <dgm:pt modelId="{634F9B89-6071-4137-A248-9CA0248D2E90}" type="pres">
      <dgm:prSet presAssocID="{0F8DBAF7-2C62-48B8-A6DC-BD8E4BC287BE}" presName="wedge1" presStyleLbl="node1" presStyleIdx="0" presStyleCnt="4"/>
      <dgm:spPr/>
      <dgm:t>
        <a:bodyPr/>
        <a:lstStyle/>
        <a:p>
          <a:endParaRPr lang="zh-CN" altLang="en-US"/>
        </a:p>
      </dgm:t>
    </dgm:pt>
    <dgm:pt modelId="{D982E784-FCB8-4E4A-A855-29DDD1C6ED93}" type="pres">
      <dgm:prSet presAssocID="{0F8DBAF7-2C62-48B8-A6DC-BD8E4BC287BE}" presName="dummy1a" presStyleCnt="0"/>
      <dgm:spPr/>
    </dgm:pt>
    <dgm:pt modelId="{A62C7449-D0C4-4062-8820-BD711C3E692E}" type="pres">
      <dgm:prSet presAssocID="{0F8DBAF7-2C62-48B8-A6DC-BD8E4BC287BE}" presName="dummy1b" presStyleCnt="0"/>
      <dgm:spPr/>
    </dgm:pt>
    <dgm:pt modelId="{68C72513-9F87-47B5-893A-87426D5337FE}" type="pres">
      <dgm:prSet presAssocID="{0F8DBAF7-2C62-48B8-A6DC-BD8E4BC287BE}" presName="wedge1Tx" presStyleLbl="node1" presStyleIdx="0" presStyleCnt="4">
        <dgm:presLayoutVars>
          <dgm:chMax val="0"/>
          <dgm:chPref val="0"/>
          <dgm:bulletEnabled val="1"/>
        </dgm:presLayoutVars>
      </dgm:prSet>
      <dgm:spPr/>
      <dgm:t>
        <a:bodyPr/>
        <a:lstStyle/>
        <a:p>
          <a:endParaRPr lang="zh-CN" altLang="en-US"/>
        </a:p>
      </dgm:t>
    </dgm:pt>
    <dgm:pt modelId="{9FCA8F13-40C7-4E67-8AD3-63B136DBA565}" type="pres">
      <dgm:prSet presAssocID="{0F8DBAF7-2C62-48B8-A6DC-BD8E4BC287BE}" presName="wedge2" presStyleLbl="node1" presStyleIdx="1" presStyleCnt="4"/>
      <dgm:spPr/>
      <dgm:t>
        <a:bodyPr/>
        <a:lstStyle/>
        <a:p>
          <a:endParaRPr lang="zh-CN" altLang="en-US"/>
        </a:p>
      </dgm:t>
    </dgm:pt>
    <dgm:pt modelId="{E4C1D0B8-DA1F-4398-9B61-821BCEE52D05}" type="pres">
      <dgm:prSet presAssocID="{0F8DBAF7-2C62-48B8-A6DC-BD8E4BC287BE}" presName="dummy2a" presStyleCnt="0"/>
      <dgm:spPr/>
    </dgm:pt>
    <dgm:pt modelId="{A6AC48C2-7EF6-4835-A920-BE62D064B9F5}" type="pres">
      <dgm:prSet presAssocID="{0F8DBAF7-2C62-48B8-A6DC-BD8E4BC287BE}" presName="dummy2b" presStyleCnt="0"/>
      <dgm:spPr/>
    </dgm:pt>
    <dgm:pt modelId="{BB48B8C3-250D-41BA-B834-B4AC96963780}" type="pres">
      <dgm:prSet presAssocID="{0F8DBAF7-2C62-48B8-A6DC-BD8E4BC287BE}" presName="wedge2Tx" presStyleLbl="node1" presStyleIdx="1" presStyleCnt="4">
        <dgm:presLayoutVars>
          <dgm:chMax val="0"/>
          <dgm:chPref val="0"/>
          <dgm:bulletEnabled val="1"/>
        </dgm:presLayoutVars>
      </dgm:prSet>
      <dgm:spPr/>
      <dgm:t>
        <a:bodyPr/>
        <a:lstStyle/>
        <a:p>
          <a:endParaRPr lang="zh-CN" altLang="en-US"/>
        </a:p>
      </dgm:t>
    </dgm:pt>
    <dgm:pt modelId="{350B8A2F-4A35-4F3E-AC00-67F1975BF569}" type="pres">
      <dgm:prSet presAssocID="{0F8DBAF7-2C62-48B8-A6DC-BD8E4BC287BE}" presName="wedge3" presStyleLbl="node1" presStyleIdx="2" presStyleCnt="4"/>
      <dgm:spPr/>
      <dgm:t>
        <a:bodyPr/>
        <a:lstStyle/>
        <a:p>
          <a:endParaRPr lang="zh-CN" altLang="en-US"/>
        </a:p>
      </dgm:t>
    </dgm:pt>
    <dgm:pt modelId="{E7B8A624-7329-457A-8018-A23FBC2E5164}" type="pres">
      <dgm:prSet presAssocID="{0F8DBAF7-2C62-48B8-A6DC-BD8E4BC287BE}" presName="dummy3a" presStyleCnt="0"/>
      <dgm:spPr/>
    </dgm:pt>
    <dgm:pt modelId="{708AC600-4EF2-4163-93DD-3E6284E43DD2}" type="pres">
      <dgm:prSet presAssocID="{0F8DBAF7-2C62-48B8-A6DC-BD8E4BC287BE}" presName="dummy3b" presStyleCnt="0"/>
      <dgm:spPr/>
    </dgm:pt>
    <dgm:pt modelId="{08DDB98E-F5A0-4F05-9F2C-2396D773541C}" type="pres">
      <dgm:prSet presAssocID="{0F8DBAF7-2C62-48B8-A6DC-BD8E4BC287BE}" presName="wedge3Tx" presStyleLbl="node1" presStyleIdx="2" presStyleCnt="4">
        <dgm:presLayoutVars>
          <dgm:chMax val="0"/>
          <dgm:chPref val="0"/>
          <dgm:bulletEnabled val="1"/>
        </dgm:presLayoutVars>
      </dgm:prSet>
      <dgm:spPr/>
      <dgm:t>
        <a:bodyPr/>
        <a:lstStyle/>
        <a:p>
          <a:endParaRPr lang="zh-CN" altLang="en-US"/>
        </a:p>
      </dgm:t>
    </dgm:pt>
    <dgm:pt modelId="{3160F377-11EE-406D-B9AB-ACF61CCE34FD}" type="pres">
      <dgm:prSet presAssocID="{0F8DBAF7-2C62-48B8-A6DC-BD8E4BC287BE}" presName="wedge4" presStyleLbl="node1" presStyleIdx="3" presStyleCnt="4"/>
      <dgm:spPr/>
      <dgm:t>
        <a:bodyPr/>
        <a:lstStyle/>
        <a:p>
          <a:endParaRPr lang="zh-CN" altLang="en-US"/>
        </a:p>
      </dgm:t>
    </dgm:pt>
    <dgm:pt modelId="{89D8EA62-B792-462F-B677-C5C0761114B6}" type="pres">
      <dgm:prSet presAssocID="{0F8DBAF7-2C62-48B8-A6DC-BD8E4BC287BE}" presName="dummy4a" presStyleCnt="0"/>
      <dgm:spPr/>
    </dgm:pt>
    <dgm:pt modelId="{46EBA8CF-9444-43C3-9F8B-43AC0092BD2E}" type="pres">
      <dgm:prSet presAssocID="{0F8DBAF7-2C62-48B8-A6DC-BD8E4BC287BE}" presName="dummy4b" presStyleCnt="0"/>
      <dgm:spPr/>
    </dgm:pt>
    <dgm:pt modelId="{29F7C8DC-8F99-4377-82A6-F05CF450A792}" type="pres">
      <dgm:prSet presAssocID="{0F8DBAF7-2C62-48B8-A6DC-BD8E4BC287BE}" presName="wedge4Tx" presStyleLbl="node1" presStyleIdx="3" presStyleCnt="4">
        <dgm:presLayoutVars>
          <dgm:chMax val="0"/>
          <dgm:chPref val="0"/>
          <dgm:bulletEnabled val="1"/>
        </dgm:presLayoutVars>
      </dgm:prSet>
      <dgm:spPr/>
      <dgm:t>
        <a:bodyPr/>
        <a:lstStyle/>
        <a:p>
          <a:endParaRPr lang="zh-CN" altLang="en-US"/>
        </a:p>
      </dgm:t>
    </dgm:pt>
    <dgm:pt modelId="{FA7E983F-CAEE-4950-B57D-90DEEF9F2DA5}" type="pres">
      <dgm:prSet presAssocID="{EAEEF6D6-56F8-478F-BC76-9292631B3ADE}" presName="arrowWedge1" presStyleLbl="fgSibTrans2D1" presStyleIdx="0" presStyleCnt="4"/>
      <dgm:spPr>
        <a:xfrm>
          <a:off x="1946445" y="86382"/>
          <a:ext cx="7089009" cy="7089009"/>
        </a:xfrm>
        <a:prstGeom prst="circularArrow">
          <a:avLst>
            <a:gd name="adj1" fmla="val 5085"/>
            <a:gd name="adj2" fmla="val 327528"/>
            <a:gd name="adj3" fmla="val 21272472"/>
            <a:gd name="adj4" fmla="val 162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 modelId="{8CEF3D96-D068-4874-9A50-34A40C87D567}" type="pres">
      <dgm:prSet presAssocID="{F520B3BD-BD36-4BC8-A86C-1E3C15C83A4D}" presName="arrowWedge2" presStyleLbl="fgSibTrans2D1" presStyleIdx="1" presStyleCnt="4"/>
      <dgm:spPr>
        <a:xfrm>
          <a:off x="1946445" y="298151"/>
          <a:ext cx="7089009" cy="7089009"/>
        </a:xfrm>
        <a:prstGeom prst="circularArrow">
          <a:avLst>
            <a:gd name="adj1" fmla="val 5085"/>
            <a:gd name="adj2" fmla="val 327528"/>
            <a:gd name="adj3" fmla="val 5072472"/>
            <a:gd name="adj4" fmla="val 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 modelId="{ECDCEB8D-F6BD-4626-BABB-6BB65C7B9440}" type="pres">
      <dgm:prSet presAssocID="{4AE01B59-DA82-4809-BAC9-5AA2E8F7E70A}" presName="arrowWedge3" presStyleLbl="fgSibTrans2D1" presStyleIdx="2" presStyleCnt="4"/>
      <dgm:spPr>
        <a:xfrm>
          <a:off x="1734676" y="298151"/>
          <a:ext cx="7089009" cy="7089009"/>
        </a:xfrm>
        <a:prstGeom prst="circularArrow">
          <a:avLst>
            <a:gd name="adj1" fmla="val 5085"/>
            <a:gd name="adj2" fmla="val 327528"/>
            <a:gd name="adj3" fmla="val 10472472"/>
            <a:gd name="adj4" fmla="val 54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 modelId="{DBAC468D-B3A5-4E98-9513-89BF8EFF0419}" type="pres">
      <dgm:prSet presAssocID="{808D3F17-5B17-4FF7-817A-B8B3C20A4364}" presName="arrowWedge4" presStyleLbl="fgSibTrans2D1" presStyleIdx="3" presStyleCnt="4"/>
      <dgm:spPr>
        <a:xfrm>
          <a:off x="1734676" y="86382"/>
          <a:ext cx="7089009" cy="7089009"/>
        </a:xfrm>
        <a:prstGeom prst="circularArrow">
          <a:avLst>
            <a:gd name="adj1" fmla="val 5085"/>
            <a:gd name="adj2" fmla="val 327528"/>
            <a:gd name="adj3" fmla="val 15872472"/>
            <a:gd name="adj4" fmla="val 108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pt>
  </dgm:ptLst>
  <dgm:cxnLst>
    <dgm:cxn modelId="{89FF0CEB-2775-47D9-8F41-3C7FCB900FFB}" srcId="{0F8DBAF7-2C62-48B8-A6DC-BD8E4BC287BE}" destId="{56149757-2050-4DC4-A1C5-ED452BFA4614}" srcOrd="3" destOrd="0" parTransId="{9F182363-B829-4492-BC56-C07C0B105FB2}" sibTransId="{808D3F17-5B17-4FF7-817A-B8B3C20A4364}"/>
    <dgm:cxn modelId="{B8B5F176-B632-47AA-85C2-5C6932D949FB}" type="presOf" srcId="{A6125FBF-648B-4B17-82B2-4760CC03243E}" destId="{9FCA8F13-40C7-4E67-8AD3-63B136DBA565}" srcOrd="0" destOrd="0" presId="urn:microsoft.com/office/officeart/2005/8/layout/cycle8"/>
    <dgm:cxn modelId="{33F26DE0-DC28-404D-8C1D-A1B853DB18BF}" srcId="{0F8DBAF7-2C62-48B8-A6DC-BD8E4BC287BE}" destId="{E11B3565-7258-4DC8-981F-E0867DCA4CD9}" srcOrd="2" destOrd="0" parTransId="{A1C51F1F-F504-48D8-9CBF-DDFFAFEFAE1D}" sibTransId="{4AE01B59-DA82-4809-BAC9-5AA2E8F7E70A}"/>
    <dgm:cxn modelId="{EBA83600-AF99-42FD-887C-AA9C791F0AED}" type="presOf" srcId="{56149757-2050-4DC4-A1C5-ED452BFA4614}" destId="{29F7C8DC-8F99-4377-82A6-F05CF450A792}" srcOrd="1" destOrd="0" presId="urn:microsoft.com/office/officeart/2005/8/layout/cycle8"/>
    <dgm:cxn modelId="{C6DB9249-344E-44AB-848F-20D5C2E7CA2D}" type="presOf" srcId="{B72D3886-4FB8-461E-A40C-9BAC1A234090}" destId="{68C72513-9F87-47B5-893A-87426D5337FE}" srcOrd="1" destOrd="0" presId="urn:microsoft.com/office/officeart/2005/8/layout/cycle8"/>
    <dgm:cxn modelId="{1533F8DE-FF57-4D58-BFEE-DAA47B8C5BC7}" srcId="{0F8DBAF7-2C62-48B8-A6DC-BD8E4BC287BE}" destId="{A6125FBF-648B-4B17-82B2-4760CC03243E}" srcOrd="1" destOrd="0" parTransId="{75EAE327-DA35-484C-BBDB-1BF78DF7C169}" sibTransId="{F520B3BD-BD36-4BC8-A86C-1E3C15C83A4D}"/>
    <dgm:cxn modelId="{E5333982-AEFA-465C-A815-B97DD11A0F7B}" type="presOf" srcId="{0F8DBAF7-2C62-48B8-A6DC-BD8E4BC287BE}" destId="{C14BCE21-92BB-40C4-83DA-47477F10D43D}" srcOrd="0" destOrd="0" presId="urn:microsoft.com/office/officeart/2005/8/layout/cycle8"/>
    <dgm:cxn modelId="{98BE1A65-D816-4B4D-B0A6-001B01C2A17C}" type="presOf" srcId="{A6125FBF-648B-4B17-82B2-4760CC03243E}" destId="{BB48B8C3-250D-41BA-B834-B4AC96963780}" srcOrd="1" destOrd="0" presId="urn:microsoft.com/office/officeart/2005/8/layout/cycle8"/>
    <dgm:cxn modelId="{0CB8F8B5-884F-4472-8466-398A8704E0CB}" type="presOf" srcId="{B72D3886-4FB8-461E-A40C-9BAC1A234090}" destId="{634F9B89-6071-4137-A248-9CA0248D2E90}" srcOrd="0" destOrd="0" presId="urn:microsoft.com/office/officeart/2005/8/layout/cycle8"/>
    <dgm:cxn modelId="{89AF770F-2E82-4650-82BB-74B16CF0B028}" srcId="{0F8DBAF7-2C62-48B8-A6DC-BD8E4BC287BE}" destId="{B72D3886-4FB8-461E-A40C-9BAC1A234090}" srcOrd="0" destOrd="0" parTransId="{450B5F3A-3C2F-4889-BA9F-D8A2948137B5}" sibTransId="{EAEEF6D6-56F8-478F-BC76-9292631B3ADE}"/>
    <dgm:cxn modelId="{AE487D0B-DAB2-49EC-917B-981532D39B3F}" type="presOf" srcId="{E11B3565-7258-4DC8-981F-E0867DCA4CD9}" destId="{08DDB98E-F5A0-4F05-9F2C-2396D773541C}" srcOrd="1" destOrd="0" presId="urn:microsoft.com/office/officeart/2005/8/layout/cycle8"/>
    <dgm:cxn modelId="{13551EFF-2BAE-4D1F-8C46-AB999100FFF9}" type="presOf" srcId="{E11B3565-7258-4DC8-981F-E0867DCA4CD9}" destId="{350B8A2F-4A35-4F3E-AC00-67F1975BF569}" srcOrd="0" destOrd="0" presId="urn:microsoft.com/office/officeart/2005/8/layout/cycle8"/>
    <dgm:cxn modelId="{E950A7F2-8773-4D3A-8E04-8DFA8130F332}" type="presOf" srcId="{56149757-2050-4DC4-A1C5-ED452BFA4614}" destId="{3160F377-11EE-406D-B9AB-ACF61CCE34FD}" srcOrd="0" destOrd="0" presId="urn:microsoft.com/office/officeart/2005/8/layout/cycle8"/>
    <dgm:cxn modelId="{A34EFCD3-AD4E-4E3B-970B-1D18ED07FF3A}" type="presParOf" srcId="{C14BCE21-92BB-40C4-83DA-47477F10D43D}" destId="{634F9B89-6071-4137-A248-9CA0248D2E90}" srcOrd="0" destOrd="0" presId="urn:microsoft.com/office/officeart/2005/8/layout/cycle8"/>
    <dgm:cxn modelId="{457CDD3D-2FFA-4A61-976C-633299169A36}" type="presParOf" srcId="{C14BCE21-92BB-40C4-83DA-47477F10D43D}" destId="{D982E784-FCB8-4E4A-A855-29DDD1C6ED93}" srcOrd="1" destOrd="0" presId="urn:microsoft.com/office/officeart/2005/8/layout/cycle8"/>
    <dgm:cxn modelId="{C305860C-186E-4627-B39C-896207510DD9}" type="presParOf" srcId="{C14BCE21-92BB-40C4-83DA-47477F10D43D}" destId="{A62C7449-D0C4-4062-8820-BD711C3E692E}" srcOrd="2" destOrd="0" presId="urn:microsoft.com/office/officeart/2005/8/layout/cycle8"/>
    <dgm:cxn modelId="{9D346C5E-105E-4B45-B235-ADEA9BD972DE}" type="presParOf" srcId="{C14BCE21-92BB-40C4-83DA-47477F10D43D}" destId="{68C72513-9F87-47B5-893A-87426D5337FE}" srcOrd="3" destOrd="0" presId="urn:microsoft.com/office/officeart/2005/8/layout/cycle8"/>
    <dgm:cxn modelId="{CA710FFC-E46B-483C-BB24-52EF85E39EF1}" type="presParOf" srcId="{C14BCE21-92BB-40C4-83DA-47477F10D43D}" destId="{9FCA8F13-40C7-4E67-8AD3-63B136DBA565}" srcOrd="4" destOrd="0" presId="urn:microsoft.com/office/officeart/2005/8/layout/cycle8"/>
    <dgm:cxn modelId="{4E0C14C1-33FE-447E-8801-6C5D8F3D7A5A}" type="presParOf" srcId="{C14BCE21-92BB-40C4-83DA-47477F10D43D}" destId="{E4C1D0B8-DA1F-4398-9B61-821BCEE52D05}" srcOrd="5" destOrd="0" presId="urn:microsoft.com/office/officeart/2005/8/layout/cycle8"/>
    <dgm:cxn modelId="{B65BDEA7-920B-4720-9680-807DA1613A77}" type="presParOf" srcId="{C14BCE21-92BB-40C4-83DA-47477F10D43D}" destId="{A6AC48C2-7EF6-4835-A920-BE62D064B9F5}" srcOrd="6" destOrd="0" presId="urn:microsoft.com/office/officeart/2005/8/layout/cycle8"/>
    <dgm:cxn modelId="{F90B1A28-499E-48FB-9571-D7E99812163B}" type="presParOf" srcId="{C14BCE21-92BB-40C4-83DA-47477F10D43D}" destId="{BB48B8C3-250D-41BA-B834-B4AC96963780}" srcOrd="7" destOrd="0" presId="urn:microsoft.com/office/officeart/2005/8/layout/cycle8"/>
    <dgm:cxn modelId="{370D0F16-87C3-4F38-831D-F10ADC199FC1}" type="presParOf" srcId="{C14BCE21-92BB-40C4-83DA-47477F10D43D}" destId="{350B8A2F-4A35-4F3E-AC00-67F1975BF569}" srcOrd="8" destOrd="0" presId="urn:microsoft.com/office/officeart/2005/8/layout/cycle8"/>
    <dgm:cxn modelId="{03AB1A1C-D8A2-4FDA-8F47-1257B0EEA368}" type="presParOf" srcId="{C14BCE21-92BB-40C4-83DA-47477F10D43D}" destId="{E7B8A624-7329-457A-8018-A23FBC2E5164}" srcOrd="9" destOrd="0" presId="urn:microsoft.com/office/officeart/2005/8/layout/cycle8"/>
    <dgm:cxn modelId="{53066FD8-7BB0-4587-91A1-3E32F19F5EDF}" type="presParOf" srcId="{C14BCE21-92BB-40C4-83DA-47477F10D43D}" destId="{708AC600-4EF2-4163-93DD-3E6284E43DD2}" srcOrd="10" destOrd="0" presId="urn:microsoft.com/office/officeart/2005/8/layout/cycle8"/>
    <dgm:cxn modelId="{33E5BD62-4005-428F-BB2F-40DD95B27AD6}" type="presParOf" srcId="{C14BCE21-92BB-40C4-83DA-47477F10D43D}" destId="{08DDB98E-F5A0-4F05-9F2C-2396D773541C}" srcOrd="11" destOrd="0" presId="urn:microsoft.com/office/officeart/2005/8/layout/cycle8"/>
    <dgm:cxn modelId="{B25DBD5F-FEAB-4812-8749-E6E14EFAD814}" type="presParOf" srcId="{C14BCE21-92BB-40C4-83DA-47477F10D43D}" destId="{3160F377-11EE-406D-B9AB-ACF61CCE34FD}" srcOrd="12" destOrd="0" presId="urn:microsoft.com/office/officeart/2005/8/layout/cycle8"/>
    <dgm:cxn modelId="{A1AEFB28-8EDF-4152-84DC-969746E6B512}" type="presParOf" srcId="{C14BCE21-92BB-40C4-83DA-47477F10D43D}" destId="{89D8EA62-B792-462F-B677-C5C0761114B6}" srcOrd="13" destOrd="0" presId="urn:microsoft.com/office/officeart/2005/8/layout/cycle8"/>
    <dgm:cxn modelId="{3564EA92-D0CC-49A9-BB4A-320111EB7161}" type="presParOf" srcId="{C14BCE21-92BB-40C4-83DA-47477F10D43D}" destId="{46EBA8CF-9444-43C3-9F8B-43AC0092BD2E}" srcOrd="14" destOrd="0" presId="urn:microsoft.com/office/officeart/2005/8/layout/cycle8"/>
    <dgm:cxn modelId="{CA5AE25D-3BB2-4DD0-8A7E-D203FF4722B8}" type="presParOf" srcId="{C14BCE21-92BB-40C4-83DA-47477F10D43D}" destId="{29F7C8DC-8F99-4377-82A6-F05CF450A792}" srcOrd="15" destOrd="0" presId="urn:microsoft.com/office/officeart/2005/8/layout/cycle8"/>
    <dgm:cxn modelId="{C779E0D1-8155-428A-A2A2-D6916351B1AB}" type="presParOf" srcId="{C14BCE21-92BB-40C4-83DA-47477F10D43D}" destId="{FA7E983F-CAEE-4950-B57D-90DEEF9F2DA5}" srcOrd="16" destOrd="0" presId="urn:microsoft.com/office/officeart/2005/8/layout/cycle8"/>
    <dgm:cxn modelId="{CF411DD1-B0A8-4C7C-9397-FE48941AAE58}" type="presParOf" srcId="{C14BCE21-92BB-40C4-83DA-47477F10D43D}" destId="{8CEF3D96-D068-4874-9A50-34A40C87D567}" srcOrd="17" destOrd="0" presId="urn:microsoft.com/office/officeart/2005/8/layout/cycle8"/>
    <dgm:cxn modelId="{1A53D212-337B-4A20-9772-59056DC2C957}" type="presParOf" srcId="{C14BCE21-92BB-40C4-83DA-47477F10D43D}" destId="{ECDCEB8D-F6BD-4626-BABB-6BB65C7B9440}" srcOrd="18" destOrd="0" presId="urn:microsoft.com/office/officeart/2005/8/layout/cycle8"/>
    <dgm:cxn modelId="{3EB651F7-689E-426D-A177-2E02E87CF5D1}" type="presParOf" srcId="{C14BCE21-92BB-40C4-83DA-47477F10D43D}" destId="{DBAC468D-B3A5-4E98-9513-89BF8EFF0419}" srcOrd="19" destOrd="0" presId="urn:microsoft.com/office/officeart/2005/8/layout/cycle8"/>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F2D0380-64F5-484C-BE4E-4BB499D008F7}" type="doc">
      <dgm:prSet loTypeId="urn:microsoft.com/office/officeart/2005/8/layout/cycle3" loCatId="cycle" qsTypeId="urn:microsoft.com/office/officeart/2005/8/quickstyle/3d4" qsCatId="3D" csTypeId="urn:microsoft.com/office/officeart/2005/8/colors/accent1_2" csCatId="accent1" phldr="1"/>
      <dgm:spPr/>
      <dgm:t>
        <a:bodyPr/>
        <a:lstStyle/>
        <a:p>
          <a:endParaRPr lang="zh-CN" altLang="en-US"/>
        </a:p>
      </dgm:t>
    </dgm:pt>
    <dgm:pt modelId="{4205484D-F6FE-4D05-9536-A6074AE2AB53}">
      <dgm:prSet phldrT="[文本]"/>
      <dgm:spPr/>
      <dgm:t>
        <a:bodyPr/>
        <a:lstStyle/>
        <a:p>
          <a:r>
            <a:rPr lang="zh-CN" altLang="en-US" dirty="0"/>
            <a:t>深入业务调研</a:t>
          </a:r>
        </a:p>
      </dgm:t>
    </dgm:pt>
    <dgm:pt modelId="{11141D5F-FEB4-467A-BCC1-9B7FDF0D6854}" cxnId="{AA2DAD39-951A-4251-96DB-82DC8DB7DC3A}" type="parTrans">
      <dgm:prSet/>
      <dgm:spPr/>
      <dgm:t>
        <a:bodyPr/>
        <a:lstStyle/>
        <a:p>
          <a:endParaRPr lang="zh-CN" altLang="en-US"/>
        </a:p>
      </dgm:t>
    </dgm:pt>
    <dgm:pt modelId="{12E735B1-BB45-4B81-94DA-9878A141BFFD}" cxnId="{AA2DAD39-951A-4251-96DB-82DC8DB7DC3A}" type="sibTrans">
      <dgm:prSet/>
      <dgm:spPr/>
      <dgm:t>
        <a:bodyPr/>
        <a:lstStyle/>
        <a:p>
          <a:endParaRPr lang="zh-CN" altLang="en-US"/>
        </a:p>
      </dgm:t>
    </dgm:pt>
    <dgm:pt modelId="{5075263F-F07B-469D-913D-519AF086D67D}">
      <dgm:prSet phldrT="[文本]"/>
      <dgm:spPr/>
      <dgm:t>
        <a:bodyPr/>
        <a:lstStyle/>
        <a:p>
          <a:r>
            <a:rPr lang="zh-CN" altLang="en-US" dirty="0"/>
            <a:t>数据资产梳理</a:t>
          </a:r>
        </a:p>
      </dgm:t>
    </dgm:pt>
    <dgm:pt modelId="{5D80D924-DC03-4464-9C3B-483DC59EC111}" cxnId="{F1B4BA8C-38A1-4CBF-AFB1-40A49C6576A6}" type="parTrans">
      <dgm:prSet/>
      <dgm:spPr/>
      <dgm:t>
        <a:bodyPr/>
        <a:lstStyle/>
        <a:p>
          <a:endParaRPr lang="zh-CN" altLang="en-US"/>
        </a:p>
      </dgm:t>
    </dgm:pt>
    <dgm:pt modelId="{FCDE73EC-A278-47A6-BEA7-4CA376A45D29}" cxnId="{F1B4BA8C-38A1-4CBF-AFB1-40A49C6576A6}" type="sibTrans">
      <dgm:prSet/>
      <dgm:spPr/>
      <dgm:t>
        <a:bodyPr/>
        <a:lstStyle/>
        <a:p>
          <a:endParaRPr lang="zh-CN" altLang="en-US"/>
        </a:p>
      </dgm:t>
    </dgm:pt>
    <dgm:pt modelId="{A4DFFB92-2710-4B6F-A6E1-FEF6EB6439B8}">
      <dgm:prSet phldrT="[文本]"/>
      <dgm:spPr/>
      <dgm:t>
        <a:bodyPr/>
        <a:lstStyle/>
        <a:p>
          <a:r>
            <a:rPr lang="zh-CN" altLang="en-US" dirty="0"/>
            <a:t>数据标准建立</a:t>
          </a:r>
        </a:p>
      </dgm:t>
    </dgm:pt>
    <dgm:pt modelId="{291EBDCA-1E1B-41C6-85F7-03155B08ED41}" cxnId="{EB940549-F198-4C06-A6A6-B1587CD7903A}" type="parTrans">
      <dgm:prSet/>
      <dgm:spPr/>
      <dgm:t>
        <a:bodyPr/>
        <a:lstStyle/>
        <a:p>
          <a:endParaRPr lang="zh-CN" altLang="en-US"/>
        </a:p>
      </dgm:t>
    </dgm:pt>
    <dgm:pt modelId="{D20D20E4-BC10-4D44-AF59-8F171BBDEB38}" cxnId="{EB940549-F198-4C06-A6A6-B1587CD7903A}" type="sibTrans">
      <dgm:prSet/>
      <dgm:spPr/>
      <dgm:t>
        <a:bodyPr/>
        <a:lstStyle/>
        <a:p>
          <a:endParaRPr lang="zh-CN" altLang="en-US"/>
        </a:p>
      </dgm:t>
    </dgm:pt>
    <dgm:pt modelId="{39326AD1-858F-45FB-8BB9-5DCF376BE834}">
      <dgm:prSet phldrT="[文本]"/>
      <dgm:spPr/>
      <dgm:t>
        <a:bodyPr/>
        <a:lstStyle/>
        <a:p>
          <a:r>
            <a:rPr lang="zh-CN" altLang="en-US" dirty="0"/>
            <a:t>数据开放共享</a:t>
          </a:r>
        </a:p>
      </dgm:t>
    </dgm:pt>
    <dgm:pt modelId="{F1072BEE-2237-47B2-8559-8A4AFFCD1F51}" cxnId="{C54C9619-2177-445A-B2E6-36B92EF4964C}" type="parTrans">
      <dgm:prSet/>
      <dgm:spPr/>
      <dgm:t>
        <a:bodyPr/>
        <a:lstStyle/>
        <a:p>
          <a:endParaRPr lang="zh-CN" altLang="en-US"/>
        </a:p>
      </dgm:t>
    </dgm:pt>
    <dgm:pt modelId="{6A03D510-AECC-4449-B9E6-638EE69CE3A2}" cxnId="{C54C9619-2177-445A-B2E6-36B92EF4964C}" type="sibTrans">
      <dgm:prSet/>
      <dgm:spPr/>
      <dgm:t>
        <a:bodyPr/>
        <a:lstStyle/>
        <a:p>
          <a:endParaRPr lang="zh-CN" altLang="en-US"/>
        </a:p>
      </dgm:t>
    </dgm:pt>
    <dgm:pt modelId="{BFDAEA59-A7FB-467D-A179-064F70029167}">
      <dgm:prSet phldrT="[文本]"/>
      <dgm:spPr/>
      <dgm:t>
        <a:bodyPr/>
        <a:lstStyle/>
        <a:p>
          <a:r>
            <a:rPr lang="zh-CN" altLang="en-US" dirty="0"/>
            <a:t>规章制度建设</a:t>
          </a:r>
        </a:p>
      </dgm:t>
    </dgm:pt>
    <dgm:pt modelId="{55650AAD-7471-45E2-80E5-43468063CC98}" cxnId="{E15EB6C7-A4D0-4FF3-B43B-5C6AA3E32440}" type="parTrans">
      <dgm:prSet/>
      <dgm:spPr/>
      <dgm:t>
        <a:bodyPr/>
        <a:lstStyle/>
        <a:p>
          <a:endParaRPr lang="zh-CN" altLang="en-US"/>
        </a:p>
      </dgm:t>
    </dgm:pt>
    <dgm:pt modelId="{146EB7B8-E021-4A3C-8E0B-D6823DBEE0E7}" cxnId="{E15EB6C7-A4D0-4FF3-B43B-5C6AA3E32440}" type="sibTrans">
      <dgm:prSet/>
      <dgm:spPr/>
      <dgm:t>
        <a:bodyPr/>
        <a:lstStyle/>
        <a:p>
          <a:endParaRPr lang="zh-CN" altLang="en-US"/>
        </a:p>
      </dgm:t>
    </dgm:pt>
    <dgm:pt modelId="{6CE71434-33B7-4C3A-90C7-7CB75AE9C0B1}" type="pres">
      <dgm:prSet presAssocID="{6F2D0380-64F5-484C-BE4E-4BB499D008F7}" presName="Name0" presStyleCnt="0">
        <dgm:presLayoutVars>
          <dgm:dir/>
          <dgm:resizeHandles val="exact"/>
        </dgm:presLayoutVars>
      </dgm:prSet>
      <dgm:spPr/>
      <dgm:t>
        <a:bodyPr/>
        <a:lstStyle/>
        <a:p>
          <a:endParaRPr lang="zh-CN" altLang="en-US"/>
        </a:p>
      </dgm:t>
    </dgm:pt>
    <dgm:pt modelId="{36B656E8-7BB5-4149-A093-468D030D979E}" type="pres">
      <dgm:prSet presAssocID="{6F2D0380-64F5-484C-BE4E-4BB499D008F7}" presName="cycle" presStyleCnt="0"/>
      <dgm:spPr/>
    </dgm:pt>
    <dgm:pt modelId="{630CB179-F60D-455F-92A8-10E6150CA583}" type="pres">
      <dgm:prSet presAssocID="{4205484D-F6FE-4D05-9536-A6074AE2AB53}" presName="nodeFirstNode" presStyleLbl="node1" presStyleIdx="0" presStyleCnt="5">
        <dgm:presLayoutVars>
          <dgm:bulletEnabled val="1"/>
        </dgm:presLayoutVars>
      </dgm:prSet>
      <dgm:spPr/>
      <dgm:t>
        <a:bodyPr/>
        <a:lstStyle/>
        <a:p>
          <a:endParaRPr lang="zh-CN" altLang="en-US"/>
        </a:p>
      </dgm:t>
    </dgm:pt>
    <dgm:pt modelId="{591944CA-A60A-4355-AD9F-72964FE7CD6C}" type="pres">
      <dgm:prSet presAssocID="{12E735B1-BB45-4B81-94DA-9878A141BFFD}" presName="sibTransFirstNode" presStyleLbl="bgShp" presStyleIdx="0" presStyleCnt="1"/>
      <dgm:spPr/>
      <dgm:t>
        <a:bodyPr/>
        <a:lstStyle/>
        <a:p>
          <a:endParaRPr lang="zh-CN" altLang="en-US"/>
        </a:p>
      </dgm:t>
    </dgm:pt>
    <dgm:pt modelId="{4187C9C4-E570-4694-824F-9090201213FC}" type="pres">
      <dgm:prSet presAssocID="{5075263F-F07B-469D-913D-519AF086D67D}" presName="nodeFollowingNodes" presStyleLbl="node1" presStyleIdx="1" presStyleCnt="5">
        <dgm:presLayoutVars>
          <dgm:bulletEnabled val="1"/>
        </dgm:presLayoutVars>
      </dgm:prSet>
      <dgm:spPr/>
      <dgm:t>
        <a:bodyPr/>
        <a:lstStyle/>
        <a:p>
          <a:endParaRPr lang="zh-CN" altLang="en-US"/>
        </a:p>
      </dgm:t>
    </dgm:pt>
    <dgm:pt modelId="{18904777-2E6E-42A6-B5BC-D75A26D5C20E}" type="pres">
      <dgm:prSet presAssocID="{A4DFFB92-2710-4B6F-A6E1-FEF6EB6439B8}" presName="nodeFollowingNodes" presStyleLbl="node1" presStyleIdx="2" presStyleCnt="5">
        <dgm:presLayoutVars>
          <dgm:bulletEnabled val="1"/>
        </dgm:presLayoutVars>
      </dgm:prSet>
      <dgm:spPr/>
      <dgm:t>
        <a:bodyPr/>
        <a:lstStyle/>
        <a:p>
          <a:endParaRPr lang="zh-CN" altLang="en-US"/>
        </a:p>
      </dgm:t>
    </dgm:pt>
    <dgm:pt modelId="{01862477-DB9E-48E8-A2E7-AE20E0300EC6}" type="pres">
      <dgm:prSet presAssocID="{39326AD1-858F-45FB-8BB9-5DCF376BE834}" presName="nodeFollowingNodes" presStyleLbl="node1" presStyleIdx="3" presStyleCnt="5">
        <dgm:presLayoutVars>
          <dgm:bulletEnabled val="1"/>
        </dgm:presLayoutVars>
      </dgm:prSet>
      <dgm:spPr/>
      <dgm:t>
        <a:bodyPr/>
        <a:lstStyle/>
        <a:p>
          <a:endParaRPr lang="zh-CN" altLang="en-US"/>
        </a:p>
      </dgm:t>
    </dgm:pt>
    <dgm:pt modelId="{E0F7EC00-D3ED-4EA9-BF1B-062FB292C97E}" type="pres">
      <dgm:prSet presAssocID="{BFDAEA59-A7FB-467D-A179-064F70029167}" presName="nodeFollowingNodes" presStyleLbl="node1" presStyleIdx="4" presStyleCnt="5">
        <dgm:presLayoutVars>
          <dgm:bulletEnabled val="1"/>
        </dgm:presLayoutVars>
      </dgm:prSet>
      <dgm:spPr/>
      <dgm:t>
        <a:bodyPr/>
        <a:lstStyle/>
        <a:p>
          <a:endParaRPr lang="zh-CN" altLang="en-US"/>
        </a:p>
      </dgm:t>
    </dgm:pt>
  </dgm:ptLst>
  <dgm:cxnLst>
    <dgm:cxn modelId="{C54C9619-2177-445A-B2E6-36B92EF4964C}" srcId="{6F2D0380-64F5-484C-BE4E-4BB499D008F7}" destId="{39326AD1-858F-45FB-8BB9-5DCF376BE834}" srcOrd="3" destOrd="0" parTransId="{F1072BEE-2237-47B2-8559-8A4AFFCD1F51}" sibTransId="{6A03D510-AECC-4449-B9E6-638EE69CE3A2}"/>
    <dgm:cxn modelId="{E15EB6C7-A4D0-4FF3-B43B-5C6AA3E32440}" srcId="{6F2D0380-64F5-484C-BE4E-4BB499D008F7}" destId="{BFDAEA59-A7FB-467D-A179-064F70029167}" srcOrd="4" destOrd="0" parTransId="{55650AAD-7471-45E2-80E5-43468063CC98}" sibTransId="{146EB7B8-E021-4A3C-8E0B-D6823DBEE0E7}"/>
    <dgm:cxn modelId="{0CB71F7D-3033-4B0A-9858-298DB693B5A5}" type="presOf" srcId="{A4DFFB92-2710-4B6F-A6E1-FEF6EB6439B8}" destId="{18904777-2E6E-42A6-B5BC-D75A26D5C20E}" srcOrd="0" destOrd="0" presId="urn:microsoft.com/office/officeart/2005/8/layout/cycle3"/>
    <dgm:cxn modelId="{11E86A4E-F9B3-4D1C-A774-8617B32586A7}" type="presOf" srcId="{12E735B1-BB45-4B81-94DA-9878A141BFFD}" destId="{591944CA-A60A-4355-AD9F-72964FE7CD6C}" srcOrd="0" destOrd="0" presId="urn:microsoft.com/office/officeart/2005/8/layout/cycle3"/>
    <dgm:cxn modelId="{CC2350A2-BB54-49C0-83D8-DA9ECB914225}" type="presOf" srcId="{4205484D-F6FE-4D05-9536-A6074AE2AB53}" destId="{630CB179-F60D-455F-92A8-10E6150CA583}" srcOrd="0" destOrd="0" presId="urn:microsoft.com/office/officeart/2005/8/layout/cycle3"/>
    <dgm:cxn modelId="{F1B4BA8C-38A1-4CBF-AFB1-40A49C6576A6}" srcId="{6F2D0380-64F5-484C-BE4E-4BB499D008F7}" destId="{5075263F-F07B-469D-913D-519AF086D67D}" srcOrd="1" destOrd="0" parTransId="{5D80D924-DC03-4464-9C3B-483DC59EC111}" sibTransId="{FCDE73EC-A278-47A6-BEA7-4CA376A45D29}"/>
    <dgm:cxn modelId="{EB940549-F198-4C06-A6A6-B1587CD7903A}" srcId="{6F2D0380-64F5-484C-BE4E-4BB499D008F7}" destId="{A4DFFB92-2710-4B6F-A6E1-FEF6EB6439B8}" srcOrd="2" destOrd="0" parTransId="{291EBDCA-1E1B-41C6-85F7-03155B08ED41}" sibTransId="{D20D20E4-BC10-4D44-AF59-8F171BBDEB38}"/>
    <dgm:cxn modelId="{F4B6A275-0DC8-4107-BD96-07C0CA5B249F}" type="presOf" srcId="{39326AD1-858F-45FB-8BB9-5DCF376BE834}" destId="{01862477-DB9E-48E8-A2E7-AE20E0300EC6}" srcOrd="0" destOrd="0" presId="urn:microsoft.com/office/officeart/2005/8/layout/cycle3"/>
    <dgm:cxn modelId="{5CAB0D70-08DB-4DBA-BFD6-39FD5D2D5050}" type="presOf" srcId="{5075263F-F07B-469D-913D-519AF086D67D}" destId="{4187C9C4-E570-4694-824F-9090201213FC}" srcOrd="0" destOrd="0" presId="urn:microsoft.com/office/officeart/2005/8/layout/cycle3"/>
    <dgm:cxn modelId="{AA2DAD39-951A-4251-96DB-82DC8DB7DC3A}" srcId="{6F2D0380-64F5-484C-BE4E-4BB499D008F7}" destId="{4205484D-F6FE-4D05-9536-A6074AE2AB53}" srcOrd="0" destOrd="0" parTransId="{11141D5F-FEB4-467A-BCC1-9B7FDF0D6854}" sibTransId="{12E735B1-BB45-4B81-94DA-9878A141BFFD}"/>
    <dgm:cxn modelId="{D3B7AF36-AA3B-4451-A708-CD0CE089B387}" type="presOf" srcId="{6F2D0380-64F5-484C-BE4E-4BB499D008F7}" destId="{6CE71434-33B7-4C3A-90C7-7CB75AE9C0B1}" srcOrd="0" destOrd="0" presId="urn:microsoft.com/office/officeart/2005/8/layout/cycle3"/>
    <dgm:cxn modelId="{226BBBAD-6944-4A3C-B1A5-8BCA8C50087F}" type="presOf" srcId="{BFDAEA59-A7FB-467D-A179-064F70029167}" destId="{E0F7EC00-D3ED-4EA9-BF1B-062FB292C97E}" srcOrd="0" destOrd="0" presId="urn:microsoft.com/office/officeart/2005/8/layout/cycle3"/>
    <dgm:cxn modelId="{E586E182-4DF3-4194-B8E5-768FE540FEB1}" type="presParOf" srcId="{6CE71434-33B7-4C3A-90C7-7CB75AE9C0B1}" destId="{36B656E8-7BB5-4149-A093-468D030D979E}" srcOrd="0" destOrd="0" presId="urn:microsoft.com/office/officeart/2005/8/layout/cycle3"/>
    <dgm:cxn modelId="{E98DA07F-DA17-441B-9C0F-4877D0602639}" type="presParOf" srcId="{36B656E8-7BB5-4149-A093-468D030D979E}" destId="{630CB179-F60D-455F-92A8-10E6150CA583}" srcOrd="0" destOrd="0" presId="urn:microsoft.com/office/officeart/2005/8/layout/cycle3"/>
    <dgm:cxn modelId="{4683ABC1-30CF-45B4-BF20-2A83CB2D3B7F}" type="presParOf" srcId="{36B656E8-7BB5-4149-A093-468D030D979E}" destId="{591944CA-A60A-4355-AD9F-72964FE7CD6C}" srcOrd="1" destOrd="0" presId="urn:microsoft.com/office/officeart/2005/8/layout/cycle3"/>
    <dgm:cxn modelId="{AF6081E5-949C-4355-9EBA-60FA8FD9E27E}" type="presParOf" srcId="{36B656E8-7BB5-4149-A093-468D030D979E}" destId="{4187C9C4-E570-4694-824F-9090201213FC}" srcOrd="2" destOrd="0" presId="urn:microsoft.com/office/officeart/2005/8/layout/cycle3"/>
    <dgm:cxn modelId="{B6530085-E0FB-43C9-9190-B49F8BA95C64}" type="presParOf" srcId="{36B656E8-7BB5-4149-A093-468D030D979E}" destId="{18904777-2E6E-42A6-B5BC-D75A26D5C20E}" srcOrd="3" destOrd="0" presId="urn:microsoft.com/office/officeart/2005/8/layout/cycle3"/>
    <dgm:cxn modelId="{819F7A67-48CB-4357-A891-9AC10D705701}" type="presParOf" srcId="{36B656E8-7BB5-4149-A093-468D030D979E}" destId="{01862477-DB9E-48E8-A2E7-AE20E0300EC6}" srcOrd="4" destOrd="0" presId="urn:microsoft.com/office/officeart/2005/8/layout/cycle3"/>
    <dgm:cxn modelId="{BFFFEB65-47AA-4530-9EC4-B10F86678ADE}" type="presParOf" srcId="{36B656E8-7BB5-4149-A093-468D030D979E}" destId="{E0F7EC00-D3ED-4EA9-BF1B-062FB292C97E}" srcOrd="5" destOrd="0" presId="urn:microsoft.com/office/officeart/2005/8/layout/cycle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D05F8C5-31D4-45F5-974C-9C79B9B1B94B}"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lang="zh-CN" altLang="en-US"/>
        </a:p>
      </dgm:t>
    </dgm:pt>
    <dgm:pt modelId="{C534A952-9844-40BF-9960-3A2CB7085A00}">
      <dgm:prSet phldrT="[文本]" custT="1"/>
      <dgm:spPr>
        <a:xfrm>
          <a:off x="0" y="1159417"/>
          <a:ext cx="1218879" cy="670856"/>
        </a:xfrm>
        <a:prstGeom prst="roundRect">
          <a:avLst>
            <a:gd name="adj" fmla="val 10000"/>
          </a:avLst>
        </a:prstGeom>
        <a:solidFill>
          <a:srgbClr val="768394">
            <a:hueOff val="0"/>
            <a:satOff val="0"/>
            <a:lumOff val="0"/>
            <a:alphaOff val="0"/>
          </a:srgbClr>
        </a:solidFill>
        <a:ln w="12700" cap="flat" cmpd="sng" algn="ctr">
          <a:solidFill>
            <a:srgbClr val="F0F0F0">
              <a:hueOff val="0"/>
              <a:satOff val="0"/>
              <a:lumOff val="0"/>
              <a:alphaOff val="0"/>
            </a:srgbClr>
          </a:solidFill>
          <a:prstDash val="solid"/>
          <a:miter lim="800000"/>
        </a:ln>
        <a:effectLst/>
      </dgm:spPr>
      <dgm:t>
        <a:bodyPr/>
        <a:lstStyle/>
        <a:p>
          <a:pPr>
            <a:buNone/>
          </a:pPr>
          <a:r>
            <a:rPr lang="zh-CN" altLang="en-US" sz="2000" dirty="0">
              <a:solidFill>
                <a:srgbClr val="FFFFFF"/>
              </a:solidFill>
              <a:latin typeface="Arial" panose="020B0604020202020204"/>
              <a:ea typeface="微软雅黑" panose="020B0503020204020204" pitchFamily="34" charset="-122"/>
              <a:cs typeface="+mn-cs"/>
            </a:rPr>
            <a:t>调研成果</a:t>
          </a:r>
        </a:p>
      </dgm:t>
    </dgm:pt>
    <dgm:pt modelId="{F84319C4-418E-4FCE-ACDF-4F2818B55429}" cxnId="{04FEA706-42D4-4E07-803B-50214E7E1042}" type="parTrans">
      <dgm:prSet/>
      <dgm:spPr/>
      <dgm:t>
        <a:bodyPr/>
        <a:lstStyle/>
        <a:p>
          <a:endParaRPr lang="zh-CN" altLang="en-US"/>
        </a:p>
      </dgm:t>
    </dgm:pt>
    <dgm:pt modelId="{A74CC0EB-154A-4B51-9024-2F8EF19180BC}" cxnId="{04FEA706-42D4-4E07-803B-50214E7E1042}" type="sibTrans">
      <dgm:prSet/>
      <dgm:spPr/>
      <dgm:t>
        <a:bodyPr/>
        <a:lstStyle/>
        <a:p>
          <a:endParaRPr lang="zh-CN" altLang="en-US"/>
        </a:p>
      </dgm:t>
    </dgm:pt>
    <dgm:pt modelId="{02884169-FC27-4F78-A3EE-41F9E90D1344}">
      <dgm:prSet phldrT="[文本]" custT="1"/>
      <dgm:spPr>
        <a:xfrm>
          <a:off x="1775626" y="2189"/>
          <a:ext cx="2348066" cy="670856"/>
        </a:xfrm>
        <a:prstGeom prst="roundRect">
          <a:avLst>
            <a:gd name="adj" fmla="val 10000"/>
          </a:avLst>
        </a:prstGeom>
        <a:solidFill>
          <a:srgbClr val="768394">
            <a:hueOff val="0"/>
            <a:satOff val="0"/>
            <a:lumOff val="0"/>
            <a:alphaOff val="0"/>
          </a:srgbClr>
        </a:solidFill>
        <a:ln w="12700" cap="flat" cmpd="sng" algn="ctr">
          <a:solidFill>
            <a:srgbClr val="F0F0F0">
              <a:hueOff val="0"/>
              <a:satOff val="0"/>
              <a:lumOff val="0"/>
              <a:alphaOff val="0"/>
            </a:srgbClr>
          </a:solidFill>
          <a:prstDash val="solid"/>
          <a:miter lim="800000"/>
        </a:ln>
        <a:effectLst/>
      </dgm:spPr>
      <dgm:t>
        <a:bodyPr/>
        <a:lstStyle/>
        <a:p>
          <a:pPr>
            <a:buNone/>
          </a:pPr>
          <a:r>
            <a:rPr lang="zh-CN" altLang="en-US" sz="1800" dirty="0">
              <a:solidFill>
                <a:srgbClr val="FFFFFF"/>
              </a:solidFill>
              <a:latin typeface="Arial" panose="020B0604020202020204"/>
              <a:ea typeface="微软雅黑" panose="020B0503020204020204" pitchFamily="34" charset="-122"/>
              <a:cs typeface="+mn-cs"/>
            </a:rPr>
            <a:t>校级数据标准</a:t>
          </a:r>
        </a:p>
      </dgm:t>
    </dgm:pt>
    <dgm:pt modelId="{C6285ECC-AAAA-4DAF-8B21-72A07175C8BF}" cxnId="{95007196-15B5-4431-95AA-C8B919E9A17A}" type="parTrans">
      <dgm:prSet custT="1"/>
      <dgm:spPr>
        <a:xfrm rot="17741543">
          <a:off x="855158" y="896036"/>
          <a:ext cx="1284189" cy="40390"/>
        </a:xfrm>
        <a:custGeom>
          <a:avLst/>
          <a:gdLst/>
          <a:ahLst/>
          <a:cxnLst/>
          <a:rect l="0" t="0" r="0" b="0"/>
          <a:pathLst>
            <a:path>
              <a:moveTo>
                <a:pt x="0" y="20195"/>
              </a:moveTo>
              <a:lnTo>
                <a:pt x="1284189" y="20195"/>
              </a:lnTo>
            </a:path>
          </a:pathLst>
        </a:custGeom>
        <a:noFill/>
        <a:ln w="12700" cap="flat" cmpd="sng" algn="ctr">
          <a:solidFill>
            <a:srgbClr val="768394">
              <a:shade val="60000"/>
              <a:hueOff val="0"/>
              <a:satOff val="0"/>
              <a:lumOff val="0"/>
              <a:alphaOff val="0"/>
            </a:srgbClr>
          </a:solidFill>
          <a:prstDash val="solid"/>
          <a:miter lim="800000"/>
        </a:ln>
        <a:effectLst/>
      </dgm:spPr>
      <dgm:t>
        <a:bodyPr/>
        <a:lstStyle/>
        <a:p>
          <a:pPr>
            <a:buNone/>
          </a:pPr>
          <a:endParaRPr lang="zh-CN" altLang="en-US" sz="600">
            <a:solidFill>
              <a:srgbClr val="000000">
                <a:hueOff val="0"/>
                <a:satOff val="0"/>
                <a:lumOff val="0"/>
                <a:alphaOff val="0"/>
              </a:srgbClr>
            </a:solidFill>
            <a:latin typeface="Arial" panose="020B0604020202020204"/>
            <a:ea typeface="微软雅黑" panose="020B0503020204020204" pitchFamily="34" charset="-122"/>
            <a:cs typeface="+mn-cs"/>
          </a:endParaRPr>
        </a:p>
      </dgm:t>
    </dgm:pt>
    <dgm:pt modelId="{7DDC528A-36CB-4BBD-9BCE-B291B5B38375}" cxnId="{95007196-15B5-4431-95AA-C8B919E9A17A}" type="sibTrans">
      <dgm:prSet/>
      <dgm:spPr/>
      <dgm:t>
        <a:bodyPr/>
        <a:lstStyle/>
        <a:p>
          <a:endParaRPr lang="zh-CN" altLang="en-US"/>
        </a:p>
      </dgm:t>
    </dgm:pt>
    <dgm:pt modelId="{1C69DD01-DF21-4DAD-843A-DED19F176E6A}">
      <dgm:prSet phldrT="[文本]" custT="1"/>
      <dgm:spPr>
        <a:xfrm>
          <a:off x="1775626" y="1545159"/>
          <a:ext cx="2348066" cy="670856"/>
        </a:xfrm>
        <a:prstGeom prst="roundRect">
          <a:avLst>
            <a:gd name="adj" fmla="val 10000"/>
          </a:avLst>
        </a:prstGeom>
        <a:solidFill>
          <a:srgbClr val="768394">
            <a:hueOff val="0"/>
            <a:satOff val="0"/>
            <a:lumOff val="0"/>
            <a:alphaOff val="0"/>
          </a:srgbClr>
        </a:solidFill>
        <a:ln w="12700" cap="flat" cmpd="sng" algn="ctr">
          <a:solidFill>
            <a:srgbClr val="F0F0F0">
              <a:hueOff val="0"/>
              <a:satOff val="0"/>
              <a:lumOff val="0"/>
              <a:alphaOff val="0"/>
            </a:srgbClr>
          </a:solidFill>
          <a:prstDash val="solid"/>
          <a:miter lim="800000"/>
        </a:ln>
        <a:effectLst/>
      </dgm:spPr>
      <dgm:t>
        <a:bodyPr/>
        <a:lstStyle/>
        <a:p>
          <a:pPr>
            <a:buNone/>
          </a:pPr>
          <a:r>
            <a:rPr lang="zh-CN" altLang="en-US" sz="1800" dirty="0">
              <a:solidFill>
                <a:srgbClr val="FFFFFF"/>
              </a:solidFill>
              <a:latin typeface="Arial" panose="020B0604020202020204"/>
              <a:ea typeface="微软雅黑" panose="020B0503020204020204" pitchFamily="34" charset="-122"/>
              <a:cs typeface="+mn-cs"/>
            </a:rPr>
            <a:t>各项数据的权威来源</a:t>
          </a:r>
        </a:p>
      </dgm:t>
    </dgm:pt>
    <dgm:pt modelId="{F041FD37-E571-439D-8C62-3C5B1F114F3E}" cxnId="{2B64DBB4-C9A5-475E-A233-B960107B6FDA}" type="parTrans">
      <dgm:prSet custT="1"/>
      <dgm:spPr>
        <a:xfrm rot="2082972">
          <a:off x="1158592" y="1667521"/>
          <a:ext cx="677321" cy="40390"/>
        </a:xfrm>
        <a:custGeom>
          <a:avLst/>
          <a:gdLst/>
          <a:ahLst/>
          <a:cxnLst/>
          <a:rect l="0" t="0" r="0" b="0"/>
          <a:pathLst>
            <a:path>
              <a:moveTo>
                <a:pt x="0" y="20195"/>
              </a:moveTo>
              <a:lnTo>
                <a:pt x="677321" y="20195"/>
              </a:lnTo>
            </a:path>
          </a:pathLst>
        </a:custGeom>
        <a:noFill/>
        <a:ln w="12700" cap="flat" cmpd="sng" algn="ctr">
          <a:solidFill>
            <a:srgbClr val="768394">
              <a:shade val="60000"/>
              <a:hueOff val="0"/>
              <a:satOff val="0"/>
              <a:lumOff val="0"/>
              <a:alphaOff val="0"/>
            </a:srgbClr>
          </a:solidFill>
          <a:prstDash val="solid"/>
          <a:miter lim="800000"/>
        </a:ln>
        <a:effectLst/>
      </dgm:spPr>
      <dgm:t>
        <a:bodyPr/>
        <a:lstStyle/>
        <a:p>
          <a:pPr>
            <a:buNone/>
          </a:pPr>
          <a:endParaRPr lang="zh-CN" altLang="en-US" sz="600">
            <a:solidFill>
              <a:srgbClr val="000000">
                <a:hueOff val="0"/>
                <a:satOff val="0"/>
                <a:lumOff val="0"/>
                <a:alphaOff val="0"/>
              </a:srgbClr>
            </a:solidFill>
            <a:latin typeface="Arial" panose="020B0604020202020204"/>
            <a:ea typeface="微软雅黑" panose="020B0503020204020204" pitchFamily="34" charset="-122"/>
            <a:cs typeface="+mn-cs"/>
          </a:endParaRPr>
        </a:p>
      </dgm:t>
    </dgm:pt>
    <dgm:pt modelId="{5920350E-23EF-4FB7-BA9F-9EB05AC08E6F}" cxnId="{2B64DBB4-C9A5-475E-A233-B960107B6FDA}" type="sibTrans">
      <dgm:prSet/>
      <dgm:spPr/>
      <dgm:t>
        <a:bodyPr/>
        <a:lstStyle/>
        <a:p>
          <a:endParaRPr lang="zh-CN" altLang="en-US"/>
        </a:p>
      </dgm:t>
    </dgm:pt>
    <dgm:pt modelId="{2F1B5582-8329-4C8E-9A3F-E811DC056E06}">
      <dgm:prSet phldrT="[文本]" custT="1"/>
      <dgm:spPr>
        <a:xfrm>
          <a:off x="1775626" y="2316645"/>
          <a:ext cx="2348066" cy="670856"/>
        </a:xfrm>
        <a:prstGeom prst="roundRect">
          <a:avLst>
            <a:gd name="adj" fmla="val 10000"/>
          </a:avLst>
        </a:prstGeom>
        <a:solidFill>
          <a:srgbClr val="768394">
            <a:hueOff val="0"/>
            <a:satOff val="0"/>
            <a:lumOff val="0"/>
            <a:alphaOff val="0"/>
          </a:srgbClr>
        </a:solidFill>
        <a:ln w="12700" cap="flat" cmpd="sng" algn="ctr">
          <a:solidFill>
            <a:srgbClr val="F0F0F0">
              <a:hueOff val="0"/>
              <a:satOff val="0"/>
              <a:lumOff val="0"/>
              <a:alphaOff val="0"/>
            </a:srgbClr>
          </a:solidFill>
          <a:prstDash val="solid"/>
          <a:miter lim="800000"/>
        </a:ln>
        <a:effectLst/>
      </dgm:spPr>
      <dgm:t>
        <a:bodyPr/>
        <a:lstStyle/>
        <a:p>
          <a:pPr>
            <a:buNone/>
          </a:pPr>
          <a:r>
            <a:rPr lang="zh-CN" altLang="en-US" sz="1800" dirty="0">
              <a:solidFill>
                <a:srgbClr val="FFFFFF"/>
              </a:solidFill>
              <a:latin typeface="Arial" panose="020B0604020202020204"/>
              <a:ea typeface="微软雅黑" panose="020B0503020204020204" pitchFamily="34" charset="-122"/>
              <a:cs typeface="+mn-cs"/>
            </a:rPr>
            <a:t>部门的数据供需关系</a:t>
          </a:r>
        </a:p>
      </dgm:t>
    </dgm:pt>
    <dgm:pt modelId="{0D77E4A3-BFFC-4273-9046-D93016CE34BE}" cxnId="{338DA898-A637-42F1-9A7A-4F3231D50833}" type="parTrans">
      <dgm:prSet custT="1"/>
      <dgm:spPr>
        <a:xfrm rot="3858457">
          <a:off x="855158" y="2053264"/>
          <a:ext cx="1284189" cy="40390"/>
        </a:xfrm>
        <a:custGeom>
          <a:avLst/>
          <a:gdLst/>
          <a:ahLst/>
          <a:cxnLst/>
          <a:rect l="0" t="0" r="0" b="0"/>
          <a:pathLst>
            <a:path>
              <a:moveTo>
                <a:pt x="0" y="20195"/>
              </a:moveTo>
              <a:lnTo>
                <a:pt x="1284189" y="20195"/>
              </a:lnTo>
            </a:path>
          </a:pathLst>
        </a:custGeom>
        <a:noFill/>
        <a:ln w="12700" cap="flat" cmpd="sng" algn="ctr">
          <a:solidFill>
            <a:srgbClr val="768394">
              <a:shade val="60000"/>
              <a:hueOff val="0"/>
              <a:satOff val="0"/>
              <a:lumOff val="0"/>
              <a:alphaOff val="0"/>
            </a:srgbClr>
          </a:solidFill>
          <a:prstDash val="solid"/>
          <a:miter lim="800000"/>
        </a:ln>
        <a:effectLst/>
      </dgm:spPr>
      <dgm:t>
        <a:bodyPr/>
        <a:lstStyle/>
        <a:p>
          <a:pPr>
            <a:buNone/>
          </a:pPr>
          <a:endParaRPr lang="zh-CN" altLang="en-US" sz="600">
            <a:solidFill>
              <a:srgbClr val="000000">
                <a:hueOff val="0"/>
                <a:satOff val="0"/>
                <a:lumOff val="0"/>
                <a:alphaOff val="0"/>
              </a:srgbClr>
            </a:solidFill>
            <a:latin typeface="Arial" panose="020B0604020202020204"/>
            <a:ea typeface="微软雅黑" panose="020B0503020204020204" pitchFamily="34" charset="-122"/>
            <a:cs typeface="+mn-cs"/>
          </a:endParaRPr>
        </a:p>
      </dgm:t>
    </dgm:pt>
    <dgm:pt modelId="{7CEC2C00-C969-4DAF-9D90-17ABB340C156}" cxnId="{338DA898-A637-42F1-9A7A-4F3231D50833}" type="sibTrans">
      <dgm:prSet/>
      <dgm:spPr/>
      <dgm:t>
        <a:bodyPr/>
        <a:lstStyle/>
        <a:p>
          <a:endParaRPr lang="zh-CN" altLang="en-US"/>
        </a:p>
      </dgm:t>
    </dgm:pt>
    <dgm:pt modelId="{BEC3AFB0-F15B-4C62-A3B8-FAA2226486F6}">
      <dgm:prSet phldrT="[文本]" custT="1"/>
      <dgm:spPr>
        <a:xfrm>
          <a:off x="1775626" y="773674"/>
          <a:ext cx="2348066" cy="670856"/>
        </a:xfrm>
        <a:prstGeom prst="roundRect">
          <a:avLst>
            <a:gd name="adj" fmla="val 10000"/>
          </a:avLst>
        </a:prstGeom>
        <a:solidFill>
          <a:srgbClr val="768394">
            <a:hueOff val="0"/>
            <a:satOff val="0"/>
            <a:lumOff val="0"/>
            <a:alphaOff val="0"/>
          </a:srgbClr>
        </a:solidFill>
        <a:ln w="12700" cap="flat" cmpd="sng" algn="ctr">
          <a:solidFill>
            <a:srgbClr val="F0F0F0">
              <a:hueOff val="0"/>
              <a:satOff val="0"/>
              <a:lumOff val="0"/>
              <a:alphaOff val="0"/>
            </a:srgbClr>
          </a:solidFill>
          <a:prstDash val="solid"/>
          <a:miter lim="800000"/>
        </a:ln>
        <a:effectLst/>
      </dgm:spPr>
      <dgm:t>
        <a:bodyPr/>
        <a:lstStyle/>
        <a:p>
          <a:pPr>
            <a:buNone/>
          </a:pPr>
          <a:r>
            <a:rPr lang="zh-CN" altLang="en-US" sz="1800" dirty="0">
              <a:solidFill>
                <a:srgbClr val="FFFFFF"/>
              </a:solidFill>
              <a:latin typeface="Arial" panose="020B0604020202020204"/>
              <a:ea typeface="微软雅黑" panose="020B0503020204020204" pitchFamily="34" charset="-122"/>
              <a:cs typeface="+mn-cs"/>
            </a:rPr>
            <a:t>校级代码标准</a:t>
          </a:r>
        </a:p>
      </dgm:t>
    </dgm:pt>
    <dgm:pt modelId="{E49B4297-6FED-4B49-A2E0-3A5DD228F897}" cxnId="{BE2DB939-26CF-4F31-BD4D-B755DD4EA9F9}" type="parTrans">
      <dgm:prSet custT="1"/>
      <dgm:spPr>
        <a:xfrm rot="19517028">
          <a:off x="1158592" y="1281779"/>
          <a:ext cx="677321" cy="40390"/>
        </a:xfrm>
        <a:custGeom>
          <a:avLst/>
          <a:gdLst/>
          <a:ahLst/>
          <a:cxnLst/>
          <a:rect l="0" t="0" r="0" b="0"/>
          <a:pathLst>
            <a:path>
              <a:moveTo>
                <a:pt x="0" y="20195"/>
              </a:moveTo>
              <a:lnTo>
                <a:pt x="677321" y="20195"/>
              </a:lnTo>
            </a:path>
          </a:pathLst>
        </a:custGeom>
        <a:noFill/>
        <a:ln w="12700" cap="flat" cmpd="sng" algn="ctr">
          <a:solidFill>
            <a:srgbClr val="768394">
              <a:shade val="60000"/>
              <a:hueOff val="0"/>
              <a:satOff val="0"/>
              <a:lumOff val="0"/>
              <a:alphaOff val="0"/>
            </a:srgbClr>
          </a:solidFill>
          <a:prstDash val="solid"/>
          <a:miter lim="800000"/>
        </a:ln>
        <a:effectLst/>
      </dgm:spPr>
      <dgm:t>
        <a:bodyPr/>
        <a:lstStyle/>
        <a:p>
          <a:pPr>
            <a:buNone/>
          </a:pPr>
          <a:endParaRPr lang="zh-CN" altLang="en-US" sz="600">
            <a:solidFill>
              <a:srgbClr val="000000">
                <a:hueOff val="0"/>
                <a:satOff val="0"/>
                <a:lumOff val="0"/>
                <a:alphaOff val="0"/>
              </a:srgbClr>
            </a:solidFill>
            <a:latin typeface="Arial" panose="020B0604020202020204"/>
            <a:ea typeface="微软雅黑" panose="020B0503020204020204" pitchFamily="34" charset="-122"/>
            <a:cs typeface="+mn-cs"/>
          </a:endParaRPr>
        </a:p>
      </dgm:t>
    </dgm:pt>
    <dgm:pt modelId="{30A98076-60EA-47F5-922D-DD960301B129}" cxnId="{BE2DB939-26CF-4F31-BD4D-B755DD4EA9F9}" type="sibTrans">
      <dgm:prSet/>
      <dgm:spPr/>
      <dgm:t>
        <a:bodyPr/>
        <a:lstStyle/>
        <a:p>
          <a:endParaRPr lang="zh-CN" altLang="en-US"/>
        </a:p>
      </dgm:t>
    </dgm:pt>
    <dgm:pt modelId="{458411B3-EDFC-495D-BC5C-6D5D9356586E}" type="pres">
      <dgm:prSet presAssocID="{9D05F8C5-31D4-45F5-974C-9C79B9B1B94B}" presName="diagram" presStyleCnt="0">
        <dgm:presLayoutVars>
          <dgm:chPref val="1"/>
          <dgm:dir/>
          <dgm:animOne val="branch"/>
          <dgm:animLvl val="lvl"/>
          <dgm:resizeHandles val="exact"/>
        </dgm:presLayoutVars>
      </dgm:prSet>
      <dgm:spPr/>
      <dgm:t>
        <a:bodyPr/>
        <a:lstStyle/>
        <a:p>
          <a:endParaRPr lang="zh-CN" altLang="en-US"/>
        </a:p>
      </dgm:t>
    </dgm:pt>
    <dgm:pt modelId="{D49A1A4D-5153-40A7-8162-B2D66EFEFD4C}" type="pres">
      <dgm:prSet presAssocID="{C534A952-9844-40BF-9960-3A2CB7085A00}" presName="root1" presStyleCnt="0"/>
      <dgm:spPr/>
    </dgm:pt>
    <dgm:pt modelId="{41CFADC4-5CC0-4F40-9A5C-A36A76C4D465}" type="pres">
      <dgm:prSet presAssocID="{C534A952-9844-40BF-9960-3A2CB7085A00}" presName="LevelOneTextNode" presStyleLbl="node0" presStyleIdx="0" presStyleCnt="1" custScaleX="90845" custLinFactNeighborX="-12897">
        <dgm:presLayoutVars>
          <dgm:chPref val="3"/>
        </dgm:presLayoutVars>
      </dgm:prSet>
      <dgm:spPr/>
      <dgm:t>
        <a:bodyPr/>
        <a:lstStyle/>
        <a:p>
          <a:endParaRPr lang="zh-CN" altLang="en-US"/>
        </a:p>
      </dgm:t>
    </dgm:pt>
    <dgm:pt modelId="{E2B51393-E3BE-4035-8BE5-D54D51A5E5E4}" type="pres">
      <dgm:prSet presAssocID="{C534A952-9844-40BF-9960-3A2CB7085A00}" presName="level2hierChild" presStyleCnt="0"/>
      <dgm:spPr/>
    </dgm:pt>
    <dgm:pt modelId="{0E74F2F7-FB71-4F37-8808-637CF239FF06}" type="pres">
      <dgm:prSet presAssocID="{C6285ECC-AAAA-4DAF-8B21-72A07175C8BF}" presName="conn2-1" presStyleLbl="parChTrans1D2" presStyleIdx="0" presStyleCnt="4" custScaleX="2000000"/>
      <dgm:spPr/>
      <dgm:t>
        <a:bodyPr/>
        <a:lstStyle/>
        <a:p>
          <a:endParaRPr lang="zh-CN" altLang="en-US"/>
        </a:p>
      </dgm:t>
    </dgm:pt>
    <dgm:pt modelId="{AE327BEC-7A32-41ED-BCEA-3BCA7C9B0A02}" type="pres">
      <dgm:prSet presAssocID="{C6285ECC-AAAA-4DAF-8B21-72A07175C8BF}" presName="connTx" presStyleLbl="parChTrans1D2" presStyleIdx="0" presStyleCnt="4"/>
      <dgm:spPr/>
      <dgm:t>
        <a:bodyPr/>
        <a:lstStyle/>
        <a:p>
          <a:endParaRPr lang="zh-CN" altLang="en-US"/>
        </a:p>
      </dgm:t>
    </dgm:pt>
    <dgm:pt modelId="{8D3A3C42-209C-469D-81AF-57821C0BAEAD}" type="pres">
      <dgm:prSet presAssocID="{02884169-FC27-4F78-A3EE-41F9E90D1344}" presName="root2" presStyleCnt="0"/>
      <dgm:spPr/>
    </dgm:pt>
    <dgm:pt modelId="{A3BD51A9-1E14-48D6-A34B-C4B7E8B0CBE8}" type="pres">
      <dgm:prSet presAssocID="{02884169-FC27-4F78-A3EE-41F9E90D1344}" presName="LevelTwoTextNode" presStyleLbl="node2" presStyleIdx="0" presStyleCnt="4" custScaleX="175005">
        <dgm:presLayoutVars>
          <dgm:chPref val="3"/>
        </dgm:presLayoutVars>
      </dgm:prSet>
      <dgm:spPr/>
      <dgm:t>
        <a:bodyPr/>
        <a:lstStyle/>
        <a:p>
          <a:endParaRPr lang="zh-CN" altLang="en-US"/>
        </a:p>
      </dgm:t>
    </dgm:pt>
    <dgm:pt modelId="{19FFF6E1-2B3D-4A8F-BEE8-4D381561C524}" type="pres">
      <dgm:prSet presAssocID="{02884169-FC27-4F78-A3EE-41F9E90D1344}" presName="level3hierChild" presStyleCnt="0"/>
      <dgm:spPr/>
    </dgm:pt>
    <dgm:pt modelId="{31917618-D0E1-40EF-B128-22AF6EE4569A}" type="pres">
      <dgm:prSet presAssocID="{E49B4297-6FED-4B49-A2E0-3A5DD228F897}" presName="conn2-1" presStyleLbl="parChTrans1D2" presStyleIdx="1" presStyleCnt="4" custScaleX="2000000"/>
      <dgm:spPr/>
      <dgm:t>
        <a:bodyPr/>
        <a:lstStyle/>
        <a:p>
          <a:endParaRPr lang="zh-CN" altLang="en-US"/>
        </a:p>
      </dgm:t>
    </dgm:pt>
    <dgm:pt modelId="{C0AC10BF-C046-4971-8D67-EDEF5F229284}" type="pres">
      <dgm:prSet presAssocID="{E49B4297-6FED-4B49-A2E0-3A5DD228F897}" presName="connTx" presStyleLbl="parChTrans1D2" presStyleIdx="1" presStyleCnt="4"/>
      <dgm:spPr/>
      <dgm:t>
        <a:bodyPr/>
        <a:lstStyle/>
        <a:p>
          <a:endParaRPr lang="zh-CN" altLang="en-US"/>
        </a:p>
      </dgm:t>
    </dgm:pt>
    <dgm:pt modelId="{CDF32730-1F95-4A62-BA55-4B4CB4E4F0AE}" type="pres">
      <dgm:prSet presAssocID="{BEC3AFB0-F15B-4C62-A3B8-FAA2226486F6}" presName="root2" presStyleCnt="0"/>
      <dgm:spPr/>
    </dgm:pt>
    <dgm:pt modelId="{5B61DDE8-2738-48DB-A87E-C0A54376C93A}" type="pres">
      <dgm:prSet presAssocID="{BEC3AFB0-F15B-4C62-A3B8-FAA2226486F6}" presName="LevelTwoTextNode" presStyleLbl="node2" presStyleIdx="1" presStyleCnt="4" custScaleX="175005">
        <dgm:presLayoutVars>
          <dgm:chPref val="3"/>
        </dgm:presLayoutVars>
      </dgm:prSet>
      <dgm:spPr>
        <a:xfrm>
          <a:off x="1734705" y="293034"/>
          <a:ext cx="1277319" cy="638659"/>
        </a:xfrm>
      </dgm:spPr>
      <dgm:t>
        <a:bodyPr/>
        <a:lstStyle/>
        <a:p>
          <a:endParaRPr lang="zh-CN" altLang="en-US"/>
        </a:p>
      </dgm:t>
    </dgm:pt>
    <dgm:pt modelId="{0D9CBDA1-D9A9-460B-A84A-11DB1D64D4FF}" type="pres">
      <dgm:prSet presAssocID="{BEC3AFB0-F15B-4C62-A3B8-FAA2226486F6}" presName="level3hierChild" presStyleCnt="0"/>
      <dgm:spPr/>
    </dgm:pt>
    <dgm:pt modelId="{48C06E38-AA04-4A3D-8C59-17BFED2B932C}" type="pres">
      <dgm:prSet presAssocID="{F041FD37-E571-439D-8C62-3C5B1F114F3E}" presName="conn2-1" presStyleLbl="parChTrans1D2" presStyleIdx="2" presStyleCnt="4" custScaleX="2000000"/>
      <dgm:spPr/>
      <dgm:t>
        <a:bodyPr/>
        <a:lstStyle/>
        <a:p>
          <a:endParaRPr lang="zh-CN" altLang="en-US"/>
        </a:p>
      </dgm:t>
    </dgm:pt>
    <dgm:pt modelId="{490177A6-978F-463B-BB1D-55B3E5DAC39A}" type="pres">
      <dgm:prSet presAssocID="{F041FD37-E571-439D-8C62-3C5B1F114F3E}" presName="connTx" presStyleLbl="parChTrans1D2" presStyleIdx="2" presStyleCnt="4"/>
      <dgm:spPr/>
      <dgm:t>
        <a:bodyPr/>
        <a:lstStyle/>
        <a:p>
          <a:endParaRPr lang="zh-CN" altLang="en-US"/>
        </a:p>
      </dgm:t>
    </dgm:pt>
    <dgm:pt modelId="{25A8DF8C-02DE-402B-A922-A1E6E293384F}" type="pres">
      <dgm:prSet presAssocID="{1C69DD01-DF21-4DAD-843A-DED19F176E6A}" presName="root2" presStyleCnt="0"/>
      <dgm:spPr/>
    </dgm:pt>
    <dgm:pt modelId="{240A618E-7EBF-4C9A-9FC1-D8D3226A680E}" type="pres">
      <dgm:prSet presAssocID="{1C69DD01-DF21-4DAD-843A-DED19F176E6A}" presName="LevelTwoTextNode" presStyleLbl="node2" presStyleIdx="2" presStyleCnt="4" custScaleX="175005">
        <dgm:presLayoutVars>
          <dgm:chPref val="3"/>
        </dgm:presLayoutVars>
      </dgm:prSet>
      <dgm:spPr/>
      <dgm:t>
        <a:bodyPr/>
        <a:lstStyle/>
        <a:p>
          <a:endParaRPr lang="zh-CN" altLang="en-US"/>
        </a:p>
      </dgm:t>
    </dgm:pt>
    <dgm:pt modelId="{EF368826-2C54-4A69-99A1-20A693887EA3}" type="pres">
      <dgm:prSet presAssocID="{1C69DD01-DF21-4DAD-843A-DED19F176E6A}" presName="level3hierChild" presStyleCnt="0"/>
      <dgm:spPr/>
    </dgm:pt>
    <dgm:pt modelId="{821F2718-86EB-4A31-B48B-02887304CE16}" type="pres">
      <dgm:prSet presAssocID="{0D77E4A3-BFFC-4273-9046-D93016CE34BE}" presName="conn2-1" presStyleLbl="parChTrans1D2" presStyleIdx="3" presStyleCnt="4" custScaleX="2000000"/>
      <dgm:spPr/>
      <dgm:t>
        <a:bodyPr/>
        <a:lstStyle/>
        <a:p>
          <a:endParaRPr lang="zh-CN" altLang="en-US"/>
        </a:p>
      </dgm:t>
    </dgm:pt>
    <dgm:pt modelId="{BF2095AF-A6A7-4288-A0C5-8DF9C3F7893A}" type="pres">
      <dgm:prSet presAssocID="{0D77E4A3-BFFC-4273-9046-D93016CE34BE}" presName="connTx" presStyleLbl="parChTrans1D2" presStyleIdx="3" presStyleCnt="4"/>
      <dgm:spPr/>
      <dgm:t>
        <a:bodyPr/>
        <a:lstStyle/>
        <a:p>
          <a:endParaRPr lang="zh-CN" altLang="en-US"/>
        </a:p>
      </dgm:t>
    </dgm:pt>
    <dgm:pt modelId="{D5B0B574-A8F7-46DC-957C-94F7D5ED2C1F}" type="pres">
      <dgm:prSet presAssocID="{2F1B5582-8329-4C8E-9A3F-E811DC056E06}" presName="root2" presStyleCnt="0"/>
      <dgm:spPr/>
    </dgm:pt>
    <dgm:pt modelId="{C94D7394-364F-483C-916C-18DB78987573}" type="pres">
      <dgm:prSet presAssocID="{2F1B5582-8329-4C8E-9A3F-E811DC056E06}" presName="LevelTwoTextNode" presStyleLbl="node2" presStyleIdx="3" presStyleCnt="4" custScaleX="175005">
        <dgm:presLayoutVars>
          <dgm:chPref val="3"/>
        </dgm:presLayoutVars>
      </dgm:prSet>
      <dgm:spPr/>
      <dgm:t>
        <a:bodyPr/>
        <a:lstStyle/>
        <a:p>
          <a:endParaRPr lang="zh-CN" altLang="en-US"/>
        </a:p>
      </dgm:t>
    </dgm:pt>
    <dgm:pt modelId="{3D8EBEB2-8811-4CA0-B6ED-A61D7CE15C31}" type="pres">
      <dgm:prSet presAssocID="{2F1B5582-8329-4C8E-9A3F-E811DC056E06}" presName="level3hierChild" presStyleCnt="0"/>
      <dgm:spPr/>
    </dgm:pt>
  </dgm:ptLst>
  <dgm:cxnLst>
    <dgm:cxn modelId="{9885CF6F-B71E-4572-995E-68BEC70E790A}" type="presOf" srcId="{0D77E4A3-BFFC-4273-9046-D93016CE34BE}" destId="{BF2095AF-A6A7-4288-A0C5-8DF9C3F7893A}" srcOrd="1" destOrd="0" presId="urn:microsoft.com/office/officeart/2005/8/layout/hierarchy2"/>
    <dgm:cxn modelId="{D83FF09F-5810-43D1-BEF5-EF23C1423DE4}" type="presOf" srcId="{C6285ECC-AAAA-4DAF-8B21-72A07175C8BF}" destId="{AE327BEC-7A32-41ED-BCEA-3BCA7C9B0A02}" srcOrd="1" destOrd="0" presId="urn:microsoft.com/office/officeart/2005/8/layout/hierarchy2"/>
    <dgm:cxn modelId="{04FEA706-42D4-4E07-803B-50214E7E1042}" srcId="{9D05F8C5-31D4-45F5-974C-9C79B9B1B94B}" destId="{C534A952-9844-40BF-9960-3A2CB7085A00}" srcOrd="0" destOrd="0" parTransId="{F84319C4-418E-4FCE-ACDF-4F2818B55429}" sibTransId="{A74CC0EB-154A-4B51-9024-2F8EF19180BC}"/>
    <dgm:cxn modelId="{2B64DBB4-C9A5-475E-A233-B960107B6FDA}" srcId="{C534A952-9844-40BF-9960-3A2CB7085A00}" destId="{1C69DD01-DF21-4DAD-843A-DED19F176E6A}" srcOrd="2" destOrd="0" parTransId="{F041FD37-E571-439D-8C62-3C5B1F114F3E}" sibTransId="{5920350E-23EF-4FB7-BA9F-9EB05AC08E6F}"/>
    <dgm:cxn modelId="{2DA60265-DF8C-401E-85B1-1B47B88B034B}" type="presOf" srcId="{9D05F8C5-31D4-45F5-974C-9C79B9B1B94B}" destId="{458411B3-EDFC-495D-BC5C-6D5D9356586E}" srcOrd="0" destOrd="0" presId="urn:microsoft.com/office/officeart/2005/8/layout/hierarchy2"/>
    <dgm:cxn modelId="{338DA898-A637-42F1-9A7A-4F3231D50833}" srcId="{C534A952-9844-40BF-9960-3A2CB7085A00}" destId="{2F1B5582-8329-4C8E-9A3F-E811DC056E06}" srcOrd="3" destOrd="0" parTransId="{0D77E4A3-BFFC-4273-9046-D93016CE34BE}" sibTransId="{7CEC2C00-C969-4DAF-9D90-17ABB340C156}"/>
    <dgm:cxn modelId="{BB2D3596-F5F6-4D71-8820-D3030839FFE7}" type="presOf" srcId="{1C69DD01-DF21-4DAD-843A-DED19F176E6A}" destId="{240A618E-7EBF-4C9A-9FC1-D8D3226A680E}" srcOrd="0" destOrd="0" presId="urn:microsoft.com/office/officeart/2005/8/layout/hierarchy2"/>
    <dgm:cxn modelId="{4587DA51-A692-4DC4-A473-C1AABF10DF26}" type="presOf" srcId="{2F1B5582-8329-4C8E-9A3F-E811DC056E06}" destId="{C94D7394-364F-483C-916C-18DB78987573}" srcOrd="0" destOrd="0" presId="urn:microsoft.com/office/officeart/2005/8/layout/hierarchy2"/>
    <dgm:cxn modelId="{95007196-15B5-4431-95AA-C8B919E9A17A}" srcId="{C534A952-9844-40BF-9960-3A2CB7085A00}" destId="{02884169-FC27-4F78-A3EE-41F9E90D1344}" srcOrd="0" destOrd="0" parTransId="{C6285ECC-AAAA-4DAF-8B21-72A07175C8BF}" sibTransId="{7DDC528A-36CB-4BBD-9BCE-B291B5B38375}"/>
    <dgm:cxn modelId="{BE2DB939-26CF-4F31-BD4D-B755DD4EA9F9}" srcId="{C534A952-9844-40BF-9960-3A2CB7085A00}" destId="{BEC3AFB0-F15B-4C62-A3B8-FAA2226486F6}" srcOrd="1" destOrd="0" parTransId="{E49B4297-6FED-4B49-A2E0-3A5DD228F897}" sibTransId="{30A98076-60EA-47F5-922D-DD960301B129}"/>
    <dgm:cxn modelId="{C5C31201-843D-44CE-818D-D0C20BFFD01F}" type="presOf" srcId="{C534A952-9844-40BF-9960-3A2CB7085A00}" destId="{41CFADC4-5CC0-4F40-9A5C-A36A76C4D465}" srcOrd="0" destOrd="0" presId="urn:microsoft.com/office/officeart/2005/8/layout/hierarchy2"/>
    <dgm:cxn modelId="{F0E21C72-242B-4A8A-B892-6F105AF14607}" type="presOf" srcId="{C6285ECC-AAAA-4DAF-8B21-72A07175C8BF}" destId="{0E74F2F7-FB71-4F37-8808-637CF239FF06}" srcOrd="0" destOrd="0" presId="urn:microsoft.com/office/officeart/2005/8/layout/hierarchy2"/>
    <dgm:cxn modelId="{BFE5CCC0-4086-4EB7-ABE6-831769C750E0}" type="presOf" srcId="{E49B4297-6FED-4B49-A2E0-3A5DD228F897}" destId="{C0AC10BF-C046-4971-8D67-EDEF5F229284}" srcOrd="1" destOrd="0" presId="urn:microsoft.com/office/officeart/2005/8/layout/hierarchy2"/>
    <dgm:cxn modelId="{C2E30B37-3B35-4083-B613-CAA7C771694C}" type="presOf" srcId="{BEC3AFB0-F15B-4C62-A3B8-FAA2226486F6}" destId="{5B61DDE8-2738-48DB-A87E-C0A54376C93A}" srcOrd="0" destOrd="0" presId="urn:microsoft.com/office/officeart/2005/8/layout/hierarchy2"/>
    <dgm:cxn modelId="{F9E55B84-ECAD-4314-B39E-65DFF7C19234}" type="presOf" srcId="{F041FD37-E571-439D-8C62-3C5B1F114F3E}" destId="{490177A6-978F-463B-BB1D-55B3E5DAC39A}" srcOrd="1" destOrd="0" presId="urn:microsoft.com/office/officeart/2005/8/layout/hierarchy2"/>
    <dgm:cxn modelId="{8FCE2DBE-CDFD-4194-A7D5-546C9ABF0719}" type="presOf" srcId="{F041FD37-E571-439D-8C62-3C5B1F114F3E}" destId="{48C06E38-AA04-4A3D-8C59-17BFED2B932C}" srcOrd="0" destOrd="0" presId="urn:microsoft.com/office/officeart/2005/8/layout/hierarchy2"/>
    <dgm:cxn modelId="{7241B311-5CF3-4E60-8966-F29ED079F311}" type="presOf" srcId="{E49B4297-6FED-4B49-A2E0-3A5DD228F897}" destId="{31917618-D0E1-40EF-B128-22AF6EE4569A}" srcOrd="0" destOrd="0" presId="urn:microsoft.com/office/officeart/2005/8/layout/hierarchy2"/>
    <dgm:cxn modelId="{B6BD7D00-A4A4-4EF7-B1D8-31810512072F}" type="presOf" srcId="{02884169-FC27-4F78-A3EE-41F9E90D1344}" destId="{A3BD51A9-1E14-48D6-A34B-C4B7E8B0CBE8}" srcOrd="0" destOrd="0" presId="urn:microsoft.com/office/officeart/2005/8/layout/hierarchy2"/>
    <dgm:cxn modelId="{9CBFDD6B-02C7-43D1-91F1-E70CD286922A}" type="presOf" srcId="{0D77E4A3-BFFC-4273-9046-D93016CE34BE}" destId="{821F2718-86EB-4A31-B48B-02887304CE16}" srcOrd="0" destOrd="0" presId="urn:microsoft.com/office/officeart/2005/8/layout/hierarchy2"/>
    <dgm:cxn modelId="{0BDD737D-5AB0-4C0B-B708-4CA02EB72D31}" type="presParOf" srcId="{458411B3-EDFC-495D-BC5C-6D5D9356586E}" destId="{D49A1A4D-5153-40A7-8162-B2D66EFEFD4C}" srcOrd="0" destOrd="0" presId="urn:microsoft.com/office/officeart/2005/8/layout/hierarchy2"/>
    <dgm:cxn modelId="{A316D918-849F-4CA1-8AA2-736B3B55E498}" type="presParOf" srcId="{D49A1A4D-5153-40A7-8162-B2D66EFEFD4C}" destId="{41CFADC4-5CC0-4F40-9A5C-A36A76C4D465}" srcOrd="0" destOrd="0" presId="urn:microsoft.com/office/officeart/2005/8/layout/hierarchy2"/>
    <dgm:cxn modelId="{9A1FE6B6-EB8A-4EE8-8EA2-A2BA212DB56D}" type="presParOf" srcId="{D49A1A4D-5153-40A7-8162-B2D66EFEFD4C}" destId="{E2B51393-E3BE-4035-8BE5-D54D51A5E5E4}" srcOrd="1" destOrd="0" presId="urn:microsoft.com/office/officeart/2005/8/layout/hierarchy2"/>
    <dgm:cxn modelId="{3C61DD8F-62B0-4AF0-A6BD-10BB402737E0}" type="presParOf" srcId="{E2B51393-E3BE-4035-8BE5-D54D51A5E5E4}" destId="{0E74F2F7-FB71-4F37-8808-637CF239FF06}" srcOrd="0" destOrd="0" presId="urn:microsoft.com/office/officeart/2005/8/layout/hierarchy2"/>
    <dgm:cxn modelId="{8C7EB363-4C77-41BD-8985-4A5BFBA2CD51}" type="presParOf" srcId="{0E74F2F7-FB71-4F37-8808-637CF239FF06}" destId="{AE327BEC-7A32-41ED-BCEA-3BCA7C9B0A02}" srcOrd="0" destOrd="0" presId="urn:microsoft.com/office/officeart/2005/8/layout/hierarchy2"/>
    <dgm:cxn modelId="{4488850C-BBB7-41EA-B357-2F4CA4E96697}" type="presParOf" srcId="{E2B51393-E3BE-4035-8BE5-D54D51A5E5E4}" destId="{8D3A3C42-209C-469D-81AF-57821C0BAEAD}" srcOrd="1" destOrd="0" presId="urn:microsoft.com/office/officeart/2005/8/layout/hierarchy2"/>
    <dgm:cxn modelId="{46740F49-8DDF-496D-AA5C-905218664D68}" type="presParOf" srcId="{8D3A3C42-209C-469D-81AF-57821C0BAEAD}" destId="{A3BD51A9-1E14-48D6-A34B-C4B7E8B0CBE8}" srcOrd="0" destOrd="0" presId="urn:microsoft.com/office/officeart/2005/8/layout/hierarchy2"/>
    <dgm:cxn modelId="{495D3FE6-EC69-43B3-90B8-39BB7517ED4F}" type="presParOf" srcId="{8D3A3C42-209C-469D-81AF-57821C0BAEAD}" destId="{19FFF6E1-2B3D-4A8F-BEE8-4D381561C524}" srcOrd="1" destOrd="0" presId="urn:microsoft.com/office/officeart/2005/8/layout/hierarchy2"/>
    <dgm:cxn modelId="{124D9106-21D3-417A-B309-276C2E8B1AAE}" type="presParOf" srcId="{E2B51393-E3BE-4035-8BE5-D54D51A5E5E4}" destId="{31917618-D0E1-40EF-B128-22AF6EE4569A}" srcOrd="2" destOrd="0" presId="urn:microsoft.com/office/officeart/2005/8/layout/hierarchy2"/>
    <dgm:cxn modelId="{3D0624C9-16AA-4E50-A438-E445726A14CC}" type="presParOf" srcId="{31917618-D0E1-40EF-B128-22AF6EE4569A}" destId="{C0AC10BF-C046-4971-8D67-EDEF5F229284}" srcOrd="0" destOrd="0" presId="urn:microsoft.com/office/officeart/2005/8/layout/hierarchy2"/>
    <dgm:cxn modelId="{AE00D0BD-CFEF-43BD-9848-B902C824F42D}" type="presParOf" srcId="{E2B51393-E3BE-4035-8BE5-D54D51A5E5E4}" destId="{CDF32730-1F95-4A62-BA55-4B4CB4E4F0AE}" srcOrd="3" destOrd="0" presId="urn:microsoft.com/office/officeart/2005/8/layout/hierarchy2"/>
    <dgm:cxn modelId="{E02EC1FE-36A5-4644-A6D1-C2D75EB8D1A3}" type="presParOf" srcId="{CDF32730-1F95-4A62-BA55-4B4CB4E4F0AE}" destId="{5B61DDE8-2738-48DB-A87E-C0A54376C93A}" srcOrd="0" destOrd="0" presId="urn:microsoft.com/office/officeart/2005/8/layout/hierarchy2"/>
    <dgm:cxn modelId="{FAF15BD6-F48C-49BA-BC59-64CF5F2E92D1}" type="presParOf" srcId="{CDF32730-1F95-4A62-BA55-4B4CB4E4F0AE}" destId="{0D9CBDA1-D9A9-460B-A84A-11DB1D64D4FF}" srcOrd="1" destOrd="0" presId="urn:microsoft.com/office/officeart/2005/8/layout/hierarchy2"/>
    <dgm:cxn modelId="{4FCB61DF-73D9-4163-9F0F-886FC61D8E63}" type="presParOf" srcId="{E2B51393-E3BE-4035-8BE5-D54D51A5E5E4}" destId="{48C06E38-AA04-4A3D-8C59-17BFED2B932C}" srcOrd="4" destOrd="0" presId="urn:microsoft.com/office/officeart/2005/8/layout/hierarchy2"/>
    <dgm:cxn modelId="{05372085-3B0C-466F-95CA-86FD1A3EEBA8}" type="presParOf" srcId="{48C06E38-AA04-4A3D-8C59-17BFED2B932C}" destId="{490177A6-978F-463B-BB1D-55B3E5DAC39A}" srcOrd="0" destOrd="0" presId="urn:microsoft.com/office/officeart/2005/8/layout/hierarchy2"/>
    <dgm:cxn modelId="{FDEA81B1-C75D-4FD9-89E2-A36790CB6382}" type="presParOf" srcId="{E2B51393-E3BE-4035-8BE5-D54D51A5E5E4}" destId="{25A8DF8C-02DE-402B-A922-A1E6E293384F}" srcOrd="5" destOrd="0" presId="urn:microsoft.com/office/officeart/2005/8/layout/hierarchy2"/>
    <dgm:cxn modelId="{53C94DA2-8AA1-40C8-A950-CF5B1C8ABA83}" type="presParOf" srcId="{25A8DF8C-02DE-402B-A922-A1E6E293384F}" destId="{240A618E-7EBF-4C9A-9FC1-D8D3226A680E}" srcOrd="0" destOrd="0" presId="urn:microsoft.com/office/officeart/2005/8/layout/hierarchy2"/>
    <dgm:cxn modelId="{7D0A57BD-F9B3-477D-BA10-2234ED757AF8}" type="presParOf" srcId="{25A8DF8C-02DE-402B-A922-A1E6E293384F}" destId="{EF368826-2C54-4A69-99A1-20A693887EA3}" srcOrd="1" destOrd="0" presId="urn:microsoft.com/office/officeart/2005/8/layout/hierarchy2"/>
    <dgm:cxn modelId="{1B345E6D-285D-46DD-BAD0-55D4540441E0}" type="presParOf" srcId="{E2B51393-E3BE-4035-8BE5-D54D51A5E5E4}" destId="{821F2718-86EB-4A31-B48B-02887304CE16}" srcOrd="6" destOrd="0" presId="urn:microsoft.com/office/officeart/2005/8/layout/hierarchy2"/>
    <dgm:cxn modelId="{DD88EE94-1865-4933-AB83-FC80726566EE}" type="presParOf" srcId="{821F2718-86EB-4A31-B48B-02887304CE16}" destId="{BF2095AF-A6A7-4288-A0C5-8DF9C3F7893A}" srcOrd="0" destOrd="0" presId="urn:microsoft.com/office/officeart/2005/8/layout/hierarchy2"/>
    <dgm:cxn modelId="{20A1B0EB-B2F7-4A37-9233-41DCC7550B80}" type="presParOf" srcId="{E2B51393-E3BE-4035-8BE5-D54D51A5E5E4}" destId="{D5B0B574-A8F7-46DC-957C-94F7D5ED2C1F}" srcOrd="7" destOrd="0" presId="urn:microsoft.com/office/officeart/2005/8/layout/hierarchy2"/>
    <dgm:cxn modelId="{73EE858B-9AF3-4211-ABFF-C0BAF07B78D5}" type="presParOf" srcId="{D5B0B574-A8F7-46DC-957C-94F7D5ED2C1F}" destId="{C94D7394-364F-483C-916C-18DB78987573}" srcOrd="0" destOrd="0" presId="urn:microsoft.com/office/officeart/2005/8/layout/hierarchy2"/>
    <dgm:cxn modelId="{AB181980-65E5-4400-BFCE-E8A62C45ED26}" type="presParOf" srcId="{D5B0B574-A8F7-46DC-957C-94F7D5ED2C1F}" destId="{3D8EBEB2-8811-4CA0-B6ED-A61D7CE15C31}"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F9BC6C9-542B-47DD-9847-88F569BA6CA8}" type="doc">
      <dgm:prSet loTypeId="urn:microsoft.com/office/officeart/2005/8/layout/hierarchy2" loCatId="hierarchy" qsTypeId="urn:microsoft.com/office/officeart/2005/8/quickstyle/simple1" qsCatId="simple" csTypeId="urn:microsoft.com/office/officeart/2005/8/colors/colorful4" csCatId="colorful" phldr="1"/>
      <dgm:spPr/>
      <dgm:t>
        <a:bodyPr/>
        <a:lstStyle/>
        <a:p>
          <a:endParaRPr lang="zh-CN" altLang="en-US"/>
        </a:p>
      </dgm:t>
    </dgm:pt>
    <dgm:pt modelId="{D298A76C-53D1-4FBB-8A16-DD75B3DCD160}">
      <dgm:prSet phldrT="[文本]" custT="1"/>
      <dgm:spPr>
        <a:xfrm>
          <a:off x="853687" y="542938"/>
          <a:ext cx="937845" cy="468922"/>
        </a:xfrm>
        <a:prstGeom prst="roundRect">
          <a:avLst>
            <a:gd name="adj" fmla="val 10000"/>
          </a:avLst>
        </a:prstGeom>
      </dgm:spPr>
      <dgm:t>
        <a:bodyPr/>
        <a:lstStyle/>
        <a:p>
          <a:pPr>
            <a:buNone/>
          </a:pPr>
          <a:r>
            <a:rPr lang="zh-CN" altLang="en-US" sz="1200">
              <a:latin typeface="Arial" panose="020B0604020202020204"/>
              <a:ea typeface="微软雅黑" panose="020B0503020204020204" pitchFamily="34" charset="-122"/>
              <a:cs typeface="+mn-cs"/>
            </a:rPr>
            <a:t>数统学院</a:t>
          </a:r>
          <a:endParaRPr lang="zh-CN" altLang="en-US" sz="1200" dirty="0">
            <a:latin typeface="Arial" panose="020B0604020202020204"/>
            <a:ea typeface="微软雅黑" panose="020B0503020204020204" pitchFamily="34" charset="-122"/>
            <a:cs typeface="+mn-cs"/>
          </a:endParaRPr>
        </a:p>
      </dgm:t>
    </dgm:pt>
    <dgm:pt modelId="{08D96BC8-2234-42FB-8F49-00E4429C9486}" cxnId="{3FBEB2CC-4304-474A-811F-DDDC750FE4D0}" type="parTrans">
      <dgm:prSet/>
      <dgm:spPr/>
      <dgm:t>
        <a:bodyPr/>
        <a:lstStyle/>
        <a:p>
          <a:endParaRPr lang="zh-CN" altLang="en-US" sz="900"/>
        </a:p>
      </dgm:t>
    </dgm:pt>
    <dgm:pt modelId="{70B3F519-1711-45EE-9758-670C2B9CD497}" cxnId="{3FBEB2CC-4304-474A-811F-DDDC750FE4D0}" type="sibTrans">
      <dgm:prSet/>
      <dgm:spPr/>
      <dgm:t>
        <a:bodyPr/>
        <a:lstStyle/>
        <a:p>
          <a:endParaRPr lang="zh-CN" altLang="en-US" sz="900"/>
        </a:p>
      </dgm:t>
    </dgm:pt>
    <dgm:pt modelId="{D1D15FAB-8812-4FF5-B9BD-047204DC4CC4}">
      <dgm:prSet phldrT="[文本]" custT="1"/>
      <dgm:spPr>
        <a:xfrm>
          <a:off x="2166672" y="3677"/>
          <a:ext cx="723913" cy="468922"/>
        </a:xfrm>
        <a:prstGeom prst="roundRect">
          <a:avLst>
            <a:gd name="adj" fmla="val 10000"/>
          </a:avLst>
        </a:prstGeom>
      </dgm:spPr>
      <dgm:t>
        <a:bodyPr/>
        <a:lstStyle/>
        <a:p>
          <a:pPr algn="l">
            <a:buNone/>
          </a:pPr>
          <a:r>
            <a:rPr lang="zh-CN" altLang="en-US" sz="1000" dirty="0">
              <a:latin typeface="Arial" panose="020B0604020202020204"/>
              <a:ea typeface="微软雅黑" panose="020B0503020204020204" pitchFamily="34" charset="-122"/>
              <a:cs typeface="+mn-cs"/>
            </a:rPr>
            <a:t>本科生学习成绩、课程成绩数据、图书馆借阅刷卡、一卡通消费</a:t>
          </a:r>
          <a:endParaRPr lang="zh-CN" altLang="en-US" sz="1400" dirty="0">
            <a:latin typeface="Arial" panose="020B0604020202020204"/>
            <a:ea typeface="微软雅黑" panose="020B0503020204020204" pitchFamily="34" charset="-122"/>
            <a:cs typeface="+mn-cs"/>
          </a:endParaRPr>
        </a:p>
      </dgm:t>
    </dgm:pt>
    <dgm:pt modelId="{316E6AC3-4667-407C-B6C9-5F35197E0EF8}" cxnId="{ABE0DF74-0628-4074-A500-5CF69ABA89FD}" type="parTrans">
      <dgm:prSet custT="1"/>
      <dgm:spPr>
        <a:xfrm rot="18289469">
          <a:off x="1650647" y="494466"/>
          <a:ext cx="656910" cy="26604"/>
        </a:xfrm>
        <a:custGeom>
          <a:avLst/>
          <a:gdLst/>
          <a:ahLst/>
          <a:cxnLst/>
          <a:rect l="0" t="0" r="0" b="0"/>
          <a:pathLst>
            <a:path>
              <a:moveTo>
                <a:pt x="0" y="13302"/>
              </a:moveTo>
              <a:lnTo>
                <a:pt x="656910" y="13302"/>
              </a:lnTo>
            </a:path>
          </a:pathLst>
        </a:custGeom>
      </dgm:spPr>
      <dgm:t>
        <a:bodyPr/>
        <a:lstStyle/>
        <a:p>
          <a:pPr>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gm:t>
    </dgm:pt>
    <dgm:pt modelId="{96CD5C34-D2BD-465E-A7CD-8197EBA3AFE4}" cxnId="{ABE0DF74-0628-4074-A500-5CF69ABA89FD}" type="sibTrans">
      <dgm:prSet/>
      <dgm:spPr/>
      <dgm:t>
        <a:bodyPr/>
        <a:lstStyle/>
        <a:p>
          <a:endParaRPr lang="zh-CN" altLang="en-US" sz="900"/>
        </a:p>
      </dgm:t>
    </dgm:pt>
    <dgm:pt modelId="{57EED5C8-DCF4-4A4E-B8BE-6210C6F7149E}">
      <dgm:prSet phldrT="[文本]" custT="1"/>
      <dgm:spPr>
        <a:xfrm>
          <a:off x="853687" y="1621461"/>
          <a:ext cx="937845" cy="468922"/>
        </a:xfrm>
        <a:prstGeom prst="roundRect">
          <a:avLst>
            <a:gd name="adj" fmla="val 10000"/>
          </a:avLst>
        </a:prstGeom>
      </dgm:spPr>
      <dgm:t>
        <a:bodyPr/>
        <a:lstStyle/>
        <a:p>
          <a:pPr>
            <a:buNone/>
          </a:pPr>
          <a:r>
            <a:rPr lang="zh-CN" altLang="en-US" sz="1200">
              <a:latin typeface="Arial" panose="020B0604020202020204"/>
              <a:ea typeface="微软雅黑" panose="020B0503020204020204" pitchFamily="34" charset="-122"/>
              <a:cs typeface="+mn-cs"/>
            </a:rPr>
            <a:t>文学院</a:t>
          </a:r>
          <a:endParaRPr lang="zh-CN" altLang="en-US" sz="1200" dirty="0">
            <a:latin typeface="Arial" panose="020B0604020202020204"/>
            <a:ea typeface="微软雅黑" panose="020B0503020204020204" pitchFamily="34" charset="-122"/>
            <a:cs typeface="+mn-cs"/>
          </a:endParaRPr>
        </a:p>
      </dgm:t>
    </dgm:pt>
    <dgm:pt modelId="{78F2925E-0F7F-4CDF-BCAB-237C0A727AE9}" cxnId="{A91FB66B-E908-4FC9-AE17-D901514F41C6}" type="parTrans">
      <dgm:prSet/>
      <dgm:spPr/>
      <dgm:t>
        <a:bodyPr/>
        <a:lstStyle/>
        <a:p>
          <a:endParaRPr lang="zh-CN" altLang="en-US" sz="900"/>
        </a:p>
      </dgm:t>
    </dgm:pt>
    <dgm:pt modelId="{5758BB33-DC6A-4A8D-8F94-4D043C2EBD31}" cxnId="{A91FB66B-E908-4FC9-AE17-D901514F41C6}" type="sibTrans">
      <dgm:prSet/>
      <dgm:spPr/>
      <dgm:t>
        <a:bodyPr/>
        <a:lstStyle/>
        <a:p>
          <a:endParaRPr lang="zh-CN" altLang="en-US" sz="900"/>
        </a:p>
      </dgm:t>
    </dgm:pt>
    <dgm:pt modelId="{6190D39F-8953-4C68-BD97-AE694A2CAA80}">
      <dgm:prSet phldrT="[文本]" custT="1"/>
      <dgm:spPr>
        <a:xfrm>
          <a:off x="853687" y="2160722"/>
          <a:ext cx="937845" cy="468922"/>
        </a:xfrm>
        <a:prstGeom prst="roundRect">
          <a:avLst>
            <a:gd name="adj" fmla="val 10000"/>
          </a:avLst>
        </a:prstGeom>
      </dgm:spPr>
      <dgm:t>
        <a:bodyPr/>
        <a:lstStyle/>
        <a:p>
          <a:pPr>
            <a:buNone/>
          </a:pPr>
          <a:r>
            <a:rPr lang="zh-CN" altLang="en-US" sz="1200" dirty="0">
              <a:latin typeface="Arial" panose="020B0604020202020204"/>
              <a:ea typeface="微软雅黑" panose="020B0503020204020204" pitchFamily="34" charset="-122"/>
              <a:cs typeface="+mn-cs"/>
            </a:rPr>
            <a:t>社会学院</a:t>
          </a:r>
        </a:p>
      </dgm:t>
    </dgm:pt>
    <dgm:pt modelId="{1B2DB54D-A0D0-4759-93F0-8DBD6A764F33}" cxnId="{95189120-74E0-4F16-A99C-5775C1F7C10B}" type="parTrans">
      <dgm:prSet/>
      <dgm:spPr/>
      <dgm:t>
        <a:bodyPr/>
        <a:lstStyle/>
        <a:p>
          <a:endParaRPr lang="zh-CN" altLang="en-US" sz="900"/>
        </a:p>
      </dgm:t>
    </dgm:pt>
    <dgm:pt modelId="{A9688504-4754-4BD1-9372-3C7106F602A3}" cxnId="{95189120-74E0-4F16-A99C-5775C1F7C10B}" type="sibTrans">
      <dgm:prSet/>
      <dgm:spPr/>
      <dgm:t>
        <a:bodyPr/>
        <a:lstStyle/>
        <a:p>
          <a:endParaRPr lang="zh-CN" altLang="en-US" sz="900"/>
        </a:p>
      </dgm:t>
    </dgm:pt>
    <dgm:pt modelId="{FDA6FCF0-3FC3-44E0-BE7C-1E5B46147715}">
      <dgm:prSet phldrT="[文本]" custT="1"/>
      <dgm:spPr>
        <a:xfrm>
          <a:off x="2166672" y="2160722"/>
          <a:ext cx="723913" cy="468922"/>
        </a:xfrm>
        <a:prstGeom prst="roundRect">
          <a:avLst>
            <a:gd name="adj" fmla="val 10000"/>
          </a:avLst>
        </a:prstGeom>
      </dgm:spPr>
      <dgm:t>
        <a:bodyPr/>
        <a:lstStyle/>
        <a:p>
          <a:pPr algn="l">
            <a:buNone/>
          </a:pPr>
          <a:r>
            <a:rPr lang="zh-CN" altLang="en-US" sz="1000" dirty="0">
              <a:latin typeface="Arial" panose="020B0604020202020204"/>
              <a:ea typeface="微软雅黑" panose="020B0503020204020204" pitchFamily="34" charset="-122"/>
              <a:cs typeface="+mn-cs"/>
            </a:rPr>
            <a:t>宿舍数据</a:t>
          </a:r>
          <a:endParaRPr lang="zh-CN" altLang="en-US" sz="1400" dirty="0">
            <a:latin typeface="Arial" panose="020B0604020202020204"/>
            <a:ea typeface="微软雅黑" panose="020B0503020204020204" pitchFamily="34" charset="-122"/>
            <a:cs typeface="+mn-cs"/>
          </a:endParaRPr>
        </a:p>
      </dgm:t>
    </dgm:pt>
    <dgm:pt modelId="{B3C9A6AD-28E6-425D-8A03-A2A0A9F91F7E}" cxnId="{B4395831-B03A-4EE4-8011-57F7DC8ED383}" type="parTrans">
      <dgm:prSet custT="1"/>
      <dgm:spPr>
        <a:xfrm>
          <a:off x="1791533" y="2381881"/>
          <a:ext cx="375138" cy="26604"/>
        </a:xfrm>
        <a:custGeom>
          <a:avLst/>
          <a:gdLst/>
          <a:ahLst/>
          <a:cxnLst/>
          <a:rect l="0" t="0" r="0" b="0"/>
          <a:pathLst>
            <a:path>
              <a:moveTo>
                <a:pt x="0" y="13302"/>
              </a:moveTo>
              <a:lnTo>
                <a:pt x="375138" y="13302"/>
              </a:lnTo>
            </a:path>
          </a:pathLst>
        </a:custGeom>
      </dgm:spPr>
      <dgm:t>
        <a:bodyPr/>
        <a:lstStyle/>
        <a:p>
          <a:pPr>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gm:t>
    </dgm:pt>
    <dgm:pt modelId="{C7C69297-7548-48F6-B95B-40919B80E184}" cxnId="{B4395831-B03A-4EE4-8011-57F7DC8ED383}" type="sibTrans">
      <dgm:prSet/>
      <dgm:spPr/>
      <dgm:t>
        <a:bodyPr/>
        <a:lstStyle/>
        <a:p>
          <a:endParaRPr lang="zh-CN" altLang="en-US" sz="900"/>
        </a:p>
      </dgm:t>
    </dgm:pt>
    <dgm:pt modelId="{B76787FC-439A-4401-AA16-BFDCAF48497A}">
      <dgm:prSet phldrT="[文本]" custT="1"/>
      <dgm:spPr>
        <a:xfrm>
          <a:off x="853687" y="2699983"/>
          <a:ext cx="937845" cy="468922"/>
        </a:xfrm>
        <a:prstGeom prst="roundRect">
          <a:avLst>
            <a:gd name="adj" fmla="val 10000"/>
          </a:avLst>
        </a:prstGeom>
      </dgm:spPr>
      <dgm:t>
        <a:bodyPr/>
        <a:lstStyle/>
        <a:p>
          <a:pPr>
            <a:buNone/>
          </a:pPr>
          <a:r>
            <a:rPr lang="zh-CN" altLang="en-US" sz="1200" dirty="0">
              <a:latin typeface="Arial" panose="020B0604020202020204"/>
              <a:ea typeface="微软雅黑" panose="020B0503020204020204" pitchFamily="34" charset="-122"/>
              <a:cs typeface="+mn-cs"/>
            </a:rPr>
            <a:t>工程中心</a:t>
          </a:r>
        </a:p>
      </dgm:t>
    </dgm:pt>
    <dgm:pt modelId="{9AB491CF-DCCE-4D51-A58E-EFEE8E6DAC49}" cxnId="{1942E13B-9FC0-4505-A18E-84B712914BEF}" type="parTrans">
      <dgm:prSet/>
      <dgm:spPr/>
      <dgm:t>
        <a:bodyPr/>
        <a:lstStyle/>
        <a:p>
          <a:endParaRPr lang="zh-CN" altLang="en-US" sz="900"/>
        </a:p>
      </dgm:t>
    </dgm:pt>
    <dgm:pt modelId="{7D93AB75-6FC2-431B-A2F1-D6DA4D1E4B0E}" cxnId="{1942E13B-9FC0-4505-A18E-84B712914BEF}" type="sibTrans">
      <dgm:prSet/>
      <dgm:spPr/>
      <dgm:t>
        <a:bodyPr/>
        <a:lstStyle/>
        <a:p>
          <a:endParaRPr lang="zh-CN" altLang="en-US" sz="900"/>
        </a:p>
      </dgm:t>
    </dgm:pt>
    <dgm:pt modelId="{B28B7BF5-0DC6-45CA-B5B8-3F6A245E408E}">
      <dgm:prSet phldrT="[文本]" custT="1"/>
      <dgm:spPr>
        <a:xfrm>
          <a:off x="2166672" y="542938"/>
          <a:ext cx="723913" cy="468922"/>
        </a:xfrm>
        <a:prstGeom prst="roundRect">
          <a:avLst>
            <a:gd name="adj" fmla="val 10000"/>
          </a:avLst>
        </a:prstGeom>
      </dgm:spPr>
      <dgm:t>
        <a:bodyPr/>
        <a:lstStyle/>
        <a:p>
          <a:pPr algn="l">
            <a:buNone/>
          </a:pPr>
          <a:r>
            <a:rPr lang="zh-CN" altLang="en-US" sz="1000" kern="1200" dirty="0">
              <a:latin typeface="Arial" panose="020B0604020202020204"/>
              <a:ea typeface="微软雅黑" panose="020B0503020204020204" pitchFamily="34" charset="-122"/>
              <a:cs typeface="+mn-cs"/>
            </a:rPr>
            <a:t>成绩，评教，学生基本数据</a:t>
          </a:r>
          <a:endParaRPr lang="zh-CN" altLang="en-US" sz="1400" dirty="0">
            <a:latin typeface="Arial" panose="020B0604020202020204"/>
            <a:ea typeface="微软雅黑" panose="020B0503020204020204" pitchFamily="34" charset="-122"/>
            <a:cs typeface="+mn-cs"/>
          </a:endParaRPr>
        </a:p>
      </dgm:t>
    </dgm:pt>
    <dgm:pt modelId="{D432D05A-D56C-4EB8-9583-3A66EC15402D}" cxnId="{8901B95F-EB25-4CFB-8EE5-AC6146964993}" type="parTrans">
      <dgm:prSet custT="1"/>
      <dgm:spPr>
        <a:xfrm>
          <a:off x="1791533" y="764097"/>
          <a:ext cx="375138" cy="26604"/>
        </a:xfrm>
        <a:custGeom>
          <a:avLst/>
          <a:gdLst/>
          <a:ahLst/>
          <a:cxnLst/>
          <a:rect l="0" t="0" r="0" b="0"/>
          <a:pathLst>
            <a:path>
              <a:moveTo>
                <a:pt x="0" y="13302"/>
              </a:moveTo>
              <a:lnTo>
                <a:pt x="375138" y="13302"/>
              </a:lnTo>
            </a:path>
          </a:pathLst>
        </a:custGeom>
      </dgm:spPr>
      <dgm:t>
        <a:bodyPr/>
        <a:lstStyle/>
        <a:p>
          <a:pPr>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gm:t>
    </dgm:pt>
    <dgm:pt modelId="{95417B14-2350-4D76-AE0B-4CB90E7C547B}" cxnId="{8901B95F-EB25-4CFB-8EE5-AC6146964993}" type="sibTrans">
      <dgm:prSet/>
      <dgm:spPr/>
      <dgm:t>
        <a:bodyPr/>
        <a:lstStyle/>
        <a:p>
          <a:endParaRPr lang="zh-CN" altLang="en-US" sz="900"/>
        </a:p>
      </dgm:t>
    </dgm:pt>
    <dgm:pt modelId="{D9DFC156-9DEA-4E8E-8D24-7D2C8682F7FB}">
      <dgm:prSet phldrT="[文本]" custT="1"/>
      <dgm:spPr>
        <a:xfrm>
          <a:off x="2166672" y="1082199"/>
          <a:ext cx="723913" cy="468922"/>
        </a:xfrm>
        <a:prstGeom prst="roundRect">
          <a:avLst>
            <a:gd name="adj" fmla="val 10000"/>
          </a:avLst>
        </a:prstGeom>
      </dgm:spPr>
      <dgm:t>
        <a:bodyPr/>
        <a:lstStyle/>
        <a:p>
          <a:pPr algn="l">
            <a:buNone/>
          </a:pPr>
          <a:r>
            <a:rPr lang="zh-CN" altLang="en-US" sz="1000" kern="1200" dirty="0">
              <a:latin typeface="Arial" panose="020B0604020202020204"/>
              <a:ea typeface="微软雅黑" panose="020B0503020204020204" pitchFamily="34" charset="-122"/>
              <a:cs typeface="+mn-cs"/>
            </a:rPr>
            <a:t>学生基本数据、课程数据</a:t>
          </a:r>
          <a:endParaRPr lang="zh-CN" altLang="en-US" sz="1400" dirty="0">
            <a:latin typeface="Arial" panose="020B0604020202020204"/>
            <a:ea typeface="微软雅黑" panose="020B0503020204020204" pitchFamily="34" charset="-122"/>
            <a:cs typeface="+mn-cs"/>
          </a:endParaRPr>
        </a:p>
      </dgm:t>
    </dgm:pt>
    <dgm:pt modelId="{CD84A76C-5279-48FF-B415-CBFB7B23CC62}" cxnId="{90A62118-DEF8-46E2-9E87-115C757FC5E6}" type="parTrans">
      <dgm:prSet custT="1"/>
      <dgm:spPr>
        <a:xfrm rot="3310531">
          <a:off x="1650647" y="1033728"/>
          <a:ext cx="656910" cy="26604"/>
        </a:xfrm>
        <a:custGeom>
          <a:avLst/>
          <a:gdLst/>
          <a:ahLst/>
          <a:cxnLst/>
          <a:rect l="0" t="0" r="0" b="0"/>
          <a:pathLst>
            <a:path>
              <a:moveTo>
                <a:pt x="0" y="13302"/>
              </a:moveTo>
              <a:lnTo>
                <a:pt x="656910" y="13302"/>
              </a:lnTo>
            </a:path>
          </a:pathLst>
        </a:custGeom>
      </dgm:spPr>
      <dgm:t>
        <a:bodyPr/>
        <a:lstStyle/>
        <a:p>
          <a:pPr>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gm:t>
    </dgm:pt>
    <dgm:pt modelId="{C0B11482-7232-4D42-A684-3CA57EDE5F54}" cxnId="{90A62118-DEF8-46E2-9E87-115C757FC5E6}" type="sibTrans">
      <dgm:prSet/>
      <dgm:spPr/>
      <dgm:t>
        <a:bodyPr/>
        <a:lstStyle/>
        <a:p>
          <a:endParaRPr lang="zh-CN" altLang="en-US" sz="900"/>
        </a:p>
      </dgm:t>
    </dgm:pt>
    <dgm:pt modelId="{BAB4B52B-7669-43EC-94EA-BF6A705CDF50}">
      <dgm:prSet phldrT="[文本]" custT="1"/>
      <dgm:spPr>
        <a:xfrm>
          <a:off x="2166672" y="1621461"/>
          <a:ext cx="723913" cy="468922"/>
        </a:xfrm>
        <a:prstGeom prst="roundRect">
          <a:avLst>
            <a:gd name="adj" fmla="val 10000"/>
          </a:avLst>
        </a:prstGeom>
      </dgm:spPr>
      <dgm:t>
        <a:bodyPr/>
        <a:lstStyle/>
        <a:p>
          <a:pPr algn="l">
            <a:buNone/>
          </a:pPr>
          <a:r>
            <a:rPr lang="zh-CN" altLang="en-US" sz="1000" kern="1200" dirty="0">
              <a:latin typeface="Arial" panose="020B0604020202020204"/>
              <a:ea typeface="微软雅黑" panose="020B0503020204020204" pitchFamily="34" charset="-122"/>
              <a:cs typeface="+mn-cs"/>
            </a:rPr>
            <a:t>上网时长，课程、借阅、一卡通消费、选课、成绩</a:t>
          </a:r>
          <a:endParaRPr lang="zh-CN" altLang="en-US" sz="1400" dirty="0">
            <a:latin typeface="Arial" panose="020B0604020202020204"/>
            <a:ea typeface="微软雅黑" panose="020B0503020204020204" pitchFamily="34" charset="-122"/>
            <a:cs typeface="+mn-cs"/>
          </a:endParaRPr>
        </a:p>
      </dgm:t>
    </dgm:pt>
    <dgm:pt modelId="{2EBDD54D-B0B7-49AB-8690-3530C66B1B23}" cxnId="{7061CFF0-B80C-48BA-8F4C-9F9DA3EC0A73}" type="parTrans">
      <dgm:prSet custT="1"/>
      <dgm:spPr>
        <a:xfrm>
          <a:off x="1791533" y="1842620"/>
          <a:ext cx="375138" cy="26604"/>
        </a:xfrm>
        <a:custGeom>
          <a:avLst/>
          <a:gdLst/>
          <a:ahLst/>
          <a:cxnLst/>
          <a:rect l="0" t="0" r="0" b="0"/>
          <a:pathLst>
            <a:path>
              <a:moveTo>
                <a:pt x="0" y="13302"/>
              </a:moveTo>
              <a:lnTo>
                <a:pt x="375138" y="13302"/>
              </a:lnTo>
            </a:path>
          </a:pathLst>
        </a:custGeom>
      </dgm:spPr>
      <dgm:t>
        <a:bodyPr/>
        <a:lstStyle/>
        <a:p>
          <a:pPr>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gm:t>
    </dgm:pt>
    <dgm:pt modelId="{3DE526B1-17B4-4016-90E8-74A4D5897DC3}" cxnId="{7061CFF0-B80C-48BA-8F4C-9F9DA3EC0A73}" type="sibTrans">
      <dgm:prSet/>
      <dgm:spPr/>
      <dgm:t>
        <a:bodyPr/>
        <a:lstStyle/>
        <a:p>
          <a:endParaRPr lang="zh-CN" altLang="en-US" sz="900"/>
        </a:p>
      </dgm:t>
    </dgm:pt>
    <dgm:pt modelId="{9095C203-91DC-4919-BD80-873CDD47FCF6}">
      <dgm:prSet phldrT="[文本]" custT="1"/>
      <dgm:spPr>
        <a:xfrm>
          <a:off x="2166672" y="2699983"/>
          <a:ext cx="723913" cy="468922"/>
        </a:xfrm>
        <a:prstGeom prst="roundRect">
          <a:avLst>
            <a:gd name="adj" fmla="val 10000"/>
          </a:avLst>
        </a:prstGeom>
      </dgm:spPr>
      <dgm:t>
        <a:bodyPr/>
        <a:lstStyle/>
        <a:p>
          <a:pPr algn="l">
            <a:buNone/>
          </a:pPr>
          <a:r>
            <a:rPr lang="zh-CN" altLang="en-US" sz="1000" dirty="0">
              <a:latin typeface="Arial" panose="020B0604020202020204"/>
              <a:ea typeface="微软雅黑" panose="020B0503020204020204" pitchFamily="34" charset="-122"/>
              <a:cs typeface="+mn-cs"/>
            </a:rPr>
            <a:t>借阅、一卡通消费、就业、学习成绩、课程成绩、选课、教室</a:t>
          </a:r>
          <a:endParaRPr lang="zh-CN" altLang="en-US" sz="1400" dirty="0">
            <a:latin typeface="Arial" panose="020B0604020202020204"/>
            <a:ea typeface="微软雅黑" panose="020B0503020204020204" pitchFamily="34" charset="-122"/>
            <a:cs typeface="+mn-cs"/>
          </a:endParaRPr>
        </a:p>
      </dgm:t>
    </dgm:pt>
    <dgm:pt modelId="{1D6E9B4D-9EF9-4BA2-87CC-4482C15A4C9E}" cxnId="{2674707C-3CA9-4E28-8E04-95964FB05E19}" type="parTrans">
      <dgm:prSet custT="1"/>
      <dgm:spPr>
        <a:xfrm>
          <a:off x="1791533" y="2921143"/>
          <a:ext cx="375138" cy="26604"/>
        </a:xfrm>
        <a:custGeom>
          <a:avLst/>
          <a:gdLst/>
          <a:ahLst/>
          <a:cxnLst/>
          <a:rect l="0" t="0" r="0" b="0"/>
          <a:pathLst>
            <a:path>
              <a:moveTo>
                <a:pt x="0" y="13302"/>
              </a:moveTo>
              <a:lnTo>
                <a:pt x="375138" y="13302"/>
              </a:lnTo>
            </a:path>
          </a:pathLst>
        </a:custGeom>
      </dgm:spPr>
      <dgm:t>
        <a:bodyPr/>
        <a:lstStyle/>
        <a:p>
          <a:pPr>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gm:t>
    </dgm:pt>
    <dgm:pt modelId="{FBB0A577-076A-4A96-9FBF-B77B4E277F1C}" cxnId="{2674707C-3CA9-4E28-8E04-95964FB05E19}" type="sibTrans">
      <dgm:prSet/>
      <dgm:spPr/>
      <dgm:t>
        <a:bodyPr/>
        <a:lstStyle/>
        <a:p>
          <a:endParaRPr lang="zh-CN" altLang="en-US" sz="900"/>
        </a:p>
      </dgm:t>
    </dgm:pt>
    <dgm:pt modelId="{AB4D5217-D4A3-41FA-B43A-1EDB8D5D5099}" type="pres">
      <dgm:prSet presAssocID="{EF9BC6C9-542B-47DD-9847-88F569BA6CA8}" presName="diagram" presStyleCnt="0">
        <dgm:presLayoutVars>
          <dgm:chPref val="1"/>
          <dgm:dir/>
          <dgm:animOne val="branch"/>
          <dgm:animLvl val="lvl"/>
          <dgm:resizeHandles val="exact"/>
        </dgm:presLayoutVars>
      </dgm:prSet>
      <dgm:spPr/>
      <dgm:t>
        <a:bodyPr/>
        <a:lstStyle/>
        <a:p>
          <a:endParaRPr lang="zh-CN" altLang="en-US"/>
        </a:p>
      </dgm:t>
    </dgm:pt>
    <dgm:pt modelId="{49642302-F36A-4523-891A-CFF71A1C0D7E}" type="pres">
      <dgm:prSet presAssocID="{D298A76C-53D1-4FBB-8A16-DD75B3DCD160}" presName="root1" presStyleCnt="0"/>
      <dgm:spPr/>
    </dgm:pt>
    <dgm:pt modelId="{806DE4C5-C4E0-4B20-88A7-F86B94708917}" type="pres">
      <dgm:prSet presAssocID="{D298A76C-53D1-4FBB-8A16-DD75B3DCD160}" presName="LevelOneTextNode" presStyleLbl="node0" presStyleIdx="0" presStyleCnt="4">
        <dgm:presLayoutVars>
          <dgm:chPref val="3"/>
        </dgm:presLayoutVars>
      </dgm:prSet>
      <dgm:spPr/>
      <dgm:t>
        <a:bodyPr/>
        <a:lstStyle/>
        <a:p>
          <a:endParaRPr lang="zh-CN" altLang="en-US"/>
        </a:p>
      </dgm:t>
    </dgm:pt>
    <dgm:pt modelId="{684CE90A-7667-4588-9E7D-4926FD773BAF}" type="pres">
      <dgm:prSet presAssocID="{D298A76C-53D1-4FBB-8A16-DD75B3DCD160}" presName="level2hierChild" presStyleCnt="0"/>
      <dgm:spPr/>
    </dgm:pt>
    <dgm:pt modelId="{2985CF05-6BF8-43D8-AF41-3E0EFAED0D27}" type="pres">
      <dgm:prSet presAssocID="{316E6AC3-4667-407C-B6C9-5F35197E0EF8}" presName="conn2-1" presStyleLbl="parChTrans1D2" presStyleIdx="0" presStyleCnt="6"/>
      <dgm:spPr/>
      <dgm:t>
        <a:bodyPr/>
        <a:lstStyle/>
        <a:p>
          <a:endParaRPr lang="zh-CN" altLang="en-US"/>
        </a:p>
      </dgm:t>
    </dgm:pt>
    <dgm:pt modelId="{2201C23F-1B77-4F3A-9273-EDE9F9E5A014}" type="pres">
      <dgm:prSet presAssocID="{316E6AC3-4667-407C-B6C9-5F35197E0EF8}" presName="connTx" presStyleLbl="parChTrans1D2" presStyleIdx="0" presStyleCnt="6"/>
      <dgm:spPr/>
      <dgm:t>
        <a:bodyPr/>
        <a:lstStyle/>
        <a:p>
          <a:endParaRPr lang="zh-CN" altLang="en-US"/>
        </a:p>
      </dgm:t>
    </dgm:pt>
    <dgm:pt modelId="{C7F90F7E-C97A-4C34-9BD1-905F80C29E3B}" type="pres">
      <dgm:prSet presAssocID="{D1D15FAB-8812-4FF5-B9BD-047204DC4CC4}" presName="root2" presStyleCnt="0"/>
      <dgm:spPr/>
    </dgm:pt>
    <dgm:pt modelId="{FD31597D-E856-4978-A822-DD64CE3D9863}" type="pres">
      <dgm:prSet presAssocID="{D1D15FAB-8812-4FF5-B9BD-047204DC4CC4}" presName="LevelTwoTextNode" presStyleLbl="node2" presStyleIdx="0" presStyleCnt="6" custScaleX="213581">
        <dgm:presLayoutVars>
          <dgm:chPref val="3"/>
        </dgm:presLayoutVars>
      </dgm:prSet>
      <dgm:spPr/>
      <dgm:t>
        <a:bodyPr/>
        <a:lstStyle/>
        <a:p>
          <a:endParaRPr lang="zh-CN" altLang="en-US"/>
        </a:p>
      </dgm:t>
    </dgm:pt>
    <dgm:pt modelId="{36FD440A-A09C-48DF-AA1D-60CE2F143275}" type="pres">
      <dgm:prSet presAssocID="{D1D15FAB-8812-4FF5-B9BD-047204DC4CC4}" presName="level3hierChild" presStyleCnt="0"/>
      <dgm:spPr/>
    </dgm:pt>
    <dgm:pt modelId="{6B22D7DB-5EE1-461F-976E-0054B46A4E2B}" type="pres">
      <dgm:prSet presAssocID="{D432D05A-D56C-4EB8-9583-3A66EC15402D}" presName="conn2-1" presStyleLbl="parChTrans1D2" presStyleIdx="1" presStyleCnt="6"/>
      <dgm:spPr/>
      <dgm:t>
        <a:bodyPr/>
        <a:lstStyle/>
        <a:p>
          <a:endParaRPr lang="zh-CN" altLang="en-US"/>
        </a:p>
      </dgm:t>
    </dgm:pt>
    <dgm:pt modelId="{11E2F63F-BE74-4B4D-A354-7D48897187A6}" type="pres">
      <dgm:prSet presAssocID="{D432D05A-D56C-4EB8-9583-3A66EC15402D}" presName="connTx" presStyleLbl="parChTrans1D2" presStyleIdx="1" presStyleCnt="6"/>
      <dgm:spPr/>
      <dgm:t>
        <a:bodyPr/>
        <a:lstStyle/>
        <a:p>
          <a:endParaRPr lang="zh-CN" altLang="en-US"/>
        </a:p>
      </dgm:t>
    </dgm:pt>
    <dgm:pt modelId="{5B086D30-4E1F-4853-B0F8-CE6E3D0DF1D6}" type="pres">
      <dgm:prSet presAssocID="{B28B7BF5-0DC6-45CA-B5B8-3F6A245E408E}" presName="root2" presStyleCnt="0"/>
      <dgm:spPr/>
    </dgm:pt>
    <dgm:pt modelId="{7989525A-599C-4A8A-88B2-67BBEDB6E44D}" type="pres">
      <dgm:prSet presAssocID="{B28B7BF5-0DC6-45CA-B5B8-3F6A245E408E}" presName="LevelTwoTextNode" presStyleLbl="node2" presStyleIdx="1" presStyleCnt="6" custScaleX="213581">
        <dgm:presLayoutVars>
          <dgm:chPref val="3"/>
        </dgm:presLayoutVars>
      </dgm:prSet>
      <dgm:spPr/>
      <dgm:t>
        <a:bodyPr/>
        <a:lstStyle/>
        <a:p>
          <a:endParaRPr lang="zh-CN" altLang="en-US"/>
        </a:p>
      </dgm:t>
    </dgm:pt>
    <dgm:pt modelId="{3E67FD8B-DE5F-4474-83A8-9F8260646C25}" type="pres">
      <dgm:prSet presAssocID="{B28B7BF5-0DC6-45CA-B5B8-3F6A245E408E}" presName="level3hierChild" presStyleCnt="0"/>
      <dgm:spPr/>
    </dgm:pt>
    <dgm:pt modelId="{3A6DBFC9-05AA-4261-A72E-BAE2F51882CD}" type="pres">
      <dgm:prSet presAssocID="{CD84A76C-5279-48FF-B415-CBFB7B23CC62}" presName="conn2-1" presStyleLbl="parChTrans1D2" presStyleIdx="2" presStyleCnt="6"/>
      <dgm:spPr/>
      <dgm:t>
        <a:bodyPr/>
        <a:lstStyle/>
        <a:p>
          <a:endParaRPr lang="zh-CN" altLang="en-US"/>
        </a:p>
      </dgm:t>
    </dgm:pt>
    <dgm:pt modelId="{421C7487-BFC4-4D1C-B803-44192CB4C895}" type="pres">
      <dgm:prSet presAssocID="{CD84A76C-5279-48FF-B415-CBFB7B23CC62}" presName="connTx" presStyleLbl="parChTrans1D2" presStyleIdx="2" presStyleCnt="6"/>
      <dgm:spPr/>
      <dgm:t>
        <a:bodyPr/>
        <a:lstStyle/>
        <a:p>
          <a:endParaRPr lang="zh-CN" altLang="en-US"/>
        </a:p>
      </dgm:t>
    </dgm:pt>
    <dgm:pt modelId="{2D8A9CAE-193B-42F8-9097-E25F2F26B266}" type="pres">
      <dgm:prSet presAssocID="{D9DFC156-9DEA-4E8E-8D24-7D2C8682F7FB}" presName="root2" presStyleCnt="0"/>
      <dgm:spPr/>
    </dgm:pt>
    <dgm:pt modelId="{50D3C27D-4DBA-4529-9356-6DE8578EAADC}" type="pres">
      <dgm:prSet presAssocID="{D9DFC156-9DEA-4E8E-8D24-7D2C8682F7FB}" presName="LevelTwoTextNode" presStyleLbl="node2" presStyleIdx="2" presStyleCnt="6" custScaleX="213581">
        <dgm:presLayoutVars>
          <dgm:chPref val="3"/>
        </dgm:presLayoutVars>
      </dgm:prSet>
      <dgm:spPr/>
      <dgm:t>
        <a:bodyPr/>
        <a:lstStyle/>
        <a:p>
          <a:endParaRPr lang="zh-CN" altLang="en-US"/>
        </a:p>
      </dgm:t>
    </dgm:pt>
    <dgm:pt modelId="{ECED028F-B8E4-4ED5-93FD-6DB2EF9B5848}" type="pres">
      <dgm:prSet presAssocID="{D9DFC156-9DEA-4E8E-8D24-7D2C8682F7FB}" presName="level3hierChild" presStyleCnt="0"/>
      <dgm:spPr/>
    </dgm:pt>
    <dgm:pt modelId="{64BA511E-2C3F-45A6-AD0B-B3D475A539F2}" type="pres">
      <dgm:prSet presAssocID="{57EED5C8-DCF4-4A4E-B8BE-6210C6F7149E}" presName="root1" presStyleCnt="0"/>
      <dgm:spPr/>
    </dgm:pt>
    <dgm:pt modelId="{90B8AFCC-0C28-4369-82C9-D00C160AEEC3}" type="pres">
      <dgm:prSet presAssocID="{57EED5C8-DCF4-4A4E-B8BE-6210C6F7149E}" presName="LevelOneTextNode" presStyleLbl="node0" presStyleIdx="1" presStyleCnt="4">
        <dgm:presLayoutVars>
          <dgm:chPref val="3"/>
        </dgm:presLayoutVars>
      </dgm:prSet>
      <dgm:spPr/>
      <dgm:t>
        <a:bodyPr/>
        <a:lstStyle/>
        <a:p>
          <a:endParaRPr lang="zh-CN" altLang="en-US"/>
        </a:p>
      </dgm:t>
    </dgm:pt>
    <dgm:pt modelId="{D344C1B4-85D3-43EA-BD1F-2EA86A4CF8EE}" type="pres">
      <dgm:prSet presAssocID="{57EED5C8-DCF4-4A4E-B8BE-6210C6F7149E}" presName="level2hierChild" presStyleCnt="0"/>
      <dgm:spPr/>
    </dgm:pt>
    <dgm:pt modelId="{2D7FABCA-FA6C-48B1-B180-0507BEB7BCBA}" type="pres">
      <dgm:prSet presAssocID="{2EBDD54D-B0B7-49AB-8690-3530C66B1B23}" presName="conn2-1" presStyleLbl="parChTrans1D2" presStyleIdx="3" presStyleCnt="6"/>
      <dgm:spPr/>
      <dgm:t>
        <a:bodyPr/>
        <a:lstStyle/>
        <a:p>
          <a:endParaRPr lang="zh-CN" altLang="en-US"/>
        </a:p>
      </dgm:t>
    </dgm:pt>
    <dgm:pt modelId="{36478602-EC98-4564-956F-A706AE42C4BD}" type="pres">
      <dgm:prSet presAssocID="{2EBDD54D-B0B7-49AB-8690-3530C66B1B23}" presName="connTx" presStyleLbl="parChTrans1D2" presStyleIdx="3" presStyleCnt="6"/>
      <dgm:spPr/>
      <dgm:t>
        <a:bodyPr/>
        <a:lstStyle/>
        <a:p>
          <a:endParaRPr lang="zh-CN" altLang="en-US"/>
        </a:p>
      </dgm:t>
    </dgm:pt>
    <dgm:pt modelId="{29FF80E9-3684-4030-AB1E-390F0FE75BBB}" type="pres">
      <dgm:prSet presAssocID="{BAB4B52B-7669-43EC-94EA-BF6A705CDF50}" presName="root2" presStyleCnt="0"/>
      <dgm:spPr/>
    </dgm:pt>
    <dgm:pt modelId="{726C37BD-650B-4A12-A3A8-60D43C962815}" type="pres">
      <dgm:prSet presAssocID="{BAB4B52B-7669-43EC-94EA-BF6A705CDF50}" presName="LevelTwoTextNode" presStyleLbl="node2" presStyleIdx="3" presStyleCnt="6" custScaleX="213703">
        <dgm:presLayoutVars>
          <dgm:chPref val="3"/>
        </dgm:presLayoutVars>
      </dgm:prSet>
      <dgm:spPr/>
      <dgm:t>
        <a:bodyPr/>
        <a:lstStyle/>
        <a:p>
          <a:endParaRPr lang="zh-CN" altLang="en-US"/>
        </a:p>
      </dgm:t>
    </dgm:pt>
    <dgm:pt modelId="{DF7B8CDD-ED03-4315-8D0E-72489278D3B0}" type="pres">
      <dgm:prSet presAssocID="{BAB4B52B-7669-43EC-94EA-BF6A705CDF50}" presName="level3hierChild" presStyleCnt="0"/>
      <dgm:spPr/>
    </dgm:pt>
    <dgm:pt modelId="{C9A24711-34E0-425F-B91C-C735D74A4AF8}" type="pres">
      <dgm:prSet presAssocID="{6190D39F-8953-4C68-BD97-AE694A2CAA80}" presName="root1" presStyleCnt="0"/>
      <dgm:spPr/>
    </dgm:pt>
    <dgm:pt modelId="{610890A6-57FC-44F2-81B2-3112838ABB3C}" type="pres">
      <dgm:prSet presAssocID="{6190D39F-8953-4C68-BD97-AE694A2CAA80}" presName="LevelOneTextNode" presStyleLbl="node0" presStyleIdx="2" presStyleCnt="4">
        <dgm:presLayoutVars>
          <dgm:chPref val="3"/>
        </dgm:presLayoutVars>
      </dgm:prSet>
      <dgm:spPr/>
      <dgm:t>
        <a:bodyPr/>
        <a:lstStyle/>
        <a:p>
          <a:endParaRPr lang="zh-CN" altLang="en-US"/>
        </a:p>
      </dgm:t>
    </dgm:pt>
    <dgm:pt modelId="{53D6EC0A-C28C-4972-8029-DF808767AAF1}" type="pres">
      <dgm:prSet presAssocID="{6190D39F-8953-4C68-BD97-AE694A2CAA80}" presName="level2hierChild" presStyleCnt="0"/>
      <dgm:spPr/>
    </dgm:pt>
    <dgm:pt modelId="{4C203E5A-B58D-4596-924C-72C9B8AE7967}" type="pres">
      <dgm:prSet presAssocID="{B3C9A6AD-28E6-425D-8A03-A2A0A9F91F7E}" presName="conn2-1" presStyleLbl="parChTrans1D2" presStyleIdx="4" presStyleCnt="6"/>
      <dgm:spPr/>
      <dgm:t>
        <a:bodyPr/>
        <a:lstStyle/>
        <a:p>
          <a:endParaRPr lang="zh-CN" altLang="en-US"/>
        </a:p>
      </dgm:t>
    </dgm:pt>
    <dgm:pt modelId="{03509775-4772-47F3-AB1D-29A0B313EAD2}" type="pres">
      <dgm:prSet presAssocID="{B3C9A6AD-28E6-425D-8A03-A2A0A9F91F7E}" presName="connTx" presStyleLbl="parChTrans1D2" presStyleIdx="4" presStyleCnt="6"/>
      <dgm:spPr/>
      <dgm:t>
        <a:bodyPr/>
        <a:lstStyle/>
        <a:p>
          <a:endParaRPr lang="zh-CN" altLang="en-US"/>
        </a:p>
      </dgm:t>
    </dgm:pt>
    <dgm:pt modelId="{DEEAD115-7BB1-4590-9F1A-F77402499823}" type="pres">
      <dgm:prSet presAssocID="{FDA6FCF0-3FC3-44E0-BE7C-1E5B46147715}" presName="root2" presStyleCnt="0"/>
      <dgm:spPr/>
    </dgm:pt>
    <dgm:pt modelId="{38FDCDDF-A868-410E-AD51-7828BD906E65}" type="pres">
      <dgm:prSet presAssocID="{FDA6FCF0-3FC3-44E0-BE7C-1E5B46147715}" presName="LevelTwoTextNode" presStyleLbl="node2" presStyleIdx="4" presStyleCnt="6" custScaleX="213703">
        <dgm:presLayoutVars>
          <dgm:chPref val="3"/>
        </dgm:presLayoutVars>
      </dgm:prSet>
      <dgm:spPr/>
      <dgm:t>
        <a:bodyPr/>
        <a:lstStyle/>
        <a:p>
          <a:endParaRPr lang="zh-CN" altLang="en-US"/>
        </a:p>
      </dgm:t>
    </dgm:pt>
    <dgm:pt modelId="{7E9C19C3-38F2-47A1-BFE4-75384A62EC0D}" type="pres">
      <dgm:prSet presAssocID="{FDA6FCF0-3FC3-44E0-BE7C-1E5B46147715}" presName="level3hierChild" presStyleCnt="0"/>
      <dgm:spPr/>
    </dgm:pt>
    <dgm:pt modelId="{A927B286-E9B4-43E1-B672-BF9AC74EF619}" type="pres">
      <dgm:prSet presAssocID="{B76787FC-439A-4401-AA16-BFDCAF48497A}" presName="root1" presStyleCnt="0"/>
      <dgm:spPr/>
    </dgm:pt>
    <dgm:pt modelId="{0D60AAD1-784F-4384-83F1-3F48B3636FDE}" type="pres">
      <dgm:prSet presAssocID="{B76787FC-439A-4401-AA16-BFDCAF48497A}" presName="LevelOneTextNode" presStyleLbl="node0" presStyleIdx="3" presStyleCnt="4">
        <dgm:presLayoutVars>
          <dgm:chPref val="3"/>
        </dgm:presLayoutVars>
      </dgm:prSet>
      <dgm:spPr/>
      <dgm:t>
        <a:bodyPr/>
        <a:lstStyle/>
        <a:p>
          <a:endParaRPr lang="zh-CN" altLang="en-US"/>
        </a:p>
      </dgm:t>
    </dgm:pt>
    <dgm:pt modelId="{E60B5DF8-9158-4919-9040-3BFBC550467F}" type="pres">
      <dgm:prSet presAssocID="{B76787FC-439A-4401-AA16-BFDCAF48497A}" presName="level2hierChild" presStyleCnt="0"/>
      <dgm:spPr/>
    </dgm:pt>
    <dgm:pt modelId="{704DEB7A-5925-4537-B667-74FE9689B95F}" type="pres">
      <dgm:prSet presAssocID="{1D6E9B4D-9EF9-4BA2-87CC-4482C15A4C9E}" presName="conn2-1" presStyleLbl="parChTrans1D2" presStyleIdx="5" presStyleCnt="6"/>
      <dgm:spPr/>
      <dgm:t>
        <a:bodyPr/>
        <a:lstStyle/>
        <a:p>
          <a:endParaRPr lang="zh-CN" altLang="en-US"/>
        </a:p>
      </dgm:t>
    </dgm:pt>
    <dgm:pt modelId="{86F0B322-D23C-4FDA-A5FB-55042D79EF61}" type="pres">
      <dgm:prSet presAssocID="{1D6E9B4D-9EF9-4BA2-87CC-4482C15A4C9E}" presName="connTx" presStyleLbl="parChTrans1D2" presStyleIdx="5" presStyleCnt="6"/>
      <dgm:spPr/>
      <dgm:t>
        <a:bodyPr/>
        <a:lstStyle/>
        <a:p>
          <a:endParaRPr lang="zh-CN" altLang="en-US"/>
        </a:p>
      </dgm:t>
    </dgm:pt>
    <dgm:pt modelId="{050CCF21-1B5B-4C53-8C27-63534DBDB00C}" type="pres">
      <dgm:prSet presAssocID="{9095C203-91DC-4919-BD80-873CDD47FCF6}" presName="root2" presStyleCnt="0"/>
      <dgm:spPr/>
    </dgm:pt>
    <dgm:pt modelId="{C638FDEC-F40E-4577-A85C-804A8543E21D}" type="pres">
      <dgm:prSet presAssocID="{9095C203-91DC-4919-BD80-873CDD47FCF6}" presName="LevelTwoTextNode" presStyleLbl="node2" presStyleIdx="5" presStyleCnt="6" custScaleX="213703">
        <dgm:presLayoutVars>
          <dgm:chPref val="3"/>
        </dgm:presLayoutVars>
      </dgm:prSet>
      <dgm:spPr/>
      <dgm:t>
        <a:bodyPr/>
        <a:lstStyle/>
        <a:p>
          <a:endParaRPr lang="zh-CN" altLang="en-US"/>
        </a:p>
      </dgm:t>
    </dgm:pt>
    <dgm:pt modelId="{12D52833-5B5B-4596-B226-187481B8A018}" type="pres">
      <dgm:prSet presAssocID="{9095C203-91DC-4919-BD80-873CDD47FCF6}" presName="level3hierChild" presStyleCnt="0"/>
      <dgm:spPr/>
    </dgm:pt>
  </dgm:ptLst>
  <dgm:cxnLst>
    <dgm:cxn modelId="{A91FB66B-E908-4FC9-AE17-D901514F41C6}" srcId="{EF9BC6C9-542B-47DD-9847-88F569BA6CA8}" destId="{57EED5C8-DCF4-4A4E-B8BE-6210C6F7149E}" srcOrd="1" destOrd="0" parTransId="{78F2925E-0F7F-4CDF-BCAB-237C0A727AE9}" sibTransId="{5758BB33-DC6A-4A8D-8F94-4D043C2EBD31}"/>
    <dgm:cxn modelId="{11B15D34-84F1-4908-9484-06BA4A53DE19}" type="presOf" srcId="{1D6E9B4D-9EF9-4BA2-87CC-4482C15A4C9E}" destId="{704DEB7A-5925-4537-B667-74FE9689B95F}" srcOrd="0" destOrd="0" presId="urn:microsoft.com/office/officeart/2005/8/layout/hierarchy2"/>
    <dgm:cxn modelId="{2340F6D0-9727-4BE1-B76F-C09E9F8B78ED}" type="presOf" srcId="{1D6E9B4D-9EF9-4BA2-87CC-4482C15A4C9E}" destId="{86F0B322-D23C-4FDA-A5FB-55042D79EF61}" srcOrd="1" destOrd="0" presId="urn:microsoft.com/office/officeart/2005/8/layout/hierarchy2"/>
    <dgm:cxn modelId="{3FBEB2CC-4304-474A-811F-DDDC750FE4D0}" srcId="{EF9BC6C9-542B-47DD-9847-88F569BA6CA8}" destId="{D298A76C-53D1-4FBB-8A16-DD75B3DCD160}" srcOrd="0" destOrd="0" parTransId="{08D96BC8-2234-42FB-8F49-00E4429C9486}" sibTransId="{70B3F519-1711-45EE-9758-670C2B9CD497}"/>
    <dgm:cxn modelId="{34479A49-F4CB-4F5D-B6D4-8B20BBBC581A}" type="presOf" srcId="{EF9BC6C9-542B-47DD-9847-88F569BA6CA8}" destId="{AB4D5217-D4A3-41FA-B43A-1EDB8D5D5099}" srcOrd="0" destOrd="0" presId="urn:microsoft.com/office/officeart/2005/8/layout/hierarchy2"/>
    <dgm:cxn modelId="{294F3F70-A804-41BB-B330-7556889C88A2}" type="presOf" srcId="{316E6AC3-4667-407C-B6C9-5F35197E0EF8}" destId="{2201C23F-1B77-4F3A-9273-EDE9F9E5A014}" srcOrd="1" destOrd="0" presId="urn:microsoft.com/office/officeart/2005/8/layout/hierarchy2"/>
    <dgm:cxn modelId="{73A820A4-0FC5-4475-9EE4-7A198402B162}" type="presOf" srcId="{CD84A76C-5279-48FF-B415-CBFB7B23CC62}" destId="{3A6DBFC9-05AA-4261-A72E-BAE2F51882CD}" srcOrd="0" destOrd="0" presId="urn:microsoft.com/office/officeart/2005/8/layout/hierarchy2"/>
    <dgm:cxn modelId="{6010F03E-06E4-48C6-BD56-CF0B9F3AFFA4}" type="presOf" srcId="{CD84A76C-5279-48FF-B415-CBFB7B23CC62}" destId="{421C7487-BFC4-4D1C-B803-44192CB4C895}" srcOrd="1" destOrd="0" presId="urn:microsoft.com/office/officeart/2005/8/layout/hierarchy2"/>
    <dgm:cxn modelId="{90A62118-DEF8-46E2-9E87-115C757FC5E6}" srcId="{D298A76C-53D1-4FBB-8A16-DD75B3DCD160}" destId="{D9DFC156-9DEA-4E8E-8D24-7D2C8682F7FB}" srcOrd="2" destOrd="0" parTransId="{CD84A76C-5279-48FF-B415-CBFB7B23CC62}" sibTransId="{C0B11482-7232-4D42-A684-3CA57EDE5F54}"/>
    <dgm:cxn modelId="{2674707C-3CA9-4E28-8E04-95964FB05E19}" srcId="{B76787FC-439A-4401-AA16-BFDCAF48497A}" destId="{9095C203-91DC-4919-BD80-873CDD47FCF6}" srcOrd="0" destOrd="0" parTransId="{1D6E9B4D-9EF9-4BA2-87CC-4482C15A4C9E}" sibTransId="{FBB0A577-076A-4A96-9FBF-B77B4E277F1C}"/>
    <dgm:cxn modelId="{95189120-74E0-4F16-A99C-5775C1F7C10B}" srcId="{EF9BC6C9-542B-47DD-9847-88F569BA6CA8}" destId="{6190D39F-8953-4C68-BD97-AE694A2CAA80}" srcOrd="2" destOrd="0" parTransId="{1B2DB54D-A0D0-4759-93F0-8DBD6A764F33}" sibTransId="{A9688504-4754-4BD1-9372-3C7106F602A3}"/>
    <dgm:cxn modelId="{C23C0D14-72D6-43C6-A7D1-16D0BD3DC54F}" type="presOf" srcId="{B3C9A6AD-28E6-425D-8A03-A2A0A9F91F7E}" destId="{4C203E5A-B58D-4596-924C-72C9B8AE7967}" srcOrd="0" destOrd="0" presId="urn:microsoft.com/office/officeart/2005/8/layout/hierarchy2"/>
    <dgm:cxn modelId="{1942E13B-9FC0-4505-A18E-84B712914BEF}" srcId="{EF9BC6C9-542B-47DD-9847-88F569BA6CA8}" destId="{B76787FC-439A-4401-AA16-BFDCAF48497A}" srcOrd="3" destOrd="0" parTransId="{9AB491CF-DCCE-4D51-A58E-EFEE8E6DAC49}" sibTransId="{7D93AB75-6FC2-431B-A2F1-D6DA4D1E4B0E}"/>
    <dgm:cxn modelId="{20A4C6B3-EAF5-43EF-9BA0-C0BEB11A896B}" type="presOf" srcId="{D432D05A-D56C-4EB8-9583-3A66EC15402D}" destId="{11E2F63F-BE74-4B4D-A354-7D48897187A6}" srcOrd="1" destOrd="0" presId="urn:microsoft.com/office/officeart/2005/8/layout/hierarchy2"/>
    <dgm:cxn modelId="{8901B95F-EB25-4CFB-8EE5-AC6146964993}" srcId="{D298A76C-53D1-4FBB-8A16-DD75B3DCD160}" destId="{B28B7BF5-0DC6-45CA-B5B8-3F6A245E408E}" srcOrd="1" destOrd="0" parTransId="{D432D05A-D56C-4EB8-9583-3A66EC15402D}" sibTransId="{95417B14-2350-4D76-AE0B-4CB90E7C547B}"/>
    <dgm:cxn modelId="{F4E5A711-B91A-4B31-BB34-D4685C6689BF}" type="presOf" srcId="{6190D39F-8953-4C68-BD97-AE694A2CAA80}" destId="{610890A6-57FC-44F2-81B2-3112838ABB3C}" srcOrd="0" destOrd="0" presId="urn:microsoft.com/office/officeart/2005/8/layout/hierarchy2"/>
    <dgm:cxn modelId="{0E215A17-DC3F-456A-91C6-1C12C8D76DF9}" type="presOf" srcId="{D432D05A-D56C-4EB8-9583-3A66EC15402D}" destId="{6B22D7DB-5EE1-461F-976E-0054B46A4E2B}" srcOrd="0" destOrd="0" presId="urn:microsoft.com/office/officeart/2005/8/layout/hierarchy2"/>
    <dgm:cxn modelId="{F24CDB65-1EEB-4A36-9945-4DA36215CD71}" type="presOf" srcId="{B76787FC-439A-4401-AA16-BFDCAF48497A}" destId="{0D60AAD1-784F-4384-83F1-3F48B3636FDE}" srcOrd="0" destOrd="0" presId="urn:microsoft.com/office/officeart/2005/8/layout/hierarchy2"/>
    <dgm:cxn modelId="{5A6A3AE0-230C-45AD-B3A6-0EFF9CD734A1}" type="presOf" srcId="{D9DFC156-9DEA-4E8E-8D24-7D2C8682F7FB}" destId="{50D3C27D-4DBA-4529-9356-6DE8578EAADC}" srcOrd="0" destOrd="0" presId="urn:microsoft.com/office/officeart/2005/8/layout/hierarchy2"/>
    <dgm:cxn modelId="{46D48881-E9BC-4540-8747-7EAEDFFF4AEE}" type="presOf" srcId="{BAB4B52B-7669-43EC-94EA-BF6A705CDF50}" destId="{726C37BD-650B-4A12-A3A8-60D43C962815}" srcOrd="0" destOrd="0" presId="urn:microsoft.com/office/officeart/2005/8/layout/hierarchy2"/>
    <dgm:cxn modelId="{0CFA3515-FCE1-4422-9810-EF73A236A67F}" type="presOf" srcId="{D1D15FAB-8812-4FF5-B9BD-047204DC4CC4}" destId="{FD31597D-E856-4978-A822-DD64CE3D9863}" srcOrd="0" destOrd="0" presId="urn:microsoft.com/office/officeart/2005/8/layout/hierarchy2"/>
    <dgm:cxn modelId="{33201D3C-1BBD-408A-9AC0-A454FAE6CBDC}" type="presOf" srcId="{B28B7BF5-0DC6-45CA-B5B8-3F6A245E408E}" destId="{7989525A-599C-4A8A-88B2-67BBEDB6E44D}" srcOrd="0" destOrd="0" presId="urn:microsoft.com/office/officeart/2005/8/layout/hierarchy2"/>
    <dgm:cxn modelId="{B8CC7766-42BC-4181-9F53-E701C55C53AD}" type="presOf" srcId="{D298A76C-53D1-4FBB-8A16-DD75B3DCD160}" destId="{806DE4C5-C4E0-4B20-88A7-F86B94708917}" srcOrd="0" destOrd="0" presId="urn:microsoft.com/office/officeart/2005/8/layout/hierarchy2"/>
    <dgm:cxn modelId="{9820612D-E83C-40B4-9E83-33168087C385}" type="presOf" srcId="{2EBDD54D-B0B7-49AB-8690-3530C66B1B23}" destId="{36478602-EC98-4564-956F-A706AE42C4BD}" srcOrd="1" destOrd="0" presId="urn:microsoft.com/office/officeart/2005/8/layout/hierarchy2"/>
    <dgm:cxn modelId="{E6F16D0C-D744-4EA6-B125-DD97483C84F0}" type="presOf" srcId="{316E6AC3-4667-407C-B6C9-5F35197E0EF8}" destId="{2985CF05-6BF8-43D8-AF41-3E0EFAED0D27}" srcOrd="0" destOrd="0" presId="urn:microsoft.com/office/officeart/2005/8/layout/hierarchy2"/>
    <dgm:cxn modelId="{31C33992-F5EE-4771-A5DD-8616CD6FD30E}" type="presOf" srcId="{2EBDD54D-B0B7-49AB-8690-3530C66B1B23}" destId="{2D7FABCA-FA6C-48B1-B180-0507BEB7BCBA}" srcOrd="0" destOrd="0" presId="urn:microsoft.com/office/officeart/2005/8/layout/hierarchy2"/>
    <dgm:cxn modelId="{7061CFF0-B80C-48BA-8F4C-9F9DA3EC0A73}" srcId="{57EED5C8-DCF4-4A4E-B8BE-6210C6F7149E}" destId="{BAB4B52B-7669-43EC-94EA-BF6A705CDF50}" srcOrd="0" destOrd="0" parTransId="{2EBDD54D-B0B7-49AB-8690-3530C66B1B23}" sibTransId="{3DE526B1-17B4-4016-90E8-74A4D5897DC3}"/>
    <dgm:cxn modelId="{B4395831-B03A-4EE4-8011-57F7DC8ED383}" srcId="{6190D39F-8953-4C68-BD97-AE694A2CAA80}" destId="{FDA6FCF0-3FC3-44E0-BE7C-1E5B46147715}" srcOrd="0" destOrd="0" parTransId="{B3C9A6AD-28E6-425D-8A03-A2A0A9F91F7E}" sibTransId="{C7C69297-7548-48F6-B95B-40919B80E184}"/>
    <dgm:cxn modelId="{342F4A32-DD0F-4849-A512-1FBBFC263D50}" type="presOf" srcId="{B3C9A6AD-28E6-425D-8A03-A2A0A9F91F7E}" destId="{03509775-4772-47F3-AB1D-29A0B313EAD2}" srcOrd="1" destOrd="0" presId="urn:microsoft.com/office/officeart/2005/8/layout/hierarchy2"/>
    <dgm:cxn modelId="{ABE0DF74-0628-4074-A500-5CF69ABA89FD}" srcId="{D298A76C-53D1-4FBB-8A16-DD75B3DCD160}" destId="{D1D15FAB-8812-4FF5-B9BD-047204DC4CC4}" srcOrd="0" destOrd="0" parTransId="{316E6AC3-4667-407C-B6C9-5F35197E0EF8}" sibTransId="{96CD5C34-D2BD-465E-A7CD-8197EBA3AFE4}"/>
    <dgm:cxn modelId="{597EB3B7-F78F-49E4-8189-A4CE2FCE0BC8}" type="presOf" srcId="{57EED5C8-DCF4-4A4E-B8BE-6210C6F7149E}" destId="{90B8AFCC-0C28-4369-82C9-D00C160AEEC3}" srcOrd="0" destOrd="0" presId="urn:microsoft.com/office/officeart/2005/8/layout/hierarchy2"/>
    <dgm:cxn modelId="{7AEE4AD0-AA44-4399-A646-9AC85BC815ED}" type="presOf" srcId="{9095C203-91DC-4919-BD80-873CDD47FCF6}" destId="{C638FDEC-F40E-4577-A85C-804A8543E21D}" srcOrd="0" destOrd="0" presId="urn:microsoft.com/office/officeart/2005/8/layout/hierarchy2"/>
    <dgm:cxn modelId="{73EF4F2A-54DF-4418-A2C8-CA4251B56522}" type="presOf" srcId="{FDA6FCF0-3FC3-44E0-BE7C-1E5B46147715}" destId="{38FDCDDF-A868-410E-AD51-7828BD906E65}" srcOrd="0" destOrd="0" presId="urn:microsoft.com/office/officeart/2005/8/layout/hierarchy2"/>
    <dgm:cxn modelId="{774057E7-BFD1-45F2-A061-4E89F7B49485}" type="presParOf" srcId="{AB4D5217-D4A3-41FA-B43A-1EDB8D5D5099}" destId="{49642302-F36A-4523-891A-CFF71A1C0D7E}" srcOrd="0" destOrd="0" presId="urn:microsoft.com/office/officeart/2005/8/layout/hierarchy2"/>
    <dgm:cxn modelId="{D58FFC43-9D65-4CF7-9836-C704F295816F}" type="presParOf" srcId="{49642302-F36A-4523-891A-CFF71A1C0D7E}" destId="{806DE4C5-C4E0-4B20-88A7-F86B94708917}" srcOrd="0" destOrd="0" presId="urn:microsoft.com/office/officeart/2005/8/layout/hierarchy2"/>
    <dgm:cxn modelId="{15648AB5-3EFE-4EAF-9DD6-6CD5BB31F9E5}" type="presParOf" srcId="{49642302-F36A-4523-891A-CFF71A1C0D7E}" destId="{684CE90A-7667-4588-9E7D-4926FD773BAF}" srcOrd="1" destOrd="0" presId="urn:microsoft.com/office/officeart/2005/8/layout/hierarchy2"/>
    <dgm:cxn modelId="{69F6AD47-CCA0-4757-8E34-AA2929F1A3AC}" type="presParOf" srcId="{684CE90A-7667-4588-9E7D-4926FD773BAF}" destId="{2985CF05-6BF8-43D8-AF41-3E0EFAED0D27}" srcOrd="0" destOrd="0" presId="urn:microsoft.com/office/officeart/2005/8/layout/hierarchy2"/>
    <dgm:cxn modelId="{B869F6C3-B56F-4295-9026-4ECC25C486E0}" type="presParOf" srcId="{2985CF05-6BF8-43D8-AF41-3E0EFAED0D27}" destId="{2201C23F-1B77-4F3A-9273-EDE9F9E5A014}" srcOrd="0" destOrd="0" presId="urn:microsoft.com/office/officeart/2005/8/layout/hierarchy2"/>
    <dgm:cxn modelId="{AF187E5C-E8C9-4611-87CA-FF3642FED285}" type="presParOf" srcId="{684CE90A-7667-4588-9E7D-4926FD773BAF}" destId="{C7F90F7E-C97A-4C34-9BD1-905F80C29E3B}" srcOrd="1" destOrd="0" presId="urn:microsoft.com/office/officeart/2005/8/layout/hierarchy2"/>
    <dgm:cxn modelId="{9A1A0B5C-1A61-4D61-8CE8-40E1D7EE4870}" type="presParOf" srcId="{C7F90F7E-C97A-4C34-9BD1-905F80C29E3B}" destId="{FD31597D-E856-4978-A822-DD64CE3D9863}" srcOrd="0" destOrd="0" presId="urn:microsoft.com/office/officeart/2005/8/layout/hierarchy2"/>
    <dgm:cxn modelId="{C4982F40-80BB-4DB6-91F5-182C3387494C}" type="presParOf" srcId="{C7F90F7E-C97A-4C34-9BD1-905F80C29E3B}" destId="{36FD440A-A09C-48DF-AA1D-60CE2F143275}" srcOrd="1" destOrd="0" presId="urn:microsoft.com/office/officeart/2005/8/layout/hierarchy2"/>
    <dgm:cxn modelId="{5B9C662E-3EAA-4401-AA9E-63946BDA8E61}" type="presParOf" srcId="{684CE90A-7667-4588-9E7D-4926FD773BAF}" destId="{6B22D7DB-5EE1-461F-976E-0054B46A4E2B}" srcOrd="2" destOrd="0" presId="urn:microsoft.com/office/officeart/2005/8/layout/hierarchy2"/>
    <dgm:cxn modelId="{82A10B9C-E4C8-4224-8AB0-56A2FC635AE3}" type="presParOf" srcId="{6B22D7DB-5EE1-461F-976E-0054B46A4E2B}" destId="{11E2F63F-BE74-4B4D-A354-7D48897187A6}" srcOrd="0" destOrd="0" presId="urn:microsoft.com/office/officeart/2005/8/layout/hierarchy2"/>
    <dgm:cxn modelId="{F8436E03-664D-4FB3-9BF9-819A4836F838}" type="presParOf" srcId="{684CE90A-7667-4588-9E7D-4926FD773BAF}" destId="{5B086D30-4E1F-4853-B0F8-CE6E3D0DF1D6}" srcOrd="3" destOrd="0" presId="urn:microsoft.com/office/officeart/2005/8/layout/hierarchy2"/>
    <dgm:cxn modelId="{F64C4735-7E1A-48E7-992E-849C603FE12C}" type="presParOf" srcId="{5B086D30-4E1F-4853-B0F8-CE6E3D0DF1D6}" destId="{7989525A-599C-4A8A-88B2-67BBEDB6E44D}" srcOrd="0" destOrd="0" presId="urn:microsoft.com/office/officeart/2005/8/layout/hierarchy2"/>
    <dgm:cxn modelId="{F0E9BC1B-11B9-44EF-ABD5-DE6CD761419A}" type="presParOf" srcId="{5B086D30-4E1F-4853-B0F8-CE6E3D0DF1D6}" destId="{3E67FD8B-DE5F-4474-83A8-9F8260646C25}" srcOrd="1" destOrd="0" presId="urn:microsoft.com/office/officeart/2005/8/layout/hierarchy2"/>
    <dgm:cxn modelId="{D4979676-E73B-4B7E-A534-6A0D978B19C4}" type="presParOf" srcId="{684CE90A-7667-4588-9E7D-4926FD773BAF}" destId="{3A6DBFC9-05AA-4261-A72E-BAE2F51882CD}" srcOrd="4" destOrd="0" presId="urn:microsoft.com/office/officeart/2005/8/layout/hierarchy2"/>
    <dgm:cxn modelId="{BA1734CA-8241-4F85-9B4C-486E302CEEF3}" type="presParOf" srcId="{3A6DBFC9-05AA-4261-A72E-BAE2F51882CD}" destId="{421C7487-BFC4-4D1C-B803-44192CB4C895}" srcOrd="0" destOrd="0" presId="urn:microsoft.com/office/officeart/2005/8/layout/hierarchy2"/>
    <dgm:cxn modelId="{C7390470-AF35-485F-B813-90B4ACDED68B}" type="presParOf" srcId="{684CE90A-7667-4588-9E7D-4926FD773BAF}" destId="{2D8A9CAE-193B-42F8-9097-E25F2F26B266}" srcOrd="5" destOrd="0" presId="urn:microsoft.com/office/officeart/2005/8/layout/hierarchy2"/>
    <dgm:cxn modelId="{FCFAB016-5F6E-4F27-8E54-EE233C5BF91D}" type="presParOf" srcId="{2D8A9CAE-193B-42F8-9097-E25F2F26B266}" destId="{50D3C27D-4DBA-4529-9356-6DE8578EAADC}" srcOrd="0" destOrd="0" presId="urn:microsoft.com/office/officeart/2005/8/layout/hierarchy2"/>
    <dgm:cxn modelId="{3BF36E06-35A5-478A-946F-223AFFB416B5}" type="presParOf" srcId="{2D8A9CAE-193B-42F8-9097-E25F2F26B266}" destId="{ECED028F-B8E4-4ED5-93FD-6DB2EF9B5848}" srcOrd="1" destOrd="0" presId="urn:microsoft.com/office/officeart/2005/8/layout/hierarchy2"/>
    <dgm:cxn modelId="{DB639CB7-D052-462C-AEC9-68BEC26A7089}" type="presParOf" srcId="{AB4D5217-D4A3-41FA-B43A-1EDB8D5D5099}" destId="{64BA511E-2C3F-45A6-AD0B-B3D475A539F2}" srcOrd="1" destOrd="0" presId="urn:microsoft.com/office/officeart/2005/8/layout/hierarchy2"/>
    <dgm:cxn modelId="{5304D9F3-D8A2-4FDC-8EEF-9F3696B52D91}" type="presParOf" srcId="{64BA511E-2C3F-45A6-AD0B-B3D475A539F2}" destId="{90B8AFCC-0C28-4369-82C9-D00C160AEEC3}" srcOrd="0" destOrd="0" presId="urn:microsoft.com/office/officeart/2005/8/layout/hierarchy2"/>
    <dgm:cxn modelId="{99DE1A9E-162C-42EE-947A-6FC2AA3B0A24}" type="presParOf" srcId="{64BA511E-2C3F-45A6-AD0B-B3D475A539F2}" destId="{D344C1B4-85D3-43EA-BD1F-2EA86A4CF8EE}" srcOrd="1" destOrd="0" presId="urn:microsoft.com/office/officeart/2005/8/layout/hierarchy2"/>
    <dgm:cxn modelId="{AE88B97A-8C39-4091-8E33-35A56567B8ED}" type="presParOf" srcId="{D344C1B4-85D3-43EA-BD1F-2EA86A4CF8EE}" destId="{2D7FABCA-FA6C-48B1-B180-0507BEB7BCBA}" srcOrd="0" destOrd="0" presId="urn:microsoft.com/office/officeart/2005/8/layout/hierarchy2"/>
    <dgm:cxn modelId="{8B3455A9-9C7C-43A6-84F4-F9757C535C6D}" type="presParOf" srcId="{2D7FABCA-FA6C-48B1-B180-0507BEB7BCBA}" destId="{36478602-EC98-4564-956F-A706AE42C4BD}" srcOrd="0" destOrd="0" presId="urn:microsoft.com/office/officeart/2005/8/layout/hierarchy2"/>
    <dgm:cxn modelId="{87A550E9-3749-4EB0-8C39-260B8364F07F}" type="presParOf" srcId="{D344C1B4-85D3-43EA-BD1F-2EA86A4CF8EE}" destId="{29FF80E9-3684-4030-AB1E-390F0FE75BBB}" srcOrd="1" destOrd="0" presId="urn:microsoft.com/office/officeart/2005/8/layout/hierarchy2"/>
    <dgm:cxn modelId="{A9AF97D8-8B83-4FB6-812B-2D5FF37C4956}" type="presParOf" srcId="{29FF80E9-3684-4030-AB1E-390F0FE75BBB}" destId="{726C37BD-650B-4A12-A3A8-60D43C962815}" srcOrd="0" destOrd="0" presId="urn:microsoft.com/office/officeart/2005/8/layout/hierarchy2"/>
    <dgm:cxn modelId="{2A825263-41C4-4CEE-8AF5-DEEBE4D46BE0}" type="presParOf" srcId="{29FF80E9-3684-4030-AB1E-390F0FE75BBB}" destId="{DF7B8CDD-ED03-4315-8D0E-72489278D3B0}" srcOrd="1" destOrd="0" presId="urn:microsoft.com/office/officeart/2005/8/layout/hierarchy2"/>
    <dgm:cxn modelId="{F836732B-391A-4B94-B3E2-0F926019F9AD}" type="presParOf" srcId="{AB4D5217-D4A3-41FA-B43A-1EDB8D5D5099}" destId="{C9A24711-34E0-425F-B91C-C735D74A4AF8}" srcOrd="2" destOrd="0" presId="urn:microsoft.com/office/officeart/2005/8/layout/hierarchy2"/>
    <dgm:cxn modelId="{119B7BD9-D33E-44E9-A531-60FA48BE26FA}" type="presParOf" srcId="{C9A24711-34E0-425F-B91C-C735D74A4AF8}" destId="{610890A6-57FC-44F2-81B2-3112838ABB3C}" srcOrd="0" destOrd="0" presId="urn:microsoft.com/office/officeart/2005/8/layout/hierarchy2"/>
    <dgm:cxn modelId="{E71EB437-6A2E-49C2-AFB3-941AB031013D}" type="presParOf" srcId="{C9A24711-34E0-425F-B91C-C735D74A4AF8}" destId="{53D6EC0A-C28C-4972-8029-DF808767AAF1}" srcOrd="1" destOrd="0" presId="urn:microsoft.com/office/officeart/2005/8/layout/hierarchy2"/>
    <dgm:cxn modelId="{33CC94FC-E15F-467F-B096-1F1C40CF131F}" type="presParOf" srcId="{53D6EC0A-C28C-4972-8029-DF808767AAF1}" destId="{4C203E5A-B58D-4596-924C-72C9B8AE7967}" srcOrd="0" destOrd="0" presId="urn:microsoft.com/office/officeart/2005/8/layout/hierarchy2"/>
    <dgm:cxn modelId="{0F4205B1-B335-4A43-AC2D-A25D5CDA4530}" type="presParOf" srcId="{4C203E5A-B58D-4596-924C-72C9B8AE7967}" destId="{03509775-4772-47F3-AB1D-29A0B313EAD2}" srcOrd="0" destOrd="0" presId="urn:microsoft.com/office/officeart/2005/8/layout/hierarchy2"/>
    <dgm:cxn modelId="{2401F9B3-F6DB-464A-9E12-6038EFB81065}" type="presParOf" srcId="{53D6EC0A-C28C-4972-8029-DF808767AAF1}" destId="{DEEAD115-7BB1-4590-9F1A-F77402499823}" srcOrd="1" destOrd="0" presId="urn:microsoft.com/office/officeart/2005/8/layout/hierarchy2"/>
    <dgm:cxn modelId="{E098929B-B9B8-4AED-83ED-9BB77C4E5847}" type="presParOf" srcId="{DEEAD115-7BB1-4590-9F1A-F77402499823}" destId="{38FDCDDF-A868-410E-AD51-7828BD906E65}" srcOrd="0" destOrd="0" presId="urn:microsoft.com/office/officeart/2005/8/layout/hierarchy2"/>
    <dgm:cxn modelId="{0229E7B2-77FF-4DCA-A4F6-12F43F47AAB9}" type="presParOf" srcId="{DEEAD115-7BB1-4590-9F1A-F77402499823}" destId="{7E9C19C3-38F2-47A1-BFE4-75384A62EC0D}" srcOrd="1" destOrd="0" presId="urn:microsoft.com/office/officeart/2005/8/layout/hierarchy2"/>
    <dgm:cxn modelId="{8091424D-5F24-4285-9356-35375F6BF3C4}" type="presParOf" srcId="{AB4D5217-D4A3-41FA-B43A-1EDB8D5D5099}" destId="{A927B286-E9B4-43E1-B672-BF9AC74EF619}" srcOrd="3" destOrd="0" presId="urn:microsoft.com/office/officeart/2005/8/layout/hierarchy2"/>
    <dgm:cxn modelId="{3575DE64-B84B-4E51-9BF3-B53E370503D4}" type="presParOf" srcId="{A927B286-E9B4-43E1-B672-BF9AC74EF619}" destId="{0D60AAD1-784F-4384-83F1-3F48B3636FDE}" srcOrd="0" destOrd="0" presId="urn:microsoft.com/office/officeart/2005/8/layout/hierarchy2"/>
    <dgm:cxn modelId="{9AAB80FE-D3E7-437F-94EA-22C4FB44CF95}" type="presParOf" srcId="{A927B286-E9B4-43E1-B672-BF9AC74EF619}" destId="{E60B5DF8-9158-4919-9040-3BFBC550467F}" srcOrd="1" destOrd="0" presId="urn:microsoft.com/office/officeart/2005/8/layout/hierarchy2"/>
    <dgm:cxn modelId="{7ECC668E-1B9F-4E80-BB40-CF8C6D5C356E}" type="presParOf" srcId="{E60B5DF8-9158-4919-9040-3BFBC550467F}" destId="{704DEB7A-5925-4537-B667-74FE9689B95F}" srcOrd="0" destOrd="0" presId="urn:microsoft.com/office/officeart/2005/8/layout/hierarchy2"/>
    <dgm:cxn modelId="{C90C5292-12A3-458E-B0F3-51A76B901F76}" type="presParOf" srcId="{704DEB7A-5925-4537-B667-74FE9689B95F}" destId="{86F0B322-D23C-4FDA-A5FB-55042D79EF61}" srcOrd="0" destOrd="0" presId="urn:microsoft.com/office/officeart/2005/8/layout/hierarchy2"/>
    <dgm:cxn modelId="{8C8B9260-C545-4CA1-BCA8-859100C1F683}" type="presParOf" srcId="{E60B5DF8-9158-4919-9040-3BFBC550467F}" destId="{050CCF21-1B5B-4C53-8C27-63534DBDB00C}" srcOrd="1" destOrd="0" presId="urn:microsoft.com/office/officeart/2005/8/layout/hierarchy2"/>
    <dgm:cxn modelId="{CF26CDC5-8C0F-4170-94AD-EF084889A434}" type="presParOf" srcId="{050CCF21-1B5B-4C53-8C27-63534DBDB00C}" destId="{C638FDEC-F40E-4577-A85C-804A8543E21D}" srcOrd="0" destOrd="0" presId="urn:microsoft.com/office/officeart/2005/8/layout/hierarchy2"/>
    <dgm:cxn modelId="{B1004952-C0A6-46BF-884C-C936E463EB0F}" type="presParOf" srcId="{050CCF21-1B5B-4C53-8C27-63534DBDB00C}" destId="{12D52833-5B5B-4596-B226-187481B8A018}"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709169" cy="2709169"/>
        <a:chOff x="0" y="0"/>
        <a:chExt cx="2709169" cy="2709169"/>
      </a:xfrm>
    </dsp:grpSpPr>
    <dsp:sp modelId="{634F9B89-6071-4137-A248-9CA0248D2E90}">
      <dsp:nvSpPr>
        <dsp:cNvPr id="3" name="饼形 2"/>
        <dsp:cNvSpPr/>
      </dsp:nvSpPr>
      <dsp:spPr bwMode="white">
        <a:xfrm>
          <a:off x="1426537" y="167698"/>
          <a:ext cx="2275702" cy="2275702"/>
        </a:xfrm>
        <a:prstGeom prst="pie">
          <a:avLst>
            <a:gd name="adj1" fmla="val 16200000"/>
            <a:gd name="adj2" fmla="val 2052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500" dirty="0">
              <a:solidFill>
                <a:sysClr val="window" lastClr="FFFFFF"/>
              </a:solidFill>
              <a:latin typeface="Lato Light"/>
              <a:ea typeface="+mn-ea"/>
              <a:cs typeface="+mn-cs"/>
            </a:rPr>
            <a:t>现状调研</a:t>
          </a:r>
        </a:p>
      </dsp:txBody>
      <dsp:txXfrm>
        <a:off x="1426537" y="167698"/>
        <a:ext cx="2275702" cy="2275702"/>
      </dsp:txXfrm>
    </dsp:sp>
    <dsp:sp modelId="{9FCA8F13-40C7-4E67-8AD3-63B136DBA565}">
      <dsp:nvSpPr>
        <dsp:cNvPr id="4" name="饼形 3"/>
        <dsp:cNvSpPr/>
      </dsp:nvSpPr>
      <dsp:spPr bwMode="white">
        <a:xfrm>
          <a:off x="1446043" y="228383"/>
          <a:ext cx="2275702" cy="2275702"/>
        </a:xfrm>
        <a:prstGeom prst="pie">
          <a:avLst>
            <a:gd name="adj1" fmla="val 20520000"/>
            <a:gd name="adj2" fmla="val 324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500" dirty="0">
              <a:solidFill>
                <a:sysClr val="window" lastClr="FFFFFF"/>
              </a:solidFill>
              <a:latin typeface="Lato Light"/>
              <a:ea typeface="+mn-ea"/>
              <a:cs typeface="+mn-cs"/>
            </a:rPr>
            <a:t>数据采集</a:t>
          </a:r>
        </a:p>
      </dsp:txBody>
      <dsp:txXfrm>
        <a:off x="1446043" y="228383"/>
        <a:ext cx="2275702" cy="2275702"/>
      </dsp:txXfrm>
    </dsp:sp>
    <dsp:sp modelId="{350B8A2F-4A35-4F3E-AC00-67F1975BF569}">
      <dsp:nvSpPr>
        <dsp:cNvPr id="5" name="饼形 4"/>
        <dsp:cNvSpPr/>
      </dsp:nvSpPr>
      <dsp:spPr bwMode="white">
        <a:xfrm>
          <a:off x="1394569" y="265769"/>
          <a:ext cx="2275702" cy="2275702"/>
        </a:xfrm>
        <a:prstGeom prst="pie">
          <a:avLst>
            <a:gd name="adj1" fmla="val 3240000"/>
            <a:gd name="adj2" fmla="val 756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500" dirty="0">
              <a:solidFill>
                <a:sysClr val="window" lastClr="FFFFFF"/>
              </a:solidFill>
              <a:latin typeface="Lato Light"/>
              <a:ea typeface="+mn-ea"/>
              <a:cs typeface="+mn-cs"/>
            </a:rPr>
            <a:t>数据识别</a:t>
          </a:r>
        </a:p>
      </dsp:txBody>
      <dsp:txXfrm>
        <a:off x="1394569" y="265769"/>
        <a:ext cx="2275702" cy="2275702"/>
      </dsp:txXfrm>
    </dsp:sp>
    <dsp:sp modelId="{3566A59F-2CCC-42F1-B9EB-D9372B5A39E4}">
      <dsp:nvSpPr>
        <dsp:cNvPr id="6" name="饼形 5"/>
        <dsp:cNvSpPr/>
      </dsp:nvSpPr>
      <dsp:spPr bwMode="white">
        <a:xfrm>
          <a:off x="1343095" y="228383"/>
          <a:ext cx="2275702" cy="2275702"/>
        </a:xfrm>
        <a:prstGeom prst="pie">
          <a:avLst>
            <a:gd name="adj1" fmla="val 7560000"/>
            <a:gd name="adj2" fmla="val 1188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500" dirty="0">
              <a:solidFill>
                <a:sysClr val="window" lastClr="FFFFFF"/>
              </a:solidFill>
              <a:latin typeface="Lato Light"/>
              <a:ea typeface="+mn-ea"/>
              <a:cs typeface="+mn-cs"/>
            </a:rPr>
            <a:t>标准制定</a:t>
          </a:r>
        </a:p>
      </dsp:txBody>
      <dsp:txXfrm>
        <a:off x="1343095" y="228383"/>
        <a:ext cx="2275702" cy="2275702"/>
      </dsp:txXfrm>
    </dsp:sp>
    <dsp:sp modelId="{3A8DB93C-42B2-4D1F-BA97-7A7A9FE0636E}">
      <dsp:nvSpPr>
        <dsp:cNvPr id="7" name="饼形 6"/>
        <dsp:cNvSpPr/>
      </dsp:nvSpPr>
      <dsp:spPr bwMode="white">
        <a:xfrm>
          <a:off x="1362601" y="167698"/>
          <a:ext cx="2275702" cy="2275702"/>
        </a:xfrm>
        <a:prstGeom prst="pie">
          <a:avLst>
            <a:gd name="adj1" fmla="val 11880000"/>
            <a:gd name="adj2" fmla="val 162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500" dirty="0">
              <a:solidFill>
                <a:sysClr val="window" lastClr="FFFFFF"/>
              </a:solidFill>
              <a:latin typeface="Lato Light"/>
              <a:ea typeface="+mn-ea"/>
              <a:cs typeface="+mn-cs"/>
            </a:rPr>
            <a:t>标准确认</a:t>
          </a:r>
        </a:p>
      </dsp:txBody>
      <dsp:txXfrm>
        <a:off x="1362601" y="167698"/>
        <a:ext cx="2275702" cy="2275702"/>
      </dsp:txXfrm>
    </dsp:sp>
    <dsp:sp modelId="{FA7E983F-CAEE-4950-B57D-90DEEF9F2DA5}">
      <dsp:nvSpPr>
        <dsp:cNvPr id="8" name="环形箭头 7"/>
        <dsp:cNvSpPr/>
      </dsp:nvSpPr>
      <dsp:spPr bwMode="white">
        <a:xfrm>
          <a:off x="1301266" y="42534"/>
          <a:ext cx="2526029" cy="2526029"/>
        </a:xfrm>
        <a:prstGeom prst="circularArrow">
          <a:avLst>
            <a:gd name="adj1" fmla="val 5085"/>
            <a:gd name="adj2" fmla="val 327528"/>
            <a:gd name="adj3" fmla="val 20192361"/>
            <a:gd name="adj4" fmla="val 16200324"/>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301266" y="42534"/>
        <a:ext cx="2526029" cy="2526029"/>
      </dsp:txXfrm>
    </dsp:sp>
    <dsp:sp modelId="{572A265D-96E6-4965-A5F4-962120D1397E}">
      <dsp:nvSpPr>
        <dsp:cNvPr id="9" name="环形箭头 8"/>
        <dsp:cNvSpPr/>
      </dsp:nvSpPr>
      <dsp:spPr bwMode="white">
        <a:xfrm>
          <a:off x="1321037" y="103199"/>
          <a:ext cx="2526029" cy="2526029"/>
        </a:xfrm>
        <a:prstGeom prst="circularArrow">
          <a:avLst>
            <a:gd name="adj1" fmla="val 5085"/>
            <a:gd name="adj2" fmla="val 327528"/>
            <a:gd name="adj3" fmla="val 2912753"/>
            <a:gd name="adj4" fmla="val 20519953"/>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321037" y="103199"/>
        <a:ext cx="2526029" cy="2526029"/>
      </dsp:txXfrm>
    </dsp:sp>
    <dsp:sp modelId="{4DA96DCD-A1D2-40A8-B462-BD9171574959}">
      <dsp:nvSpPr>
        <dsp:cNvPr id="10" name="环形箭头 9"/>
        <dsp:cNvSpPr/>
      </dsp:nvSpPr>
      <dsp:spPr bwMode="white">
        <a:xfrm>
          <a:off x="1269405" y="140700"/>
          <a:ext cx="2526029" cy="2526029"/>
        </a:xfrm>
        <a:prstGeom prst="circularArrow">
          <a:avLst>
            <a:gd name="adj1" fmla="val 5085"/>
            <a:gd name="adj2" fmla="val 327528"/>
            <a:gd name="adj3" fmla="val 7232777"/>
            <a:gd name="adj4" fmla="val 3239695"/>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269405" y="140700"/>
        <a:ext cx="2526029" cy="2526029"/>
      </dsp:txXfrm>
    </dsp:sp>
    <dsp:sp modelId="{04C657FB-97F8-482F-87EC-B173C85954BC}">
      <dsp:nvSpPr>
        <dsp:cNvPr id="11" name="环形箭头 10"/>
        <dsp:cNvSpPr/>
      </dsp:nvSpPr>
      <dsp:spPr bwMode="white">
        <a:xfrm>
          <a:off x="1217774" y="103199"/>
          <a:ext cx="2526029" cy="2526029"/>
        </a:xfrm>
        <a:prstGeom prst="circularArrow">
          <a:avLst>
            <a:gd name="adj1" fmla="val 5085"/>
            <a:gd name="adj2" fmla="val 327528"/>
            <a:gd name="adj3" fmla="val 11552519"/>
            <a:gd name="adj4" fmla="val 7559718"/>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217774" y="103199"/>
        <a:ext cx="2526029" cy="2526029"/>
      </dsp:txXfrm>
    </dsp:sp>
    <dsp:sp modelId="{A184181E-421F-454E-859E-712B7C7CD1E4}">
      <dsp:nvSpPr>
        <dsp:cNvPr id="12" name="环形箭头 11"/>
        <dsp:cNvSpPr/>
      </dsp:nvSpPr>
      <dsp:spPr bwMode="white">
        <a:xfrm>
          <a:off x="1237544" y="42534"/>
          <a:ext cx="2526029" cy="2526029"/>
        </a:xfrm>
        <a:prstGeom prst="circularArrow">
          <a:avLst>
            <a:gd name="adj1" fmla="val 5085"/>
            <a:gd name="adj2" fmla="val 327528"/>
            <a:gd name="adj3" fmla="val 15872148"/>
            <a:gd name="adj4" fmla="val 11880111"/>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237544" y="42534"/>
        <a:ext cx="2526029" cy="2526029"/>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709170" cy="2709170"/>
        <a:chOff x="0" y="0"/>
        <a:chExt cx="2709170" cy="2709170"/>
      </a:xfrm>
    </dsp:grpSpPr>
    <dsp:sp modelId="{634F9B89-6071-4137-A248-9CA0248D2E90}">
      <dsp:nvSpPr>
        <dsp:cNvPr id="3" name="饼形 2"/>
        <dsp:cNvSpPr/>
      </dsp:nvSpPr>
      <dsp:spPr bwMode="white">
        <a:xfrm>
          <a:off x="1414768" y="160534"/>
          <a:ext cx="2275703" cy="2275703"/>
        </a:xfrm>
        <a:prstGeom prst="pie">
          <a:avLst>
            <a:gd name="adj1" fmla="val 16200000"/>
            <a:gd name="adj2" fmla="val 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500" dirty="0">
              <a:solidFill>
                <a:sysClr val="window" lastClr="FFFFFF"/>
              </a:solidFill>
              <a:latin typeface="Lato Light"/>
              <a:ea typeface="+mn-ea"/>
              <a:cs typeface="+mn-cs"/>
            </a:rPr>
            <a:t>抽取集成</a:t>
          </a:r>
        </a:p>
      </dsp:txBody>
      <dsp:txXfrm>
        <a:off x="1414768" y="160534"/>
        <a:ext cx="2275703" cy="2275703"/>
      </dsp:txXfrm>
    </dsp:sp>
    <dsp:sp modelId="{9FCA8F13-40C7-4E67-8AD3-63B136DBA565}">
      <dsp:nvSpPr>
        <dsp:cNvPr id="4" name="饼形 3"/>
        <dsp:cNvSpPr/>
      </dsp:nvSpPr>
      <dsp:spPr bwMode="white">
        <a:xfrm>
          <a:off x="1414768" y="236933"/>
          <a:ext cx="2275703" cy="2275703"/>
        </a:xfrm>
        <a:prstGeom prst="pie">
          <a:avLst>
            <a:gd name="adj1" fmla="val 0"/>
            <a:gd name="adj2" fmla="val 54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500" dirty="0">
              <a:solidFill>
                <a:sysClr val="window" lastClr="FFFFFF"/>
              </a:solidFill>
              <a:latin typeface="Lato Light"/>
              <a:ea typeface="+mn-ea"/>
              <a:cs typeface="+mn-cs"/>
            </a:rPr>
            <a:t>质量检查</a:t>
          </a:r>
        </a:p>
      </dsp:txBody>
      <dsp:txXfrm>
        <a:off x="1414768" y="236933"/>
        <a:ext cx="2275703" cy="2275703"/>
      </dsp:txXfrm>
    </dsp:sp>
    <dsp:sp modelId="{350B8A2F-4A35-4F3E-AC00-67F1975BF569}">
      <dsp:nvSpPr>
        <dsp:cNvPr id="5" name="饼形 4"/>
        <dsp:cNvSpPr/>
      </dsp:nvSpPr>
      <dsp:spPr bwMode="white">
        <a:xfrm>
          <a:off x="1338369" y="236933"/>
          <a:ext cx="2275703" cy="2275703"/>
        </a:xfrm>
        <a:prstGeom prst="pie">
          <a:avLst>
            <a:gd name="adj1" fmla="val 5400000"/>
            <a:gd name="adj2" fmla="val 108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500" dirty="0">
              <a:solidFill>
                <a:sysClr val="window" lastClr="FFFFFF"/>
              </a:solidFill>
              <a:latin typeface="Lato Light"/>
              <a:ea typeface="+mn-ea"/>
              <a:cs typeface="+mn-cs"/>
            </a:rPr>
            <a:t>反馈修正</a:t>
          </a:r>
        </a:p>
      </dsp:txBody>
      <dsp:txXfrm>
        <a:off x="1338369" y="236933"/>
        <a:ext cx="2275703" cy="2275703"/>
      </dsp:txXfrm>
    </dsp:sp>
    <dsp:sp modelId="{276357E0-815D-4604-A3B2-AF92465F4C8E}">
      <dsp:nvSpPr>
        <dsp:cNvPr id="6" name="饼形 5"/>
        <dsp:cNvSpPr/>
      </dsp:nvSpPr>
      <dsp:spPr bwMode="white">
        <a:xfrm>
          <a:off x="1338369" y="160534"/>
          <a:ext cx="2275703" cy="2275703"/>
        </a:xfrm>
        <a:prstGeom prst="pie">
          <a:avLst>
            <a:gd name="adj1" fmla="val 10800000"/>
            <a:gd name="adj2" fmla="val 162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500" dirty="0">
              <a:solidFill>
                <a:sysClr val="window" lastClr="FFFFFF"/>
              </a:solidFill>
              <a:latin typeface="Lato Light"/>
              <a:ea typeface="+mn-ea"/>
              <a:cs typeface="+mn-cs"/>
            </a:rPr>
            <a:t>清洗转换</a:t>
          </a:r>
          <a:endParaRPr lang="en-US" altLang="zh-CN" sz="1500" dirty="0">
            <a:solidFill>
              <a:sysClr val="window" lastClr="FFFFFF"/>
            </a:solidFill>
            <a:latin typeface="Lato Light"/>
            <a:ea typeface="+mn-ea"/>
            <a:cs typeface="+mn-cs"/>
          </a:endParaRPr>
        </a:p>
      </dsp:txBody>
      <dsp:txXfrm>
        <a:off x="1338369" y="160534"/>
        <a:ext cx="2275703" cy="2275703"/>
      </dsp:txXfrm>
    </dsp:sp>
    <dsp:sp modelId="{FA7E983F-CAEE-4950-B57D-90DEEF9F2DA5}">
      <dsp:nvSpPr>
        <dsp:cNvPr id="7" name="环形箭头 6"/>
        <dsp:cNvSpPr/>
      </dsp:nvSpPr>
      <dsp:spPr bwMode="white">
        <a:xfrm>
          <a:off x="1289604" y="35371"/>
          <a:ext cx="2526030" cy="2526030"/>
        </a:xfrm>
        <a:prstGeom prst="circularArrow">
          <a:avLst>
            <a:gd name="adj1" fmla="val 5085"/>
            <a:gd name="adj2" fmla="val 327528"/>
            <a:gd name="adj3" fmla="val 21272472"/>
            <a:gd name="adj4" fmla="val 162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289604" y="35371"/>
        <a:ext cx="2526030" cy="2526030"/>
      </dsp:txXfrm>
    </dsp:sp>
    <dsp:sp modelId="{01886063-9409-4132-A3A9-ECB27F00155A}">
      <dsp:nvSpPr>
        <dsp:cNvPr id="8" name="环形箭头 7"/>
        <dsp:cNvSpPr/>
      </dsp:nvSpPr>
      <dsp:spPr bwMode="white">
        <a:xfrm>
          <a:off x="1289604" y="111769"/>
          <a:ext cx="2526030" cy="2526030"/>
        </a:xfrm>
        <a:prstGeom prst="circularArrow">
          <a:avLst>
            <a:gd name="adj1" fmla="val 5085"/>
            <a:gd name="adj2" fmla="val 327528"/>
            <a:gd name="adj3" fmla="val 5072472"/>
            <a:gd name="adj4" fmla="val 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289604" y="111769"/>
        <a:ext cx="2526030" cy="2526030"/>
      </dsp:txXfrm>
    </dsp:sp>
    <dsp:sp modelId="{2EAA4565-4DF2-423A-B555-653FEA131AC5}">
      <dsp:nvSpPr>
        <dsp:cNvPr id="9" name="环形箭头 8"/>
        <dsp:cNvSpPr/>
      </dsp:nvSpPr>
      <dsp:spPr bwMode="white">
        <a:xfrm>
          <a:off x="1213206" y="111769"/>
          <a:ext cx="2526030" cy="2526030"/>
        </a:xfrm>
        <a:prstGeom prst="circularArrow">
          <a:avLst>
            <a:gd name="adj1" fmla="val 5085"/>
            <a:gd name="adj2" fmla="val 327528"/>
            <a:gd name="adj3" fmla="val 10472472"/>
            <a:gd name="adj4" fmla="val 54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213206" y="111769"/>
        <a:ext cx="2526030" cy="2526030"/>
      </dsp:txXfrm>
    </dsp:sp>
    <dsp:sp modelId="{CDBB71B7-66A1-4811-8884-F627BEE92AC7}">
      <dsp:nvSpPr>
        <dsp:cNvPr id="10" name="环形箭头 9"/>
        <dsp:cNvSpPr/>
      </dsp:nvSpPr>
      <dsp:spPr bwMode="white">
        <a:xfrm>
          <a:off x="1213206" y="35371"/>
          <a:ext cx="2526030" cy="2526030"/>
        </a:xfrm>
        <a:prstGeom prst="circularArrow">
          <a:avLst>
            <a:gd name="adj1" fmla="val 5085"/>
            <a:gd name="adj2" fmla="val 327528"/>
            <a:gd name="adj3" fmla="val 15872472"/>
            <a:gd name="adj4" fmla="val 108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213206" y="35371"/>
        <a:ext cx="2526030" cy="252603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709170" cy="2709170"/>
        <a:chOff x="0" y="0"/>
        <a:chExt cx="2709170" cy="2709170"/>
      </a:xfrm>
    </dsp:grpSpPr>
    <dsp:sp modelId="{634F9B89-6071-4137-A248-9CA0248D2E90}">
      <dsp:nvSpPr>
        <dsp:cNvPr id="3" name="饼形 2"/>
        <dsp:cNvSpPr/>
      </dsp:nvSpPr>
      <dsp:spPr bwMode="white">
        <a:xfrm>
          <a:off x="1414768" y="160534"/>
          <a:ext cx="2275703" cy="2275703"/>
        </a:xfrm>
        <a:prstGeom prst="pie">
          <a:avLst>
            <a:gd name="adj1" fmla="val 16200000"/>
            <a:gd name="adj2" fmla="val 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9050" tIns="19050" rIns="19050" bIns="190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500" dirty="0">
              <a:solidFill>
                <a:sysClr val="window" lastClr="FFFFFF"/>
              </a:solidFill>
              <a:latin typeface="Lato Light"/>
              <a:ea typeface="+mn-ea"/>
              <a:cs typeface="+mn-cs"/>
            </a:rPr>
            <a:t>数仓建模</a:t>
          </a:r>
        </a:p>
      </dsp:txBody>
      <dsp:txXfrm>
        <a:off x="1414768" y="160534"/>
        <a:ext cx="2275703" cy="2275703"/>
      </dsp:txXfrm>
    </dsp:sp>
    <dsp:sp modelId="{9FCA8F13-40C7-4E67-8AD3-63B136DBA565}">
      <dsp:nvSpPr>
        <dsp:cNvPr id="4" name="饼形 3"/>
        <dsp:cNvSpPr/>
      </dsp:nvSpPr>
      <dsp:spPr bwMode="white">
        <a:xfrm>
          <a:off x="1414768" y="236933"/>
          <a:ext cx="2275703" cy="2275703"/>
        </a:xfrm>
        <a:prstGeom prst="pie">
          <a:avLst>
            <a:gd name="adj1" fmla="val 0"/>
            <a:gd name="adj2" fmla="val 54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400" dirty="0">
              <a:solidFill>
                <a:sysClr val="window" lastClr="FFFFFF"/>
              </a:solidFill>
              <a:latin typeface="Lato Light"/>
              <a:ea typeface="+mn-ea"/>
              <a:cs typeface="+mn-cs"/>
            </a:rPr>
            <a:t>成果数据入库</a:t>
          </a:r>
        </a:p>
      </dsp:txBody>
      <dsp:txXfrm>
        <a:off x="1414768" y="236933"/>
        <a:ext cx="2275703" cy="2275703"/>
      </dsp:txXfrm>
    </dsp:sp>
    <dsp:sp modelId="{350B8A2F-4A35-4F3E-AC00-67F1975BF569}">
      <dsp:nvSpPr>
        <dsp:cNvPr id="5" name="饼形 4"/>
        <dsp:cNvSpPr/>
      </dsp:nvSpPr>
      <dsp:spPr bwMode="white">
        <a:xfrm>
          <a:off x="1338369" y="236933"/>
          <a:ext cx="2275703" cy="2275703"/>
        </a:xfrm>
        <a:prstGeom prst="pie">
          <a:avLst>
            <a:gd name="adj1" fmla="val 5400000"/>
            <a:gd name="adj2" fmla="val 108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400" dirty="0">
              <a:solidFill>
                <a:sysClr val="window" lastClr="FFFFFF"/>
              </a:solidFill>
              <a:latin typeface="Lato Light"/>
              <a:ea typeface="+mn-ea"/>
              <a:cs typeface="+mn-cs"/>
            </a:rPr>
            <a:t>历史数据积累</a:t>
          </a:r>
        </a:p>
      </dsp:txBody>
      <dsp:txXfrm>
        <a:off x="1338369" y="236933"/>
        <a:ext cx="2275703" cy="2275703"/>
      </dsp:txXfrm>
    </dsp:sp>
    <dsp:sp modelId="{3160F377-11EE-406D-B9AB-ACF61CCE34FD}">
      <dsp:nvSpPr>
        <dsp:cNvPr id="6" name="饼形 5"/>
        <dsp:cNvSpPr/>
      </dsp:nvSpPr>
      <dsp:spPr bwMode="white">
        <a:xfrm>
          <a:off x="1338369" y="160534"/>
          <a:ext cx="2275703" cy="2275703"/>
        </a:xfrm>
        <a:prstGeom prst="pie">
          <a:avLst>
            <a:gd name="adj1" fmla="val 10800000"/>
            <a:gd name="adj2" fmla="val 16200000"/>
          </a:avLst>
        </a:prstGeom>
        <a:gradFill rotWithShape="0">
          <a:gsLst>
            <a:gs pos="0">
              <a:srgbClr val="44546A">
                <a:hueOff val="0"/>
                <a:satOff val="0"/>
                <a:lumOff val="0"/>
                <a:alphaOff val="0"/>
                <a:satMod val="103000"/>
                <a:lumMod val="102000"/>
                <a:tint val="94000"/>
              </a:srgbClr>
            </a:gs>
            <a:gs pos="50000">
              <a:srgbClr val="44546A">
                <a:hueOff val="0"/>
                <a:satOff val="0"/>
                <a:lumOff val="0"/>
                <a:alphaOff val="0"/>
                <a:satMod val="110000"/>
                <a:lumMod val="100000"/>
                <a:shade val="100000"/>
              </a:srgbClr>
            </a:gs>
            <a:gs pos="100000">
              <a:srgbClr val="44546A">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lt2"/>
        </a:lnRef>
        <a:fillRef idx="3">
          <a:schemeClr val="dk2"/>
        </a:fillRef>
        <a:effectRef idx="3">
          <a:scrgbClr r="0" g="0" b="0"/>
        </a:effectRef>
        <a:fontRef idx="minor">
          <a:schemeClr val="lt1"/>
        </a:fontRef>
      </dsp:style>
      <dsp:txBody>
        <a:bodyPr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400" dirty="0">
              <a:solidFill>
                <a:sysClr val="window" lastClr="FFFFFF"/>
              </a:solidFill>
              <a:latin typeface="Lato Light"/>
              <a:ea typeface="+mn-ea"/>
              <a:cs typeface="+mn-cs"/>
            </a:rPr>
            <a:t>数据封装发布</a:t>
          </a:r>
        </a:p>
      </dsp:txBody>
      <dsp:txXfrm>
        <a:off x="1338369" y="160534"/>
        <a:ext cx="2275703" cy="2275703"/>
      </dsp:txXfrm>
    </dsp:sp>
    <dsp:sp modelId="{FA7E983F-CAEE-4950-B57D-90DEEF9F2DA5}">
      <dsp:nvSpPr>
        <dsp:cNvPr id="7" name="环形箭头 6"/>
        <dsp:cNvSpPr/>
      </dsp:nvSpPr>
      <dsp:spPr bwMode="white">
        <a:xfrm>
          <a:off x="1289604" y="35371"/>
          <a:ext cx="2526030" cy="2526030"/>
        </a:xfrm>
        <a:prstGeom prst="circularArrow">
          <a:avLst>
            <a:gd name="adj1" fmla="val 5085"/>
            <a:gd name="adj2" fmla="val 327528"/>
            <a:gd name="adj3" fmla="val 21272472"/>
            <a:gd name="adj4" fmla="val 162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289604" y="35371"/>
        <a:ext cx="2526030" cy="2526030"/>
      </dsp:txXfrm>
    </dsp:sp>
    <dsp:sp modelId="{8CEF3D96-D068-4874-9A50-34A40C87D567}">
      <dsp:nvSpPr>
        <dsp:cNvPr id="8" name="环形箭头 7"/>
        <dsp:cNvSpPr/>
      </dsp:nvSpPr>
      <dsp:spPr bwMode="white">
        <a:xfrm>
          <a:off x="1289604" y="111769"/>
          <a:ext cx="2526030" cy="2526030"/>
        </a:xfrm>
        <a:prstGeom prst="circularArrow">
          <a:avLst>
            <a:gd name="adj1" fmla="val 5085"/>
            <a:gd name="adj2" fmla="val 327528"/>
            <a:gd name="adj3" fmla="val 5072472"/>
            <a:gd name="adj4" fmla="val 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289604" y="111769"/>
        <a:ext cx="2526030" cy="2526030"/>
      </dsp:txXfrm>
    </dsp:sp>
    <dsp:sp modelId="{ECDCEB8D-F6BD-4626-BABB-6BB65C7B9440}">
      <dsp:nvSpPr>
        <dsp:cNvPr id="9" name="环形箭头 8"/>
        <dsp:cNvSpPr/>
      </dsp:nvSpPr>
      <dsp:spPr bwMode="white">
        <a:xfrm>
          <a:off x="1213206" y="111769"/>
          <a:ext cx="2526030" cy="2526030"/>
        </a:xfrm>
        <a:prstGeom prst="circularArrow">
          <a:avLst>
            <a:gd name="adj1" fmla="val 5085"/>
            <a:gd name="adj2" fmla="val 327528"/>
            <a:gd name="adj3" fmla="val 10472472"/>
            <a:gd name="adj4" fmla="val 54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213206" y="111769"/>
        <a:ext cx="2526030" cy="2526030"/>
      </dsp:txXfrm>
    </dsp:sp>
    <dsp:sp modelId="{DBAC468D-B3A5-4E98-9513-89BF8EFF0419}">
      <dsp:nvSpPr>
        <dsp:cNvPr id="10" name="环形箭头 9"/>
        <dsp:cNvSpPr/>
      </dsp:nvSpPr>
      <dsp:spPr bwMode="white">
        <a:xfrm>
          <a:off x="1213206" y="35371"/>
          <a:ext cx="2526030" cy="2526030"/>
        </a:xfrm>
        <a:prstGeom prst="circularArrow">
          <a:avLst>
            <a:gd name="adj1" fmla="val 5085"/>
            <a:gd name="adj2" fmla="val 327528"/>
            <a:gd name="adj3" fmla="val 15872472"/>
            <a:gd name="adj4" fmla="val 10800000"/>
            <a:gd name="adj5" fmla="val 5932"/>
          </a:avLst>
        </a:prstGeom>
        <a:gradFill rotWithShape="0">
          <a:gsLst>
            <a:gs pos="0">
              <a:srgbClr val="44546A">
                <a:tint val="60000"/>
                <a:hueOff val="0"/>
                <a:satOff val="0"/>
                <a:lumOff val="0"/>
                <a:alphaOff val="0"/>
                <a:satMod val="103000"/>
                <a:lumMod val="102000"/>
                <a:tint val="94000"/>
              </a:srgbClr>
            </a:gs>
            <a:gs pos="50000">
              <a:srgbClr val="44546A">
                <a:tint val="60000"/>
                <a:hueOff val="0"/>
                <a:satOff val="0"/>
                <a:lumOff val="0"/>
                <a:alphaOff val="0"/>
                <a:satMod val="110000"/>
                <a:lumMod val="100000"/>
                <a:shade val="100000"/>
              </a:srgbClr>
            </a:gs>
            <a:gs pos="100000">
              <a:srgbClr val="44546A">
                <a:tint val="600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hemeClr val="dk2">
            <a:tint val="60000"/>
          </a:schemeClr>
        </a:lnRef>
        <a:fillRef idx="3">
          <a:schemeClr val="dk2">
            <a:tint val="60000"/>
          </a:schemeClr>
        </a:fillRef>
        <a:effectRef idx="3">
          <a:scrgbClr r="0" g="0" b="0"/>
        </a:effectRef>
        <a:fontRef idx="minor">
          <a:schemeClr val="lt1"/>
        </a:fontRef>
      </dsp:style>
      <dsp:txXfrm>
        <a:off x="1213206" y="35371"/>
        <a:ext cx="2526030" cy="252603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233410" cy="5086302"/>
        <a:chOff x="0" y="0"/>
        <a:chExt cx="7233410" cy="5086302"/>
      </a:xfrm>
    </dsp:grpSpPr>
    <dsp:sp modelId="{591944CA-A60A-4355-AD9F-72964FE7CD6C}">
      <dsp:nvSpPr>
        <dsp:cNvPr id="4" name="环形箭头 3"/>
        <dsp:cNvSpPr/>
      </dsp:nvSpPr>
      <dsp:spPr bwMode="white">
        <a:xfrm>
          <a:off x="1124472" y="7846"/>
          <a:ext cx="4984466" cy="4984466"/>
        </a:xfrm>
        <a:prstGeom prst="circularArrow">
          <a:avLst>
            <a:gd name="adj1" fmla="val 5000"/>
            <a:gd name="adj2" fmla="val 360000"/>
            <a:gd name="adj3" fmla="val 13745822"/>
            <a:gd name="adj4" fmla="val 17342278"/>
            <a:gd name="adj5" fmla="val 5500"/>
          </a:avLst>
        </a:prstGeom>
        <a:sp3d z="-12700" extrusionH="1700" prstMaterial="translucentPowder">
          <a:bevelT w="25400" h="6350" prst="softRound"/>
          <a:bevelB w="0" h="0" prst="convex"/>
        </a:sp3d>
      </dsp:spPr>
      <dsp:style>
        <a:lnRef idx="0">
          <a:schemeClr val="accent1"/>
        </a:lnRef>
        <a:fillRef idx="1">
          <a:schemeClr val="accent1">
            <a:tint val="40000"/>
          </a:schemeClr>
        </a:fillRef>
        <a:effectRef idx="0">
          <a:scrgbClr r="0" g="0" b="0"/>
        </a:effectRef>
        <a:fontRef idx="minor"/>
      </dsp:style>
      <dsp:txXfrm>
        <a:off x="1124472" y="7846"/>
        <a:ext cx="4984466" cy="4984466"/>
      </dsp:txXfrm>
    </dsp:sp>
    <dsp:sp modelId="{630CB179-F60D-455F-92A8-10E6150CA583}">
      <dsp:nvSpPr>
        <dsp:cNvPr id="3" name="圆角矩形 2"/>
        <dsp:cNvSpPr/>
      </dsp:nvSpPr>
      <dsp:spPr bwMode="white">
        <a:xfrm>
          <a:off x="2435888" y="0"/>
          <a:ext cx="2361634" cy="1180817"/>
        </a:xfrm>
        <a:prstGeom prst="roundRect">
          <a:avLst/>
        </a:prstGeom>
        <a:sp3d prstMaterial="translucentPowder">
          <a:bevelT w="127000" h="25400" prst="softRound"/>
        </a:sp3d>
      </dsp:spPr>
      <dsp:style>
        <a:lnRef idx="0">
          <a:schemeClr val="lt1"/>
        </a:lnRef>
        <a:fillRef idx="1">
          <a:schemeClr val="accent1"/>
        </a:fillRef>
        <a:effectRef idx="0">
          <a:scrgbClr r="0" g="0" b="0"/>
        </a:effectRef>
        <a:fontRef idx="minor">
          <a:schemeClr val="lt1"/>
        </a:fontRef>
      </dsp:style>
      <dsp:txBody>
        <a:bodyPr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dirty="0"/>
            <a:t>深入业务调研</a:t>
          </a:r>
        </a:p>
      </dsp:txBody>
      <dsp:txXfrm>
        <a:off x="2435888" y="0"/>
        <a:ext cx="2361634" cy="1180817"/>
      </dsp:txXfrm>
    </dsp:sp>
    <dsp:sp modelId="{4187C9C4-E570-4694-824F-9090201213FC}">
      <dsp:nvSpPr>
        <dsp:cNvPr id="5" name="圆角矩形 4"/>
        <dsp:cNvSpPr/>
      </dsp:nvSpPr>
      <dsp:spPr bwMode="white">
        <a:xfrm>
          <a:off x="4489123" y="1491763"/>
          <a:ext cx="2361634" cy="1180817"/>
        </a:xfrm>
        <a:prstGeom prst="roundRect">
          <a:avLst/>
        </a:prstGeom>
        <a:sp3d prstMaterial="translucentPowder">
          <a:bevelT w="127000" h="25400" prst="softRound"/>
        </a:sp3d>
      </dsp:spPr>
      <dsp:style>
        <a:lnRef idx="0">
          <a:schemeClr val="lt1"/>
        </a:lnRef>
        <a:fillRef idx="1">
          <a:schemeClr val="accent1"/>
        </a:fillRef>
        <a:effectRef idx="0">
          <a:scrgbClr r="0" g="0" b="0"/>
        </a:effectRef>
        <a:fontRef idx="minor">
          <a:schemeClr val="lt1"/>
        </a:fontRef>
      </dsp:style>
      <dsp:txBody>
        <a:bodyPr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dirty="0"/>
            <a:t>数据资产梳理</a:t>
          </a:r>
        </a:p>
      </dsp:txBody>
      <dsp:txXfrm>
        <a:off x="4489123" y="1491763"/>
        <a:ext cx="2361634" cy="1180817"/>
      </dsp:txXfrm>
    </dsp:sp>
    <dsp:sp modelId="{18904777-2E6E-42A6-B5BC-D75A26D5C20E}">
      <dsp:nvSpPr>
        <dsp:cNvPr id="6" name="圆角矩形 5"/>
        <dsp:cNvSpPr/>
      </dsp:nvSpPr>
      <dsp:spPr bwMode="white">
        <a:xfrm>
          <a:off x="3704857" y="3905485"/>
          <a:ext cx="2361634" cy="1180817"/>
        </a:xfrm>
        <a:prstGeom prst="roundRect">
          <a:avLst/>
        </a:prstGeom>
        <a:sp3d prstMaterial="translucentPowder">
          <a:bevelT w="127000" h="25400" prst="softRound"/>
        </a:sp3d>
      </dsp:spPr>
      <dsp:style>
        <a:lnRef idx="0">
          <a:schemeClr val="lt1"/>
        </a:lnRef>
        <a:fillRef idx="1">
          <a:schemeClr val="accent1"/>
        </a:fillRef>
        <a:effectRef idx="0">
          <a:scrgbClr r="0" g="0" b="0"/>
        </a:effectRef>
        <a:fontRef idx="minor">
          <a:schemeClr val="lt1"/>
        </a:fontRef>
      </dsp:style>
      <dsp:txBody>
        <a:bodyPr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dirty="0"/>
            <a:t>数据标准建立</a:t>
          </a:r>
        </a:p>
      </dsp:txBody>
      <dsp:txXfrm>
        <a:off x="3704857" y="3905485"/>
        <a:ext cx="2361634" cy="1180817"/>
      </dsp:txXfrm>
    </dsp:sp>
    <dsp:sp modelId="{01862477-DB9E-48E8-A2E7-AE20E0300EC6}">
      <dsp:nvSpPr>
        <dsp:cNvPr id="7" name="圆角矩形 6"/>
        <dsp:cNvSpPr/>
      </dsp:nvSpPr>
      <dsp:spPr bwMode="white">
        <a:xfrm>
          <a:off x="1166919" y="3905485"/>
          <a:ext cx="2361634" cy="1180817"/>
        </a:xfrm>
        <a:prstGeom prst="roundRect">
          <a:avLst/>
        </a:prstGeom>
        <a:sp3d prstMaterial="translucentPowder">
          <a:bevelT w="127000" h="25400" prst="softRound"/>
        </a:sp3d>
      </dsp:spPr>
      <dsp:style>
        <a:lnRef idx="0">
          <a:schemeClr val="lt1"/>
        </a:lnRef>
        <a:fillRef idx="1">
          <a:schemeClr val="accent1"/>
        </a:fillRef>
        <a:effectRef idx="0">
          <a:scrgbClr r="0" g="0" b="0"/>
        </a:effectRef>
        <a:fontRef idx="minor">
          <a:schemeClr val="lt1"/>
        </a:fontRef>
      </dsp:style>
      <dsp:txBody>
        <a:bodyPr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dirty="0"/>
            <a:t>数据开放共享</a:t>
          </a:r>
        </a:p>
      </dsp:txBody>
      <dsp:txXfrm>
        <a:off x="1166919" y="3905485"/>
        <a:ext cx="2361634" cy="1180817"/>
      </dsp:txXfrm>
    </dsp:sp>
    <dsp:sp modelId="{E0F7EC00-D3ED-4EA9-BF1B-062FB292C97E}">
      <dsp:nvSpPr>
        <dsp:cNvPr id="8" name="圆角矩形 7"/>
        <dsp:cNvSpPr/>
      </dsp:nvSpPr>
      <dsp:spPr bwMode="white">
        <a:xfrm>
          <a:off x="382653" y="1491763"/>
          <a:ext cx="2361634" cy="1180817"/>
        </a:xfrm>
        <a:prstGeom prst="roundRect">
          <a:avLst/>
        </a:prstGeom>
        <a:sp3d prstMaterial="translucentPowder">
          <a:bevelT w="127000" h="25400" prst="softRound"/>
        </a:sp3d>
      </dsp:spPr>
      <dsp:style>
        <a:lnRef idx="0">
          <a:schemeClr val="lt1"/>
        </a:lnRef>
        <a:fillRef idx="1">
          <a:schemeClr val="accent1"/>
        </a:fillRef>
        <a:effectRef idx="0">
          <a:scrgbClr r="0" g="0" b="0"/>
        </a:effectRef>
        <a:fontRef idx="minor">
          <a:schemeClr val="lt1"/>
        </a:fontRef>
      </dsp:style>
      <dsp:txBody>
        <a:bodyPr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dirty="0"/>
            <a:t>规章制度建设</a:t>
          </a:r>
        </a:p>
      </dsp:txBody>
      <dsp:txXfrm>
        <a:off x="382653" y="1491763"/>
        <a:ext cx="2361634" cy="1180817"/>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143754" cy="2989691"/>
        <a:chOff x="0" y="0"/>
        <a:chExt cx="4143754" cy="2989691"/>
      </a:xfrm>
    </dsp:grpSpPr>
    <dsp:sp modelId="{41CFADC4-5CC0-4F40-9A5C-A36A76C4D465}">
      <dsp:nvSpPr>
        <dsp:cNvPr id="3" name="圆角矩形 2"/>
        <dsp:cNvSpPr/>
      </dsp:nvSpPr>
      <dsp:spPr bwMode="white">
        <a:xfrm>
          <a:off x="0" y="1158925"/>
          <a:ext cx="1220667" cy="671841"/>
        </a:xfrm>
        <a:prstGeom prst="roundRect">
          <a:avLst>
            <a:gd name="adj" fmla="val 10000"/>
          </a:avLst>
        </a:prstGeom>
        <a:solidFill>
          <a:srgbClr val="768394">
            <a:hueOff val="0"/>
            <a:satOff val="0"/>
            <a:lumOff val="0"/>
            <a:alphaOff val="0"/>
          </a:srgbClr>
        </a:solidFill>
        <a:ln w="12700" cap="flat" cmpd="sng" algn="ctr">
          <a:solidFill>
            <a:srgbClr val="F0F0F0">
              <a:hueOff val="0"/>
              <a:satOff val="0"/>
              <a:lumOff val="0"/>
              <a:alphaOff val="0"/>
            </a:srgbClr>
          </a:solidFill>
          <a:prstDash val="solid"/>
          <a:miter lim="800000"/>
        </a:ln>
        <a:effectLst/>
      </dsp:spPr>
      <dsp:style>
        <a:lnRef idx="2">
          <a:schemeClr val="lt2"/>
        </a:lnRef>
        <a:fillRef idx="1">
          <a:schemeClr val="dk2"/>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000" dirty="0">
              <a:solidFill>
                <a:srgbClr val="FFFFFF"/>
              </a:solidFill>
              <a:latin typeface="Arial" panose="020B0604020202020204"/>
              <a:ea typeface="微软雅黑" panose="020B0503020204020204" pitchFamily="34" charset="-122"/>
              <a:cs typeface="+mn-cs"/>
            </a:rPr>
            <a:t>调研成果</a:t>
          </a:r>
        </a:p>
      </dsp:txBody>
      <dsp:txXfrm>
        <a:off x="0" y="1158925"/>
        <a:ext cx="1220667" cy="671841"/>
      </dsp:txXfrm>
    </dsp:sp>
    <dsp:sp modelId="{0E74F2F7-FB71-4F37-8808-637CF239FF06}">
      <dsp:nvSpPr>
        <dsp:cNvPr id="4" name="任意多边形 3"/>
        <dsp:cNvSpPr/>
      </dsp:nvSpPr>
      <dsp:spPr bwMode="white">
        <a:xfrm>
          <a:off x="855550" y="895158"/>
          <a:ext cx="1284759" cy="40449"/>
        </a:xfrm>
        <a:custGeom>
          <a:avLst/>
          <a:gdLst/>
          <a:ahLst/>
          <a:cxnLst/>
          <a:pathLst>
            <a:path w="2023" h="64">
              <a:moveTo>
                <a:pt x="575" y="944"/>
              </a:moveTo>
              <a:lnTo>
                <a:pt x="1448" y="-881"/>
              </a:lnTo>
            </a:path>
          </a:pathLst>
        </a:custGeom>
        <a:ln w="12700" cap="flat" cmpd="sng" algn="ctr">
          <a:solidFill>
            <a:srgbClr val="768394">
              <a:shade val="60000"/>
              <a:hueOff val="0"/>
              <a:satOff val="0"/>
              <a:lumOff val="0"/>
              <a:alphaOff val="0"/>
            </a:srgbClr>
          </a:solidFill>
          <a:prstDash val="solid"/>
          <a:miter lim="800000"/>
        </a:ln>
        <a:effectLst/>
      </dsp:spPr>
      <dsp:style>
        <a:lnRef idx="2">
          <a:schemeClr val="dk2">
            <a:shade val="6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buNone/>
          </a:pPr>
          <a:endParaRPr lang="zh-CN" altLang="en-US" sz="600">
            <a:solidFill>
              <a:srgbClr val="000000">
                <a:hueOff val="0"/>
                <a:satOff val="0"/>
                <a:lumOff val="0"/>
                <a:alphaOff val="0"/>
              </a:srgbClr>
            </a:solidFill>
            <a:latin typeface="Arial" panose="020B0604020202020204"/>
            <a:ea typeface="微软雅黑" panose="020B0503020204020204" pitchFamily="34" charset="-122"/>
            <a:cs typeface="+mn-cs"/>
          </a:endParaRPr>
        </a:p>
      </dsp:txBody>
      <dsp:txXfrm>
        <a:off x="855550" y="895158"/>
        <a:ext cx="1284759" cy="40449"/>
      </dsp:txXfrm>
    </dsp:sp>
    <dsp:sp modelId="{A3BD51A9-1E14-48D6-A34B-C4B7E8B0CBE8}">
      <dsp:nvSpPr>
        <dsp:cNvPr id="5" name="圆角矩形 4"/>
        <dsp:cNvSpPr/>
      </dsp:nvSpPr>
      <dsp:spPr bwMode="white">
        <a:xfrm>
          <a:off x="1775192" y="0"/>
          <a:ext cx="2351510" cy="671841"/>
        </a:xfrm>
        <a:prstGeom prst="roundRect">
          <a:avLst>
            <a:gd name="adj" fmla="val 10000"/>
          </a:avLst>
        </a:prstGeom>
        <a:solidFill>
          <a:srgbClr val="768394">
            <a:hueOff val="0"/>
            <a:satOff val="0"/>
            <a:lumOff val="0"/>
            <a:alphaOff val="0"/>
          </a:srgbClr>
        </a:solidFill>
        <a:ln w="12700" cap="flat" cmpd="sng" algn="ctr">
          <a:solidFill>
            <a:srgbClr val="F0F0F0">
              <a:hueOff val="0"/>
              <a:satOff val="0"/>
              <a:lumOff val="0"/>
              <a:alphaOff val="0"/>
            </a:srgbClr>
          </a:solidFill>
          <a:prstDash val="solid"/>
          <a:miter lim="800000"/>
        </a:ln>
        <a:effectLst/>
      </dsp:spPr>
      <dsp:style>
        <a:lnRef idx="2">
          <a:schemeClr val="lt2"/>
        </a:lnRef>
        <a:fillRef idx="1">
          <a:schemeClr val="dk2"/>
        </a:fillRef>
        <a:effectRef idx="0">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Arial" panose="020B0604020202020204"/>
              <a:ea typeface="微软雅黑" panose="020B0503020204020204" pitchFamily="34" charset="-122"/>
              <a:cs typeface="+mn-cs"/>
            </a:rPr>
            <a:t>校级数据标准</a:t>
          </a:r>
        </a:p>
      </dsp:txBody>
      <dsp:txXfrm>
        <a:off x="1775192" y="0"/>
        <a:ext cx="2351510" cy="671841"/>
      </dsp:txXfrm>
    </dsp:sp>
    <dsp:sp modelId="{31917618-D0E1-40EF-B128-22AF6EE4569A}">
      <dsp:nvSpPr>
        <dsp:cNvPr id="6" name="任意多边形 5"/>
        <dsp:cNvSpPr/>
      </dsp:nvSpPr>
      <dsp:spPr bwMode="white">
        <a:xfrm>
          <a:off x="1160020" y="1281467"/>
          <a:ext cx="675819" cy="40449"/>
        </a:xfrm>
        <a:custGeom>
          <a:avLst/>
          <a:gdLst/>
          <a:ahLst/>
          <a:cxnLst/>
          <a:pathLst>
            <a:path w="1064" h="64">
              <a:moveTo>
                <a:pt x="96" y="336"/>
              </a:moveTo>
              <a:lnTo>
                <a:pt x="969" y="-272"/>
              </a:lnTo>
            </a:path>
          </a:pathLst>
        </a:custGeom>
        <a:ln w="12700" cap="flat" cmpd="sng" algn="ctr">
          <a:solidFill>
            <a:srgbClr val="768394">
              <a:shade val="60000"/>
              <a:hueOff val="0"/>
              <a:satOff val="0"/>
              <a:lumOff val="0"/>
              <a:alphaOff val="0"/>
            </a:srgbClr>
          </a:solidFill>
          <a:prstDash val="solid"/>
          <a:miter lim="800000"/>
        </a:ln>
        <a:effectLst/>
      </dsp:spPr>
      <dsp:style>
        <a:lnRef idx="2">
          <a:schemeClr val="dk2">
            <a:shade val="6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buNone/>
          </a:pPr>
          <a:endParaRPr lang="zh-CN" altLang="en-US" sz="600">
            <a:solidFill>
              <a:srgbClr val="000000">
                <a:hueOff val="0"/>
                <a:satOff val="0"/>
                <a:lumOff val="0"/>
                <a:alphaOff val="0"/>
              </a:srgbClr>
            </a:solidFill>
            <a:latin typeface="Arial" panose="020B0604020202020204"/>
            <a:ea typeface="微软雅黑" panose="020B0503020204020204" pitchFamily="34" charset="-122"/>
            <a:cs typeface="+mn-cs"/>
          </a:endParaRPr>
        </a:p>
      </dsp:txBody>
      <dsp:txXfrm>
        <a:off x="1160020" y="1281467"/>
        <a:ext cx="675819" cy="40449"/>
      </dsp:txXfrm>
    </dsp:sp>
    <dsp:sp modelId="{5B61DDE8-2738-48DB-A87E-C0A54376C93A}">
      <dsp:nvSpPr>
        <dsp:cNvPr id="7" name="圆角矩形 6"/>
        <dsp:cNvSpPr/>
      </dsp:nvSpPr>
      <dsp:spPr bwMode="white">
        <a:xfrm>
          <a:off x="1775192" y="772617"/>
          <a:ext cx="2351510" cy="671841"/>
        </a:xfrm>
        <a:prstGeom prst="roundRect">
          <a:avLst>
            <a:gd name="adj" fmla="val 10000"/>
          </a:avLst>
        </a:prstGeom>
        <a:solidFill>
          <a:srgbClr val="768394">
            <a:hueOff val="0"/>
            <a:satOff val="0"/>
            <a:lumOff val="0"/>
            <a:alphaOff val="0"/>
          </a:srgbClr>
        </a:solidFill>
        <a:ln w="12700" cap="flat" cmpd="sng" algn="ctr">
          <a:solidFill>
            <a:srgbClr val="F0F0F0">
              <a:hueOff val="0"/>
              <a:satOff val="0"/>
              <a:lumOff val="0"/>
              <a:alphaOff val="0"/>
            </a:srgbClr>
          </a:solidFill>
          <a:prstDash val="solid"/>
          <a:miter lim="800000"/>
        </a:ln>
        <a:effectLst/>
      </dsp:spPr>
      <dsp:style>
        <a:lnRef idx="2">
          <a:schemeClr val="lt2"/>
        </a:lnRef>
        <a:fillRef idx="1">
          <a:schemeClr val="dk2"/>
        </a:fillRef>
        <a:effectRef idx="0">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Arial" panose="020B0604020202020204"/>
              <a:ea typeface="微软雅黑" panose="020B0503020204020204" pitchFamily="34" charset="-122"/>
              <a:cs typeface="+mn-cs"/>
            </a:rPr>
            <a:t>校级代码标准</a:t>
          </a:r>
        </a:p>
      </dsp:txBody>
      <dsp:txXfrm>
        <a:off x="1775192" y="772617"/>
        <a:ext cx="2351510" cy="671841"/>
      </dsp:txXfrm>
    </dsp:sp>
    <dsp:sp modelId="{48C06E38-AA04-4A3D-8C59-17BFED2B932C}">
      <dsp:nvSpPr>
        <dsp:cNvPr id="8" name="任意多边形 7"/>
        <dsp:cNvSpPr/>
      </dsp:nvSpPr>
      <dsp:spPr bwMode="white">
        <a:xfrm>
          <a:off x="1160020" y="1667775"/>
          <a:ext cx="675819" cy="40449"/>
        </a:xfrm>
        <a:custGeom>
          <a:avLst/>
          <a:gdLst/>
          <a:ahLst/>
          <a:cxnLst/>
          <a:pathLst>
            <a:path w="1064" h="64">
              <a:moveTo>
                <a:pt x="96" y="-272"/>
              </a:moveTo>
              <a:lnTo>
                <a:pt x="969" y="336"/>
              </a:lnTo>
            </a:path>
          </a:pathLst>
        </a:custGeom>
        <a:ln w="12700" cap="flat" cmpd="sng" algn="ctr">
          <a:solidFill>
            <a:srgbClr val="768394">
              <a:shade val="60000"/>
              <a:hueOff val="0"/>
              <a:satOff val="0"/>
              <a:lumOff val="0"/>
              <a:alphaOff val="0"/>
            </a:srgbClr>
          </a:solidFill>
          <a:prstDash val="solid"/>
          <a:miter lim="800000"/>
        </a:ln>
        <a:effectLst/>
      </dsp:spPr>
      <dsp:style>
        <a:lnRef idx="2">
          <a:schemeClr val="dk2">
            <a:shade val="6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buNone/>
          </a:pPr>
          <a:endParaRPr lang="zh-CN" altLang="en-US" sz="600">
            <a:solidFill>
              <a:srgbClr val="000000">
                <a:hueOff val="0"/>
                <a:satOff val="0"/>
                <a:lumOff val="0"/>
                <a:alphaOff val="0"/>
              </a:srgbClr>
            </a:solidFill>
            <a:latin typeface="Arial" panose="020B0604020202020204"/>
            <a:ea typeface="微软雅黑" panose="020B0503020204020204" pitchFamily="34" charset="-122"/>
            <a:cs typeface="+mn-cs"/>
          </a:endParaRPr>
        </a:p>
      </dsp:txBody>
      <dsp:txXfrm>
        <a:off x="1160020" y="1667775"/>
        <a:ext cx="675819" cy="40449"/>
      </dsp:txXfrm>
    </dsp:sp>
    <dsp:sp modelId="{240A618E-7EBF-4C9A-9FC1-D8D3226A680E}">
      <dsp:nvSpPr>
        <dsp:cNvPr id="9" name="圆角矩形 8"/>
        <dsp:cNvSpPr/>
      </dsp:nvSpPr>
      <dsp:spPr bwMode="white">
        <a:xfrm>
          <a:off x="1775192" y="1545234"/>
          <a:ext cx="2351510" cy="671841"/>
        </a:xfrm>
        <a:prstGeom prst="roundRect">
          <a:avLst>
            <a:gd name="adj" fmla="val 10000"/>
          </a:avLst>
        </a:prstGeom>
        <a:solidFill>
          <a:srgbClr val="768394">
            <a:hueOff val="0"/>
            <a:satOff val="0"/>
            <a:lumOff val="0"/>
            <a:alphaOff val="0"/>
          </a:srgbClr>
        </a:solidFill>
        <a:ln w="12700" cap="flat" cmpd="sng" algn="ctr">
          <a:solidFill>
            <a:srgbClr val="F0F0F0">
              <a:hueOff val="0"/>
              <a:satOff val="0"/>
              <a:lumOff val="0"/>
              <a:alphaOff val="0"/>
            </a:srgbClr>
          </a:solidFill>
          <a:prstDash val="solid"/>
          <a:miter lim="800000"/>
        </a:ln>
        <a:effectLst/>
      </dsp:spPr>
      <dsp:style>
        <a:lnRef idx="2">
          <a:schemeClr val="lt2"/>
        </a:lnRef>
        <a:fillRef idx="1">
          <a:schemeClr val="dk2"/>
        </a:fillRef>
        <a:effectRef idx="0">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Arial" panose="020B0604020202020204"/>
              <a:ea typeface="微软雅黑" panose="020B0503020204020204" pitchFamily="34" charset="-122"/>
              <a:cs typeface="+mn-cs"/>
            </a:rPr>
            <a:t>各项数据的权威来源</a:t>
          </a:r>
        </a:p>
      </dsp:txBody>
      <dsp:txXfrm>
        <a:off x="1775192" y="1545234"/>
        <a:ext cx="2351510" cy="671841"/>
      </dsp:txXfrm>
    </dsp:sp>
    <dsp:sp modelId="{821F2718-86EB-4A31-B48B-02887304CE16}">
      <dsp:nvSpPr>
        <dsp:cNvPr id="10" name="任意多边形 9"/>
        <dsp:cNvSpPr/>
      </dsp:nvSpPr>
      <dsp:spPr bwMode="white">
        <a:xfrm>
          <a:off x="855550" y="2054083"/>
          <a:ext cx="1284759" cy="40449"/>
        </a:xfrm>
        <a:custGeom>
          <a:avLst/>
          <a:gdLst/>
          <a:ahLst/>
          <a:cxnLst/>
          <a:pathLst>
            <a:path w="2023" h="64">
              <a:moveTo>
                <a:pt x="575" y="-881"/>
              </a:moveTo>
              <a:lnTo>
                <a:pt x="1448" y="944"/>
              </a:lnTo>
            </a:path>
          </a:pathLst>
        </a:custGeom>
        <a:ln w="12700" cap="flat" cmpd="sng" algn="ctr">
          <a:solidFill>
            <a:srgbClr val="768394">
              <a:shade val="60000"/>
              <a:hueOff val="0"/>
              <a:satOff val="0"/>
              <a:lumOff val="0"/>
              <a:alphaOff val="0"/>
            </a:srgbClr>
          </a:solidFill>
          <a:prstDash val="solid"/>
          <a:miter lim="800000"/>
        </a:ln>
        <a:effectLst/>
      </dsp:spPr>
      <dsp:style>
        <a:lnRef idx="2">
          <a:schemeClr val="dk2">
            <a:shade val="60000"/>
          </a:schemeClr>
        </a:lnRef>
        <a:fillRef idx="0">
          <a:schemeClr val="dk2"/>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buNone/>
          </a:pPr>
          <a:endParaRPr lang="zh-CN" altLang="en-US" sz="600">
            <a:solidFill>
              <a:srgbClr val="000000">
                <a:hueOff val="0"/>
                <a:satOff val="0"/>
                <a:lumOff val="0"/>
                <a:alphaOff val="0"/>
              </a:srgbClr>
            </a:solidFill>
            <a:latin typeface="Arial" panose="020B0604020202020204"/>
            <a:ea typeface="微软雅黑" panose="020B0503020204020204" pitchFamily="34" charset="-122"/>
            <a:cs typeface="+mn-cs"/>
          </a:endParaRPr>
        </a:p>
      </dsp:txBody>
      <dsp:txXfrm>
        <a:off x="855550" y="2054083"/>
        <a:ext cx="1284759" cy="40449"/>
      </dsp:txXfrm>
    </dsp:sp>
    <dsp:sp modelId="{C94D7394-364F-483C-916C-18DB78987573}">
      <dsp:nvSpPr>
        <dsp:cNvPr id="11" name="圆角矩形 10"/>
        <dsp:cNvSpPr/>
      </dsp:nvSpPr>
      <dsp:spPr bwMode="white">
        <a:xfrm>
          <a:off x="1775192" y="2317850"/>
          <a:ext cx="2351510" cy="671841"/>
        </a:xfrm>
        <a:prstGeom prst="roundRect">
          <a:avLst>
            <a:gd name="adj" fmla="val 10000"/>
          </a:avLst>
        </a:prstGeom>
        <a:solidFill>
          <a:srgbClr val="768394">
            <a:hueOff val="0"/>
            <a:satOff val="0"/>
            <a:lumOff val="0"/>
            <a:alphaOff val="0"/>
          </a:srgbClr>
        </a:solidFill>
        <a:ln w="12700" cap="flat" cmpd="sng" algn="ctr">
          <a:solidFill>
            <a:srgbClr val="F0F0F0">
              <a:hueOff val="0"/>
              <a:satOff val="0"/>
              <a:lumOff val="0"/>
              <a:alphaOff val="0"/>
            </a:srgbClr>
          </a:solidFill>
          <a:prstDash val="solid"/>
          <a:miter lim="800000"/>
        </a:ln>
        <a:effectLst/>
      </dsp:spPr>
      <dsp:style>
        <a:lnRef idx="2">
          <a:schemeClr val="lt2"/>
        </a:lnRef>
        <a:fillRef idx="1">
          <a:schemeClr val="dk2"/>
        </a:fillRef>
        <a:effectRef idx="0">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dirty="0">
              <a:solidFill>
                <a:srgbClr val="FFFFFF"/>
              </a:solidFill>
              <a:latin typeface="Arial" panose="020B0604020202020204"/>
              <a:ea typeface="微软雅黑" panose="020B0503020204020204" pitchFamily="34" charset="-122"/>
              <a:cs typeface="+mn-cs"/>
            </a:rPr>
            <a:t>部门的数据供需关系</a:t>
          </a:r>
        </a:p>
      </dsp:txBody>
      <dsp:txXfrm>
        <a:off x="1775192" y="2317850"/>
        <a:ext cx="2351510" cy="671841"/>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28801" cy="3172584"/>
        <a:chOff x="0" y="0"/>
        <a:chExt cx="6028801" cy="3172584"/>
      </a:xfrm>
    </dsp:grpSpPr>
    <dsp:sp modelId="{806DE4C5-C4E0-4B20-88A7-F86B94708917}">
      <dsp:nvSpPr>
        <dsp:cNvPr id="3" name="圆角矩形 2"/>
        <dsp:cNvSpPr/>
      </dsp:nvSpPr>
      <dsp:spPr bwMode="white">
        <a:xfrm>
          <a:off x="1351952" y="540514"/>
          <a:ext cx="940025" cy="470012"/>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200">
              <a:latin typeface="Arial" panose="020B0604020202020204"/>
              <a:ea typeface="微软雅黑" panose="020B0503020204020204" pitchFamily="34" charset="-122"/>
              <a:cs typeface="+mn-cs"/>
            </a:rPr>
            <a:t>数统学院</a:t>
          </a:r>
          <a:endParaRPr lang="zh-CN" altLang="en-US" sz="1200" dirty="0">
            <a:latin typeface="Arial" panose="020B0604020202020204"/>
            <a:ea typeface="微软雅黑" panose="020B0503020204020204" pitchFamily="34" charset="-122"/>
            <a:cs typeface="+mn-cs"/>
          </a:endParaRPr>
        </a:p>
      </dsp:txBody>
      <dsp:txXfrm>
        <a:off x="1351952" y="540514"/>
        <a:ext cx="940025" cy="470012"/>
      </dsp:txXfrm>
    </dsp:sp>
    <dsp:sp modelId="{2985CF05-6BF8-43D8-AF41-3E0EFAED0D27}">
      <dsp:nvSpPr>
        <dsp:cNvPr id="4" name="任意多边形 3"/>
        <dsp:cNvSpPr/>
      </dsp:nvSpPr>
      <dsp:spPr bwMode="white">
        <a:xfrm>
          <a:off x="2150764" y="491930"/>
          <a:ext cx="658437" cy="26667"/>
        </a:xfrm>
        <a:custGeom>
          <a:avLst/>
          <a:gdLst/>
          <a:ahLst/>
          <a:cxnLst/>
          <a:pathLst>
            <a:path w="1037" h="42">
              <a:moveTo>
                <a:pt x="222" y="447"/>
              </a:moveTo>
              <a:lnTo>
                <a:pt x="815" y="-405"/>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sp:txBody>
      <dsp:txXfrm>
        <a:off x="2150764" y="491930"/>
        <a:ext cx="658437" cy="26667"/>
      </dsp:txXfrm>
    </dsp:sp>
    <dsp:sp modelId="{FD31597D-E856-4978-A822-DD64CE3D9863}">
      <dsp:nvSpPr>
        <dsp:cNvPr id="5" name="圆角矩形 4"/>
        <dsp:cNvSpPr/>
      </dsp:nvSpPr>
      <dsp:spPr bwMode="white">
        <a:xfrm>
          <a:off x="2667987" y="0"/>
          <a:ext cx="2007715" cy="470012"/>
        </a:xfrm>
        <a:prstGeom prst="roundRect">
          <a:avLst>
            <a:gd name="adj" fmla="val 1000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buNone/>
          </a:pPr>
          <a:r>
            <a:rPr lang="zh-CN" altLang="en-US" sz="1000" dirty="0">
              <a:latin typeface="Arial" panose="020B0604020202020204"/>
              <a:ea typeface="微软雅黑" panose="020B0503020204020204" pitchFamily="34" charset="-122"/>
              <a:cs typeface="+mn-cs"/>
            </a:rPr>
            <a:t>本科生学习成绩、课程成绩数据、图书馆借阅刷卡、一卡通消费</a:t>
          </a:r>
          <a:endParaRPr lang="zh-CN" altLang="en-US" sz="1400" dirty="0">
            <a:latin typeface="Arial" panose="020B0604020202020204"/>
            <a:ea typeface="微软雅黑" panose="020B0503020204020204" pitchFamily="34" charset="-122"/>
            <a:cs typeface="+mn-cs"/>
          </a:endParaRPr>
        </a:p>
      </dsp:txBody>
      <dsp:txXfrm>
        <a:off x="2667987" y="0"/>
        <a:ext cx="2007715" cy="470012"/>
      </dsp:txXfrm>
    </dsp:sp>
    <dsp:sp modelId="{6B22D7DB-5EE1-461F-976E-0054B46A4E2B}">
      <dsp:nvSpPr>
        <dsp:cNvPr id="6" name="任意多边形 5"/>
        <dsp:cNvSpPr/>
      </dsp:nvSpPr>
      <dsp:spPr bwMode="white">
        <a:xfrm>
          <a:off x="2291977" y="762187"/>
          <a:ext cx="376010" cy="26667"/>
        </a:xfrm>
        <a:custGeom>
          <a:avLst/>
          <a:gdLst/>
          <a:ahLst/>
          <a:cxnLst/>
          <a:pathLst>
            <a:path w="592" h="42">
              <a:moveTo>
                <a:pt x="0" y="21"/>
              </a:moveTo>
              <a:lnTo>
                <a:pt x="592" y="21"/>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sp:txBody>
      <dsp:txXfrm>
        <a:off x="2291977" y="762187"/>
        <a:ext cx="376010" cy="26667"/>
      </dsp:txXfrm>
    </dsp:sp>
    <dsp:sp modelId="{7989525A-599C-4A8A-88B2-67BBEDB6E44D}">
      <dsp:nvSpPr>
        <dsp:cNvPr id="7" name="圆角矩形 6"/>
        <dsp:cNvSpPr/>
      </dsp:nvSpPr>
      <dsp:spPr bwMode="white">
        <a:xfrm>
          <a:off x="2667987" y="540514"/>
          <a:ext cx="2007715" cy="470012"/>
        </a:xfrm>
        <a:prstGeom prst="roundRect">
          <a:avLst>
            <a:gd name="adj" fmla="val 1000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buNone/>
          </a:pPr>
          <a:r>
            <a:rPr lang="zh-CN" altLang="en-US" sz="1000" kern="1200" dirty="0">
              <a:latin typeface="Arial" panose="020B0604020202020204"/>
              <a:ea typeface="微软雅黑" panose="020B0503020204020204" pitchFamily="34" charset="-122"/>
              <a:cs typeface="+mn-cs"/>
            </a:rPr>
            <a:t>成绩，评教，学生基本数据</a:t>
          </a:r>
          <a:endParaRPr lang="zh-CN" altLang="en-US" sz="1400" dirty="0">
            <a:latin typeface="Arial" panose="020B0604020202020204"/>
            <a:ea typeface="微软雅黑" panose="020B0503020204020204" pitchFamily="34" charset="-122"/>
            <a:cs typeface="+mn-cs"/>
          </a:endParaRPr>
        </a:p>
      </dsp:txBody>
      <dsp:txXfrm>
        <a:off x="2667987" y="540514"/>
        <a:ext cx="2007715" cy="470012"/>
      </dsp:txXfrm>
    </dsp:sp>
    <dsp:sp modelId="{3A6DBFC9-05AA-4261-A72E-BAE2F51882CD}">
      <dsp:nvSpPr>
        <dsp:cNvPr id="8" name="任意多边形 7"/>
        <dsp:cNvSpPr/>
      </dsp:nvSpPr>
      <dsp:spPr bwMode="white">
        <a:xfrm>
          <a:off x="2150764" y="1032444"/>
          <a:ext cx="658437" cy="26667"/>
        </a:xfrm>
        <a:custGeom>
          <a:avLst/>
          <a:gdLst/>
          <a:ahLst/>
          <a:cxnLst/>
          <a:pathLst>
            <a:path w="1037" h="42">
              <a:moveTo>
                <a:pt x="222" y="-405"/>
              </a:moveTo>
              <a:lnTo>
                <a:pt x="815" y="447"/>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sp:txBody>
      <dsp:txXfrm>
        <a:off x="2150764" y="1032444"/>
        <a:ext cx="658437" cy="26667"/>
      </dsp:txXfrm>
    </dsp:sp>
    <dsp:sp modelId="{50D3C27D-4DBA-4529-9356-6DE8578EAADC}">
      <dsp:nvSpPr>
        <dsp:cNvPr id="9" name="圆角矩形 8"/>
        <dsp:cNvSpPr/>
      </dsp:nvSpPr>
      <dsp:spPr bwMode="white">
        <a:xfrm>
          <a:off x="2667987" y="1081029"/>
          <a:ext cx="2007715" cy="470012"/>
        </a:xfrm>
        <a:prstGeom prst="roundRect">
          <a:avLst>
            <a:gd name="adj" fmla="val 1000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buNone/>
          </a:pPr>
          <a:r>
            <a:rPr lang="zh-CN" altLang="en-US" sz="1000" kern="1200" dirty="0">
              <a:latin typeface="Arial" panose="020B0604020202020204"/>
              <a:ea typeface="微软雅黑" panose="020B0503020204020204" pitchFamily="34" charset="-122"/>
              <a:cs typeface="+mn-cs"/>
            </a:rPr>
            <a:t>学生基本数据、课程数据</a:t>
          </a:r>
          <a:endParaRPr lang="zh-CN" altLang="en-US" sz="1400" dirty="0">
            <a:latin typeface="Arial" panose="020B0604020202020204"/>
            <a:ea typeface="微软雅黑" panose="020B0503020204020204" pitchFamily="34" charset="-122"/>
            <a:cs typeface="+mn-cs"/>
          </a:endParaRPr>
        </a:p>
      </dsp:txBody>
      <dsp:txXfrm>
        <a:off x="2667987" y="1081029"/>
        <a:ext cx="2007715" cy="470012"/>
      </dsp:txXfrm>
    </dsp:sp>
    <dsp:sp modelId="{90B8AFCC-0C28-4369-82C9-D00C160AEEC3}">
      <dsp:nvSpPr>
        <dsp:cNvPr id="10" name="圆角矩形 9"/>
        <dsp:cNvSpPr/>
      </dsp:nvSpPr>
      <dsp:spPr bwMode="white">
        <a:xfrm>
          <a:off x="1351952" y="1621543"/>
          <a:ext cx="940025" cy="470012"/>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200">
              <a:latin typeface="Arial" panose="020B0604020202020204"/>
              <a:ea typeface="微软雅黑" panose="020B0503020204020204" pitchFamily="34" charset="-122"/>
              <a:cs typeface="+mn-cs"/>
            </a:rPr>
            <a:t>文学院</a:t>
          </a:r>
          <a:endParaRPr lang="zh-CN" altLang="en-US" sz="1200" dirty="0">
            <a:latin typeface="Arial" panose="020B0604020202020204"/>
            <a:ea typeface="微软雅黑" panose="020B0503020204020204" pitchFamily="34" charset="-122"/>
            <a:cs typeface="+mn-cs"/>
          </a:endParaRPr>
        </a:p>
      </dsp:txBody>
      <dsp:txXfrm>
        <a:off x="1351952" y="1621543"/>
        <a:ext cx="940025" cy="470012"/>
      </dsp:txXfrm>
    </dsp:sp>
    <dsp:sp modelId="{2D7FABCA-FA6C-48B1-B180-0507BEB7BCBA}">
      <dsp:nvSpPr>
        <dsp:cNvPr id="11" name="任意多边形 10"/>
        <dsp:cNvSpPr/>
      </dsp:nvSpPr>
      <dsp:spPr bwMode="white">
        <a:xfrm>
          <a:off x="2291977" y="1843216"/>
          <a:ext cx="376010" cy="26667"/>
        </a:xfrm>
        <a:custGeom>
          <a:avLst/>
          <a:gdLst/>
          <a:ahLst/>
          <a:cxnLst/>
          <a:pathLst>
            <a:path w="592" h="42">
              <a:moveTo>
                <a:pt x="0" y="21"/>
              </a:moveTo>
              <a:lnTo>
                <a:pt x="592" y="21"/>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sp:txBody>
      <dsp:txXfrm>
        <a:off x="2291977" y="1843216"/>
        <a:ext cx="376010" cy="26667"/>
      </dsp:txXfrm>
    </dsp:sp>
    <dsp:sp modelId="{726C37BD-650B-4A12-A3A8-60D43C962815}">
      <dsp:nvSpPr>
        <dsp:cNvPr id="12" name="圆角矩形 11"/>
        <dsp:cNvSpPr/>
      </dsp:nvSpPr>
      <dsp:spPr bwMode="white">
        <a:xfrm>
          <a:off x="2667987" y="1621543"/>
          <a:ext cx="2008861" cy="470012"/>
        </a:xfrm>
        <a:prstGeom prst="roundRect">
          <a:avLst>
            <a:gd name="adj" fmla="val 1000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buNone/>
          </a:pPr>
          <a:r>
            <a:rPr lang="zh-CN" altLang="en-US" sz="1000" kern="1200" dirty="0">
              <a:latin typeface="Arial" panose="020B0604020202020204"/>
              <a:ea typeface="微软雅黑" panose="020B0503020204020204" pitchFamily="34" charset="-122"/>
              <a:cs typeface="+mn-cs"/>
            </a:rPr>
            <a:t>上网时长，课程、借阅、一卡通消费、选课、成绩</a:t>
          </a:r>
          <a:endParaRPr lang="zh-CN" altLang="en-US" sz="1400" dirty="0">
            <a:latin typeface="Arial" panose="020B0604020202020204"/>
            <a:ea typeface="微软雅黑" panose="020B0503020204020204" pitchFamily="34" charset="-122"/>
            <a:cs typeface="+mn-cs"/>
          </a:endParaRPr>
        </a:p>
      </dsp:txBody>
      <dsp:txXfrm>
        <a:off x="2667987" y="1621543"/>
        <a:ext cx="2008861" cy="470012"/>
      </dsp:txXfrm>
    </dsp:sp>
    <dsp:sp modelId="{610890A6-57FC-44F2-81B2-3112838ABB3C}">
      <dsp:nvSpPr>
        <dsp:cNvPr id="13" name="圆角矩形 12"/>
        <dsp:cNvSpPr/>
      </dsp:nvSpPr>
      <dsp:spPr bwMode="white">
        <a:xfrm>
          <a:off x="1351952" y="2162057"/>
          <a:ext cx="940025" cy="470012"/>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200" dirty="0">
              <a:latin typeface="Arial" panose="020B0604020202020204"/>
              <a:ea typeface="微软雅黑" panose="020B0503020204020204" pitchFamily="34" charset="-122"/>
              <a:cs typeface="+mn-cs"/>
            </a:rPr>
            <a:t>社会学院</a:t>
          </a:r>
        </a:p>
      </dsp:txBody>
      <dsp:txXfrm>
        <a:off x="1351952" y="2162057"/>
        <a:ext cx="940025" cy="470012"/>
      </dsp:txXfrm>
    </dsp:sp>
    <dsp:sp modelId="{4C203E5A-B58D-4596-924C-72C9B8AE7967}">
      <dsp:nvSpPr>
        <dsp:cNvPr id="14" name="任意多边形 13"/>
        <dsp:cNvSpPr/>
      </dsp:nvSpPr>
      <dsp:spPr bwMode="white">
        <a:xfrm>
          <a:off x="2291977" y="2383730"/>
          <a:ext cx="376010" cy="26667"/>
        </a:xfrm>
        <a:custGeom>
          <a:avLst/>
          <a:gdLst/>
          <a:ahLst/>
          <a:cxnLst/>
          <a:pathLst>
            <a:path w="592" h="42">
              <a:moveTo>
                <a:pt x="0" y="21"/>
              </a:moveTo>
              <a:lnTo>
                <a:pt x="592" y="21"/>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sp:txBody>
      <dsp:txXfrm>
        <a:off x="2291977" y="2383730"/>
        <a:ext cx="376010" cy="26667"/>
      </dsp:txXfrm>
    </dsp:sp>
    <dsp:sp modelId="{38FDCDDF-A868-410E-AD51-7828BD906E65}">
      <dsp:nvSpPr>
        <dsp:cNvPr id="15" name="圆角矩形 14"/>
        <dsp:cNvSpPr/>
      </dsp:nvSpPr>
      <dsp:spPr bwMode="white">
        <a:xfrm>
          <a:off x="2667987" y="2162057"/>
          <a:ext cx="2008861" cy="470012"/>
        </a:xfrm>
        <a:prstGeom prst="roundRect">
          <a:avLst>
            <a:gd name="adj" fmla="val 1000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buNone/>
          </a:pPr>
          <a:r>
            <a:rPr lang="zh-CN" altLang="en-US" sz="1000" dirty="0">
              <a:latin typeface="Arial" panose="020B0604020202020204"/>
              <a:ea typeface="微软雅黑" panose="020B0503020204020204" pitchFamily="34" charset="-122"/>
              <a:cs typeface="+mn-cs"/>
            </a:rPr>
            <a:t>宿舍数据</a:t>
          </a:r>
          <a:endParaRPr lang="zh-CN" altLang="en-US" sz="1400" dirty="0">
            <a:latin typeface="Arial" panose="020B0604020202020204"/>
            <a:ea typeface="微软雅黑" panose="020B0503020204020204" pitchFamily="34" charset="-122"/>
            <a:cs typeface="+mn-cs"/>
          </a:endParaRPr>
        </a:p>
      </dsp:txBody>
      <dsp:txXfrm>
        <a:off x="2667987" y="2162057"/>
        <a:ext cx="2008861" cy="470012"/>
      </dsp:txXfrm>
    </dsp:sp>
    <dsp:sp modelId="{0D60AAD1-784F-4384-83F1-3F48B3636FDE}">
      <dsp:nvSpPr>
        <dsp:cNvPr id="16" name="圆角矩形 15"/>
        <dsp:cNvSpPr/>
      </dsp:nvSpPr>
      <dsp:spPr bwMode="white">
        <a:xfrm>
          <a:off x="1351952" y="2702572"/>
          <a:ext cx="940025" cy="470012"/>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200" dirty="0">
              <a:latin typeface="Arial" panose="020B0604020202020204"/>
              <a:ea typeface="微软雅黑" panose="020B0503020204020204" pitchFamily="34" charset="-122"/>
              <a:cs typeface="+mn-cs"/>
            </a:rPr>
            <a:t>工程中心</a:t>
          </a:r>
        </a:p>
      </dsp:txBody>
      <dsp:txXfrm>
        <a:off x="1351952" y="2702572"/>
        <a:ext cx="940025" cy="470012"/>
      </dsp:txXfrm>
    </dsp:sp>
    <dsp:sp modelId="{704DEB7A-5925-4537-B667-74FE9689B95F}">
      <dsp:nvSpPr>
        <dsp:cNvPr id="17" name="任意多边形 16"/>
        <dsp:cNvSpPr/>
      </dsp:nvSpPr>
      <dsp:spPr bwMode="white">
        <a:xfrm>
          <a:off x="2291977" y="2924244"/>
          <a:ext cx="376010" cy="26667"/>
        </a:xfrm>
        <a:custGeom>
          <a:avLst/>
          <a:gdLst/>
          <a:ahLst/>
          <a:cxnLst/>
          <a:pathLst>
            <a:path w="592" h="42">
              <a:moveTo>
                <a:pt x="0" y="21"/>
              </a:moveTo>
              <a:lnTo>
                <a:pt x="592" y="21"/>
              </a:lnTo>
            </a:path>
          </a:pathLst>
        </a:custGeom>
      </dsp:spPr>
      <dsp:style>
        <a:lnRef idx="2">
          <a:schemeClr val="accent5"/>
        </a:lnRef>
        <a:fillRef idx="0">
          <a:schemeClr val="accent4">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buNone/>
          </a:pPr>
          <a:endParaRPr lang="zh-CN" altLang="en-US" sz="200">
            <a:solidFill>
              <a:srgbClr val="000000">
                <a:hueOff val="0"/>
                <a:satOff val="0"/>
                <a:lumOff val="0"/>
                <a:alphaOff val="0"/>
              </a:srgbClr>
            </a:solidFill>
            <a:latin typeface="Arial" panose="020B0604020202020204"/>
            <a:ea typeface="微软雅黑" panose="020B0503020204020204" pitchFamily="34" charset="-122"/>
            <a:cs typeface="+mn-cs"/>
          </a:endParaRPr>
        </a:p>
      </dsp:txBody>
      <dsp:txXfrm>
        <a:off x="2291977" y="2924244"/>
        <a:ext cx="376010" cy="26667"/>
      </dsp:txXfrm>
    </dsp:sp>
    <dsp:sp modelId="{C638FDEC-F40E-4577-A85C-804A8543E21D}">
      <dsp:nvSpPr>
        <dsp:cNvPr id="18" name="圆角矩形 17"/>
        <dsp:cNvSpPr/>
      </dsp:nvSpPr>
      <dsp:spPr bwMode="white">
        <a:xfrm>
          <a:off x="2667987" y="2702572"/>
          <a:ext cx="2008861" cy="470012"/>
        </a:xfrm>
        <a:prstGeom prst="roundRect">
          <a:avLst>
            <a:gd name="adj" fmla="val 1000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buNone/>
          </a:pPr>
          <a:r>
            <a:rPr lang="zh-CN" altLang="en-US" sz="1000" dirty="0">
              <a:latin typeface="Arial" panose="020B0604020202020204"/>
              <a:ea typeface="微软雅黑" panose="020B0503020204020204" pitchFamily="34" charset="-122"/>
              <a:cs typeface="+mn-cs"/>
            </a:rPr>
            <a:t>借阅、一卡通消费、就业、学习成绩、课程成绩、选课、教室</a:t>
          </a:r>
          <a:endParaRPr lang="zh-CN" altLang="en-US" sz="1400" dirty="0">
            <a:latin typeface="Arial" panose="020B0604020202020204"/>
            <a:ea typeface="微软雅黑" panose="020B0503020204020204" pitchFamily="34" charset="-122"/>
            <a:cs typeface="+mn-cs"/>
          </a:endParaRPr>
        </a:p>
      </dsp:txBody>
      <dsp:txXfrm>
        <a:off x="2667987" y="2702572"/>
        <a:ext cx="2008861" cy="470012"/>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ar" val="1"/>
      <dgm:param type="vertAlign" val="mid"/>
      <dgm:param type="horzAlign" val="ctr"/>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srcNode" val="dummy1a"/>
                  <dgm:param type="dstNode" val="dummy1b"/>
                  <dgm:param type="begSty" val="arr"/>
                  <dgm:param type="endSty" val="noArr"/>
                  <dgm:param type="connRout" val="longCurve"/>
                  <dgm:param type="begPts" val="tL"/>
                  <dgm:param type="endPts" val="tR"/>
                </dgm:alg>
              </dgm:if>
              <dgm:else name="Name175">
                <dgm:alg type="conn">
                  <dgm:param type="srcNode" val="dummy1a"/>
                  <dgm:param type="dstNode" val="dummy1b"/>
                  <dgm:param type="begSty" val="noArr"/>
                  <dgm:param type="endSty" val="arr"/>
                  <dgm:param type="connRout" val="longCurve"/>
                  <dgm:param type="begPts" val="tL"/>
                  <dgm:param type="endPts" val="t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srcNode" val="dummy1a"/>
                  <dgm:param type="dstNode" val="dummy1b"/>
                  <dgm:param type="begSty" val="noArr"/>
                  <dgm:param type="endSty" val="arr"/>
                  <dgm:param type="connRout" val="curve"/>
                  <dgm:param type="begPts" val="tL"/>
                  <dgm:param type="endPts" val="tL"/>
                </dgm:alg>
              </dgm:if>
              <dgm:else name="Name180">
                <dgm:alg type="conn">
                  <dgm:param type="srcNode" val="dummy1a"/>
                  <dgm:param type="dstNode" val="dummy1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srcNode" val="dummy2a"/>
              <dgm:param type="dstNode" val="dummy2b"/>
              <dgm:param type="begSty" val="noArr"/>
              <dgm:param type="endSty" val="arr"/>
              <dgm:param type="connRout" val="curve"/>
              <dgm:param type="begPts" val="tL"/>
              <dgm:param type="endPts" val="tL"/>
            </dgm:alg>
          </dgm:if>
          <dgm:else name="Name185">
            <dgm:alg type="conn">
              <dgm:param type="srcNode" val="dummy2a"/>
              <dgm:param type="dstNode" val="dummy2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srcNode" val="dummy3a"/>
              <dgm:param type="dstNode" val="dummy3b"/>
              <dgm:param type="begSty" val="noArr"/>
              <dgm:param type="endSty" val="arr"/>
              <dgm:param type="connRout" val="curve"/>
              <dgm:param type="begPts" val="tL"/>
              <dgm:param type="endPts" val="tL"/>
            </dgm:alg>
          </dgm:if>
          <dgm:else name="Name189">
            <dgm:alg type="conn">
              <dgm:param type="srcNode" val="dummy3a"/>
              <dgm:param type="dstNode" val="dummy3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srcNode" val="dummy4a"/>
              <dgm:param type="dstNode" val="dummy4b"/>
              <dgm:param type="begSty" val="noArr"/>
              <dgm:param type="endSty" val="arr"/>
              <dgm:param type="connRout" val="curve"/>
              <dgm:param type="begPts" val="tL"/>
              <dgm:param type="endPts" val="tL"/>
            </dgm:alg>
          </dgm:if>
          <dgm:else name="Name193">
            <dgm:alg type="conn">
              <dgm:param type="srcNode" val="dummy4a"/>
              <dgm:param type="dstNode" val="dummy4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srcNode" val="dummy5a"/>
              <dgm:param type="dstNode" val="dummy5b"/>
              <dgm:param type="begSty" val="noArr"/>
              <dgm:param type="endSty" val="arr"/>
              <dgm:param type="connRout" val="curve"/>
              <dgm:param type="begPts" val="tL"/>
              <dgm:param type="endPts" val="tL"/>
            </dgm:alg>
          </dgm:if>
          <dgm:else name="Name197">
            <dgm:alg type="conn">
              <dgm:param type="srcNode" val="dummy5a"/>
              <dgm:param type="dstNode" val="dummy5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srcNode" val="dummy6a"/>
              <dgm:param type="dstNode" val="dummy6b"/>
              <dgm:param type="begSty" val="noArr"/>
              <dgm:param type="endSty" val="arr"/>
              <dgm:param type="connRout" val="curve"/>
              <dgm:param type="begPts" val="tL"/>
              <dgm:param type="endPts" val="tL"/>
            </dgm:alg>
          </dgm:if>
          <dgm:else name="Name201">
            <dgm:alg type="conn">
              <dgm:param type="srcNode" val="dummy6a"/>
              <dgm:param type="dstNode" val="dummy6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srcNode" val="dummy7a"/>
              <dgm:param type="dstNode" val="dummy7b"/>
              <dgm:param type="begSty" val="noArr"/>
              <dgm:param type="endSty" val="arr"/>
              <dgm:param type="connRout" val="curve"/>
              <dgm:param type="begPts" val="tL"/>
              <dgm:param type="endPts" val="tL"/>
            </dgm:alg>
          </dgm:if>
          <dgm:else name="Name205">
            <dgm:alg type="conn">
              <dgm:param type="srcNode" val="dummy7a"/>
              <dgm:param type="dstNode" val="dummy7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ar" val="1"/>
      <dgm:param type="vertAlign" val="mid"/>
      <dgm:param type="horzAlign" val="ctr"/>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srcNode" val="dummy1a"/>
                  <dgm:param type="dstNode" val="dummy1b"/>
                  <dgm:param type="begSty" val="arr"/>
                  <dgm:param type="endSty" val="noArr"/>
                  <dgm:param type="connRout" val="longCurve"/>
                  <dgm:param type="begPts" val="tL"/>
                  <dgm:param type="endPts" val="tR"/>
                </dgm:alg>
              </dgm:if>
              <dgm:else name="Name175">
                <dgm:alg type="conn">
                  <dgm:param type="srcNode" val="dummy1a"/>
                  <dgm:param type="dstNode" val="dummy1b"/>
                  <dgm:param type="begSty" val="noArr"/>
                  <dgm:param type="endSty" val="arr"/>
                  <dgm:param type="connRout" val="longCurve"/>
                  <dgm:param type="begPts" val="tL"/>
                  <dgm:param type="endPts" val="t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srcNode" val="dummy1a"/>
                  <dgm:param type="dstNode" val="dummy1b"/>
                  <dgm:param type="begSty" val="noArr"/>
                  <dgm:param type="endSty" val="arr"/>
                  <dgm:param type="connRout" val="curve"/>
                  <dgm:param type="begPts" val="tL"/>
                  <dgm:param type="endPts" val="tL"/>
                </dgm:alg>
              </dgm:if>
              <dgm:else name="Name180">
                <dgm:alg type="conn">
                  <dgm:param type="srcNode" val="dummy1a"/>
                  <dgm:param type="dstNode" val="dummy1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srcNode" val="dummy2a"/>
              <dgm:param type="dstNode" val="dummy2b"/>
              <dgm:param type="begSty" val="noArr"/>
              <dgm:param type="endSty" val="arr"/>
              <dgm:param type="connRout" val="curve"/>
              <dgm:param type="begPts" val="tL"/>
              <dgm:param type="endPts" val="tL"/>
            </dgm:alg>
          </dgm:if>
          <dgm:else name="Name185">
            <dgm:alg type="conn">
              <dgm:param type="srcNode" val="dummy2a"/>
              <dgm:param type="dstNode" val="dummy2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srcNode" val="dummy3a"/>
              <dgm:param type="dstNode" val="dummy3b"/>
              <dgm:param type="begSty" val="noArr"/>
              <dgm:param type="endSty" val="arr"/>
              <dgm:param type="connRout" val="curve"/>
              <dgm:param type="begPts" val="tL"/>
              <dgm:param type="endPts" val="tL"/>
            </dgm:alg>
          </dgm:if>
          <dgm:else name="Name189">
            <dgm:alg type="conn">
              <dgm:param type="srcNode" val="dummy3a"/>
              <dgm:param type="dstNode" val="dummy3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srcNode" val="dummy4a"/>
              <dgm:param type="dstNode" val="dummy4b"/>
              <dgm:param type="begSty" val="noArr"/>
              <dgm:param type="endSty" val="arr"/>
              <dgm:param type="connRout" val="curve"/>
              <dgm:param type="begPts" val="tL"/>
              <dgm:param type="endPts" val="tL"/>
            </dgm:alg>
          </dgm:if>
          <dgm:else name="Name193">
            <dgm:alg type="conn">
              <dgm:param type="srcNode" val="dummy4a"/>
              <dgm:param type="dstNode" val="dummy4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srcNode" val="dummy5a"/>
              <dgm:param type="dstNode" val="dummy5b"/>
              <dgm:param type="begSty" val="noArr"/>
              <dgm:param type="endSty" val="arr"/>
              <dgm:param type="connRout" val="curve"/>
              <dgm:param type="begPts" val="tL"/>
              <dgm:param type="endPts" val="tL"/>
            </dgm:alg>
          </dgm:if>
          <dgm:else name="Name197">
            <dgm:alg type="conn">
              <dgm:param type="srcNode" val="dummy5a"/>
              <dgm:param type="dstNode" val="dummy5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srcNode" val="dummy6a"/>
              <dgm:param type="dstNode" val="dummy6b"/>
              <dgm:param type="begSty" val="noArr"/>
              <dgm:param type="endSty" val="arr"/>
              <dgm:param type="connRout" val="curve"/>
              <dgm:param type="begPts" val="tL"/>
              <dgm:param type="endPts" val="tL"/>
            </dgm:alg>
          </dgm:if>
          <dgm:else name="Name201">
            <dgm:alg type="conn">
              <dgm:param type="srcNode" val="dummy6a"/>
              <dgm:param type="dstNode" val="dummy6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srcNode" val="dummy7a"/>
              <dgm:param type="dstNode" val="dummy7b"/>
              <dgm:param type="begSty" val="noArr"/>
              <dgm:param type="endSty" val="arr"/>
              <dgm:param type="connRout" val="curve"/>
              <dgm:param type="begPts" val="tL"/>
              <dgm:param type="endPts" val="tL"/>
            </dgm:alg>
          </dgm:if>
          <dgm:else name="Name205">
            <dgm:alg type="conn">
              <dgm:param type="srcNode" val="dummy7a"/>
              <dgm:param type="dstNode" val="dummy7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ar" val="1"/>
      <dgm:param type="vertAlign" val="mid"/>
      <dgm:param type="horzAlign" val="ctr"/>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srcNode" val="dummy1a"/>
                  <dgm:param type="dstNode" val="dummy1b"/>
                  <dgm:param type="begSty" val="arr"/>
                  <dgm:param type="endSty" val="noArr"/>
                  <dgm:param type="connRout" val="longCurve"/>
                  <dgm:param type="begPts" val="tL"/>
                  <dgm:param type="endPts" val="tR"/>
                </dgm:alg>
              </dgm:if>
              <dgm:else name="Name175">
                <dgm:alg type="conn">
                  <dgm:param type="srcNode" val="dummy1a"/>
                  <dgm:param type="dstNode" val="dummy1b"/>
                  <dgm:param type="begSty" val="noArr"/>
                  <dgm:param type="endSty" val="arr"/>
                  <dgm:param type="connRout" val="longCurve"/>
                  <dgm:param type="begPts" val="tL"/>
                  <dgm:param type="endPts" val="t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srcNode" val="dummy1a"/>
                  <dgm:param type="dstNode" val="dummy1b"/>
                  <dgm:param type="begSty" val="noArr"/>
                  <dgm:param type="endSty" val="arr"/>
                  <dgm:param type="connRout" val="curve"/>
                  <dgm:param type="begPts" val="tL"/>
                  <dgm:param type="endPts" val="tL"/>
                </dgm:alg>
              </dgm:if>
              <dgm:else name="Name180">
                <dgm:alg type="conn">
                  <dgm:param type="srcNode" val="dummy1a"/>
                  <dgm:param type="dstNode" val="dummy1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srcNode" val="dummy2a"/>
              <dgm:param type="dstNode" val="dummy2b"/>
              <dgm:param type="begSty" val="noArr"/>
              <dgm:param type="endSty" val="arr"/>
              <dgm:param type="connRout" val="curve"/>
              <dgm:param type="begPts" val="tL"/>
              <dgm:param type="endPts" val="tL"/>
            </dgm:alg>
          </dgm:if>
          <dgm:else name="Name185">
            <dgm:alg type="conn">
              <dgm:param type="srcNode" val="dummy2a"/>
              <dgm:param type="dstNode" val="dummy2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srcNode" val="dummy3a"/>
              <dgm:param type="dstNode" val="dummy3b"/>
              <dgm:param type="begSty" val="noArr"/>
              <dgm:param type="endSty" val="arr"/>
              <dgm:param type="connRout" val="curve"/>
              <dgm:param type="begPts" val="tL"/>
              <dgm:param type="endPts" val="tL"/>
            </dgm:alg>
          </dgm:if>
          <dgm:else name="Name189">
            <dgm:alg type="conn">
              <dgm:param type="srcNode" val="dummy3a"/>
              <dgm:param type="dstNode" val="dummy3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srcNode" val="dummy4a"/>
              <dgm:param type="dstNode" val="dummy4b"/>
              <dgm:param type="begSty" val="noArr"/>
              <dgm:param type="endSty" val="arr"/>
              <dgm:param type="connRout" val="curve"/>
              <dgm:param type="begPts" val="tL"/>
              <dgm:param type="endPts" val="tL"/>
            </dgm:alg>
          </dgm:if>
          <dgm:else name="Name193">
            <dgm:alg type="conn">
              <dgm:param type="srcNode" val="dummy4a"/>
              <dgm:param type="dstNode" val="dummy4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srcNode" val="dummy5a"/>
              <dgm:param type="dstNode" val="dummy5b"/>
              <dgm:param type="begSty" val="noArr"/>
              <dgm:param type="endSty" val="arr"/>
              <dgm:param type="connRout" val="curve"/>
              <dgm:param type="begPts" val="tL"/>
              <dgm:param type="endPts" val="tL"/>
            </dgm:alg>
          </dgm:if>
          <dgm:else name="Name197">
            <dgm:alg type="conn">
              <dgm:param type="srcNode" val="dummy5a"/>
              <dgm:param type="dstNode" val="dummy5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srcNode" val="dummy6a"/>
              <dgm:param type="dstNode" val="dummy6b"/>
              <dgm:param type="begSty" val="noArr"/>
              <dgm:param type="endSty" val="arr"/>
              <dgm:param type="connRout" val="curve"/>
              <dgm:param type="begPts" val="tL"/>
              <dgm:param type="endPts" val="tL"/>
            </dgm:alg>
          </dgm:if>
          <dgm:else name="Name201">
            <dgm:alg type="conn">
              <dgm:param type="srcNode" val="dummy6a"/>
              <dgm:param type="dstNode" val="dummy6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srcNode" val="dummy7a"/>
              <dgm:param type="dstNode" val="dummy7b"/>
              <dgm:param type="begSty" val="noArr"/>
              <dgm:param type="endSty" val="arr"/>
              <dgm:param type="connRout" val="curve"/>
              <dgm:param type="begPts" val="tL"/>
              <dgm:param type="endPts" val="tL"/>
            </dgm:alg>
          </dgm:if>
          <dgm:else name="Name205">
            <dgm:alg type="conn">
              <dgm:param type="srcNode" val="dummy7a"/>
              <dgm:param type="dstNode" val="dummy7b"/>
              <dgm:param type="begSty" val="arr"/>
              <dgm:param type="endSty" val="noArr"/>
              <dgm:param type="connRout" val="curve"/>
              <dgm:param type="begPts" val="tL"/>
              <dgm:param type="endPts" val="tL"/>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dstNode" val="node1"/>
                <dgm:param type="connRout" val="longCurve"/>
                <dgm:param type="begPts" val="midR"/>
                <dgm:param type="endPts" val="midL"/>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dstNode" val="node1"/>
                <dgm:param type="connRout" val="longCurve"/>
                <dgm:param type="begPts" val="midL"/>
                <dgm:param type="endPts" val="midR"/>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dstNode" val="nodeFirstNode"/>
                      <dgm:param type="connRout" val="longCurve"/>
                      <dgm:param type="begPts" val="midR"/>
                      <dgm:param type="endPts" val="midL"/>
                    </dgm:alg>
                  </dgm:if>
                  <dgm:else name="Name15">
                    <dgm:alg type="conn">
                      <dgm:param type="dstNode" val="nodeFirstNode"/>
                      <dgm:param type="connRout" val="longCurve"/>
                      <dgm:param type="begPts" val="midL"/>
                      <dgm:param type="endPts" val="midR"/>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E37AC6-CD63-43A6-A8AF-DA6897023C7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1B85BE-7573-414C-BEC9-C51CBD1DD4A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A42669-E0C9-4DC7-8AE1-C60E941CC2A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43B9D-6744-41B5-BD5C-8BFCD8AC98B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zh-CN" altLang="en-US" sz="1200" dirty="0">
                <a:solidFill>
                  <a:srgbClr val="333333"/>
                </a:solidFill>
                <a:latin typeface="Arial" panose="020B0604020202020204" pitchFamily="34" charset="0"/>
              </a:rPr>
              <a:t>我国高校信息化经过十多年的发展，目前大多数高校已完成校园网络、信息系统、数字平台的建设。由于在建设初期，信息系统建设多以业务部门牵头分别进行，缺乏全校统一的系统规划和数据标准，导致很多高校虽然已经积累了大量的业务数据，但普遍存在数据质量不高、冗余数据大量存在、数据可用性不高和各业务部门之间数据共享难度较大等问题，这些问题已经严重制约高校日常管理和教学水平的提升。因此亟需通过针对高校个性化场景需求研究，建设一套全校级别的数据治理流程体系来进行数据的全生命周期管理。 </a:t>
            </a:r>
            <a:endParaRPr lang="zh-CN" altLang="en-US" sz="1200" dirty="0">
              <a:solidFill>
                <a:srgbClr val="333333"/>
              </a:solidFill>
              <a:latin typeface="Arial" panose="020B0604020202020204" pitchFamily="34" charset="0"/>
            </a:endParaRPr>
          </a:p>
          <a:p>
            <a:pPr algn="just"/>
            <a:r>
              <a:rPr lang="zh-CN" altLang="en-US" sz="1200" dirty="0">
                <a:solidFill>
                  <a:srgbClr val="333333"/>
                </a:solidFill>
                <a:latin typeface="Arial" panose="020B0604020202020204" pitchFamily="34" charset="0"/>
              </a:rPr>
              <a:t>　　当前，国内已有部分学者在高校数据治理领域做了相关研究。李铮铮等针对数据存储管理等提出了抓好顶层设计、制度与标准编制、关键技术研究和安全保密建设等关键环节，加强数据工程建设的观点；李勇军结合具体项目实践阐述了核心准则中“组织”和“整合”在大数据治理中的实际应用，揭示了高校组织中的数据信息标准建设以及信息化管理项整合的重要性。许晓东认为高等教育数据治理可以分为数据的获取和抽取、整合和分析、解释和预测几个阶段，数据治理对于高校组织决策制定、提高大学教学质量、提高管理效率具有重大意义；赵安新从数据融合的视角探讨高校数据融合的路径及其治理框架，从而为互联网</a:t>
            </a:r>
            <a:r>
              <a:rPr lang="en-US" altLang="zh-CN" sz="1200" dirty="0">
                <a:solidFill>
                  <a:srgbClr val="333333"/>
                </a:solidFill>
                <a:latin typeface="Arial" panose="020B0604020202020204" pitchFamily="34" charset="0"/>
              </a:rPr>
              <a:t>+</a:t>
            </a:r>
            <a:r>
              <a:rPr lang="zh-CN" altLang="en-US" sz="1200" dirty="0">
                <a:solidFill>
                  <a:srgbClr val="333333"/>
                </a:solidFill>
                <a:latin typeface="Arial" panose="020B0604020202020204" pitchFamily="34" charset="0"/>
              </a:rPr>
              <a:t>高等教育的信息化建设提供思路探讨。李林提出了数据治理的</a:t>
            </a:r>
            <a:r>
              <a:rPr lang="en-US" altLang="zh-CN" sz="1200" dirty="0">
                <a:solidFill>
                  <a:srgbClr val="333333"/>
                </a:solidFill>
                <a:latin typeface="Arial" panose="020B0604020202020204" pitchFamily="34" charset="0"/>
              </a:rPr>
              <a:t>RACI</a:t>
            </a:r>
            <a:r>
              <a:rPr lang="zh-CN" altLang="en-US" sz="1200" dirty="0">
                <a:solidFill>
                  <a:srgbClr val="333333"/>
                </a:solidFill>
                <a:latin typeface="Arial" panose="020B0604020202020204" pitchFamily="34" charset="0"/>
              </a:rPr>
              <a:t>模型，介绍了主数据管理实施过程与数据质量评估办法。包冬梅等在其设计的</a:t>
            </a:r>
            <a:r>
              <a:rPr lang="en-US" altLang="zh-CN" sz="1200" dirty="0" err="1">
                <a:solidFill>
                  <a:srgbClr val="333333"/>
                </a:solidFill>
                <a:latin typeface="Arial" panose="020B0604020202020204" pitchFamily="34" charset="0"/>
              </a:rPr>
              <a:t>CALib</a:t>
            </a:r>
            <a:r>
              <a:rPr lang="en-US" altLang="zh-CN" sz="1200" dirty="0">
                <a:solidFill>
                  <a:srgbClr val="333333"/>
                </a:solidFill>
                <a:latin typeface="Arial" panose="020B0604020202020204" pitchFamily="34" charset="0"/>
              </a:rPr>
              <a:t> </a:t>
            </a:r>
            <a:r>
              <a:rPr lang="zh-CN" altLang="en-US" sz="1200" dirty="0">
                <a:solidFill>
                  <a:srgbClr val="333333"/>
                </a:solidFill>
                <a:latin typeface="Arial" panose="020B0604020202020204" pitchFamily="34" charset="0"/>
              </a:rPr>
              <a:t>模型的实施与评估中，讨论了数据治理成熟度评估的意义。可以看出，国内学者多从不同的层面，结合管理创新和技术实践推进高校范围内的数据治理思路。 </a:t>
            </a:r>
            <a:endParaRPr lang="en-US" altLang="zh-CN" sz="1200" dirty="0">
              <a:solidFill>
                <a:srgbClr val="333333"/>
              </a:solidFill>
              <a:latin typeface="Arial" panose="020B0604020202020204" pitchFamily="34" charset="0"/>
            </a:endParaRPr>
          </a:p>
          <a:p>
            <a:endParaRPr lang="zh-CN" altLang="en-US" dirty="0"/>
          </a:p>
        </p:txBody>
      </p:sp>
      <p:sp>
        <p:nvSpPr>
          <p:cNvPr id="4" name="Slide Number Placeholder 3"/>
          <p:cNvSpPr>
            <a:spLocks noGrp="1"/>
          </p:cNvSpPr>
          <p:nvPr>
            <p:ph type="sldNum" sz="quarter" idx="5"/>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kern="1200" dirty="0">
                <a:solidFill>
                  <a:schemeClr val="tx1"/>
                </a:solidFill>
                <a:effectLst/>
                <a:latin typeface="+mn-lt"/>
                <a:ea typeface="+mn-ea"/>
                <a:cs typeface="+mn-cs"/>
              </a:rPr>
              <a:t>挑战</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大气管理措施缺乏技术支撑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为确保完成大气污染防治任务，开封市为下辖的每个区县、乡镇制定了空气质量考核目标，但因缺乏自动监测设施，人工监测费时、费力，考核目标无法落实。</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大气污染溯源缺乏数据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受气象条件的影响，大气污染具有瞬时性和很大的不确定性。传统模式下，国家考核监测站点数据超标，因缺乏及时准确的监测数据，无法对污染来源进行快速定位，污染排放不能得到有效遏制。</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“小散乱污”治理困难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“小散乱污”企业因点多面广、生产不规律，一直是大气污染治理的顽疾。</a:t>
            </a:r>
            <a:endParaRPr lang="zh-CN" altLang="zh-CN" sz="1200" kern="1200" dirty="0">
              <a:solidFill>
                <a:schemeClr val="tx1"/>
              </a:solidFill>
              <a:effectLst/>
              <a:latin typeface="+mn-lt"/>
              <a:ea typeface="+mn-ea"/>
              <a:cs typeface="+mn-cs"/>
            </a:endParaRPr>
          </a:p>
          <a:p>
            <a:pPr lvl="0"/>
            <a:r>
              <a:rPr lang="zh-CN" altLang="zh-CN" sz="1200" kern="1200" dirty="0">
                <a:solidFill>
                  <a:schemeClr val="tx1"/>
                </a:solidFill>
                <a:effectLst/>
                <a:latin typeface="+mn-lt"/>
                <a:ea typeface="+mn-ea"/>
                <a:cs typeface="+mn-cs"/>
              </a:rPr>
              <a:t>监测网络投资大、运营管理困难</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大气环境全面监控，需要部署大量的监测设备，一次性投资大，建成后运维管理的工作量巨大</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05943B9D-6744-41B5-BD5C-8BFCD8AC98B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007797" y="1806326"/>
            <a:ext cx="7490717" cy="1325620"/>
          </a:xfrm>
        </p:spPr>
        <p:txBody>
          <a:bodyPr/>
          <a:lstStyle>
            <a:lvl1pPr>
              <a:defRPr sz="4000">
                <a:solidFill>
                  <a:schemeClr val="tx1">
                    <a:lumMod val="95000"/>
                    <a:lumOff val="5000"/>
                  </a:schemeClr>
                </a:solidFill>
                <a:latin typeface="+mj-lt"/>
                <a:ea typeface="+mj-ea"/>
                <a:cs typeface="Arial" panose="020B0604020202020204" pitchFamily="34" charset="0"/>
              </a:defRPr>
            </a:lvl1pPr>
          </a:lstStyle>
          <a:p>
            <a:r>
              <a:rPr lang="en-US" altLang="zh-CN" dirty="0"/>
              <a:t>Headline in Arial Regular 40 point</a:t>
            </a:r>
            <a:endParaRPr lang="zh-CN" altLang="en-US" dirty="0"/>
          </a:p>
        </p:txBody>
      </p:sp>
      <p:sp>
        <p:nvSpPr>
          <p:cNvPr id="8" name="副标题 2"/>
          <p:cNvSpPr>
            <a:spLocks noGrp="1"/>
          </p:cNvSpPr>
          <p:nvPr>
            <p:ph type="subTitle" idx="11" hasCustomPrompt="1"/>
          </p:nvPr>
        </p:nvSpPr>
        <p:spPr>
          <a:xfrm>
            <a:off x="1007796" y="3069350"/>
            <a:ext cx="4153688" cy="461665"/>
          </a:xfrm>
          <a:prstGeom prst="rect">
            <a:avLst/>
          </a:prstGeom>
        </p:spPr>
        <p:txBody>
          <a:bodyPr/>
          <a:lst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a:solidFill>
                  <a:schemeClr val="tx1">
                    <a:lumMod val="95000"/>
                    <a:lumOff val="5000"/>
                  </a:schemeClr>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9435" indent="0" algn="ctr">
              <a:buNone/>
              <a:defRPr>
                <a:solidFill>
                  <a:schemeClr val="tx1">
                    <a:tint val="75000"/>
                  </a:schemeClr>
                </a:solidFill>
              </a:defRPr>
            </a:lvl5pPr>
            <a:lvl6pPr marL="2286635" indent="0" algn="ctr">
              <a:buNone/>
              <a:defRPr>
                <a:solidFill>
                  <a:schemeClr val="tx1">
                    <a:tint val="75000"/>
                  </a:schemeClr>
                </a:solidFill>
              </a:defRPr>
            </a:lvl6pPr>
            <a:lvl7pPr marL="2743835" indent="0" algn="ctr">
              <a:buNone/>
              <a:defRPr>
                <a:solidFill>
                  <a:schemeClr val="tx1">
                    <a:tint val="75000"/>
                  </a:schemeClr>
                </a:solidFill>
              </a:defRPr>
            </a:lvl7pPr>
            <a:lvl8pPr marL="3201035" indent="0" algn="ctr">
              <a:buNone/>
              <a:defRPr>
                <a:solidFill>
                  <a:schemeClr val="tx1">
                    <a:tint val="75000"/>
                  </a:schemeClr>
                </a:solidFill>
              </a:defRPr>
            </a:lvl8pPr>
            <a:lvl9pPr marL="3658235" indent="0" algn="ctr">
              <a:buNone/>
              <a:defRPr>
                <a:solidFill>
                  <a:schemeClr val="tx1">
                    <a:tint val="75000"/>
                  </a:schemeClr>
                </a:solidFill>
              </a:defRPr>
            </a:lvl9p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a:t>Department name</a:t>
            </a:r>
            <a:endParaRPr lang="zh-CN" altLang="en-US" dirty="0"/>
          </a:p>
        </p:txBody>
      </p:sp>
    </p:spTree>
  </p:cSld>
  <p:clrMapOvr>
    <a:masterClrMapping/>
  </p:clrMapOvr>
  <p:transition advClick="0" advTm="8000">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标题 1"/>
          <p:cNvSpPr>
            <a:spLocks noGrp="1"/>
          </p:cNvSpPr>
          <p:nvPr>
            <p:ph type="ctrTitle" hasCustomPrompt="1"/>
          </p:nvPr>
        </p:nvSpPr>
        <p:spPr>
          <a:xfrm>
            <a:off x="913011" y="1154755"/>
            <a:ext cx="9993315" cy="779055"/>
          </a:xfrm>
        </p:spPr>
        <p:txBody>
          <a:bodyPr>
            <a:normAutofit/>
          </a:bodyPr>
          <a:lstStyle>
            <a:lvl1pPr marL="0" marR="0" indent="0" algn="l" defTabSz="1219200" rtl="0" eaLnBrk="1" fontAlgn="auto" latinLnBrk="0" hangingPunct="1">
              <a:lnSpc>
                <a:spcPct val="100000"/>
              </a:lnSpc>
              <a:spcBef>
                <a:spcPct val="0"/>
              </a:spcBef>
              <a:spcAft>
                <a:spcPts val="0"/>
              </a:spcAft>
              <a:buClrTx/>
              <a:buSzTx/>
              <a:buFontTx/>
              <a:buNone/>
              <a:defRPr sz="3600" b="0" baseline="0">
                <a:solidFill>
                  <a:schemeClr val="tx1">
                    <a:lumMod val="65000"/>
                    <a:lumOff val="35000"/>
                  </a:schemeClr>
                </a:solidFill>
                <a:latin typeface="+mj-lt"/>
              </a:defRPr>
            </a:lvl1pPr>
          </a:lstStyle>
          <a:p>
            <a:r>
              <a:rPr lang="en-US" altLang="zh-CN" dirty="0"/>
              <a:t>Slide Title</a:t>
            </a:r>
            <a:endParaRPr lang="en-US" altLang="zh-CN" dirty="0"/>
          </a:p>
        </p:txBody>
      </p:sp>
      <p:sp>
        <p:nvSpPr>
          <p:cNvPr id="5" name="副标题 2"/>
          <p:cNvSpPr>
            <a:spLocks noGrp="1"/>
          </p:cNvSpPr>
          <p:nvPr>
            <p:ph type="subTitle" idx="1" hasCustomPrompt="1"/>
          </p:nvPr>
        </p:nvSpPr>
        <p:spPr>
          <a:xfrm>
            <a:off x="913011" y="2133650"/>
            <a:ext cx="9993315" cy="4097591"/>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anose="020B0604020202020204" pitchFamily="34" charset="0"/>
              <a:buNone/>
              <a:defRPr sz="2400" baseline="0">
                <a:solidFill>
                  <a:schemeClr val="tx1">
                    <a:lumMod val="65000"/>
                    <a:lumOff val="35000"/>
                  </a:schemeClr>
                </a:solidFill>
                <a:latin typeface="+mn-lt"/>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9435" indent="0" algn="ctr">
              <a:buNone/>
              <a:defRPr>
                <a:solidFill>
                  <a:schemeClr val="tx1">
                    <a:tint val="75000"/>
                  </a:schemeClr>
                </a:solidFill>
              </a:defRPr>
            </a:lvl4pPr>
            <a:lvl5pPr marL="2439035" indent="0" algn="ctr">
              <a:buNone/>
              <a:defRPr>
                <a:solidFill>
                  <a:schemeClr val="tx1">
                    <a:tint val="75000"/>
                  </a:schemeClr>
                </a:solidFill>
              </a:defRPr>
            </a:lvl5pPr>
            <a:lvl6pPr marL="3048635" indent="0" algn="ctr">
              <a:buNone/>
              <a:defRPr>
                <a:solidFill>
                  <a:schemeClr val="tx1">
                    <a:tint val="75000"/>
                  </a:schemeClr>
                </a:solidFill>
              </a:defRPr>
            </a:lvl6pPr>
            <a:lvl7pPr marL="3658235" indent="0" algn="ctr">
              <a:buNone/>
              <a:defRPr>
                <a:solidFill>
                  <a:schemeClr val="tx1">
                    <a:tint val="75000"/>
                  </a:schemeClr>
                </a:solidFill>
              </a:defRPr>
            </a:lvl7pPr>
            <a:lvl8pPr marL="4267835" indent="0" algn="ctr">
              <a:buNone/>
              <a:defRPr>
                <a:solidFill>
                  <a:schemeClr val="tx1">
                    <a:tint val="75000"/>
                  </a:schemeClr>
                </a:solidFill>
              </a:defRPr>
            </a:lvl8pPr>
            <a:lvl9pPr marL="4878070" indent="0" algn="ctr">
              <a:buNone/>
              <a:defRPr>
                <a:solidFill>
                  <a:schemeClr val="tx1">
                    <a:tint val="75000"/>
                  </a:schemeClr>
                </a:solidFill>
              </a:defRPr>
            </a:lvl9pPr>
          </a:lstStyle>
          <a:p>
            <a:r>
              <a:rPr lang="en-US" altLang="zh-CN" dirty="0"/>
              <a:t>Headline in Arial Regular 24 - 32 point</a:t>
            </a:r>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588" y="165139"/>
            <a:ext cx="11160000" cy="888392"/>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defRPr sz="3600" b="0">
                <a:solidFill>
                  <a:schemeClr val="tx1">
                    <a:lumMod val="65000"/>
                    <a:lumOff val="35000"/>
                  </a:schemeClr>
                </a:solidFill>
              </a:defRPr>
            </a:lvl1pPr>
          </a:lstStyle>
          <a:p>
            <a:r>
              <a:rPr lang="en-US" altLang="zh-CN" dirty="0"/>
              <a:t>Headline in Arial Regular 36 point</a:t>
            </a:r>
            <a:endParaRPr lang="en-US" altLang="zh-CN" dirty="0"/>
          </a:p>
        </p:txBody>
      </p:sp>
      <p:sp>
        <p:nvSpPr>
          <p:cNvPr id="3" name="副标题 2"/>
          <p:cNvSpPr>
            <a:spLocks noGrp="1"/>
          </p:cNvSpPr>
          <p:nvPr>
            <p:ph type="subTitle" idx="1" hasCustomPrompt="1"/>
          </p:nvPr>
        </p:nvSpPr>
        <p:spPr>
          <a:xfrm>
            <a:off x="517588" y="1269555"/>
            <a:ext cx="11160000" cy="5032758"/>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anose="020B0604020202020204" pitchFamily="34" charset="0"/>
              <a:buNone/>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9435" indent="0" algn="ctr">
              <a:buNone/>
              <a:defRPr>
                <a:solidFill>
                  <a:schemeClr val="tx1">
                    <a:tint val="75000"/>
                  </a:schemeClr>
                </a:solidFill>
              </a:defRPr>
            </a:lvl4pPr>
            <a:lvl5pPr marL="2439035" indent="0" algn="ctr">
              <a:buNone/>
              <a:defRPr>
                <a:solidFill>
                  <a:schemeClr val="tx1">
                    <a:tint val="75000"/>
                  </a:schemeClr>
                </a:solidFill>
              </a:defRPr>
            </a:lvl5pPr>
            <a:lvl6pPr marL="3048635" indent="0" algn="ctr">
              <a:buNone/>
              <a:defRPr>
                <a:solidFill>
                  <a:schemeClr val="tx1">
                    <a:tint val="75000"/>
                  </a:schemeClr>
                </a:solidFill>
              </a:defRPr>
            </a:lvl6pPr>
            <a:lvl7pPr marL="3658235" indent="0" algn="ctr">
              <a:buNone/>
              <a:defRPr>
                <a:solidFill>
                  <a:schemeClr val="tx1">
                    <a:tint val="75000"/>
                  </a:schemeClr>
                </a:solidFill>
              </a:defRPr>
            </a:lvl7pPr>
            <a:lvl8pPr marL="4267835" indent="0" algn="ctr">
              <a:buNone/>
              <a:defRPr>
                <a:solidFill>
                  <a:schemeClr val="tx1">
                    <a:tint val="75000"/>
                  </a:schemeClr>
                </a:solidFill>
              </a:defRPr>
            </a:lvl8pPr>
            <a:lvl9pPr marL="4878070" indent="0" algn="ctr">
              <a:buNone/>
              <a:defRPr>
                <a:solidFill>
                  <a:schemeClr val="tx1">
                    <a:tint val="75000"/>
                  </a:schemeClr>
                </a:solidFill>
              </a:defRPr>
            </a:lvl9pPr>
          </a:lstStyle>
          <a:p>
            <a:r>
              <a:rPr lang="en-US" altLang="zh-CN" dirty="0"/>
              <a:t>Copy text in Arial Regular 20 - 32 point </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标题和内容">
    <p:bg>
      <p:bgPr>
        <a:solidFill>
          <a:schemeClr val="bg1"/>
        </a:solidFill>
        <a:effectLst/>
      </p:bgPr>
    </p:bg>
    <p:spTree>
      <p:nvGrpSpPr>
        <p:cNvPr id="1" name=""/>
        <p:cNvGrpSpPr/>
        <p:nvPr/>
      </p:nvGrpSpPr>
      <p:grpSpPr>
        <a:xfrm>
          <a:off x="0" y="0"/>
          <a:ext cx="0" cy="0"/>
          <a:chOff x="0" y="0"/>
          <a:chExt cx="0" cy="0"/>
        </a:xfrm>
      </p:grpSpPr>
      <p:sp>
        <p:nvSpPr>
          <p:cNvPr id="20" name="Shape 20"/>
          <p:cNvSpPr>
            <a:spLocks noGrp="1"/>
          </p:cNvSpPr>
          <p:nvPr>
            <p:ph type="title" hasCustomPrompt="1"/>
          </p:nvPr>
        </p:nvSpPr>
        <p:spPr>
          <a:prstGeom prst="rect">
            <a:avLst/>
          </a:prstGeom>
        </p:spPr>
        <p:txBody>
          <a:bodyPr/>
          <a:lstStyle/>
          <a:p>
            <a:r>
              <a:t>标题文本</a:t>
            </a:r>
          </a:p>
        </p:txBody>
      </p:sp>
      <p:sp>
        <p:nvSpPr>
          <p:cNvPr id="2" name="矩形 1"/>
          <p:cNvSpPr/>
          <p:nvPr userDrawn="1"/>
        </p:nvSpPr>
        <p:spPr>
          <a:xfrm>
            <a:off x="0" y="3181030"/>
            <a:ext cx="12204702" cy="471170"/>
          </a:xfrm>
          <a:prstGeom prst="rect">
            <a:avLst/>
          </a:prstGeom>
          <a:solidFill>
            <a:schemeClr val="bg1"/>
          </a:solidFill>
          <a:ln w="25400" cap="flat">
            <a:noFill/>
            <a:prstDash val="solid"/>
            <a:round/>
          </a:ln>
          <a:effectLst>
            <a:outerShdw blurRad="101600" dir="18900000" rotWithShape="0">
              <a:srgbClr val="000000">
                <a:alpha val="80000"/>
              </a:srgbClr>
            </a:outerShdw>
          </a:effectLst>
        </p:spPr>
        <p:style>
          <a:lnRef idx="0">
            <a:scrgbClr r="0" g="0" b="0"/>
          </a:lnRef>
          <a:fillRef idx="0">
            <a:scrgbClr r="0" g="0" b="0"/>
          </a:fillRef>
          <a:effectRef idx="0">
            <a:scrgbClr r="0" g="0" b="0"/>
          </a:effectRef>
          <a:fontRef idx="none"/>
        </p:style>
        <p:txBody>
          <a:bodyPr rot="0" vertOverflow="overflow" horzOverflow="overflow" vert="horz" wrap="square" lIns="35724" tIns="35724" rIns="35724" bIns="35724" numCol="1" spcCol="38100" rtlCol="0" anchor="ctr" forceAA="0">
            <a:spAutoFit/>
          </a:bodyPr>
          <a:p>
            <a:pPr marL="0" marR="0" indent="0" algn="ctr" defTabSz="821055" rtl="0" fontAlgn="auto" latinLnBrk="0" hangingPunct="0">
              <a:lnSpc>
                <a:spcPct val="100000"/>
              </a:lnSpc>
              <a:spcBef>
                <a:spcPts val="0"/>
              </a:spcBef>
              <a:spcAft>
                <a:spcPts val="0"/>
              </a:spcAft>
              <a:buClrTx/>
              <a:buSzTx/>
              <a:buFontTx/>
              <a:buNone/>
            </a:pPr>
            <a:endParaRPr kumimoji="0" lang="zh-CN" altLang="en-US" sz="2600" b="0" i="0" u="none" strike="noStrike" cap="none" spc="0" normalizeH="0" baseline="0">
              <a:ln>
                <a:noFill/>
              </a:ln>
              <a:solidFill>
                <a:srgbClr val="FF0000"/>
              </a:solidFill>
              <a:effectLst/>
              <a:uFillTx/>
              <a:latin typeface="Helvetica Light"/>
              <a:ea typeface="Helvetica Light"/>
              <a:cs typeface="Helvetica Light"/>
              <a:sym typeface="Helvetica Light"/>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标题 1"/>
          <p:cNvSpPr>
            <a:spLocks noGrp="1"/>
          </p:cNvSpPr>
          <p:nvPr>
            <p:ph type="title"/>
          </p:nvPr>
        </p:nvSpPr>
        <p:spPr>
          <a:xfrm>
            <a:off x="512744" y="188675"/>
            <a:ext cx="11169687" cy="864256"/>
          </a:xfrm>
        </p:spPr>
        <p:txBody>
          <a:bodyPr/>
          <a:lstStyle>
            <a:lvl1pPr>
              <a:defRPr sz="3000"/>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1394" y="1268995"/>
            <a:ext cx="11081039" cy="5185390"/>
          </a:xfrm>
        </p:spPr>
        <p:txBody>
          <a:bodyPr/>
          <a:lstStyle>
            <a:lvl1pPr fontAlgn="auto">
              <a:defRPr sz="2000" b="0"/>
            </a:lvl1pPr>
            <a:lvl2pPr fontAlgn="auto">
              <a:defRPr sz="1800" b="0"/>
            </a:lvl2pPr>
            <a:lvl3pPr fontAlgn="auto">
              <a:defRPr sz="1800" b="0"/>
            </a:lvl3pPr>
            <a:lvl4pPr fontAlgn="auto">
              <a:defRPr sz="1800" b="0"/>
            </a:lvl4pPr>
            <a:lvl5pPr fontAlgn="auto">
              <a:defRPr sz="1800" b="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1031" name="Rectangle 2"/>
          <p:cNvSpPr>
            <a:spLocks noGrp="1" noChangeArrowheads="1"/>
          </p:cNvSpPr>
          <p:nvPr>
            <p:ph type="title"/>
          </p:nvPr>
        </p:nvSpPr>
        <p:spPr bwMode="auto">
          <a:xfrm>
            <a:off x="1007797" y="1805533"/>
            <a:ext cx="7250029" cy="1325620"/>
          </a:xfrm>
          <a:prstGeom prst="rect">
            <a:avLst/>
          </a:prstGeom>
          <a:noFill/>
          <a:ln>
            <a:noFill/>
          </a:ln>
          <a:effectLst/>
        </p:spPr>
        <p:txBody>
          <a:bodyPr vert="horz" wrap="square" lIns="0" tIns="46800" rIns="91440" bIns="46800" numCol="1" anchor="ctr" anchorCtr="0" compatLnSpc="1">
            <a:spAutoFit/>
          </a:bodyPr>
          <a:lstStyle/>
          <a:p>
            <a:pPr lvl="0"/>
            <a:r>
              <a:rPr lang="en-US" altLang="zh-CN" dirty="0"/>
              <a:t>Headline in Arial Regular 40 point</a:t>
            </a:r>
            <a:endParaRPr lang="zh-CN" altLang="en-US" dirty="0"/>
          </a:p>
        </p:txBody>
      </p:sp>
      <p:sp>
        <p:nvSpPr>
          <p:cNvPr id="1032" name="Rectangle 3"/>
          <p:cNvSpPr>
            <a:spLocks noGrp="1" noChangeArrowheads="1"/>
          </p:cNvSpPr>
          <p:nvPr>
            <p:ph type="body" idx="1"/>
          </p:nvPr>
        </p:nvSpPr>
        <p:spPr bwMode="auto">
          <a:xfrm>
            <a:off x="1007796" y="3069348"/>
            <a:ext cx="4585735" cy="461665"/>
          </a:xfrm>
          <a:prstGeom prst="rect">
            <a:avLst/>
          </a:prstGeom>
          <a:noFill/>
          <a:ln>
            <a:noFill/>
          </a:ln>
          <a:effectLst/>
        </p:spPr>
        <p:txBody>
          <a:bodyPr vert="horz" wrap="square" lIns="0" tIns="45720" rIns="91440" bIns="45720" numCol="1" anchor="t" anchorCtr="0" compatLnSpc="1">
            <a:spAutoFit/>
          </a:body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a:t>Department name</a:t>
            </a:r>
            <a:endParaRPr lang="zh-CN" altLang="en-US" dirty="0"/>
          </a:p>
        </p:txBody>
      </p:sp>
      <p:sp>
        <p:nvSpPr>
          <p:cNvPr id="6" name="Rectangle 13"/>
          <p:cNvSpPr>
            <a:spLocks noChangeArrowheads="1"/>
          </p:cNvSpPr>
          <p:nvPr userDrawn="1"/>
        </p:nvSpPr>
        <p:spPr bwMode="auto">
          <a:xfrm>
            <a:off x="10322246" y="429698"/>
            <a:ext cx="1368152" cy="153888"/>
          </a:xfrm>
          <a:prstGeom prst="rect">
            <a:avLst/>
          </a:prstGeom>
          <a:noFill/>
          <a:ln>
            <a:noFill/>
          </a:ln>
          <a:effectLst/>
        </p:spPr>
        <p:txBody>
          <a:bodyPr wrap="square" lIns="0" tIns="0" rIns="0" bIns="0">
            <a:spAutoFit/>
          </a:bodyPr>
          <a:lstStyle/>
          <a:p>
            <a:pPr defTabSz="784225" eaLnBrk="0" hangingPunct="0"/>
            <a:r>
              <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rPr>
              <a:t>Security Level: </a:t>
            </a:r>
            <a:endPar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Lst>
  <p:transition advClick="0" advTm="8000">
    <p:fade thruBlk="1"/>
  </p:transition>
  <p:txStyles>
    <p:titleStyle>
      <a:lvl1pPr algn="l" rtl="0" eaLnBrk="1" fontAlgn="base" hangingPunct="1">
        <a:spcBef>
          <a:spcPct val="0"/>
        </a:spcBef>
        <a:spcAft>
          <a:spcPct val="0"/>
        </a:spcAft>
        <a:defRPr lang="zh-CN" altLang="en-US" sz="4000" b="0" dirty="0">
          <a:solidFill>
            <a:schemeClr val="tx1">
              <a:lumMod val="95000"/>
              <a:lumOff val="5000"/>
            </a:schemeClr>
          </a:solidFill>
          <a:latin typeface="+mj-lt"/>
          <a:ea typeface="Arial Unicode MS" panose="020B0604020202020204" pitchFamily="34" charset="-122"/>
          <a:cs typeface="Arial" panose="020B0604020202020204" pitchFamily="34" charset="0"/>
        </a:defRPr>
      </a:lvl1pPr>
      <a:lvl2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2pPr>
      <a:lvl3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3pPr>
      <a:lvl4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4pPr>
      <a:lvl5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8pPr>
      <a:lvl9pPr marL="1829435"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9pPr>
    </p:titleStyle>
    <p:body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sz="2400" b="0">
          <a:solidFill>
            <a:schemeClr val="tx1">
              <a:lumMod val="95000"/>
              <a:lumOff val="5000"/>
            </a:schemeClr>
          </a:solidFill>
          <a:latin typeface="+mj-lt"/>
          <a:ea typeface="+mj-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000">
          <a:solidFill>
            <a:schemeClr val="tx1"/>
          </a:solidFill>
          <a:latin typeface="+mn-lt"/>
          <a:ea typeface="+mn-ea"/>
          <a:cs typeface="+mn-cs"/>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835" indent="-228600" algn="l" rtl="0" eaLnBrk="1" fontAlgn="base" hangingPunct="1">
        <a:spcBef>
          <a:spcPct val="20000"/>
        </a:spcBef>
        <a:spcAft>
          <a:spcPct val="0"/>
        </a:spcAft>
        <a:buChar char="–"/>
        <a:defRPr sz="1600">
          <a:solidFill>
            <a:schemeClr val="tx1"/>
          </a:solidFill>
          <a:latin typeface="+mn-lt"/>
          <a:ea typeface="+mn-ea"/>
          <a:cs typeface="+mn-cs"/>
        </a:defRPr>
      </a:lvl4pPr>
      <a:lvl5pPr marL="20580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5pPr>
      <a:lvl6pPr marL="25152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6pPr>
      <a:lvl7pPr marL="29724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7pPr>
      <a:lvl8pPr marL="34296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8pPr>
      <a:lvl9pPr marL="38868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9435" algn="l" defTabSz="914400" rtl="0" eaLnBrk="1" latinLnBrk="0" hangingPunct="1">
        <a:defRPr sz="1800" kern="1200">
          <a:solidFill>
            <a:schemeClr val="tx1"/>
          </a:solidFill>
          <a:latin typeface="+mn-lt"/>
          <a:ea typeface="+mn-ea"/>
          <a:cs typeface="+mn-cs"/>
        </a:defRPr>
      </a:lvl5pPr>
      <a:lvl6pPr marL="2286635"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759" y="275231"/>
            <a:ext cx="10975658" cy="1143264"/>
          </a:xfrm>
          <a:prstGeom prst="rect">
            <a:avLst/>
          </a:prstGeom>
        </p:spPr>
        <p:txBody>
          <a:bodyPr vert="horz" lIns="121944" tIns="60972" rIns="121944" bIns="60972"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759" y="1600572"/>
            <a:ext cx="10975658" cy="4526481"/>
          </a:xfrm>
          <a:prstGeom prst="rect">
            <a:avLst/>
          </a:prstGeom>
        </p:spPr>
        <p:txBody>
          <a:bodyPr vert="horz" lIns="121944" tIns="60972" rIns="121944" bIns="60972"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09759" y="6357824"/>
            <a:ext cx="2845541" cy="366267"/>
          </a:xfrm>
          <a:prstGeom prst="rect">
            <a:avLst/>
          </a:prstGeom>
        </p:spPr>
        <p:txBody>
          <a:bodyPr vert="horz" lIns="121944" tIns="60972" rIns="121944" bIns="60972" rtlCol="0" anchor="ctr"/>
          <a:lstStyle>
            <a:lvl1pPr algn="l">
              <a:defRPr sz="1600">
                <a:solidFill>
                  <a:schemeClr val="tx1"/>
                </a:solidFill>
              </a:defRPr>
            </a:lvl1pPr>
          </a:lstStyle>
          <a:p>
            <a:fld id="{1A5B2B23-E5F0-44D7-A9FF-4B8E82156B39}" type="datetimeFigureOut">
              <a:rPr lang="zh-CN" altLang="en-US" smtClean="0"/>
            </a:fld>
            <a:endParaRPr lang="zh-CN" altLang="en-US"/>
          </a:p>
        </p:txBody>
      </p:sp>
      <p:sp>
        <p:nvSpPr>
          <p:cNvPr id="5" name="页脚占位符 4"/>
          <p:cNvSpPr>
            <a:spLocks noGrp="1"/>
          </p:cNvSpPr>
          <p:nvPr>
            <p:ph type="ftr" sz="quarter" idx="3"/>
          </p:nvPr>
        </p:nvSpPr>
        <p:spPr>
          <a:xfrm>
            <a:off x="4166685" y="6357824"/>
            <a:ext cx="3861805" cy="366267"/>
          </a:xfrm>
          <a:prstGeom prst="rect">
            <a:avLst/>
          </a:prstGeom>
        </p:spPr>
        <p:txBody>
          <a:bodyPr vert="horz" lIns="121944" tIns="60972" rIns="121944" bIns="60972" rtlCol="0" anchor="ctr"/>
          <a:lstStyle>
            <a:lvl1pPr algn="ctr">
              <a:defRPr sz="1600">
                <a:solidFill>
                  <a:schemeClr val="tx1"/>
                </a:solidFill>
              </a:defRPr>
            </a:lvl1pPr>
          </a:lstStyle>
          <a:p>
            <a:endParaRPr lang="zh-CN" altLang="en-US"/>
          </a:p>
        </p:txBody>
      </p:sp>
      <p:sp>
        <p:nvSpPr>
          <p:cNvPr id="6" name="灯片编号占位符 5"/>
          <p:cNvSpPr>
            <a:spLocks noGrp="1"/>
          </p:cNvSpPr>
          <p:nvPr>
            <p:ph type="sldNum" sz="quarter" idx="4"/>
          </p:nvPr>
        </p:nvSpPr>
        <p:spPr>
          <a:xfrm>
            <a:off x="8739876" y="6357824"/>
            <a:ext cx="2845541" cy="366267"/>
          </a:xfrm>
          <a:prstGeom prst="rect">
            <a:avLst/>
          </a:prstGeom>
        </p:spPr>
        <p:txBody>
          <a:bodyPr vert="horz" lIns="121944" tIns="60972" rIns="121944" bIns="60972" rtlCol="0" anchor="ctr"/>
          <a:lstStyle>
            <a:lvl1pPr algn="r">
              <a:defRPr sz="1600">
                <a:solidFill>
                  <a:schemeClr val="tx1"/>
                </a:solidFill>
              </a:defRPr>
            </a:lvl1pPr>
          </a:lstStyle>
          <a:p>
            <a:fld id="{B2563A90-55EF-4D2C-B954-EDF55F24A661}" type="slidenum">
              <a:rPr lang="zh-CN" altLang="en-US" smtClean="0"/>
            </a:fld>
            <a:endParaRPr lang="zh-CN" altLang="en-US"/>
          </a:p>
        </p:txBody>
      </p:sp>
      <p:sp>
        <p:nvSpPr>
          <p:cNvPr id="8" name="Rectangle 86"/>
          <p:cNvSpPr>
            <a:spLocks noChangeArrowheads="1"/>
          </p:cNvSpPr>
          <p:nvPr userDrawn="1"/>
        </p:nvSpPr>
        <p:spPr bwMode="auto">
          <a:xfrm>
            <a:off x="11842256" y="6350438"/>
            <a:ext cx="328279" cy="426162"/>
          </a:xfrm>
          <a:prstGeom prst="rect">
            <a:avLst/>
          </a:prstGeom>
          <a:noFill/>
          <a:ln w="9525">
            <a:noFill/>
            <a:miter lim="800000"/>
          </a:ln>
          <a:effectLst/>
        </p:spPr>
        <p:txBody>
          <a:bodyPr lIns="0" tIns="0" rIns="0" bIns="0"/>
          <a:lstStyle/>
          <a:p>
            <a:pPr defTabSz="988060" eaLnBrk="0" hangingPunct="0">
              <a:lnSpc>
                <a:spcPct val="85000"/>
              </a:lnSpc>
              <a:buClrTx/>
              <a:buFontTx/>
              <a:buNone/>
            </a:pPr>
            <a:endParaRPr lang="de-DE" sz="1300" b="0" dirty="0">
              <a:solidFill>
                <a:schemeClr val="tx1"/>
              </a:solidFill>
              <a:latin typeface="FrutigerNext LT Light" pitchFamily="34" charset="0"/>
              <a:ea typeface="MS PGothic" panose="020B0600070205080204" pitchFamily="34" charset="-128"/>
            </a:endParaRPr>
          </a:p>
          <a:p>
            <a:pPr defTabSz="988060" eaLnBrk="0" hangingPunct="0">
              <a:lnSpc>
                <a:spcPct val="85000"/>
              </a:lnSpc>
              <a:buClrTx/>
              <a:buFontTx/>
              <a:buNone/>
            </a:pPr>
            <a:fld id="{E68EC476-442B-4BB7-9603-F1440C241F3D}" type="slidenum">
              <a:rPr lang="de-DE" sz="900" b="0" smtClean="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rPr>
            </a:fld>
            <a:endParaRPr lang="en-GB" sz="900" b="0" dirty="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759" y="275231"/>
            <a:ext cx="10975658" cy="1143264"/>
          </a:xfrm>
          <a:prstGeom prst="rect">
            <a:avLst/>
          </a:prstGeom>
        </p:spPr>
        <p:txBody>
          <a:bodyPr vert="horz" lIns="121944" tIns="60972" rIns="121944" bIns="60972"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759" y="1600572"/>
            <a:ext cx="10975658" cy="4526481"/>
          </a:xfrm>
          <a:prstGeom prst="rect">
            <a:avLst/>
          </a:prstGeom>
        </p:spPr>
        <p:txBody>
          <a:bodyPr vert="horz" lIns="121944" tIns="60972" rIns="121944" bIns="60972"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09759" y="6357824"/>
            <a:ext cx="2845541" cy="366267"/>
          </a:xfrm>
          <a:prstGeom prst="rect">
            <a:avLst/>
          </a:prstGeom>
        </p:spPr>
        <p:txBody>
          <a:bodyPr vert="horz" lIns="121944" tIns="60972" rIns="121944" bIns="60972" rtlCol="0" anchor="ctr"/>
          <a:lstStyle>
            <a:lvl1pPr algn="l">
              <a:defRPr sz="1600">
                <a:solidFill>
                  <a:schemeClr val="tx1"/>
                </a:solidFill>
              </a:defRPr>
            </a:lvl1pPr>
          </a:lstStyle>
          <a:p>
            <a:fld id="{1A5B2B23-E5F0-44D7-A9FF-4B8E82156B39}" type="datetimeFigureOut">
              <a:rPr lang="zh-CN" altLang="en-US" smtClean="0"/>
            </a:fld>
            <a:endParaRPr lang="zh-CN" altLang="en-US"/>
          </a:p>
        </p:txBody>
      </p:sp>
      <p:sp>
        <p:nvSpPr>
          <p:cNvPr id="5" name="页脚占位符 4"/>
          <p:cNvSpPr>
            <a:spLocks noGrp="1"/>
          </p:cNvSpPr>
          <p:nvPr>
            <p:ph type="ftr" sz="quarter" idx="3"/>
          </p:nvPr>
        </p:nvSpPr>
        <p:spPr>
          <a:xfrm>
            <a:off x="4166685" y="6357824"/>
            <a:ext cx="3861805" cy="366267"/>
          </a:xfrm>
          <a:prstGeom prst="rect">
            <a:avLst/>
          </a:prstGeom>
        </p:spPr>
        <p:txBody>
          <a:bodyPr vert="horz" lIns="121944" tIns="60972" rIns="121944" bIns="60972" rtlCol="0" anchor="ctr"/>
          <a:lstStyle>
            <a:lvl1pPr algn="ctr">
              <a:defRPr sz="1600">
                <a:solidFill>
                  <a:schemeClr val="tx1"/>
                </a:solidFill>
              </a:defRPr>
            </a:lvl1pPr>
          </a:lstStyle>
          <a:p>
            <a:endParaRPr lang="zh-CN" altLang="en-US"/>
          </a:p>
        </p:txBody>
      </p:sp>
      <p:sp>
        <p:nvSpPr>
          <p:cNvPr id="6" name="灯片编号占位符 5"/>
          <p:cNvSpPr>
            <a:spLocks noGrp="1"/>
          </p:cNvSpPr>
          <p:nvPr>
            <p:ph type="sldNum" sz="quarter" idx="4"/>
          </p:nvPr>
        </p:nvSpPr>
        <p:spPr>
          <a:xfrm>
            <a:off x="8739876" y="6357824"/>
            <a:ext cx="2845541" cy="366267"/>
          </a:xfrm>
          <a:prstGeom prst="rect">
            <a:avLst/>
          </a:prstGeom>
        </p:spPr>
        <p:txBody>
          <a:bodyPr vert="horz" lIns="121944" tIns="60972" rIns="121944" bIns="60972" rtlCol="0" anchor="ctr"/>
          <a:lstStyle>
            <a:lvl1pPr algn="r">
              <a:defRPr sz="1600">
                <a:solidFill>
                  <a:schemeClr val="tx1"/>
                </a:solidFill>
              </a:defRPr>
            </a:lvl1pPr>
          </a:lstStyle>
          <a:p>
            <a:fld id="{B2563A90-55EF-4D2C-B954-EDF55F24A661}" type="slidenum">
              <a:rPr lang="zh-CN" altLang="en-US" smtClean="0"/>
            </a:fld>
            <a:endParaRPr lang="zh-CN" altLang="en-US"/>
          </a:p>
        </p:txBody>
      </p:sp>
      <p:sp>
        <p:nvSpPr>
          <p:cNvPr id="10" name="Rectangle 86"/>
          <p:cNvSpPr>
            <a:spLocks noChangeArrowheads="1"/>
          </p:cNvSpPr>
          <p:nvPr userDrawn="1"/>
        </p:nvSpPr>
        <p:spPr bwMode="auto">
          <a:xfrm>
            <a:off x="11842256" y="6350438"/>
            <a:ext cx="328279" cy="426162"/>
          </a:xfrm>
          <a:prstGeom prst="rect">
            <a:avLst/>
          </a:prstGeom>
          <a:noFill/>
          <a:ln w="9525">
            <a:noFill/>
            <a:miter lim="800000"/>
          </a:ln>
          <a:effectLst/>
        </p:spPr>
        <p:txBody>
          <a:bodyPr lIns="0" tIns="0" rIns="0" bIns="0"/>
          <a:lstStyle/>
          <a:p>
            <a:pPr defTabSz="988060" eaLnBrk="0" hangingPunct="0">
              <a:lnSpc>
                <a:spcPct val="85000"/>
              </a:lnSpc>
              <a:buClrTx/>
              <a:buFontTx/>
              <a:buNone/>
            </a:pPr>
            <a:endParaRPr lang="de-DE" sz="1300" b="0" dirty="0">
              <a:solidFill>
                <a:schemeClr val="tx1"/>
              </a:solidFill>
              <a:latin typeface="FrutigerNext LT Light" pitchFamily="34" charset="0"/>
              <a:ea typeface="MS PGothic" panose="020B0600070205080204" pitchFamily="34" charset="-128"/>
            </a:endParaRPr>
          </a:p>
          <a:p>
            <a:pPr defTabSz="988060" eaLnBrk="0" hangingPunct="0">
              <a:lnSpc>
                <a:spcPct val="85000"/>
              </a:lnSpc>
              <a:buClrTx/>
              <a:buFontTx/>
              <a:buNone/>
            </a:pPr>
            <a:fld id="{E68EC476-442B-4BB7-9603-F1440C241F3D}" type="slidenum">
              <a:rPr lang="de-DE" sz="900" b="0" smtClean="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rPr>
            </a:fld>
            <a:endParaRPr lang="en-GB" sz="900" b="0" dirty="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TextBox 6"/>
          <p:cNvSpPr txBox="1"/>
          <p:nvPr userDrawn="1"/>
        </p:nvSpPr>
        <p:spPr>
          <a:xfrm>
            <a:off x="737870" y="3517900"/>
            <a:ext cx="2874010" cy="676910"/>
          </a:xfrm>
          <a:prstGeom prst="rect">
            <a:avLst/>
          </a:prstGeom>
          <a:noFill/>
        </p:spPr>
        <p:txBody>
          <a:bodyPr wrap="square" lIns="91450" tIns="45725" rIns="91450" bIns="45725">
            <a:spAutoFit/>
          </a:bodyPr>
          <a:lstStyle/>
          <a:p>
            <a:pPr algn="ctr">
              <a:defRPr/>
            </a:pPr>
            <a:r>
              <a:rPr lang="en-US" altLang="zh-CN" sz="3800" dirty="0">
                <a:solidFill>
                  <a:schemeClr val="tx1">
                    <a:lumMod val="65000"/>
                    <a:lumOff val="35000"/>
                  </a:schemeClr>
                </a:solidFill>
              </a:rPr>
              <a:t>Thank You.</a:t>
            </a:r>
            <a:endParaRPr lang="zh-CN" altLang="zh-CN" sz="3800" dirty="0">
              <a:solidFill>
                <a:schemeClr val="tx1">
                  <a:lumMod val="65000"/>
                  <a:lumOff val="35000"/>
                </a:schemeClr>
              </a:solidFill>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6" Type="http://schemas.openxmlformats.org/officeDocument/2006/relationships/slideLayout" Target="../slideLayouts/slideLayout3.xml"/><Relationship Id="rId15" Type="http://schemas.microsoft.com/office/2007/relationships/diagramDrawing" Target="../diagrams/drawing3.xml"/><Relationship Id="rId14" Type="http://schemas.openxmlformats.org/officeDocument/2006/relationships/diagramColors" Target="../diagrams/colors3.xml"/><Relationship Id="rId13" Type="http://schemas.openxmlformats.org/officeDocument/2006/relationships/diagramQuickStyle" Target="../diagrams/quickStyle3.xml"/><Relationship Id="rId12" Type="http://schemas.openxmlformats.org/officeDocument/2006/relationships/diagramLayout" Target="../diagrams/layout3.xml"/><Relationship Id="rId11" Type="http://schemas.openxmlformats.org/officeDocument/2006/relationships/diagramData" Target="../diagrams/data3.xml"/><Relationship Id="rId10" Type="http://schemas.microsoft.com/office/2007/relationships/diagramDrawing" Target="../diagrams/drawing2.xml"/><Relationship Id="rId1" Type="http://schemas.openxmlformats.org/officeDocument/2006/relationships/diagramData" Target="../diagrams/data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3.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33.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3.xml"/><Relationship Id="rId7" Type="http://schemas.openxmlformats.org/officeDocument/2006/relationships/image" Target="../media/image36.png"/><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3.xml"/><Relationship Id="rId3" Type="http://schemas.openxmlformats.org/officeDocument/2006/relationships/image" Target="../media/image38.png"/><Relationship Id="rId2" Type="http://schemas.openxmlformats.org/officeDocument/2006/relationships/tags" Target="../tags/tag3.xml"/><Relationship Id="rId1" Type="http://schemas.openxmlformats.org/officeDocument/2006/relationships/image" Target="../media/image37.png"/></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3.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3.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3.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4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5019" y="1411017"/>
            <a:ext cx="6984776" cy="1323340"/>
          </a:xfrm>
        </p:spPr>
        <p:txBody>
          <a:bodyPr/>
          <a:lstStyle/>
          <a:p>
            <a:r>
              <a:rPr lang="zh-CN" altLang="en-US" dirty="0"/>
              <a:t>数据治理解决方案主打胶片</a:t>
            </a:r>
            <a:br>
              <a:rPr lang="zh-CN" altLang="en-US" dirty="0"/>
            </a:br>
            <a:r>
              <a:rPr lang="zh-CN" altLang="en-US" dirty="0"/>
              <a:t> </a:t>
            </a:r>
            <a:r>
              <a:rPr lang="en-US" altLang="zh-CN" dirty="0"/>
              <a:t>             </a:t>
            </a:r>
            <a:r>
              <a:rPr lang="en-US" altLang="zh-CN" sz="2800" dirty="0"/>
              <a:t>  </a:t>
            </a:r>
            <a:endParaRPr sz="2800" dirty="0"/>
          </a:p>
        </p:txBody>
      </p:sp>
    </p:spTree>
  </p:cSld>
  <p:clrMapOvr>
    <a:masterClrMapping/>
  </p:clrMapOvr>
  <p:transition advClick="0" advTm="8000">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13011" y="2142442"/>
            <a:ext cx="5112568" cy="432048"/>
          </a:xfrm>
          <a:prstGeom prst="rect">
            <a:avLst/>
          </a:prstGeom>
          <a:solidFill>
            <a:schemeClr val="bg2"/>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sp>
        <p:nvSpPr>
          <p:cNvPr id="4" name="标题 3"/>
          <p:cNvSpPr>
            <a:spLocks noGrp="1"/>
          </p:cNvSpPr>
          <p:nvPr>
            <p:ph type="ctrTitle"/>
          </p:nvPr>
        </p:nvSpPr>
        <p:spPr/>
        <p:txBody>
          <a:bodyPr/>
          <a:lstStyle/>
          <a:p>
            <a:r>
              <a:rPr lang="zh-CN" altLang="en-US" dirty="0"/>
              <a:t>目录</a:t>
            </a:r>
            <a:endParaRPr lang="zh-CN" altLang="en-US" dirty="0"/>
          </a:p>
        </p:txBody>
      </p:sp>
      <p:sp>
        <p:nvSpPr>
          <p:cNvPr id="5" name="副标题 4"/>
          <p:cNvSpPr>
            <a:spLocks noGrp="1"/>
          </p:cNvSpPr>
          <p:nvPr>
            <p:ph type="subTitle" idx="1"/>
          </p:nvPr>
        </p:nvSpPr>
        <p:spPr/>
        <p:txBody>
          <a:bodyPr/>
          <a:lstStyle/>
          <a:p>
            <a:r>
              <a:rPr lang="zh-CN" altLang="en-US" dirty="0"/>
              <a:t>行业现状与挑战</a:t>
            </a:r>
            <a:endParaRPr lang="en-US" altLang="zh-CN" dirty="0"/>
          </a:p>
          <a:p>
            <a:r>
              <a:rPr lang="zh-CN" altLang="en-US" dirty="0"/>
              <a:t>华为数据治理解决方案</a:t>
            </a:r>
            <a:endParaRPr lang="en-US" altLang="zh-CN" dirty="0"/>
          </a:p>
          <a:p>
            <a:r>
              <a:rPr lang="zh-CN" altLang="en-US" dirty="0"/>
              <a:t>解决方案价值分析</a:t>
            </a:r>
            <a:endParaRPr lang="en-US" altLang="zh-CN" dirty="0"/>
          </a:p>
          <a:p>
            <a:r>
              <a:rPr lang="zh-CN" altLang="en-US" dirty="0"/>
              <a:t>成功案例介绍</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数据治理领域及功能</a:t>
            </a:r>
            <a:endParaRPr lang="zh-CN" altLang="en-US" dirty="0"/>
          </a:p>
        </p:txBody>
      </p:sp>
      <p:grpSp>
        <p:nvGrpSpPr>
          <p:cNvPr id="4" name="组合 54"/>
          <p:cNvGrpSpPr/>
          <p:nvPr/>
        </p:nvGrpSpPr>
        <p:grpSpPr>
          <a:xfrm>
            <a:off x="7537747" y="214655"/>
            <a:ext cx="4412421" cy="262811"/>
            <a:chOff x="5291227" y="0"/>
            <a:chExt cx="3439301" cy="189000"/>
          </a:xfrm>
        </p:grpSpPr>
        <p:sp>
          <p:nvSpPr>
            <p:cNvPr id="5" name="燕尾形 4"/>
            <p:cNvSpPr/>
            <p:nvPr/>
          </p:nvSpPr>
          <p:spPr bwMode="auto">
            <a:xfrm>
              <a:off x="5291227" y="0"/>
              <a:ext cx="674824"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燕尾形 5"/>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燕尾形 6"/>
            <p:cNvSpPr/>
            <p:nvPr/>
          </p:nvSpPr>
          <p:spPr bwMode="auto">
            <a:xfrm>
              <a:off x="667024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燕尾形 7"/>
            <p:cNvSpPr/>
            <p:nvPr/>
          </p:nvSpPr>
          <p:spPr bwMode="auto">
            <a:xfrm>
              <a:off x="745372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燕尾形 8"/>
            <p:cNvSpPr/>
            <p:nvPr/>
          </p:nvSpPr>
          <p:spPr bwMode="auto">
            <a:xfrm>
              <a:off x="805570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1" name="Rectangle 10"/>
          <p:cNvSpPr/>
          <p:nvPr/>
        </p:nvSpPr>
        <p:spPr>
          <a:xfrm>
            <a:off x="626220" y="1343878"/>
            <a:ext cx="5219959" cy="3139321"/>
          </a:xfrm>
          <a:prstGeom prst="rect">
            <a:avLst/>
          </a:prstGeom>
        </p:spPr>
        <p:txBody>
          <a:bodyPr wrap="square">
            <a:spAutoFit/>
          </a:bodyPr>
          <a:lstStyle/>
          <a:p>
            <a:pPr algn="just"/>
            <a:r>
              <a:rPr lang="zh-CN" altLang="en-US" b="1" dirty="0">
                <a:solidFill>
                  <a:srgbClr val="333333"/>
                </a:solidFill>
                <a:latin typeface="Arial" panose="020B0604020202020204" pitchFamily="34" charset="0"/>
              </a:rPr>
              <a:t>数据治理：概念</a:t>
            </a:r>
            <a:endParaRPr lang="en-US" altLang="zh-CN" b="1" dirty="0">
              <a:solidFill>
                <a:srgbClr val="333333"/>
              </a:solidFill>
              <a:latin typeface="Arial" panose="020B0604020202020204" pitchFamily="34" charset="0"/>
            </a:endParaRPr>
          </a:p>
          <a:p>
            <a:pPr algn="just"/>
            <a:endParaRPr lang="en-US" altLang="zh-CN" sz="1400" dirty="0">
              <a:solidFill>
                <a:srgbClr val="333333"/>
              </a:solidFill>
              <a:latin typeface="Arial" panose="020B0604020202020204" pitchFamily="34" charset="0"/>
            </a:endParaRPr>
          </a:p>
          <a:p>
            <a:pPr algn="just"/>
            <a:r>
              <a:rPr lang="zh-CN" altLang="en-US" sz="1600" dirty="0">
                <a:solidFill>
                  <a:srgbClr val="333333"/>
                </a:solidFill>
                <a:latin typeface="Arial" panose="020B0604020202020204" pitchFamily="34" charset="0"/>
              </a:rPr>
              <a:t>专注于将数据作为企业的价值资产进行应用和管理的过程和管理机制。</a:t>
            </a:r>
            <a:endParaRPr lang="en-US" altLang="zh-CN" sz="1600" dirty="0">
              <a:solidFill>
                <a:srgbClr val="333333"/>
              </a:solidFill>
              <a:latin typeface="Arial" panose="020B0604020202020204" pitchFamily="34" charset="0"/>
            </a:endParaRPr>
          </a:p>
          <a:p>
            <a:pPr algn="just"/>
            <a:endParaRPr lang="en-US" altLang="zh-CN" sz="1600" dirty="0">
              <a:solidFill>
                <a:srgbClr val="333333"/>
              </a:solidFill>
              <a:latin typeface="Arial" panose="020B0604020202020204" pitchFamily="34" charset="0"/>
            </a:endParaRPr>
          </a:p>
          <a:p>
            <a:pPr algn="just"/>
            <a:r>
              <a:rPr lang="zh-CN" altLang="en-US" sz="1600" dirty="0">
                <a:solidFill>
                  <a:srgbClr val="333333"/>
                </a:solidFill>
                <a:latin typeface="Arial" panose="020B0604020202020204" pitchFamily="34" charset="0"/>
              </a:rPr>
              <a:t>能够消除数据的不一致性，建立规范的数据应用标准，提高组织数据质量，实现数据广泛共享，并能够将数据作为组织的宝贵资产服务于业务、管理、战略决策中，发挥数据资产的商业价值。</a:t>
            </a:r>
            <a:endParaRPr lang="en-US" altLang="zh-CN" sz="1600" dirty="0">
              <a:solidFill>
                <a:srgbClr val="333333"/>
              </a:solidFill>
              <a:latin typeface="Arial" panose="020B0604020202020204" pitchFamily="34" charset="0"/>
            </a:endParaRPr>
          </a:p>
          <a:p>
            <a:pPr algn="just"/>
            <a:endParaRPr lang="en-US" altLang="zh-CN" sz="1600" dirty="0">
              <a:solidFill>
                <a:srgbClr val="333333"/>
              </a:solidFill>
              <a:latin typeface="Arial" panose="020B0604020202020204" pitchFamily="34" charset="0"/>
            </a:endParaRPr>
          </a:p>
          <a:p>
            <a:pPr algn="just"/>
            <a:r>
              <a:rPr lang="zh-CN" altLang="en-US" sz="1600" dirty="0">
                <a:solidFill>
                  <a:srgbClr val="333333"/>
                </a:solidFill>
                <a:latin typeface="Arial" panose="020B0604020202020204" pitchFamily="34" charset="0"/>
              </a:rPr>
              <a:t>有助于组织更好的遵循内外部有关数据使用和管理的监管法规。</a:t>
            </a:r>
            <a:endParaRPr lang="en-US" altLang="zh-CN" sz="1600" dirty="0">
              <a:solidFill>
                <a:srgbClr val="333333"/>
              </a:solidFill>
              <a:latin typeface="Arial" panose="020B0604020202020204" pitchFamily="34" charset="0"/>
            </a:endParaRPr>
          </a:p>
        </p:txBody>
      </p:sp>
      <p:sp>
        <p:nvSpPr>
          <p:cNvPr id="13" name="Rectangle 12"/>
          <p:cNvSpPr/>
          <p:nvPr/>
        </p:nvSpPr>
        <p:spPr>
          <a:xfrm>
            <a:off x="6206220" y="1343878"/>
            <a:ext cx="5219959" cy="3385542"/>
          </a:xfrm>
          <a:prstGeom prst="rect">
            <a:avLst/>
          </a:prstGeom>
        </p:spPr>
        <p:txBody>
          <a:bodyPr wrap="square">
            <a:spAutoFit/>
          </a:bodyPr>
          <a:lstStyle/>
          <a:p>
            <a:pPr algn="just"/>
            <a:r>
              <a:rPr lang="zh-CN" altLang="en-US" b="1" dirty="0">
                <a:solidFill>
                  <a:srgbClr val="333333"/>
                </a:solidFill>
                <a:latin typeface="Arial" panose="020B0604020202020204" pitchFamily="34" charset="0"/>
              </a:rPr>
              <a:t>高校数据治理的背景</a:t>
            </a:r>
            <a:endParaRPr lang="en-US" altLang="zh-CN" b="1" dirty="0">
              <a:solidFill>
                <a:srgbClr val="333333"/>
              </a:solidFill>
              <a:latin typeface="Arial" panose="020B0604020202020204" pitchFamily="34" charset="0"/>
            </a:endParaRPr>
          </a:p>
          <a:p>
            <a:pPr algn="just"/>
            <a:r>
              <a:rPr lang="zh-CN" altLang="en-US" sz="1400" dirty="0">
                <a:solidFill>
                  <a:srgbClr val="333333"/>
                </a:solidFill>
                <a:latin typeface="Arial" panose="020B0604020202020204" pitchFamily="34" charset="0"/>
              </a:rPr>
              <a:t>　</a:t>
            </a:r>
            <a:endParaRPr lang="en-US" altLang="zh-CN" sz="1400" dirty="0">
              <a:solidFill>
                <a:srgbClr val="333333"/>
              </a:solidFill>
              <a:latin typeface="Arial" panose="020B0604020202020204" pitchFamily="34" charset="0"/>
            </a:endParaRPr>
          </a:p>
          <a:p>
            <a:pPr algn="just"/>
            <a:r>
              <a:rPr lang="zh-CN" altLang="en-US" sz="1600" dirty="0">
                <a:solidFill>
                  <a:srgbClr val="333333"/>
                </a:solidFill>
                <a:latin typeface="Arial" panose="020B0604020202020204" pitchFamily="34" charset="0"/>
              </a:rPr>
              <a:t>大部分高校已完成校园网络、信息系统、数字平台的建设。建设初期，信息系统多以业务部门牵头分别进行，缺乏全校统一的系统规划和数据标准。</a:t>
            </a:r>
            <a:endParaRPr lang="en-US" altLang="zh-CN" sz="1600" dirty="0">
              <a:solidFill>
                <a:srgbClr val="333333"/>
              </a:solidFill>
              <a:latin typeface="Arial" panose="020B0604020202020204" pitchFamily="34" charset="0"/>
            </a:endParaRPr>
          </a:p>
          <a:p>
            <a:pPr algn="just"/>
            <a:endParaRPr lang="en-US" altLang="zh-CN" sz="1600" dirty="0">
              <a:solidFill>
                <a:srgbClr val="333333"/>
              </a:solidFill>
              <a:latin typeface="Arial" panose="020B0604020202020204" pitchFamily="34" charset="0"/>
            </a:endParaRPr>
          </a:p>
          <a:p>
            <a:pPr algn="just"/>
            <a:r>
              <a:rPr lang="zh-CN" altLang="en-US" sz="1600" dirty="0">
                <a:solidFill>
                  <a:srgbClr val="333333"/>
                </a:solidFill>
                <a:latin typeface="Arial" panose="020B0604020202020204" pitchFamily="34" charset="0"/>
              </a:rPr>
              <a:t>虽然已经积累了大量的业务数据，但普遍存在数据质量不高、冗余数据大量存在、数据可用性不高和各业务部门之间数据共享难度较大等问题，已经严重制约高校日常管理和教学水平的提升。</a:t>
            </a:r>
            <a:endParaRPr lang="en-US" altLang="zh-CN" sz="1600" dirty="0">
              <a:solidFill>
                <a:srgbClr val="333333"/>
              </a:solidFill>
              <a:latin typeface="Arial" panose="020B0604020202020204" pitchFamily="34" charset="0"/>
            </a:endParaRPr>
          </a:p>
          <a:p>
            <a:pPr algn="just"/>
            <a:endParaRPr lang="en-US" altLang="zh-CN" sz="1600" dirty="0">
              <a:solidFill>
                <a:srgbClr val="333333"/>
              </a:solidFill>
              <a:latin typeface="Arial" panose="020B0604020202020204" pitchFamily="34" charset="0"/>
            </a:endParaRPr>
          </a:p>
          <a:p>
            <a:pPr algn="just"/>
            <a:r>
              <a:rPr lang="zh-CN" altLang="en-US" sz="1600" dirty="0">
                <a:solidFill>
                  <a:srgbClr val="333333"/>
                </a:solidFill>
                <a:latin typeface="Arial" panose="020B0604020202020204" pitchFamily="34" charset="0"/>
              </a:rPr>
              <a:t>因此亟需通过全校级别的数据治理流程体系来进行数据的全生命周期管理。 </a:t>
            </a:r>
            <a:endParaRPr lang="zh-CN" altLang="en-US" sz="1600" dirty="0">
              <a:solidFill>
                <a:srgbClr val="333333"/>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1+#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数据治理的必要性</a:t>
            </a:r>
            <a:endParaRPr lang="zh-CN" altLang="en-US" dirty="0"/>
          </a:p>
        </p:txBody>
      </p:sp>
      <p:grpSp>
        <p:nvGrpSpPr>
          <p:cNvPr id="4" name="组合 54"/>
          <p:cNvGrpSpPr/>
          <p:nvPr/>
        </p:nvGrpSpPr>
        <p:grpSpPr>
          <a:xfrm>
            <a:off x="7733838" y="70638"/>
            <a:ext cx="4412421" cy="262811"/>
            <a:chOff x="5291227" y="0"/>
            <a:chExt cx="3439301" cy="189000"/>
          </a:xfrm>
        </p:grpSpPr>
        <p:sp>
          <p:nvSpPr>
            <p:cNvPr id="5" name="燕尾形 4"/>
            <p:cNvSpPr/>
            <p:nvPr/>
          </p:nvSpPr>
          <p:spPr bwMode="auto">
            <a:xfrm>
              <a:off x="5291227" y="0"/>
              <a:ext cx="674824"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燕尾形 5"/>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燕尾形 6"/>
            <p:cNvSpPr/>
            <p:nvPr/>
          </p:nvSpPr>
          <p:spPr bwMode="auto">
            <a:xfrm>
              <a:off x="667024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燕尾形 7"/>
            <p:cNvSpPr/>
            <p:nvPr/>
          </p:nvSpPr>
          <p:spPr bwMode="auto">
            <a:xfrm>
              <a:off x="745372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燕尾形 8"/>
            <p:cNvSpPr/>
            <p:nvPr/>
          </p:nvSpPr>
          <p:spPr bwMode="auto">
            <a:xfrm>
              <a:off x="805570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39" name="矩形 13"/>
          <p:cNvSpPr/>
          <p:nvPr/>
        </p:nvSpPr>
        <p:spPr>
          <a:xfrm>
            <a:off x="5598679" y="1918586"/>
            <a:ext cx="4222342" cy="369948"/>
          </a:xfrm>
          <a:prstGeom prst="rect">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40" name="矩形 12"/>
          <p:cNvSpPr/>
          <p:nvPr/>
        </p:nvSpPr>
        <p:spPr>
          <a:xfrm>
            <a:off x="5598679" y="3950665"/>
            <a:ext cx="4222342" cy="369948"/>
          </a:xfrm>
          <a:prstGeom prst="rect">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1" name="矩形 11"/>
          <p:cNvSpPr/>
          <p:nvPr/>
        </p:nvSpPr>
        <p:spPr>
          <a:xfrm>
            <a:off x="768344" y="3950665"/>
            <a:ext cx="4157468" cy="369948"/>
          </a:xfrm>
          <a:prstGeom prst="rect">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42" name="矩形 10"/>
          <p:cNvSpPr/>
          <p:nvPr/>
        </p:nvSpPr>
        <p:spPr>
          <a:xfrm>
            <a:off x="758444" y="1904945"/>
            <a:ext cx="4157468" cy="369948"/>
          </a:xfrm>
          <a:prstGeom prst="rect">
            <a:avLst/>
          </a:prstGeom>
          <a:solidFill>
            <a:srgbClr val="FF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3" name="流程图: 文档 7"/>
          <p:cNvSpPr/>
          <p:nvPr/>
        </p:nvSpPr>
        <p:spPr>
          <a:xfrm>
            <a:off x="4766197" y="1918586"/>
            <a:ext cx="6299942" cy="2032080"/>
          </a:xfrm>
          <a:prstGeom prst="flowChartDocumen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t"/>
          <a:lstStyle/>
          <a:p>
            <a:pPr marL="1485900" lvl="1" indent="-571500" defTabSz="914400">
              <a:buFont typeface="Wingdings" panose="05000000000000000000" pitchFamily="2" charset="2"/>
              <a:buChar char="l"/>
            </a:pPr>
            <a:r>
              <a:rPr lang="zh-CN" altLang="en-US" sz="2000" dirty="0">
                <a:solidFill>
                  <a:srgbClr val="FFFF00"/>
                </a:solidFill>
                <a:latin typeface="微软雅黑" panose="020B0503020204020204" pitchFamily="34" charset="-122"/>
                <a:ea typeface="微软雅黑" panose="020B0503020204020204" pitchFamily="34" charset="-122"/>
              </a:rPr>
              <a:t>协调共享</a:t>
            </a:r>
            <a:r>
              <a:rPr lang="zh-CN" altLang="en-US" sz="1400" dirty="0">
                <a:solidFill>
                  <a:schemeClr val="bg1"/>
                </a:solidFill>
                <a:latin typeface="微软雅黑" panose="020B0503020204020204" pitchFamily="34" charset="-122"/>
                <a:ea typeface="微软雅黑" panose="020B0503020204020204" pitchFamily="34" charset="-122"/>
              </a:rPr>
              <a:t>困难</a:t>
            </a:r>
            <a:endParaRPr lang="zh-CN" altLang="en-US" sz="1400" dirty="0">
              <a:solidFill>
                <a:schemeClr val="bg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部门管理隔阂</a:t>
            </a:r>
            <a:endParaRPr lang="en-US" altLang="zh-CN" sz="1600" dirty="0">
              <a:solidFill>
                <a:schemeClr val="tx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数据有没有，数据在哪里，数据怎么取，数据怎么认都不知道</a:t>
            </a:r>
            <a:endParaRPr lang="en-US" altLang="zh-CN" sz="1600" dirty="0">
              <a:solidFill>
                <a:schemeClr val="tx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接口费高昂</a:t>
            </a:r>
            <a:endParaRPr lang="en-US" altLang="zh-CN" sz="1600" dirty="0">
              <a:solidFill>
                <a:schemeClr val="tx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需要与多部门反复协调，耗费精力进行整合去重、判断正误、对比冲突，效率低下，费时费力还费钱。</a:t>
            </a:r>
            <a:endParaRPr lang="en-US" altLang="zh-CN" sz="1600" dirty="0">
              <a:solidFill>
                <a:schemeClr val="tx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endParaRPr lang="en-US" altLang="zh-CN" sz="1600" dirty="0">
              <a:solidFill>
                <a:schemeClr val="accent5">
                  <a:lumMod val="60000"/>
                  <a:lumOff val="40000"/>
                </a:schemeClr>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2000" dirty="0">
                <a:solidFill>
                  <a:srgbClr val="FFFF00"/>
                </a:solidFill>
                <a:latin typeface="微软雅黑" panose="020B0503020204020204" pitchFamily="34" charset="-122"/>
                <a:ea typeface="微软雅黑" panose="020B0503020204020204" pitchFamily="34" charset="-122"/>
              </a:rPr>
              <a:t>质量</a:t>
            </a:r>
            <a:r>
              <a:rPr lang="zh-CN" altLang="en-US" sz="1400" dirty="0">
                <a:solidFill>
                  <a:schemeClr val="bg1"/>
                </a:solidFill>
                <a:latin typeface="微软雅黑" panose="020B0503020204020204" pitchFamily="34" charset="-122"/>
                <a:ea typeface="微软雅黑" panose="020B0503020204020204" pitchFamily="34" charset="-122"/>
              </a:rPr>
              <a:t>不高，</a:t>
            </a:r>
            <a:r>
              <a:rPr lang="zh-CN" altLang="en-US" sz="2000" dirty="0">
                <a:solidFill>
                  <a:srgbClr val="FFFF00"/>
                </a:solidFill>
                <a:latin typeface="微软雅黑" panose="020B0503020204020204" pitchFamily="34" charset="-122"/>
                <a:ea typeface="微软雅黑" panose="020B0503020204020204" pitchFamily="34" charset="-122"/>
              </a:rPr>
              <a:t>集成</a:t>
            </a:r>
            <a:r>
              <a:rPr lang="zh-CN" altLang="en-US" sz="1400" dirty="0">
                <a:solidFill>
                  <a:schemeClr val="bg1"/>
                </a:solidFill>
                <a:latin typeface="微软雅黑" panose="020B0503020204020204" pitchFamily="34" charset="-122"/>
                <a:ea typeface="微软雅黑" panose="020B0503020204020204" pitchFamily="34" charset="-122"/>
              </a:rPr>
              <a:t>困难</a:t>
            </a:r>
            <a:endParaRPr lang="zh-CN" altLang="en-US" sz="1400" dirty="0">
              <a:solidFill>
                <a:schemeClr val="bg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endParaRPr lang="en-US" altLang="zh-CN" sz="1600" dirty="0">
              <a:solidFill>
                <a:schemeClr val="accent1">
                  <a:lumMod val="50000"/>
                  <a:lumOff val="50000"/>
                </a:schemeClr>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数据缺失、错误、不完整</a:t>
            </a:r>
            <a:endParaRPr lang="en-US" altLang="zh-CN" sz="1600" dirty="0">
              <a:solidFill>
                <a:schemeClr val="tx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形态复杂：电子表格、纸质材料</a:t>
            </a:r>
            <a:endParaRPr lang="zh-CN" altLang="en-US" sz="1600" dirty="0">
              <a:solidFill>
                <a:schemeClr val="tx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缺乏标准使数据关联难度大，难以进行大数据分析</a:t>
            </a:r>
            <a:endParaRPr lang="en-US" altLang="zh-CN" sz="1400" dirty="0">
              <a:solidFill>
                <a:schemeClr val="accent5">
                  <a:lumMod val="60000"/>
                  <a:lumOff val="40000"/>
                </a:schemeClr>
              </a:solidFill>
              <a:latin typeface="微软雅黑" panose="020B0503020204020204" pitchFamily="34" charset="-122"/>
              <a:ea typeface="微软雅黑" panose="020B0503020204020204" pitchFamily="34" charset="-122"/>
            </a:endParaRPr>
          </a:p>
        </p:txBody>
      </p:sp>
      <p:sp>
        <p:nvSpPr>
          <p:cNvPr id="44" name="流程图: 文档 7"/>
          <p:cNvSpPr/>
          <p:nvPr/>
        </p:nvSpPr>
        <p:spPr>
          <a:xfrm>
            <a:off x="-73576" y="1918586"/>
            <a:ext cx="5330871" cy="2979743"/>
          </a:xfrm>
          <a:prstGeom prst="flowChartDocumen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t"/>
          <a:lstStyle/>
          <a:p>
            <a:pPr marL="1485900" lvl="1" indent="-571500" defTabSz="914400">
              <a:buFont typeface="Wingdings" panose="05000000000000000000" pitchFamily="2" charset="2"/>
              <a:buChar char="l"/>
            </a:pPr>
            <a:r>
              <a:rPr lang="zh-CN" altLang="en-US" sz="2000" dirty="0">
                <a:solidFill>
                  <a:srgbClr val="FFFF00"/>
                </a:solidFill>
                <a:latin typeface="微软雅黑" panose="020B0503020204020204" pitchFamily="34" charset="-122"/>
                <a:ea typeface="微软雅黑" panose="020B0503020204020204" pitchFamily="34" charset="-122"/>
              </a:rPr>
              <a:t>数据孤岛</a:t>
            </a:r>
            <a:r>
              <a:rPr lang="zh-CN" altLang="en-US" sz="1400" dirty="0">
                <a:solidFill>
                  <a:schemeClr val="bg1"/>
                </a:solidFill>
                <a:latin typeface="微软雅黑" panose="020B0503020204020204" pitchFamily="34" charset="-122"/>
                <a:ea typeface="微软雅黑" panose="020B0503020204020204" pitchFamily="34" charset="-122"/>
              </a:rPr>
              <a:t>普遍</a:t>
            </a:r>
            <a:endParaRPr lang="zh-CN" altLang="en-US" sz="1400" dirty="0">
              <a:solidFill>
                <a:schemeClr val="bg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endParaRPr lang="en-US" altLang="zh-CN" sz="1600" dirty="0">
              <a:solidFill>
                <a:schemeClr val="accent1">
                  <a:lumMod val="50000"/>
                  <a:lumOff val="50000"/>
                </a:schemeClr>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各自为政，自成一体</a:t>
            </a:r>
            <a:endParaRPr lang="en-US" altLang="zh-CN" sz="1600" dirty="0">
              <a:solidFill>
                <a:schemeClr val="tx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管理分割，业务分离</a:t>
            </a:r>
            <a:endParaRPr lang="en-US" altLang="zh-CN" sz="1600" dirty="0">
              <a:solidFill>
                <a:schemeClr val="tx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endParaRPr lang="en-US" altLang="zh-CN" sz="1600" dirty="0">
              <a:solidFill>
                <a:schemeClr val="accent5">
                  <a:lumMod val="60000"/>
                  <a:lumOff val="40000"/>
                </a:schemeClr>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endParaRPr lang="en-US" altLang="zh-CN" sz="1600" dirty="0">
              <a:solidFill>
                <a:schemeClr val="accent5">
                  <a:lumMod val="60000"/>
                  <a:lumOff val="40000"/>
                </a:schemeClr>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endParaRPr lang="en-US" altLang="zh-CN" sz="1600" dirty="0">
              <a:solidFill>
                <a:schemeClr val="accent5">
                  <a:lumMod val="60000"/>
                  <a:lumOff val="40000"/>
                </a:schemeClr>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endParaRPr lang="zh-CN" altLang="en-US" sz="1600" dirty="0">
              <a:solidFill>
                <a:schemeClr val="accent5">
                  <a:lumMod val="60000"/>
                  <a:lumOff val="40000"/>
                </a:schemeClr>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2000" dirty="0">
                <a:solidFill>
                  <a:srgbClr val="FFFF00"/>
                </a:solidFill>
                <a:latin typeface="微软雅黑" panose="020B0503020204020204" pitchFamily="34" charset="-122"/>
                <a:ea typeface="微软雅黑" panose="020B0503020204020204" pitchFamily="34" charset="-122"/>
              </a:rPr>
              <a:t>来源责权</a:t>
            </a:r>
            <a:r>
              <a:rPr lang="zh-CN" altLang="en-US" sz="1400" dirty="0">
                <a:solidFill>
                  <a:schemeClr val="bg1"/>
                </a:solidFill>
                <a:latin typeface="微软雅黑" panose="020B0503020204020204" pitchFamily="34" charset="-122"/>
                <a:ea typeface="微软雅黑" panose="020B0503020204020204" pitchFamily="34" charset="-122"/>
              </a:rPr>
              <a:t>不清</a:t>
            </a:r>
            <a:endParaRPr lang="zh-CN" altLang="en-US" sz="1400" dirty="0">
              <a:solidFill>
                <a:schemeClr val="bg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endParaRPr lang="en-US" altLang="zh-CN" sz="1600" dirty="0">
              <a:solidFill>
                <a:schemeClr val="accent1">
                  <a:lumMod val="50000"/>
                  <a:lumOff val="50000"/>
                </a:schemeClr>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无人负责，多头来源</a:t>
            </a:r>
            <a:endParaRPr lang="en-US" altLang="zh-CN" sz="1600" dirty="0">
              <a:solidFill>
                <a:schemeClr val="tx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流程不清，同步不畅</a:t>
            </a:r>
            <a:endParaRPr lang="en-US" altLang="zh-CN" sz="1600" dirty="0">
              <a:solidFill>
                <a:schemeClr val="tx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r>
              <a:rPr lang="zh-CN" altLang="en-US" sz="1600" dirty="0">
                <a:solidFill>
                  <a:schemeClr val="tx1"/>
                </a:solidFill>
                <a:latin typeface="微软雅黑" panose="020B0503020204020204" pitchFamily="34" charset="-122"/>
                <a:ea typeface="微软雅黑" panose="020B0503020204020204" pitchFamily="34" charset="-122"/>
              </a:rPr>
              <a:t>多个系统，多份数据</a:t>
            </a:r>
            <a:endParaRPr lang="en-US" altLang="zh-CN" sz="1600" dirty="0">
              <a:solidFill>
                <a:schemeClr val="tx1"/>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pPr>
            <a:endParaRPr lang="en-US" altLang="zh-CN" sz="1400" dirty="0">
              <a:solidFill>
                <a:schemeClr val="accent5">
                  <a:lumMod val="60000"/>
                  <a:lumOff val="40000"/>
                </a:schemeClr>
              </a:solidFill>
              <a:latin typeface="微软雅黑" panose="020B0503020204020204" pitchFamily="34" charset="-122"/>
              <a:ea typeface="微软雅黑" panose="020B0503020204020204" pitchFamily="34" charset="-122"/>
            </a:endParaRPr>
          </a:p>
        </p:txBody>
      </p:sp>
      <p:sp>
        <p:nvSpPr>
          <p:cNvPr id="45" name="流程图: 文档 7"/>
          <p:cNvSpPr/>
          <p:nvPr/>
        </p:nvSpPr>
        <p:spPr>
          <a:xfrm>
            <a:off x="758444" y="5350511"/>
            <a:ext cx="10729816" cy="940058"/>
          </a:xfrm>
          <a:prstGeom prst="flowChartDocumen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marL="571500" indent="-571500" defTabSz="914400">
              <a:buFont typeface="Wingdings" panose="05000000000000000000" pitchFamily="2" charset="2"/>
              <a:buChar char="l"/>
            </a:pP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6" name="流程图: 文档 7"/>
          <p:cNvSpPr/>
          <p:nvPr/>
        </p:nvSpPr>
        <p:spPr>
          <a:xfrm>
            <a:off x="768344" y="1067172"/>
            <a:ext cx="10729816" cy="481149"/>
          </a:xfrm>
          <a:prstGeom prst="flowChartDocumen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marL="571500" indent="-571500" defTabSz="914400">
              <a:buFont typeface="Wingdings" panose="05000000000000000000" pitchFamily="2" charset="2"/>
              <a:buChar char="l"/>
            </a:pPr>
            <a:r>
              <a:rPr lang="en-US" altLang="zh-CN" b="1" dirty="0">
                <a:solidFill>
                  <a:srgbClr val="0070C0"/>
                </a:solidFill>
                <a:latin typeface="微软雅黑" panose="020B0503020204020204" pitchFamily="34" charset="-122"/>
                <a:ea typeface="微软雅黑" panose="020B0503020204020204" pitchFamily="34" charset="-122"/>
              </a:rPr>
              <a:t>4</a:t>
            </a:r>
            <a:r>
              <a:rPr lang="zh-CN" altLang="en-US" b="1" dirty="0">
                <a:solidFill>
                  <a:srgbClr val="0070C0"/>
                </a:solidFill>
                <a:latin typeface="微软雅黑" panose="020B0503020204020204" pitchFamily="34" charset="-122"/>
                <a:ea typeface="微软雅黑" panose="020B0503020204020204" pitchFamily="34" charset="-122"/>
              </a:rPr>
              <a:t>种典型问题</a:t>
            </a:r>
            <a:endParaRPr lang="zh-CN" altLang="en-US" b="1" dirty="0">
              <a:solidFill>
                <a:srgbClr val="0070C0"/>
              </a:solidFill>
              <a:latin typeface="微软雅黑" panose="020B0503020204020204" pitchFamily="34" charset="-122"/>
              <a:ea typeface="微软雅黑" panose="020B0503020204020204" pitchFamily="34" charset="-122"/>
            </a:endParaRPr>
          </a:p>
        </p:txBody>
      </p:sp>
      <p:sp>
        <p:nvSpPr>
          <p:cNvPr id="47" name="流程图: 文档 7"/>
          <p:cNvSpPr/>
          <p:nvPr/>
        </p:nvSpPr>
        <p:spPr>
          <a:xfrm>
            <a:off x="197666" y="5763384"/>
            <a:ext cx="10729816" cy="940057"/>
          </a:xfrm>
          <a:prstGeom prst="flowChartDocumen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rtlCol="0" anchor="ctr"/>
          <a:lstStyle/>
          <a:p>
            <a:pPr marL="571500" indent="-571500" defTabSz="914400">
              <a:buFont typeface="Wingdings" panose="05000000000000000000" pitchFamily="2" charset="2"/>
              <a:buChar char="l"/>
            </a:pPr>
            <a:r>
              <a:rPr lang="zh-CN" altLang="en-US" sz="2000" b="1" dirty="0">
                <a:solidFill>
                  <a:srgbClr val="0070C0"/>
                </a:solidFill>
                <a:latin typeface="微软雅黑" panose="020B0503020204020204" pitchFamily="34" charset="-122"/>
                <a:ea typeface="微软雅黑" panose="020B0503020204020204" pitchFamily="34" charset="-122"/>
              </a:rPr>
              <a:t>原因：</a:t>
            </a:r>
            <a:r>
              <a:rPr lang="zh-CN" altLang="en-US" sz="2000" b="1" dirty="0">
                <a:solidFill>
                  <a:srgbClr val="FF0000"/>
                </a:solidFill>
                <a:latin typeface="微软雅黑" panose="020B0503020204020204" pitchFamily="34" charset="-122"/>
                <a:ea typeface="微软雅黑" panose="020B0503020204020204" pitchFamily="34" charset="-122"/>
              </a:rPr>
              <a:t>重</a:t>
            </a:r>
            <a:r>
              <a:rPr lang="zh-CN" altLang="en-US" sz="2000" dirty="0">
                <a:solidFill>
                  <a:srgbClr val="0070C0"/>
                </a:solidFill>
                <a:latin typeface="微软雅黑" panose="020B0503020204020204" pitchFamily="34" charset="-122"/>
                <a:ea typeface="微软雅黑" panose="020B0503020204020204" pitchFamily="34" charset="-122"/>
              </a:rPr>
              <a:t>流程</a:t>
            </a:r>
            <a:r>
              <a:rPr lang="zh-CN" altLang="en-US" sz="2000" b="1" dirty="0">
                <a:solidFill>
                  <a:srgbClr val="0070C0"/>
                </a:solidFill>
                <a:latin typeface="微软雅黑" panose="020B0503020204020204" pitchFamily="34" charset="-122"/>
                <a:ea typeface="微软雅黑" panose="020B0503020204020204" pitchFamily="34" charset="-122"/>
              </a:rPr>
              <a:t>，</a:t>
            </a:r>
            <a:r>
              <a:rPr lang="zh-CN" altLang="en-US" sz="2000" b="1" dirty="0">
                <a:solidFill>
                  <a:schemeClr val="accent2">
                    <a:lumMod val="60000"/>
                    <a:lumOff val="40000"/>
                  </a:schemeClr>
                </a:solidFill>
                <a:latin typeface="微软雅黑" panose="020B0503020204020204" pitchFamily="34" charset="-122"/>
                <a:ea typeface="微软雅黑" panose="020B0503020204020204" pitchFamily="34" charset="-122"/>
              </a:rPr>
              <a:t>轻</a:t>
            </a:r>
            <a:r>
              <a:rPr lang="zh-CN" altLang="en-US" sz="2000" dirty="0">
                <a:solidFill>
                  <a:srgbClr val="0070C0"/>
                </a:solidFill>
                <a:latin typeface="微软雅黑" panose="020B0503020204020204" pitchFamily="34" charset="-122"/>
                <a:ea typeface="微软雅黑" panose="020B0503020204020204" pitchFamily="34" charset="-122"/>
              </a:rPr>
              <a:t>数据</a:t>
            </a:r>
            <a:r>
              <a:rPr lang="zh-CN" altLang="en-US" sz="2000" b="1" dirty="0">
                <a:solidFill>
                  <a:srgbClr val="0070C0"/>
                </a:solidFill>
                <a:latin typeface="微软雅黑" panose="020B0503020204020204" pitchFamily="34" charset="-122"/>
                <a:ea typeface="微软雅黑" panose="020B0503020204020204" pitchFamily="34" charset="-122"/>
              </a:rPr>
              <a:t>，</a:t>
            </a:r>
            <a:r>
              <a:rPr lang="zh-CN" altLang="en-US" sz="2000" b="1" dirty="0">
                <a:solidFill>
                  <a:schemeClr val="tx1"/>
                </a:solidFill>
                <a:latin typeface="微软雅黑" panose="020B0503020204020204" pitchFamily="34" charset="-122"/>
                <a:ea typeface="微软雅黑" panose="020B0503020204020204" pitchFamily="34" charset="-122"/>
              </a:rPr>
              <a:t>缺</a:t>
            </a:r>
            <a:r>
              <a:rPr lang="zh-CN" altLang="en-US" sz="2000" dirty="0">
                <a:solidFill>
                  <a:srgbClr val="0070C0"/>
                </a:solidFill>
                <a:latin typeface="微软雅黑" panose="020B0503020204020204" pitchFamily="34" charset="-122"/>
                <a:ea typeface="微软雅黑" panose="020B0503020204020204" pitchFamily="34" charset="-122"/>
              </a:rPr>
              <a:t>标准</a:t>
            </a:r>
            <a:endParaRPr lang="en-US" altLang="zh-CN" sz="2000" dirty="0">
              <a:solidFill>
                <a:srgbClr val="0070C0"/>
              </a:solidFill>
              <a:latin typeface="微软雅黑" panose="020B0503020204020204" pitchFamily="34" charset="-122"/>
              <a:ea typeface="微软雅黑" panose="020B0503020204020204" pitchFamily="34" charset="-122"/>
            </a:endParaRPr>
          </a:p>
          <a:p>
            <a:pPr marL="571500" indent="-571500" defTabSz="914400">
              <a:buFont typeface="Wingdings" panose="05000000000000000000" pitchFamily="2" charset="2"/>
              <a:buChar char="l"/>
            </a:pPr>
            <a:r>
              <a:rPr lang="zh-CN" altLang="en-US" sz="2000" b="1" dirty="0">
                <a:solidFill>
                  <a:srgbClr val="0070C0"/>
                </a:solidFill>
                <a:latin typeface="微软雅黑" panose="020B0503020204020204" pitchFamily="34" charset="-122"/>
                <a:ea typeface="微软雅黑" panose="020B0503020204020204" pitchFamily="34" charset="-122"/>
              </a:rPr>
              <a:t>总结：数据治理势在必行。</a:t>
            </a:r>
            <a:endParaRPr lang="zh-CN" altLang="en-US" sz="20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市场空间</a:t>
            </a:r>
            <a:endParaRPr lang="zh-CN" altLang="en-US" dirty="0"/>
          </a:p>
        </p:txBody>
      </p:sp>
      <p:grpSp>
        <p:nvGrpSpPr>
          <p:cNvPr id="4" name="组合 54"/>
          <p:cNvGrpSpPr/>
          <p:nvPr/>
        </p:nvGrpSpPr>
        <p:grpSpPr>
          <a:xfrm>
            <a:off x="7733838" y="70638"/>
            <a:ext cx="4412421" cy="262811"/>
            <a:chOff x="5291227" y="0"/>
            <a:chExt cx="3439301" cy="189000"/>
          </a:xfrm>
        </p:grpSpPr>
        <p:sp>
          <p:nvSpPr>
            <p:cNvPr id="5" name="燕尾形 4"/>
            <p:cNvSpPr/>
            <p:nvPr/>
          </p:nvSpPr>
          <p:spPr bwMode="auto">
            <a:xfrm>
              <a:off x="5291227"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燕尾形 5"/>
            <p:cNvSpPr/>
            <p:nvPr/>
          </p:nvSpPr>
          <p:spPr bwMode="auto">
            <a:xfrm>
              <a:off x="5889197" y="0"/>
              <a:ext cx="857678"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燕尾形 6"/>
            <p:cNvSpPr/>
            <p:nvPr/>
          </p:nvSpPr>
          <p:spPr bwMode="auto">
            <a:xfrm>
              <a:off x="667024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燕尾形 7"/>
            <p:cNvSpPr/>
            <p:nvPr/>
          </p:nvSpPr>
          <p:spPr bwMode="auto">
            <a:xfrm>
              <a:off x="745372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燕尾形 8"/>
            <p:cNvSpPr/>
            <p:nvPr/>
          </p:nvSpPr>
          <p:spPr bwMode="auto">
            <a:xfrm>
              <a:off x="805570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0" name="组合 5"/>
          <p:cNvGrpSpPr/>
          <p:nvPr/>
        </p:nvGrpSpPr>
        <p:grpSpPr>
          <a:xfrm>
            <a:off x="1264026" y="4847664"/>
            <a:ext cx="4347224" cy="1690725"/>
            <a:chOff x="-3601189" y="8700493"/>
            <a:chExt cx="11265629" cy="4028307"/>
          </a:xfrm>
        </p:grpSpPr>
        <p:sp>
          <p:nvSpPr>
            <p:cNvPr id="11" name="立方体 2"/>
            <p:cNvSpPr/>
            <p:nvPr/>
          </p:nvSpPr>
          <p:spPr>
            <a:xfrm>
              <a:off x="-3601189" y="11588766"/>
              <a:ext cx="5555234" cy="1140034"/>
            </a:xfrm>
            <a:prstGeom prst="cube">
              <a:avLst/>
            </a:prstGeom>
            <a:solidFill>
              <a:schemeClr val="bg2">
                <a:lumMod val="25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solidFill>
                    <a:srgbClr val="FFFF00"/>
                  </a:solidFill>
                  <a:effectLst>
                    <a:outerShdw blurRad="38100" dist="38100" dir="2700000" algn="tl">
                      <a:srgbClr val="000000">
                        <a:alpha val="43137"/>
                      </a:srgbClr>
                    </a:outerShdw>
                  </a:effectLst>
                </a:rPr>
                <a:t>数字化校园</a:t>
              </a:r>
              <a:endParaRPr lang="zh-CN" altLang="en-US" sz="2000" b="1" dirty="0">
                <a:solidFill>
                  <a:srgbClr val="FFFF00"/>
                </a:solidFill>
                <a:effectLst>
                  <a:outerShdw blurRad="38100" dist="38100" dir="2700000" algn="tl">
                    <a:srgbClr val="000000">
                      <a:alpha val="43137"/>
                    </a:srgbClr>
                  </a:outerShdw>
                </a:effectLst>
              </a:endParaRPr>
            </a:p>
          </p:txBody>
        </p:sp>
        <p:sp>
          <p:nvSpPr>
            <p:cNvPr id="12" name="立方体 2"/>
            <p:cNvSpPr/>
            <p:nvPr/>
          </p:nvSpPr>
          <p:spPr>
            <a:xfrm>
              <a:off x="1549390" y="10267306"/>
              <a:ext cx="6115050" cy="2461490"/>
            </a:xfrm>
            <a:prstGeom prst="cub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三大平台</a:t>
              </a:r>
              <a:endParaRPr lang="zh-CN" altLang="en-US" b="1" dirty="0">
                <a:solidFill>
                  <a:srgbClr val="FFFF00"/>
                </a:solidFill>
                <a:effectLst>
                  <a:outerShdw blurRad="38100" dist="38100" dir="2700000" algn="tl">
                    <a:srgbClr val="000000">
                      <a:alpha val="43137"/>
                    </a:srgbClr>
                  </a:outerShdw>
                </a:effectLst>
              </a:endParaRPr>
            </a:p>
          </p:txBody>
        </p:sp>
        <p:sp>
          <p:nvSpPr>
            <p:cNvPr id="13" name="矩形: 圆角 3"/>
            <p:cNvSpPr/>
            <p:nvPr/>
          </p:nvSpPr>
          <p:spPr>
            <a:xfrm>
              <a:off x="2568054" y="8700493"/>
              <a:ext cx="3600713" cy="18656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共享数据库</a:t>
              </a:r>
              <a:endParaRPr lang="en-US" altLang="zh-CN" sz="1400" dirty="0">
                <a:solidFill>
                  <a:schemeClr val="tx1"/>
                </a:solidFill>
              </a:endParaRPr>
            </a:p>
            <a:p>
              <a:pPr algn="ctr"/>
              <a:r>
                <a:rPr lang="zh-CN" altLang="en-US" sz="1400" dirty="0">
                  <a:solidFill>
                    <a:schemeClr val="tx1"/>
                  </a:solidFill>
                </a:rPr>
                <a:t>统一身份认证</a:t>
              </a:r>
              <a:endParaRPr lang="en-US" altLang="zh-CN" sz="1400" dirty="0">
                <a:solidFill>
                  <a:schemeClr val="tx1"/>
                </a:solidFill>
              </a:endParaRPr>
            </a:p>
            <a:p>
              <a:pPr algn="ctr"/>
              <a:r>
                <a:rPr lang="zh-CN" altLang="en-US" sz="1400" dirty="0">
                  <a:solidFill>
                    <a:schemeClr val="tx1"/>
                  </a:solidFill>
                </a:rPr>
                <a:t>统一信息门户</a:t>
              </a:r>
              <a:endParaRPr lang="zh-CN" altLang="en-US" sz="1400" dirty="0">
                <a:solidFill>
                  <a:schemeClr val="tx1"/>
                </a:solidFill>
              </a:endParaRPr>
            </a:p>
          </p:txBody>
        </p:sp>
        <p:sp>
          <p:nvSpPr>
            <p:cNvPr id="14" name="矩形: 圆角 3"/>
            <p:cNvSpPr/>
            <p:nvPr/>
          </p:nvSpPr>
          <p:spPr>
            <a:xfrm>
              <a:off x="-2799544" y="10818140"/>
              <a:ext cx="3523503" cy="93280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业务系统建设</a:t>
              </a:r>
              <a:endParaRPr lang="en-US" altLang="zh-CN" sz="1400" dirty="0">
                <a:solidFill>
                  <a:schemeClr val="tx1"/>
                </a:solidFill>
              </a:endParaRPr>
            </a:p>
          </p:txBody>
        </p:sp>
      </p:grpSp>
      <p:grpSp>
        <p:nvGrpSpPr>
          <p:cNvPr id="15" name="组合 23"/>
          <p:cNvGrpSpPr/>
          <p:nvPr/>
        </p:nvGrpSpPr>
        <p:grpSpPr>
          <a:xfrm>
            <a:off x="5342092" y="4072906"/>
            <a:ext cx="2359699" cy="2465482"/>
            <a:chOff x="6966930" y="6854562"/>
            <a:chExt cx="6115050" cy="5874237"/>
          </a:xfrm>
        </p:grpSpPr>
        <p:sp>
          <p:nvSpPr>
            <p:cNvPr id="16" name="立方体 8"/>
            <p:cNvSpPr/>
            <p:nvPr/>
          </p:nvSpPr>
          <p:spPr>
            <a:xfrm>
              <a:off x="6966930" y="10267309"/>
              <a:ext cx="6115050" cy="2461490"/>
            </a:xfrm>
            <a:prstGeom prst="cube">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17" name="立方体 9"/>
            <p:cNvSpPr/>
            <p:nvPr/>
          </p:nvSpPr>
          <p:spPr>
            <a:xfrm>
              <a:off x="6966930" y="8406540"/>
              <a:ext cx="6115050" cy="2461490"/>
            </a:xfrm>
            <a:prstGeom prst="cube">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综合事务支持</a:t>
              </a:r>
              <a:endParaRPr lang="zh-CN" altLang="en-US" b="1" dirty="0">
                <a:solidFill>
                  <a:srgbClr val="FFFF00"/>
                </a:solidFill>
                <a:effectLst>
                  <a:outerShdw blurRad="38100" dist="38100" dir="2700000" algn="tl">
                    <a:srgbClr val="000000">
                      <a:alpha val="43137"/>
                    </a:srgbClr>
                  </a:outerShdw>
                </a:effectLst>
              </a:endParaRPr>
            </a:p>
          </p:txBody>
        </p:sp>
        <p:sp>
          <p:nvSpPr>
            <p:cNvPr id="18" name="矩形: 圆角 20"/>
            <p:cNvSpPr/>
            <p:nvPr/>
          </p:nvSpPr>
          <p:spPr>
            <a:xfrm>
              <a:off x="8008803" y="6854562"/>
              <a:ext cx="3669319" cy="18656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主数据平台</a:t>
              </a:r>
              <a:endParaRPr lang="en-US" altLang="zh-CN" sz="1400" dirty="0">
                <a:solidFill>
                  <a:schemeClr val="tx1"/>
                </a:solidFill>
              </a:endParaRPr>
            </a:p>
            <a:p>
              <a:pPr algn="ctr"/>
              <a:r>
                <a:rPr lang="zh-CN" altLang="en-US" sz="1400" dirty="0">
                  <a:solidFill>
                    <a:schemeClr val="tx1"/>
                  </a:solidFill>
                </a:rPr>
                <a:t>一站式服务</a:t>
              </a:r>
              <a:endParaRPr lang="en-US" altLang="zh-CN" sz="1400" dirty="0">
                <a:solidFill>
                  <a:schemeClr val="tx1"/>
                </a:solidFill>
              </a:endParaRPr>
            </a:p>
            <a:p>
              <a:pPr algn="ctr"/>
              <a:r>
                <a:rPr lang="zh-CN" altLang="en-US" sz="1400" dirty="0">
                  <a:solidFill>
                    <a:schemeClr val="tx1"/>
                  </a:solidFill>
                </a:rPr>
                <a:t>移动校园</a:t>
              </a:r>
              <a:endParaRPr lang="en-US" altLang="zh-CN" sz="1400" dirty="0">
                <a:solidFill>
                  <a:schemeClr val="tx1"/>
                </a:solidFill>
              </a:endParaRPr>
            </a:p>
          </p:txBody>
        </p:sp>
      </p:grpSp>
      <p:grpSp>
        <p:nvGrpSpPr>
          <p:cNvPr id="19" name="组合 24"/>
          <p:cNvGrpSpPr/>
          <p:nvPr/>
        </p:nvGrpSpPr>
        <p:grpSpPr>
          <a:xfrm>
            <a:off x="7385694" y="3035240"/>
            <a:ext cx="2359699" cy="3503149"/>
            <a:chOff x="12262830" y="4382226"/>
            <a:chExt cx="6115050" cy="8346573"/>
          </a:xfrm>
        </p:grpSpPr>
        <p:sp>
          <p:nvSpPr>
            <p:cNvPr id="20" name="立方体 10"/>
            <p:cNvSpPr/>
            <p:nvPr/>
          </p:nvSpPr>
          <p:spPr>
            <a:xfrm>
              <a:off x="12262830" y="10267309"/>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1" name="立方体 12"/>
            <p:cNvSpPr/>
            <p:nvPr/>
          </p:nvSpPr>
          <p:spPr>
            <a:xfrm>
              <a:off x="12262830" y="8406540"/>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2" name="立方体 14"/>
            <p:cNvSpPr/>
            <p:nvPr/>
          </p:nvSpPr>
          <p:spPr>
            <a:xfrm>
              <a:off x="12262830" y="6545770"/>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科学决策支持</a:t>
              </a:r>
              <a:endParaRPr lang="zh-CN" altLang="en-US" b="1" dirty="0">
                <a:solidFill>
                  <a:srgbClr val="FFFF00"/>
                </a:solidFill>
                <a:effectLst>
                  <a:outerShdw blurRad="38100" dist="38100" dir="2700000" algn="tl">
                    <a:srgbClr val="000000">
                      <a:alpha val="43137"/>
                    </a:srgbClr>
                  </a:outerShdw>
                </a:effectLst>
              </a:endParaRPr>
            </a:p>
          </p:txBody>
        </p:sp>
        <p:sp>
          <p:nvSpPr>
            <p:cNvPr id="23" name="矩形: 圆角 21"/>
            <p:cNvSpPr/>
            <p:nvPr/>
          </p:nvSpPr>
          <p:spPr>
            <a:xfrm>
              <a:off x="13418530" y="4382226"/>
              <a:ext cx="3638305" cy="246149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全量数仓</a:t>
              </a:r>
              <a:endParaRPr lang="en-US" altLang="zh-CN" sz="1400" dirty="0">
                <a:solidFill>
                  <a:schemeClr val="tx1"/>
                </a:solidFill>
              </a:endParaRPr>
            </a:p>
            <a:p>
              <a:pPr algn="ctr"/>
              <a:r>
                <a:rPr lang="zh-CN" altLang="en-US" sz="1400" dirty="0">
                  <a:solidFill>
                    <a:schemeClr val="tx1"/>
                  </a:solidFill>
                </a:rPr>
                <a:t>高质量</a:t>
              </a:r>
              <a:r>
                <a:rPr lang="en-US" altLang="zh-CN" sz="1400" dirty="0">
                  <a:solidFill>
                    <a:schemeClr val="tx1"/>
                  </a:solidFill>
                </a:rPr>
                <a:t>/</a:t>
              </a:r>
              <a:r>
                <a:rPr lang="zh-CN" altLang="en-US" sz="1400" dirty="0">
                  <a:solidFill>
                    <a:schemeClr val="tx1"/>
                  </a:solidFill>
                </a:rPr>
                <a:t>全维度</a:t>
              </a:r>
              <a:endParaRPr lang="en-US" altLang="zh-CN" sz="1400" dirty="0">
                <a:solidFill>
                  <a:schemeClr val="tx1"/>
                </a:solidFill>
              </a:endParaRPr>
            </a:p>
            <a:p>
              <a:pPr algn="ctr"/>
              <a:r>
                <a:rPr lang="zh-CN" altLang="en-US" sz="1400" dirty="0">
                  <a:solidFill>
                    <a:schemeClr val="tx1"/>
                  </a:solidFill>
                </a:rPr>
                <a:t>辅助决策支持</a:t>
              </a:r>
              <a:endParaRPr lang="en-US" altLang="zh-CN" sz="1400" dirty="0">
                <a:solidFill>
                  <a:schemeClr val="tx1"/>
                </a:solidFill>
              </a:endParaRPr>
            </a:p>
            <a:p>
              <a:pPr algn="ctr"/>
              <a:r>
                <a:rPr lang="zh-CN" altLang="en-US" sz="1400" dirty="0">
                  <a:solidFill>
                    <a:schemeClr val="tx1"/>
                  </a:solidFill>
                </a:rPr>
                <a:t>一表通</a:t>
              </a:r>
              <a:endParaRPr lang="zh-CN" altLang="en-US" sz="1400" dirty="0">
                <a:solidFill>
                  <a:schemeClr val="tx1"/>
                </a:solidFill>
              </a:endParaRPr>
            </a:p>
          </p:txBody>
        </p:sp>
      </p:grpSp>
      <p:grpSp>
        <p:nvGrpSpPr>
          <p:cNvPr id="24" name="组合 25"/>
          <p:cNvGrpSpPr/>
          <p:nvPr/>
        </p:nvGrpSpPr>
        <p:grpSpPr>
          <a:xfrm>
            <a:off x="9449277" y="2099462"/>
            <a:ext cx="2359699" cy="4438927"/>
            <a:chOff x="17610510" y="2152650"/>
            <a:chExt cx="6115050" cy="10576149"/>
          </a:xfrm>
        </p:grpSpPr>
        <p:sp>
          <p:nvSpPr>
            <p:cNvPr id="25" name="立方体 15"/>
            <p:cNvSpPr/>
            <p:nvPr/>
          </p:nvSpPr>
          <p:spPr>
            <a:xfrm>
              <a:off x="17610510" y="10267309"/>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6" name="立方体 16"/>
            <p:cNvSpPr/>
            <p:nvPr/>
          </p:nvSpPr>
          <p:spPr>
            <a:xfrm>
              <a:off x="17610510" y="8406540"/>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7" name="立方体 17"/>
            <p:cNvSpPr/>
            <p:nvPr/>
          </p:nvSpPr>
          <p:spPr>
            <a:xfrm>
              <a:off x="17610510" y="6545770"/>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8" name="立方体 18"/>
            <p:cNvSpPr/>
            <p:nvPr/>
          </p:nvSpPr>
          <p:spPr>
            <a:xfrm>
              <a:off x="17610510" y="4685001"/>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战略发展支持</a:t>
              </a:r>
              <a:endParaRPr lang="zh-CN" altLang="en-US" b="1" dirty="0">
                <a:solidFill>
                  <a:srgbClr val="FFFF00"/>
                </a:solidFill>
                <a:effectLst>
                  <a:outerShdw blurRad="38100" dist="38100" dir="2700000" algn="tl">
                    <a:srgbClr val="000000">
                      <a:alpha val="43137"/>
                    </a:srgbClr>
                  </a:outerShdw>
                </a:effectLst>
              </a:endParaRPr>
            </a:p>
          </p:txBody>
        </p:sp>
        <p:sp>
          <p:nvSpPr>
            <p:cNvPr id="29" name="矩形: 圆角 22"/>
            <p:cNvSpPr/>
            <p:nvPr/>
          </p:nvSpPr>
          <p:spPr>
            <a:xfrm>
              <a:off x="18672182" y="2152650"/>
              <a:ext cx="4557390" cy="27800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数据</a:t>
              </a:r>
              <a:r>
                <a:rPr lang="en-US" altLang="zh-CN" sz="1400" dirty="0">
                  <a:solidFill>
                    <a:schemeClr val="tx1"/>
                  </a:solidFill>
                </a:rPr>
                <a:t>=</a:t>
              </a:r>
              <a:r>
                <a:rPr lang="zh-CN" altLang="en-US" sz="1400" dirty="0">
                  <a:solidFill>
                    <a:schemeClr val="tx1"/>
                  </a:solidFill>
                </a:rPr>
                <a:t>战略资产</a:t>
              </a:r>
              <a:endParaRPr lang="en-US" altLang="zh-CN" sz="1400" dirty="0">
                <a:solidFill>
                  <a:schemeClr val="tx1"/>
                </a:solidFill>
              </a:endParaRPr>
            </a:p>
            <a:p>
              <a:pPr algn="ctr"/>
              <a:r>
                <a:rPr lang="zh-CN" altLang="en-US" sz="1400" dirty="0">
                  <a:solidFill>
                    <a:schemeClr val="tx1"/>
                  </a:solidFill>
                </a:rPr>
                <a:t>大数据、人工智能</a:t>
              </a:r>
              <a:endParaRPr lang="en-US" altLang="zh-CN" sz="1400" dirty="0">
                <a:solidFill>
                  <a:schemeClr val="tx1"/>
                </a:solidFill>
              </a:endParaRPr>
            </a:p>
            <a:p>
              <a:pPr algn="ctr"/>
              <a:r>
                <a:rPr lang="zh-CN" altLang="en-US" sz="1400" dirty="0">
                  <a:solidFill>
                    <a:schemeClr val="tx1"/>
                  </a:solidFill>
                </a:rPr>
                <a:t>制度规范建设</a:t>
              </a:r>
              <a:endParaRPr lang="en-US" altLang="zh-CN" sz="1400" dirty="0">
                <a:solidFill>
                  <a:schemeClr val="tx1"/>
                </a:solidFill>
              </a:endParaRPr>
            </a:p>
            <a:p>
              <a:pPr algn="ctr"/>
              <a:r>
                <a:rPr lang="zh-CN" altLang="en-US" sz="1400" dirty="0">
                  <a:solidFill>
                    <a:schemeClr val="tx1"/>
                  </a:solidFill>
                </a:rPr>
                <a:t>学科建设</a:t>
              </a:r>
              <a:endParaRPr lang="en-US" altLang="zh-CN" sz="1400" dirty="0">
                <a:solidFill>
                  <a:schemeClr val="tx1"/>
                </a:solidFill>
              </a:endParaRPr>
            </a:p>
            <a:p>
              <a:pPr algn="ctr"/>
              <a:r>
                <a:rPr lang="zh-CN" altLang="en-US" sz="1400" dirty="0">
                  <a:solidFill>
                    <a:schemeClr val="tx1"/>
                  </a:solidFill>
                </a:rPr>
                <a:t>竞争力、影响力</a:t>
              </a:r>
              <a:endParaRPr lang="en-US" altLang="zh-CN" sz="1400" dirty="0">
                <a:solidFill>
                  <a:schemeClr val="tx1"/>
                </a:solidFill>
              </a:endParaRPr>
            </a:p>
          </p:txBody>
        </p:sp>
      </p:grpSp>
      <p:sp>
        <p:nvSpPr>
          <p:cNvPr id="30" name="Rectangle 29"/>
          <p:cNvSpPr/>
          <p:nvPr/>
        </p:nvSpPr>
        <p:spPr>
          <a:xfrm>
            <a:off x="1602458" y="4734442"/>
            <a:ext cx="1296144" cy="845388"/>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中职</a:t>
            </a:r>
            <a:endParaRPr lang="en-US" altLang="zh-CN" sz="1800" dirty="0"/>
          </a:p>
          <a:p>
            <a:pPr algn="ctr"/>
            <a:r>
              <a:rPr lang="zh-CN" altLang="en-US" sz="1800" dirty="0"/>
              <a:t>独立学院</a:t>
            </a:r>
            <a:endParaRPr lang="en-US" altLang="zh-CN" sz="1800" dirty="0"/>
          </a:p>
          <a:p>
            <a:pPr algn="ctr"/>
            <a:r>
              <a:rPr lang="zh-CN" altLang="en-US" sz="1800" dirty="0"/>
              <a:t>二、三本</a:t>
            </a:r>
            <a:endParaRPr lang="zh-CN" altLang="en-US" sz="1800" dirty="0"/>
          </a:p>
        </p:txBody>
      </p:sp>
      <p:sp>
        <p:nvSpPr>
          <p:cNvPr id="31" name="Rectangle 30"/>
          <p:cNvSpPr/>
          <p:nvPr/>
        </p:nvSpPr>
        <p:spPr>
          <a:xfrm>
            <a:off x="3644637" y="3973765"/>
            <a:ext cx="1296144" cy="760677"/>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一般高职</a:t>
            </a:r>
            <a:endParaRPr lang="en-US" altLang="zh-CN" sz="1800" dirty="0"/>
          </a:p>
          <a:p>
            <a:pPr algn="ctr"/>
            <a:r>
              <a:rPr lang="zh-CN" altLang="en-US" sz="1800" dirty="0"/>
              <a:t>省属本科</a:t>
            </a:r>
            <a:endParaRPr lang="zh-CN" altLang="en-US" sz="1800" dirty="0"/>
          </a:p>
        </p:txBody>
      </p:sp>
      <p:sp>
        <p:nvSpPr>
          <p:cNvPr id="32" name="Rectangle 31"/>
          <p:cNvSpPr/>
          <p:nvPr/>
        </p:nvSpPr>
        <p:spPr>
          <a:xfrm>
            <a:off x="5780617" y="3054910"/>
            <a:ext cx="1296144" cy="88839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部分</a:t>
            </a:r>
            <a:r>
              <a:rPr lang="en-US" altLang="zh-CN" sz="1800" dirty="0"/>
              <a:t>211</a:t>
            </a:r>
            <a:endParaRPr lang="en-US" altLang="zh-CN" sz="1800" dirty="0"/>
          </a:p>
          <a:p>
            <a:pPr algn="ctr"/>
            <a:r>
              <a:rPr lang="zh-CN" altLang="en-US" sz="1800" dirty="0"/>
              <a:t>重点本科</a:t>
            </a:r>
            <a:endParaRPr lang="en-US" altLang="zh-CN" sz="1800" dirty="0"/>
          </a:p>
          <a:p>
            <a:pPr algn="ctr"/>
            <a:r>
              <a:rPr lang="zh-CN" altLang="en-US" sz="1800" dirty="0"/>
              <a:t>重点高职</a:t>
            </a:r>
            <a:endParaRPr lang="zh-CN" altLang="en-US" sz="1800" dirty="0"/>
          </a:p>
        </p:txBody>
      </p:sp>
      <p:sp>
        <p:nvSpPr>
          <p:cNvPr id="33" name="Rectangle 32"/>
          <p:cNvSpPr/>
          <p:nvPr/>
        </p:nvSpPr>
        <p:spPr>
          <a:xfrm>
            <a:off x="7917596" y="2038545"/>
            <a:ext cx="1296144" cy="88839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主流</a:t>
            </a:r>
            <a:r>
              <a:rPr lang="en-US" altLang="zh-CN" sz="1800" dirty="0"/>
              <a:t>211</a:t>
            </a:r>
            <a:endParaRPr lang="en-US" altLang="zh-CN" sz="1800" dirty="0"/>
          </a:p>
          <a:p>
            <a:pPr algn="ctr"/>
            <a:r>
              <a:rPr lang="zh-CN" altLang="en-US" sz="1800" dirty="0"/>
              <a:t>部分</a:t>
            </a:r>
            <a:r>
              <a:rPr lang="en-US" altLang="zh-CN" sz="1800" dirty="0"/>
              <a:t>985</a:t>
            </a:r>
            <a:endParaRPr lang="en-US" altLang="zh-CN" sz="1800" dirty="0"/>
          </a:p>
        </p:txBody>
      </p:sp>
      <p:sp>
        <p:nvSpPr>
          <p:cNvPr id="34" name="Rectangle 33"/>
          <p:cNvSpPr/>
          <p:nvPr/>
        </p:nvSpPr>
        <p:spPr>
          <a:xfrm>
            <a:off x="9930776" y="1570606"/>
            <a:ext cx="1614988" cy="42128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全国顶尖高校</a:t>
            </a:r>
            <a:endParaRPr lang="en-US" altLang="zh-CN" sz="1800" dirty="0"/>
          </a:p>
        </p:txBody>
      </p:sp>
      <p:sp>
        <p:nvSpPr>
          <p:cNvPr id="35" name="Arrow: Right 34"/>
          <p:cNvSpPr/>
          <p:nvPr/>
        </p:nvSpPr>
        <p:spPr>
          <a:xfrm rot="19801510">
            <a:off x="3014664" y="5605999"/>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6" name="Arrow: Right 35"/>
          <p:cNvSpPr/>
          <p:nvPr/>
        </p:nvSpPr>
        <p:spPr>
          <a:xfrm rot="19801510">
            <a:off x="5125852" y="4703647"/>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7" name="Arrow: Right 36"/>
          <p:cNvSpPr/>
          <p:nvPr/>
        </p:nvSpPr>
        <p:spPr>
          <a:xfrm rot="19801510">
            <a:off x="7202584" y="3799286"/>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8" name="Arrow: Right 37"/>
          <p:cNvSpPr/>
          <p:nvPr/>
        </p:nvSpPr>
        <p:spPr>
          <a:xfrm rot="19801510">
            <a:off x="9289124" y="2863039"/>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51" name="矩形: 圆角 21"/>
          <p:cNvSpPr/>
          <p:nvPr/>
        </p:nvSpPr>
        <p:spPr>
          <a:xfrm>
            <a:off x="1625977" y="985057"/>
            <a:ext cx="4471610" cy="72608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1</a:t>
            </a:r>
            <a:r>
              <a:rPr lang="zh-CN" altLang="en-US" sz="1400" dirty="0">
                <a:solidFill>
                  <a:schemeClr val="tx1"/>
                </a:solidFill>
              </a:rPr>
              <a:t>、从中职、高职、一般本科、重点本科到顶尖高校，都有数据治理需求。</a:t>
            </a:r>
            <a:endParaRPr lang="en-US" altLang="zh-CN" sz="1400" dirty="0">
              <a:solidFill>
                <a:schemeClr val="tx1"/>
              </a:solidFill>
            </a:endParaRPr>
          </a:p>
        </p:txBody>
      </p:sp>
      <p:sp>
        <p:nvSpPr>
          <p:cNvPr id="52" name="矩形: 圆角 21"/>
          <p:cNvSpPr/>
          <p:nvPr/>
        </p:nvSpPr>
        <p:spPr>
          <a:xfrm>
            <a:off x="1139640" y="1879072"/>
            <a:ext cx="4471610" cy="72608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2</a:t>
            </a:r>
            <a:r>
              <a:rPr lang="zh-CN" altLang="en-US" sz="1400" dirty="0">
                <a:solidFill>
                  <a:schemeClr val="tx1"/>
                </a:solidFill>
              </a:rPr>
              <a:t>、不同学校的建设层次不同，需求层次不同，目标不同，业务纵深很长，业务生命周期很长。</a:t>
            </a:r>
            <a:endParaRPr lang="en-US" altLang="zh-CN" sz="1400" dirty="0">
              <a:solidFill>
                <a:schemeClr val="tx1"/>
              </a:solidFill>
            </a:endParaRPr>
          </a:p>
        </p:txBody>
      </p:sp>
      <p:sp>
        <p:nvSpPr>
          <p:cNvPr id="53" name="矩形: 圆角 21"/>
          <p:cNvSpPr/>
          <p:nvPr/>
        </p:nvSpPr>
        <p:spPr>
          <a:xfrm>
            <a:off x="662797" y="2782589"/>
            <a:ext cx="4471610" cy="911854"/>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3</a:t>
            </a:r>
            <a:r>
              <a:rPr lang="zh-CN" altLang="en-US" sz="1400" dirty="0">
                <a:solidFill>
                  <a:schemeClr val="tx1"/>
                </a:solidFill>
              </a:rPr>
              <a:t>、数据治理与物联网、云计算、移动互联网关系密切，基于底层</a:t>
            </a:r>
            <a:r>
              <a:rPr lang="en-US" altLang="zh-CN" sz="1400" dirty="0">
                <a:solidFill>
                  <a:schemeClr val="tx1"/>
                </a:solidFill>
              </a:rPr>
              <a:t>IT</a:t>
            </a:r>
            <a:r>
              <a:rPr lang="zh-CN" altLang="en-US" sz="1400" dirty="0">
                <a:solidFill>
                  <a:schemeClr val="tx1"/>
                </a:solidFill>
              </a:rPr>
              <a:t>资源，基于各信息管理系统，服务于上层应用，是整个高校信息化体系的核心枢纽。</a:t>
            </a:r>
            <a:endParaRPr lang="en-US" altLang="zh-CN" sz="14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ctrTitle"/>
          </p:nvPr>
        </p:nvSpPr>
        <p:spPr>
          <a:xfrm>
            <a:off x="517588" y="165139"/>
            <a:ext cx="11160000" cy="888392"/>
          </a:xfrm>
        </p:spPr>
        <p:txBody>
          <a:bodyPr/>
          <a:lstStyle/>
          <a:p>
            <a:r>
              <a:rPr lang="zh-CN" altLang="en-US" dirty="0"/>
              <a:t>政策</a:t>
            </a:r>
            <a:endParaRPr lang="zh-CN" altLang="en-US" dirty="0"/>
          </a:p>
        </p:txBody>
      </p:sp>
      <p:grpSp>
        <p:nvGrpSpPr>
          <p:cNvPr id="13" name="组合 54"/>
          <p:cNvGrpSpPr/>
          <p:nvPr/>
        </p:nvGrpSpPr>
        <p:grpSpPr>
          <a:xfrm>
            <a:off x="7733838" y="70638"/>
            <a:ext cx="4412421" cy="262811"/>
            <a:chOff x="5291227" y="0"/>
            <a:chExt cx="3439301" cy="189000"/>
          </a:xfrm>
        </p:grpSpPr>
        <p:sp>
          <p:nvSpPr>
            <p:cNvPr id="14" name="燕尾形 13"/>
            <p:cNvSpPr/>
            <p:nvPr/>
          </p:nvSpPr>
          <p:spPr bwMode="auto">
            <a:xfrm>
              <a:off x="5291227"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燕尾形 14"/>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6" name="燕尾形 15"/>
            <p:cNvSpPr/>
            <p:nvPr/>
          </p:nvSpPr>
          <p:spPr bwMode="auto">
            <a:xfrm>
              <a:off x="6670247" y="0"/>
              <a:ext cx="857678"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燕尾形 16"/>
            <p:cNvSpPr/>
            <p:nvPr/>
          </p:nvSpPr>
          <p:spPr bwMode="auto">
            <a:xfrm>
              <a:off x="745372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8" name="燕尾形 17"/>
            <p:cNvSpPr/>
            <p:nvPr/>
          </p:nvSpPr>
          <p:spPr bwMode="auto">
            <a:xfrm>
              <a:off x="805570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pic>
        <p:nvPicPr>
          <p:cNvPr id="3" name="Picture 2"/>
          <p:cNvPicPr>
            <a:picLocks noChangeAspect="1"/>
          </p:cNvPicPr>
          <p:nvPr/>
        </p:nvPicPr>
        <p:blipFill rotWithShape="1">
          <a:blip r:embed="rId1"/>
          <a:srcRect t="15144" b="7753"/>
          <a:stretch>
            <a:fillRect/>
          </a:stretch>
        </p:blipFill>
        <p:spPr>
          <a:xfrm>
            <a:off x="494292" y="1039467"/>
            <a:ext cx="4536505" cy="5089229"/>
          </a:xfrm>
          <a:prstGeom prst="rect">
            <a:avLst/>
          </a:prstGeom>
        </p:spPr>
      </p:pic>
      <p:pic>
        <p:nvPicPr>
          <p:cNvPr id="4" name="Picture 3"/>
          <p:cNvPicPr>
            <a:picLocks noChangeAspect="1"/>
          </p:cNvPicPr>
          <p:nvPr/>
        </p:nvPicPr>
        <p:blipFill>
          <a:blip r:embed="rId2"/>
          <a:stretch>
            <a:fillRect/>
          </a:stretch>
        </p:blipFill>
        <p:spPr>
          <a:xfrm>
            <a:off x="6912268" y="1197546"/>
            <a:ext cx="4411612" cy="52005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ctrTitle"/>
          </p:nvPr>
        </p:nvSpPr>
        <p:spPr>
          <a:xfrm>
            <a:off x="517588" y="165139"/>
            <a:ext cx="11160000" cy="888392"/>
          </a:xfrm>
        </p:spPr>
        <p:txBody>
          <a:bodyPr/>
          <a:lstStyle/>
          <a:p>
            <a:r>
              <a:rPr lang="zh-CN" altLang="en-US" dirty="0"/>
              <a:t>政策解读</a:t>
            </a:r>
            <a:endParaRPr lang="zh-CN" altLang="en-US" dirty="0"/>
          </a:p>
        </p:txBody>
      </p:sp>
      <p:grpSp>
        <p:nvGrpSpPr>
          <p:cNvPr id="13" name="组合 54"/>
          <p:cNvGrpSpPr/>
          <p:nvPr/>
        </p:nvGrpSpPr>
        <p:grpSpPr>
          <a:xfrm>
            <a:off x="7733838" y="70638"/>
            <a:ext cx="4412421" cy="262811"/>
            <a:chOff x="5291227" y="0"/>
            <a:chExt cx="3439301" cy="189000"/>
          </a:xfrm>
        </p:grpSpPr>
        <p:sp>
          <p:nvSpPr>
            <p:cNvPr id="14" name="燕尾形 13"/>
            <p:cNvSpPr/>
            <p:nvPr/>
          </p:nvSpPr>
          <p:spPr bwMode="auto">
            <a:xfrm>
              <a:off x="5291227"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燕尾形 14"/>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6" name="燕尾形 15"/>
            <p:cNvSpPr/>
            <p:nvPr/>
          </p:nvSpPr>
          <p:spPr bwMode="auto">
            <a:xfrm>
              <a:off x="6670247" y="0"/>
              <a:ext cx="857678"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燕尾形 16"/>
            <p:cNvSpPr/>
            <p:nvPr/>
          </p:nvSpPr>
          <p:spPr bwMode="auto">
            <a:xfrm>
              <a:off x="745372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8" name="燕尾形 17"/>
            <p:cNvSpPr/>
            <p:nvPr/>
          </p:nvSpPr>
          <p:spPr bwMode="auto">
            <a:xfrm>
              <a:off x="805570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pic>
        <p:nvPicPr>
          <p:cNvPr id="2" name="Picture 1"/>
          <p:cNvPicPr>
            <a:picLocks noChangeAspect="1"/>
          </p:cNvPicPr>
          <p:nvPr/>
        </p:nvPicPr>
        <p:blipFill>
          <a:blip r:embed="rId1"/>
          <a:stretch>
            <a:fillRect/>
          </a:stretch>
        </p:blipFill>
        <p:spPr>
          <a:xfrm>
            <a:off x="105571" y="1427039"/>
            <a:ext cx="7357456" cy="3950253"/>
          </a:xfrm>
          <a:prstGeom prst="rect">
            <a:avLst/>
          </a:prstGeom>
        </p:spPr>
      </p:pic>
      <p:sp>
        <p:nvSpPr>
          <p:cNvPr id="3" name="Rectangle 2"/>
          <p:cNvSpPr/>
          <p:nvPr/>
        </p:nvSpPr>
        <p:spPr>
          <a:xfrm>
            <a:off x="5737547" y="2853730"/>
            <a:ext cx="1584176" cy="389533"/>
          </a:xfrm>
          <a:prstGeom prst="rect">
            <a:avLst/>
          </a:prstGeom>
          <a:noFill/>
          <a:ln w="28575">
            <a:solidFill>
              <a:srgbClr val="00B050"/>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5" name="Rectangle 4"/>
          <p:cNvSpPr/>
          <p:nvPr/>
        </p:nvSpPr>
        <p:spPr>
          <a:xfrm>
            <a:off x="7791126" y="813113"/>
            <a:ext cx="4002190" cy="1908215"/>
          </a:xfrm>
          <a:prstGeom prst="rect">
            <a:avLst/>
          </a:prstGeom>
        </p:spPr>
        <p:txBody>
          <a:bodyPr wrap="square">
            <a:spAutoFit/>
          </a:bodyPr>
          <a:lstStyle/>
          <a:p>
            <a:pPr algn="just"/>
            <a:r>
              <a:rPr lang="zh-CN" altLang="en-US" b="1" dirty="0">
                <a:solidFill>
                  <a:srgbClr val="333333"/>
                </a:solidFill>
                <a:latin typeface="Arial" panose="020B0604020202020204" pitchFamily="34" charset="0"/>
              </a:rPr>
              <a:t>信息系统整合共享</a:t>
            </a:r>
            <a:endParaRPr lang="en-US" altLang="zh-CN" b="1" dirty="0">
              <a:solidFill>
                <a:srgbClr val="333333"/>
              </a:solidFill>
              <a:latin typeface="Arial" panose="020B0604020202020204" pitchFamily="34" charset="0"/>
            </a:endParaRPr>
          </a:p>
          <a:p>
            <a:pPr algn="just"/>
            <a:r>
              <a:rPr lang="zh-CN" altLang="en-US" sz="1400" dirty="0">
                <a:solidFill>
                  <a:srgbClr val="333333"/>
                </a:solidFill>
                <a:latin typeface="Arial" panose="020B0604020202020204" pitchFamily="34" charset="0"/>
              </a:rPr>
              <a:t>互联互通、信息共享、业务协同</a:t>
            </a:r>
            <a:endParaRPr lang="en-US" altLang="zh-CN" sz="1400" dirty="0">
              <a:solidFill>
                <a:srgbClr val="333333"/>
              </a:solidFill>
              <a:latin typeface="Arial" panose="020B0604020202020204" pitchFamily="34" charset="0"/>
            </a:endParaRPr>
          </a:p>
          <a:p>
            <a:pPr algn="just"/>
            <a:r>
              <a:rPr lang="zh-CN" altLang="en-US" sz="1400" dirty="0">
                <a:solidFill>
                  <a:srgbClr val="333333"/>
                </a:solidFill>
                <a:latin typeface="Arial" panose="020B0604020202020204" pitchFamily="34" charset="0"/>
              </a:rPr>
              <a:t>覆盖全国、统一标准、上下联动、资源共享</a:t>
            </a:r>
            <a:endParaRPr lang="en-US" altLang="zh-CN" sz="1400" dirty="0">
              <a:solidFill>
                <a:srgbClr val="333333"/>
              </a:solidFill>
              <a:latin typeface="Arial" panose="020B0604020202020204" pitchFamily="34" charset="0"/>
            </a:endParaRPr>
          </a:p>
          <a:p>
            <a:pPr algn="just"/>
            <a:r>
              <a:rPr lang="zh-CN" altLang="en-US" sz="1400" dirty="0">
                <a:solidFill>
                  <a:srgbClr val="333333"/>
                </a:solidFill>
                <a:latin typeface="Arial" panose="020B0604020202020204" pitchFamily="34" charset="0"/>
              </a:rPr>
              <a:t>实现一数一源、伴随式数据采集</a:t>
            </a:r>
            <a:endParaRPr lang="en-US" altLang="zh-CN" sz="1400" dirty="0">
              <a:solidFill>
                <a:srgbClr val="333333"/>
              </a:solidFill>
              <a:latin typeface="Arial" panose="020B0604020202020204" pitchFamily="34" charset="0"/>
            </a:endParaRPr>
          </a:p>
          <a:p>
            <a:pPr algn="just"/>
            <a:r>
              <a:rPr lang="zh-CN" altLang="en-US" sz="1400" dirty="0">
                <a:solidFill>
                  <a:srgbClr val="333333"/>
                </a:solidFill>
                <a:latin typeface="Arial" panose="020B0604020202020204" pitchFamily="34" charset="0"/>
              </a:rPr>
              <a:t>完善教育数据标准规范</a:t>
            </a:r>
            <a:endParaRPr lang="en-US" altLang="zh-CN" sz="1400" dirty="0">
              <a:solidFill>
                <a:srgbClr val="333333"/>
              </a:solidFill>
              <a:latin typeface="Arial" panose="020B0604020202020204" pitchFamily="34" charset="0"/>
            </a:endParaRPr>
          </a:p>
          <a:p>
            <a:pPr algn="just"/>
            <a:r>
              <a:rPr lang="zh-CN" altLang="en-US" sz="1400" dirty="0">
                <a:solidFill>
                  <a:srgbClr val="333333"/>
                </a:solidFill>
                <a:latin typeface="Arial" panose="020B0604020202020204" pitchFamily="34" charset="0"/>
              </a:rPr>
              <a:t>促进数据分级分层有效共享，避免数据重复采集</a:t>
            </a:r>
            <a:endParaRPr lang="en-US" altLang="zh-CN" sz="1400" dirty="0">
              <a:solidFill>
                <a:srgbClr val="333333"/>
              </a:solidFill>
              <a:latin typeface="Arial" panose="020B0604020202020204" pitchFamily="34" charset="0"/>
            </a:endParaRPr>
          </a:p>
          <a:p>
            <a:pPr algn="just"/>
            <a:r>
              <a:rPr lang="zh-CN" altLang="en-US" sz="1400" dirty="0">
                <a:solidFill>
                  <a:srgbClr val="333333"/>
                </a:solidFill>
                <a:latin typeface="Arial" panose="020B0604020202020204" pitchFamily="34" charset="0"/>
              </a:rPr>
              <a:t>优化业务管理、提升公共服务、促进决策支持</a:t>
            </a:r>
            <a:r>
              <a:rPr lang="zh-CN" altLang="en-US" dirty="0">
                <a:solidFill>
                  <a:srgbClr val="333333"/>
                </a:solidFill>
                <a:latin typeface="Arial" panose="020B0604020202020204" pitchFamily="34" charset="0"/>
              </a:rPr>
              <a:t>　　</a:t>
            </a:r>
            <a:endParaRPr lang="zh-CN" altLang="en-US" b="0" i="0" dirty="0">
              <a:solidFill>
                <a:srgbClr val="333333"/>
              </a:solidFill>
              <a:effectLst/>
              <a:latin typeface="Arial" panose="020B0604020202020204" pitchFamily="34" charset="0"/>
            </a:endParaRPr>
          </a:p>
        </p:txBody>
      </p:sp>
      <p:sp>
        <p:nvSpPr>
          <p:cNvPr id="19" name="Rectangle 18"/>
          <p:cNvSpPr/>
          <p:nvPr/>
        </p:nvSpPr>
        <p:spPr>
          <a:xfrm>
            <a:off x="7784029" y="3645818"/>
            <a:ext cx="4002190" cy="2400657"/>
          </a:xfrm>
          <a:prstGeom prst="rect">
            <a:avLst/>
          </a:prstGeom>
        </p:spPr>
        <p:txBody>
          <a:bodyPr wrap="square">
            <a:spAutoFit/>
          </a:bodyPr>
          <a:lstStyle/>
          <a:p>
            <a:r>
              <a:rPr lang="zh-CN" altLang="en-US" b="1" dirty="0">
                <a:solidFill>
                  <a:srgbClr val="333333"/>
                </a:solidFill>
                <a:latin typeface="Arial" panose="020B0604020202020204" pitchFamily="34" charset="0"/>
              </a:rPr>
              <a:t>互联网</a:t>
            </a:r>
            <a:r>
              <a:rPr lang="en-US" altLang="zh-CN" b="1" dirty="0">
                <a:solidFill>
                  <a:srgbClr val="333333"/>
                </a:solidFill>
                <a:latin typeface="Arial" panose="020B0604020202020204" pitchFamily="34" charset="0"/>
              </a:rPr>
              <a:t>+</a:t>
            </a:r>
            <a:r>
              <a:rPr lang="zh-CN" altLang="en-US" b="1" dirty="0">
                <a:solidFill>
                  <a:srgbClr val="333333"/>
                </a:solidFill>
                <a:latin typeface="Arial" panose="020B0604020202020204" pitchFamily="34" charset="0"/>
              </a:rPr>
              <a:t>政务服务</a:t>
            </a:r>
            <a:endParaRPr lang="en-US" altLang="zh-CN" b="1" dirty="0">
              <a:solidFill>
                <a:srgbClr val="333333"/>
              </a:solidFill>
              <a:latin typeface="Arial" panose="020B0604020202020204" pitchFamily="34" charset="0"/>
            </a:endParaRPr>
          </a:p>
          <a:p>
            <a:r>
              <a:rPr lang="zh-CN" altLang="en-US" sz="1400" dirty="0">
                <a:solidFill>
                  <a:srgbClr val="333333"/>
                </a:solidFill>
                <a:latin typeface="Arial" panose="020B0604020202020204" pitchFamily="34" charset="0"/>
              </a:rPr>
              <a:t>连接教育政务信息数据和社会宏观治理数据，建立 “互联网</a:t>
            </a:r>
            <a:r>
              <a:rPr lang="en-US" altLang="zh-CN" sz="1400" dirty="0">
                <a:solidFill>
                  <a:srgbClr val="333333"/>
                </a:solidFill>
                <a:latin typeface="Arial" panose="020B0604020202020204" pitchFamily="34" charset="0"/>
              </a:rPr>
              <a:t>+</a:t>
            </a:r>
            <a:r>
              <a:rPr lang="zh-CN" altLang="en-US" sz="1400" dirty="0">
                <a:solidFill>
                  <a:srgbClr val="333333"/>
                </a:solidFill>
                <a:latin typeface="Arial" panose="020B0604020202020204" pitchFamily="34" charset="0"/>
              </a:rPr>
              <a:t>政务服务”网上办事大厅</a:t>
            </a:r>
            <a:endParaRPr lang="en-US" altLang="zh-CN" sz="1400" dirty="0">
              <a:solidFill>
                <a:srgbClr val="333333"/>
              </a:solidFill>
              <a:latin typeface="Arial" panose="020B0604020202020204" pitchFamily="34" charset="0"/>
            </a:endParaRPr>
          </a:p>
          <a:p>
            <a:r>
              <a:rPr lang="zh-CN" altLang="en-US" sz="1400" dirty="0">
                <a:solidFill>
                  <a:srgbClr val="333333"/>
                </a:solidFill>
                <a:latin typeface="Arial" panose="020B0604020202020204" pitchFamily="34" charset="0"/>
              </a:rPr>
              <a:t>实现政务服务统一申请、集中办理、统一反馈和全流程监督，分步实施教育政务数据的共享开放，做到事项清单标准化、办事指南规范化、审查工作细则化和业务办理协同化，实现“一张表管理”和“一站式服务”</a:t>
            </a:r>
            <a:endParaRPr lang="en-US" altLang="zh-CN" sz="1400" dirty="0">
              <a:solidFill>
                <a:srgbClr val="333333"/>
              </a:solidFill>
              <a:latin typeface="Arial" panose="020B0604020202020204" pitchFamily="34" charset="0"/>
            </a:endParaRPr>
          </a:p>
          <a:p>
            <a:r>
              <a:rPr lang="zh-CN" altLang="en-US" sz="1400" dirty="0">
                <a:solidFill>
                  <a:srgbClr val="333333"/>
                </a:solidFill>
                <a:latin typeface="Arial" panose="020B0604020202020204" pitchFamily="34" charset="0"/>
              </a:rPr>
              <a:t>让百姓少跑腿、数据多跑路，增强人民群众获得感。</a:t>
            </a:r>
            <a:endParaRPr lang="zh-CN" altLang="en-US" sz="1400" b="0" i="0" dirty="0">
              <a:solidFill>
                <a:srgbClr val="333333"/>
              </a:solidFill>
              <a:effectLst/>
              <a:latin typeface="Arial" panose="020B0604020202020204" pitchFamily="34" charset="0"/>
            </a:endParaRPr>
          </a:p>
        </p:txBody>
      </p:sp>
      <p:cxnSp>
        <p:nvCxnSpPr>
          <p:cNvPr id="9" name="Straight Arrow Connector 8"/>
          <p:cNvCxnSpPr>
            <a:stCxn id="3" idx="3"/>
            <a:endCxn id="5" idx="1"/>
          </p:cNvCxnSpPr>
          <p:nvPr/>
        </p:nvCxnSpPr>
        <p:spPr>
          <a:xfrm flipV="1">
            <a:off x="7321723" y="1767221"/>
            <a:ext cx="469403" cy="1281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5737547" y="3295650"/>
            <a:ext cx="1584176" cy="400050"/>
          </a:xfrm>
          <a:prstGeom prst="rect">
            <a:avLst/>
          </a:prstGeom>
          <a:noFill/>
          <a:ln w="28575">
            <a:solidFill>
              <a:srgbClr val="00B050"/>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22" name="Straight Arrow Connector 21"/>
          <p:cNvCxnSpPr>
            <a:stCxn id="20" idx="3"/>
            <a:endCxn id="19" idx="1"/>
          </p:cNvCxnSpPr>
          <p:nvPr/>
        </p:nvCxnSpPr>
        <p:spPr>
          <a:xfrm>
            <a:off x="7321723" y="3495675"/>
            <a:ext cx="462306" cy="13504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7825554" y="801940"/>
            <a:ext cx="3886460" cy="190821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数据治理</a:t>
            </a:r>
            <a:endParaRPr lang="zh-CN" altLang="en-US"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24" name="Rectangle 23"/>
          <p:cNvSpPr/>
          <p:nvPr/>
        </p:nvSpPr>
        <p:spPr>
          <a:xfrm>
            <a:off x="7827960" y="3682706"/>
            <a:ext cx="3886460" cy="232688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一站式服务</a:t>
            </a:r>
            <a:endParaRPr lang="en-US" altLang="zh-CN"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pPr algn="ctr"/>
            <a:r>
              <a:rPr lang="zh-CN" altLang="en-US"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业务上云</a:t>
            </a:r>
            <a:endParaRPr lang="zh-CN" altLang="en-US"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1+#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500" fill="hold"/>
                                        <p:tgtEl>
                                          <p:spTgt spid="20"/>
                                        </p:tgtEl>
                                        <p:attrNameLst>
                                          <p:attrName>ppt_x</p:attrName>
                                        </p:attrNameLst>
                                      </p:cBhvr>
                                      <p:tavLst>
                                        <p:tav tm="0">
                                          <p:val>
                                            <p:strVal val="#ppt_x"/>
                                          </p:val>
                                        </p:tav>
                                        <p:tav tm="100000">
                                          <p:val>
                                            <p:strVal val="#ppt_x"/>
                                          </p:val>
                                        </p:tav>
                                      </p:tavLst>
                                    </p:anim>
                                    <p:anim calcmode="lin" valueType="num">
                                      <p:cBhvr additive="base">
                                        <p:cTn id="2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up)">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1+#ppt_w/2"/>
                                          </p:val>
                                        </p:tav>
                                        <p:tav tm="100000">
                                          <p:val>
                                            <p:strVal val="#ppt_x"/>
                                          </p:val>
                                        </p:tav>
                                      </p:tavLst>
                                    </p:anim>
                                    <p:anim calcmode="lin" valueType="num">
                                      <p:cBhvr additive="base">
                                        <p:cTn id="36"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19" grpId="0"/>
      <p:bldP spid="20"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47624" y="183825"/>
            <a:ext cx="11160000" cy="888392"/>
          </a:xfrm>
        </p:spPr>
        <p:txBody>
          <a:bodyPr/>
          <a:lstStyle/>
          <a:p>
            <a:r>
              <a:rPr lang="zh-CN" altLang="en-US" dirty="0"/>
              <a:t>不同层级用户的需求层次</a:t>
            </a:r>
            <a:endParaRPr lang="zh-CN" altLang="en-US" dirty="0"/>
          </a:p>
        </p:txBody>
      </p:sp>
      <p:grpSp>
        <p:nvGrpSpPr>
          <p:cNvPr id="11" name="组合 54"/>
          <p:cNvGrpSpPr/>
          <p:nvPr/>
        </p:nvGrpSpPr>
        <p:grpSpPr>
          <a:xfrm>
            <a:off x="7733838" y="70638"/>
            <a:ext cx="4412421" cy="262811"/>
            <a:chOff x="5291227" y="0"/>
            <a:chExt cx="3439301" cy="189000"/>
          </a:xfrm>
        </p:grpSpPr>
        <p:sp>
          <p:nvSpPr>
            <p:cNvPr id="12" name="燕尾形 11"/>
            <p:cNvSpPr/>
            <p:nvPr/>
          </p:nvSpPr>
          <p:spPr bwMode="auto">
            <a:xfrm>
              <a:off x="5291227"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3" name="燕尾形 12"/>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4" name="燕尾形 13"/>
            <p:cNvSpPr/>
            <p:nvPr/>
          </p:nvSpPr>
          <p:spPr bwMode="auto">
            <a:xfrm>
              <a:off x="6670247" y="0"/>
              <a:ext cx="857678"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燕尾形 14"/>
            <p:cNvSpPr/>
            <p:nvPr/>
          </p:nvSpPr>
          <p:spPr bwMode="auto">
            <a:xfrm>
              <a:off x="745372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6" name="燕尾形 15"/>
            <p:cNvSpPr/>
            <p:nvPr/>
          </p:nvSpPr>
          <p:spPr bwMode="auto">
            <a:xfrm>
              <a:off x="805570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9" name="组合 5"/>
          <p:cNvGrpSpPr/>
          <p:nvPr/>
        </p:nvGrpSpPr>
        <p:grpSpPr>
          <a:xfrm>
            <a:off x="1264026" y="4847664"/>
            <a:ext cx="4347224" cy="1690725"/>
            <a:chOff x="-3601189" y="8700493"/>
            <a:chExt cx="11265629" cy="4028307"/>
          </a:xfrm>
        </p:grpSpPr>
        <p:sp>
          <p:nvSpPr>
            <p:cNvPr id="37" name="立方体 2"/>
            <p:cNvSpPr/>
            <p:nvPr/>
          </p:nvSpPr>
          <p:spPr>
            <a:xfrm>
              <a:off x="-3601189" y="11588766"/>
              <a:ext cx="5555234" cy="1140034"/>
            </a:xfrm>
            <a:prstGeom prst="cube">
              <a:avLst/>
            </a:prstGeom>
            <a:solidFill>
              <a:schemeClr val="bg2">
                <a:lumMod val="25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solidFill>
                    <a:srgbClr val="FFFF00"/>
                  </a:solidFill>
                  <a:effectLst>
                    <a:outerShdw blurRad="38100" dist="38100" dir="2700000" algn="tl">
                      <a:srgbClr val="000000">
                        <a:alpha val="43137"/>
                      </a:srgbClr>
                    </a:outerShdw>
                  </a:effectLst>
                </a:rPr>
                <a:t>数字化校园</a:t>
              </a:r>
              <a:endParaRPr lang="zh-CN" altLang="en-US" sz="2000" b="1" dirty="0">
                <a:solidFill>
                  <a:srgbClr val="FFFF00"/>
                </a:solidFill>
                <a:effectLst>
                  <a:outerShdw blurRad="38100" dist="38100" dir="2700000" algn="tl">
                    <a:srgbClr val="000000">
                      <a:alpha val="43137"/>
                    </a:srgbClr>
                  </a:outerShdw>
                </a:effectLst>
              </a:endParaRPr>
            </a:p>
          </p:txBody>
        </p:sp>
        <p:sp>
          <p:nvSpPr>
            <p:cNvPr id="20" name="立方体 2"/>
            <p:cNvSpPr/>
            <p:nvPr/>
          </p:nvSpPr>
          <p:spPr>
            <a:xfrm>
              <a:off x="1549390" y="10267306"/>
              <a:ext cx="6115050" cy="2461490"/>
            </a:xfrm>
            <a:prstGeom prst="cub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三大平台</a:t>
              </a:r>
              <a:endParaRPr lang="zh-CN" altLang="en-US" b="1" dirty="0">
                <a:solidFill>
                  <a:srgbClr val="FFFF00"/>
                </a:solidFill>
                <a:effectLst>
                  <a:outerShdw blurRad="38100" dist="38100" dir="2700000" algn="tl">
                    <a:srgbClr val="000000">
                      <a:alpha val="43137"/>
                    </a:srgbClr>
                  </a:outerShdw>
                </a:effectLst>
              </a:endParaRPr>
            </a:p>
          </p:txBody>
        </p:sp>
        <p:sp>
          <p:nvSpPr>
            <p:cNvPr id="21" name="矩形: 圆角 3"/>
            <p:cNvSpPr/>
            <p:nvPr/>
          </p:nvSpPr>
          <p:spPr>
            <a:xfrm>
              <a:off x="2568054" y="8700493"/>
              <a:ext cx="3600713" cy="18656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共享数据库</a:t>
              </a:r>
              <a:endParaRPr lang="en-US" altLang="zh-CN" sz="1400" dirty="0">
                <a:solidFill>
                  <a:schemeClr val="tx1"/>
                </a:solidFill>
              </a:endParaRPr>
            </a:p>
            <a:p>
              <a:pPr algn="ctr"/>
              <a:r>
                <a:rPr lang="zh-CN" altLang="en-US" sz="1400" dirty="0">
                  <a:solidFill>
                    <a:schemeClr val="tx1"/>
                  </a:solidFill>
                </a:rPr>
                <a:t>统一身份认证</a:t>
              </a:r>
              <a:endParaRPr lang="en-US" altLang="zh-CN" sz="1400" dirty="0">
                <a:solidFill>
                  <a:schemeClr val="tx1"/>
                </a:solidFill>
              </a:endParaRPr>
            </a:p>
            <a:p>
              <a:pPr algn="ctr"/>
              <a:r>
                <a:rPr lang="zh-CN" altLang="en-US" sz="1400" dirty="0">
                  <a:solidFill>
                    <a:schemeClr val="tx1"/>
                  </a:solidFill>
                </a:rPr>
                <a:t>统一信息门户</a:t>
              </a:r>
              <a:endParaRPr lang="zh-CN" altLang="en-US" sz="1400" dirty="0">
                <a:solidFill>
                  <a:schemeClr val="tx1"/>
                </a:solidFill>
              </a:endParaRPr>
            </a:p>
          </p:txBody>
        </p:sp>
        <p:sp>
          <p:nvSpPr>
            <p:cNvPr id="38" name="矩形: 圆角 3"/>
            <p:cNvSpPr/>
            <p:nvPr/>
          </p:nvSpPr>
          <p:spPr>
            <a:xfrm>
              <a:off x="-2799544" y="10818140"/>
              <a:ext cx="3523503" cy="93280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业务系统建设</a:t>
              </a:r>
              <a:endParaRPr lang="en-US" altLang="zh-CN" sz="1400" dirty="0">
                <a:solidFill>
                  <a:schemeClr val="tx1"/>
                </a:solidFill>
              </a:endParaRPr>
            </a:p>
          </p:txBody>
        </p:sp>
      </p:grpSp>
      <p:grpSp>
        <p:nvGrpSpPr>
          <p:cNvPr id="22" name="组合 23"/>
          <p:cNvGrpSpPr/>
          <p:nvPr/>
        </p:nvGrpSpPr>
        <p:grpSpPr>
          <a:xfrm>
            <a:off x="5342092" y="4072906"/>
            <a:ext cx="2359699" cy="2465482"/>
            <a:chOff x="6966930" y="6854562"/>
            <a:chExt cx="6115050" cy="5874237"/>
          </a:xfrm>
        </p:grpSpPr>
        <p:sp>
          <p:nvSpPr>
            <p:cNvPr id="23" name="立方体 8"/>
            <p:cNvSpPr/>
            <p:nvPr/>
          </p:nvSpPr>
          <p:spPr>
            <a:xfrm>
              <a:off x="6966930" y="10267309"/>
              <a:ext cx="6115050" cy="2461490"/>
            </a:xfrm>
            <a:prstGeom prst="cube">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4" name="立方体 9"/>
            <p:cNvSpPr/>
            <p:nvPr/>
          </p:nvSpPr>
          <p:spPr>
            <a:xfrm>
              <a:off x="6966930" y="8406540"/>
              <a:ext cx="6115050" cy="2461490"/>
            </a:xfrm>
            <a:prstGeom prst="cube">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综合事务支持</a:t>
              </a:r>
              <a:endParaRPr lang="zh-CN" altLang="en-US" b="1" dirty="0">
                <a:solidFill>
                  <a:srgbClr val="FFFF00"/>
                </a:solidFill>
                <a:effectLst>
                  <a:outerShdw blurRad="38100" dist="38100" dir="2700000" algn="tl">
                    <a:srgbClr val="000000">
                      <a:alpha val="43137"/>
                    </a:srgbClr>
                  </a:outerShdw>
                </a:effectLst>
              </a:endParaRPr>
            </a:p>
          </p:txBody>
        </p:sp>
        <p:sp>
          <p:nvSpPr>
            <p:cNvPr id="25" name="矩形: 圆角 20"/>
            <p:cNvSpPr/>
            <p:nvPr/>
          </p:nvSpPr>
          <p:spPr>
            <a:xfrm>
              <a:off x="8008803" y="6854562"/>
              <a:ext cx="3669319" cy="18656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主数据平台</a:t>
              </a:r>
              <a:endParaRPr lang="en-US" altLang="zh-CN" sz="1400" dirty="0">
                <a:solidFill>
                  <a:schemeClr val="tx1"/>
                </a:solidFill>
              </a:endParaRPr>
            </a:p>
            <a:p>
              <a:pPr algn="ctr"/>
              <a:r>
                <a:rPr lang="zh-CN" altLang="en-US" sz="1400" dirty="0">
                  <a:solidFill>
                    <a:schemeClr val="tx1"/>
                  </a:solidFill>
                </a:rPr>
                <a:t>一站式服务</a:t>
              </a:r>
              <a:endParaRPr lang="en-US" altLang="zh-CN" sz="1400" dirty="0">
                <a:solidFill>
                  <a:schemeClr val="tx1"/>
                </a:solidFill>
              </a:endParaRPr>
            </a:p>
            <a:p>
              <a:pPr algn="ctr"/>
              <a:r>
                <a:rPr lang="zh-CN" altLang="en-US" sz="1400" dirty="0">
                  <a:solidFill>
                    <a:schemeClr val="tx1"/>
                  </a:solidFill>
                </a:rPr>
                <a:t>移动校园</a:t>
              </a:r>
              <a:endParaRPr lang="en-US" altLang="zh-CN" sz="1400" dirty="0">
                <a:solidFill>
                  <a:schemeClr val="tx1"/>
                </a:solidFill>
              </a:endParaRPr>
            </a:p>
          </p:txBody>
        </p:sp>
      </p:grpSp>
      <p:grpSp>
        <p:nvGrpSpPr>
          <p:cNvPr id="26" name="组合 24"/>
          <p:cNvGrpSpPr/>
          <p:nvPr/>
        </p:nvGrpSpPr>
        <p:grpSpPr>
          <a:xfrm>
            <a:off x="7385694" y="3035240"/>
            <a:ext cx="2359699" cy="3503149"/>
            <a:chOff x="12262830" y="4382226"/>
            <a:chExt cx="6115050" cy="8346573"/>
          </a:xfrm>
        </p:grpSpPr>
        <p:sp>
          <p:nvSpPr>
            <p:cNvPr id="27" name="立方体 10"/>
            <p:cNvSpPr/>
            <p:nvPr/>
          </p:nvSpPr>
          <p:spPr>
            <a:xfrm>
              <a:off x="12262830" y="10267309"/>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8" name="立方体 12"/>
            <p:cNvSpPr/>
            <p:nvPr/>
          </p:nvSpPr>
          <p:spPr>
            <a:xfrm>
              <a:off x="12262830" y="8406540"/>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9" name="立方体 14"/>
            <p:cNvSpPr/>
            <p:nvPr/>
          </p:nvSpPr>
          <p:spPr>
            <a:xfrm>
              <a:off x="12262830" y="6545770"/>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科学决策支持</a:t>
              </a:r>
              <a:endParaRPr lang="zh-CN" altLang="en-US" b="1" dirty="0">
                <a:solidFill>
                  <a:srgbClr val="FFFF00"/>
                </a:solidFill>
                <a:effectLst>
                  <a:outerShdw blurRad="38100" dist="38100" dir="2700000" algn="tl">
                    <a:srgbClr val="000000">
                      <a:alpha val="43137"/>
                    </a:srgbClr>
                  </a:outerShdw>
                </a:effectLst>
              </a:endParaRPr>
            </a:p>
          </p:txBody>
        </p:sp>
        <p:sp>
          <p:nvSpPr>
            <p:cNvPr id="30" name="矩形: 圆角 21"/>
            <p:cNvSpPr/>
            <p:nvPr/>
          </p:nvSpPr>
          <p:spPr>
            <a:xfrm>
              <a:off x="13418530" y="4382226"/>
              <a:ext cx="3638305" cy="246149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全量数仓</a:t>
              </a:r>
              <a:endParaRPr lang="en-US" altLang="zh-CN" sz="1400" dirty="0">
                <a:solidFill>
                  <a:schemeClr val="tx1"/>
                </a:solidFill>
              </a:endParaRPr>
            </a:p>
            <a:p>
              <a:pPr algn="ctr"/>
              <a:r>
                <a:rPr lang="zh-CN" altLang="en-US" sz="1400" dirty="0">
                  <a:solidFill>
                    <a:schemeClr val="tx1"/>
                  </a:solidFill>
                </a:rPr>
                <a:t>高质量</a:t>
              </a:r>
              <a:r>
                <a:rPr lang="en-US" altLang="zh-CN" sz="1400" dirty="0">
                  <a:solidFill>
                    <a:schemeClr val="tx1"/>
                  </a:solidFill>
                </a:rPr>
                <a:t>/</a:t>
              </a:r>
              <a:r>
                <a:rPr lang="zh-CN" altLang="en-US" sz="1400" dirty="0">
                  <a:solidFill>
                    <a:schemeClr val="tx1"/>
                  </a:solidFill>
                </a:rPr>
                <a:t>全维度</a:t>
              </a:r>
              <a:endParaRPr lang="en-US" altLang="zh-CN" sz="1400" dirty="0">
                <a:solidFill>
                  <a:schemeClr val="tx1"/>
                </a:solidFill>
              </a:endParaRPr>
            </a:p>
            <a:p>
              <a:pPr algn="ctr"/>
              <a:r>
                <a:rPr lang="zh-CN" altLang="en-US" sz="1400" dirty="0">
                  <a:solidFill>
                    <a:schemeClr val="tx1"/>
                  </a:solidFill>
                </a:rPr>
                <a:t>辅助决策支持</a:t>
              </a:r>
              <a:endParaRPr lang="en-US" altLang="zh-CN" sz="1400" dirty="0">
                <a:solidFill>
                  <a:schemeClr val="tx1"/>
                </a:solidFill>
              </a:endParaRPr>
            </a:p>
            <a:p>
              <a:pPr algn="ctr"/>
              <a:r>
                <a:rPr lang="zh-CN" altLang="en-US" sz="1400" dirty="0">
                  <a:solidFill>
                    <a:schemeClr val="tx1"/>
                  </a:solidFill>
                </a:rPr>
                <a:t>一表通</a:t>
              </a:r>
              <a:endParaRPr lang="zh-CN" altLang="en-US" sz="1400" dirty="0">
                <a:solidFill>
                  <a:schemeClr val="tx1"/>
                </a:solidFill>
              </a:endParaRPr>
            </a:p>
          </p:txBody>
        </p:sp>
      </p:grpSp>
      <p:grpSp>
        <p:nvGrpSpPr>
          <p:cNvPr id="31" name="组合 25"/>
          <p:cNvGrpSpPr/>
          <p:nvPr/>
        </p:nvGrpSpPr>
        <p:grpSpPr>
          <a:xfrm>
            <a:off x="9449277" y="2099462"/>
            <a:ext cx="2359699" cy="4438927"/>
            <a:chOff x="17610510" y="2152650"/>
            <a:chExt cx="6115050" cy="10576149"/>
          </a:xfrm>
        </p:grpSpPr>
        <p:sp>
          <p:nvSpPr>
            <p:cNvPr id="32" name="立方体 15"/>
            <p:cNvSpPr/>
            <p:nvPr/>
          </p:nvSpPr>
          <p:spPr>
            <a:xfrm>
              <a:off x="17610510" y="10267309"/>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33" name="立方体 16"/>
            <p:cNvSpPr/>
            <p:nvPr/>
          </p:nvSpPr>
          <p:spPr>
            <a:xfrm>
              <a:off x="17610510" y="8406540"/>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34" name="立方体 17"/>
            <p:cNvSpPr/>
            <p:nvPr/>
          </p:nvSpPr>
          <p:spPr>
            <a:xfrm>
              <a:off x="17610510" y="6545770"/>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35" name="立方体 18"/>
            <p:cNvSpPr/>
            <p:nvPr/>
          </p:nvSpPr>
          <p:spPr>
            <a:xfrm>
              <a:off x="17610510" y="4685001"/>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战略发展支持</a:t>
              </a:r>
              <a:endParaRPr lang="zh-CN" altLang="en-US" b="1" dirty="0">
                <a:solidFill>
                  <a:srgbClr val="FFFF00"/>
                </a:solidFill>
                <a:effectLst>
                  <a:outerShdw blurRad="38100" dist="38100" dir="2700000" algn="tl">
                    <a:srgbClr val="000000">
                      <a:alpha val="43137"/>
                    </a:srgbClr>
                  </a:outerShdw>
                </a:effectLst>
              </a:endParaRPr>
            </a:p>
          </p:txBody>
        </p:sp>
        <p:sp>
          <p:nvSpPr>
            <p:cNvPr id="36" name="矩形: 圆角 22"/>
            <p:cNvSpPr/>
            <p:nvPr/>
          </p:nvSpPr>
          <p:spPr>
            <a:xfrm>
              <a:off x="18672182" y="2152650"/>
              <a:ext cx="4557390" cy="27800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数据</a:t>
              </a:r>
              <a:r>
                <a:rPr lang="en-US" altLang="zh-CN" sz="1400" dirty="0">
                  <a:solidFill>
                    <a:schemeClr val="tx1"/>
                  </a:solidFill>
                </a:rPr>
                <a:t>=</a:t>
              </a:r>
              <a:r>
                <a:rPr lang="zh-CN" altLang="en-US" sz="1400" dirty="0">
                  <a:solidFill>
                    <a:schemeClr val="tx1"/>
                  </a:solidFill>
                </a:rPr>
                <a:t>战略资产</a:t>
              </a:r>
              <a:endParaRPr lang="en-US" altLang="zh-CN" sz="1400" dirty="0">
                <a:solidFill>
                  <a:schemeClr val="tx1"/>
                </a:solidFill>
              </a:endParaRPr>
            </a:p>
            <a:p>
              <a:pPr algn="ctr"/>
              <a:r>
                <a:rPr lang="zh-CN" altLang="en-US" sz="1400" dirty="0">
                  <a:solidFill>
                    <a:schemeClr val="tx1"/>
                  </a:solidFill>
                </a:rPr>
                <a:t>大数据、人工智能</a:t>
              </a:r>
              <a:endParaRPr lang="en-US" altLang="zh-CN" sz="1400" dirty="0">
                <a:solidFill>
                  <a:schemeClr val="tx1"/>
                </a:solidFill>
              </a:endParaRPr>
            </a:p>
            <a:p>
              <a:pPr algn="ctr"/>
              <a:r>
                <a:rPr lang="zh-CN" altLang="en-US" sz="1400" dirty="0">
                  <a:solidFill>
                    <a:schemeClr val="tx1"/>
                  </a:solidFill>
                </a:rPr>
                <a:t>制度规范建设</a:t>
              </a:r>
              <a:endParaRPr lang="en-US" altLang="zh-CN" sz="1400" dirty="0">
                <a:solidFill>
                  <a:schemeClr val="tx1"/>
                </a:solidFill>
              </a:endParaRPr>
            </a:p>
            <a:p>
              <a:pPr algn="ctr"/>
              <a:r>
                <a:rPr lang="zh-CN" altLang="en-US" sz="1400" dirty="0">
                  <a:solidFill>
                    <a:schemeClr val="tx1"/>
                  </a:solidFill>
                </a:rPr>
                <a:t>学科建设</a:t>
              </a:r>
              <a:endParaRPr lang="en-US" altLang="zh-CN" sz="1400" dirty="0">
                <a:solidFill>
                  <a:schemeClr val="tx1"/>
                </a:solidFill>
              </a:endParaRPr>
            </a:p>
            <a:p>
              <a:pPr algn="ctr"/>
              <a:r>
                <a:rPr lang="zh-CN" altLang="en-US" sz="1400" dirty="0">
                  <a:solidFill>
                    <a:schemeClr val="tx1"/>
                  </a:solidFill>
                </a:rPr>
                <a:t>竞争力、影响力</a:t>
              </a:r>
              <a:endParaRPr lang="en-US" altLang="zh-CN" sz="1400" dirty="0">
                <a:solidFill>
                  <a:schemeClr val="tx1"/>
                </a:solidFill>
              </a:endParaRPr>
            </a:p>
          </p:txBody>
        </p:sp>
      </p:grpSp>
      <p:sp>
        <p:nvSpPr>
          <p:cNvPr id="6" name="Rectangle 5"/>
          <p:cNvSpPr/>
          <p:nvPr/>
        </p:nvSpPr>
        <p:spPr>
          <a:xfrm>
            <a:off x="1602458" y="4734442"/>
            <a:ext cx="1296144" cy="845388"/>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中职</a:t>
            </a:r>
            <a:endParaRPr lang="en-US" altLang="zh-CN" sz="1800" dirty="0"/>
          </a:p>
          <a:p>
            <a:pPr algn="ctr"/>
            <a:r>
              <a:rPr lang="zh-CN" altLang="en-US" sz="1800" dirty="0"/>
              <a:t>独立学院</a:t>
            </a:r>
            <a:endParaRPr lang="en-US" altLang="zh-CN" sz="1800" dirty="0"/>
          </a:p>
          <a:p>
            <a:pPr algn="ctr"/>
            <a:r>
              <a:rPr lang="zh-CN" altLang="en-US" sz="1800" dirty="0"/>
              <a:t>二、三本</a:t>
            </a:r>
            <a:endParaRPr lang="zh-CN" altLang="en-US" sz="1800" dirty="0"/>
          </a:p>
        </p:txBody>
      </p:sp>
      <p:sp>
        <p:nvSpPr>
          <p:cNvPr id="39" name="Rectangle 38"/>
          <p:cNvSpPr/>
          <p:nvPr/>
        </p:nvSpPr>
        <p:spPr>
          <a:xfrm>
            <a:off x="3644637" y="3973765"/>
            <a:ext cx="1296144" cy="760677"/>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一般高职</a:t>
            </a:r>
            <a:endParaRPr lang="en-US" altLang="zh-CN" sz="1800" dirty="0"/>
          </a:p>
          <a:p>
            <a:pPr algn="ctr"/>
            <a:r>
              <a:rPr lang="zh-CN" altLang="en-US" sz="1800" dirty="0"/>
              <a:t>省属本科</a:t>
            </a:r>
            <a:endParaRPr lang="zh-CN" altLang="en-US" sz="1800" dirty="0"/>
          </a:p>
        </p:txBody>
      </p:sp>
      <p:sp>
        <p:nvSpPr>
          <p:cNvPr id="40" name="Rectangle 39"/>
          <p:cNvSpPr/>
          <p:nvPr/>
        </p:nvSpPr>
        <p:spPr>
          <a:xfrm>
            <a:off x="5780617" y="3054910"/>
            <a:ext cx="1296144" cy="88839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部分</a:t>
            </a:r>
            <a:r>
              <a:rPr lang="en-US" altLang="zh-CN" sz="1800" dirty="0"/>
              <a:t>211</a:t>
            </a:r>
            <a:endParaRPr lang="en-US" altLang="zh-CN" sz="1800" dirty="0"/>
          </a:p>
          <a:p>
            <a:pPr algn="ctr"/>
            <a:r>
              <a:rPr lang="zh-CN" altLang="en-US" sz="1800" dirty="0"/>
              <a:t>重点本科</a:t>
            </a:r>
            <a:endParaRPr lang="en-US" altLang="zh-CN" sz="1800" dirty="0"/>
          </a:p>
          <a:p>
            <a:pPr algn="ctr"/>
            <a:r>
              <a:rPr lang="zh-CN" altLang="en-US" sz="1800" dirty="0"/>
              <a:t>重点高职</a:t>
            </a:r>
            <a:endParaRPr lang="zh-CN" altLang="en-US" sz="1800" dirty="0"/>
          </a:p>
        </p:txBody>
      </p:sp>
      <p:sp>
        <p:nvSpPr>
          <p:cNvPr id="41" name="Rectangle 40"/>
          <p:cNvSpPr/>
          <p:nvPr/>
        </p:nvSpPr>
        <p:spPr>
          <a:xfrm>
            <a:off x="7917596" y="2038545"/>
            <a:ext cx="1296144" cy="88839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主流</a:t>
            </a:r>
            <a:r>
              <a:rPr lang="en-US" altLang="zh-CN" sz="1800" dirty="0"/>
              <a:t>211</a:t>
            </a:r>
            <a:endParaRPr lang="en-US" altLang="zh-CN" sz="1800" dirty="0"/>
          </a:p>
          <a:p>
            <a:pPr algn="ctr"/>
            <a:r>
              <a:rPr lang="zh-CN" altLang="en-US" sz="1800" dirty="0"/>
              <a:t>部分</a:t>
            </a:r>
            <a:r>
              <a:rPr lang="en-US" altLang="zh-CN" sz="1800" dirty="0"/>
              <a:t>985</a:t>
            </a:r>
            <a:endParaRPr lang="en-US" altLang="zh-CN" sz="1800" dirty="0"/>
          </a:p>
        </p:txBody>
      </p:sp>
      <p:sp>
        <p:nvSpPr>
          <p:cNvPr id="42" name="Rectangle 41"/>
          <p:cNvSpPr/>
          <p:nvPr/>
        </p:nvSpPr>
        <p:spPr>
          <a:xfrm>
            <a:off x="9930776" y="1570606"/>
            <a:ext cx="1614988" cy="42128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全国顶尖高校</a:t>
            </a:r>
            <a:endParaRPr lang="en-US" altLang="zh-CN" sz="1800" dirty="0"/>
          </a:p>
        </p:txBody>
      </p:sp>
      <p:sp>
        <p:nvSpPr>
          <p:cNvPr id="7" name="Arrow: Right 6"/>
          <p:cNvSpPr/>
          <p:nvPr/>
        </p:nvSpPr>
        <p:spPr>
          <a:xfrm rot="19801510">
            <a:off x="3014664" y="5605999"/>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3" name="Arrow: Right 42"/>
          <p:cNvSpPr/>
          <p:nvPr/>
        </p:nvSpPr>
        <p:spPr>
          <a:xfrm rot="19801510">
            <a:off x="5125852" y="4703647"/>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4" name="Arrow: Right 43"/>
          <p:cNvSpPr/>
          <p:nvPr/>
        </p:nvSpPr>
        <p:spPr>
          <a:xfrm rot="19801510">
            <a:off x="7202584" y="3799286"/>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5" name="Arrow: Right 44"/>
          <p:cNvSpPr/>
          <p:nvPr/>
        </p:nvSpPr>
        <p:spPr>
          <a:xfrm rot="19801510">
            <a:off x="9289124" y="2863039"/>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6" name="Rectangle 45"/>
          <p:cNvSpPr/>
          <p:nvPr/>
        </p:nvSpPr>
        <p:spPr>
          <a:xfrm>
            <a:off x="10322986" y="1381127"/>
            <a:ext cx="784418"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复旦大学</a:t>
            </a:r>
            <a:endParaRPr lang="en-US" altLang="zh-CN" sz="1050" dirty="0"/>
          </a:p>
        </p:txBody>
      </p:sp>
      <p:sp>
        <p:nvSpPr>
          <p:cNvPr id="47" name="Rectangle 46"/>
          <p:cNvSpPr/>
          <p:nvPr/>
        </p:nvSpPr>
        <p:spPr>
          <a:xfrm>
            <a:off x="8032778" y="1857242"/>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西安电子科大</a:t>
            </a:r>
            <a:endParaRPr lang="en-US" altLang="zh-CN" sz="1050" dirty="0"/>
          </a:p>
        </p:txBody>
      </p:sp>
      <p:sp>
        <p:nvSpPr>
          <p:cNvPr id="49" name="Rectangle 48"/>
          <p:cNvSpPr/>
          <p:nvPr/>
        </p:nvSpPr>
        <p:spPr>
          <a:xfrm>
            <a:off x="5920954" y="2835910"/>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武汉理工大学</a:t>
            </a:r>
            <a:endParaRPr lang="en-US" altLang="zh-CN" sz="1050" dirty="0"/>
          </a:p>
        </p:txBody>
      </p:sp>
      <p:sp>
        <p:nvSpPr>
          <p:cNvPr id="50" name="Rectangle 49"/>
          <p:cNvSpPr/>
          <p:nvPr/>
        </p:nvSpPr>
        <p:spPr>
          <a:xfrm>
            <a:off x="5920954" y="2644482"/>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xx农业大学</a:t>
            </a:r>
            <a:endParaRPr lang="en-US" altLang="zh-CN" sz="1050" dirty="0"/>
          </a:p>
        </p:txBody>
      </p:sp>
      <p:sp>
        <p:nvSpPr>
          <p:cNvPr id="51" name="Rectangle 50"/>
          <p:cNvSpPr/>
          <p:nvPr/>
        </p:nvSpPr>
        <p:spPr>
          <a:xfrm>
            <a:off x="3761564" y="3787543"/>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武汉城市职院</a:t>
            </a:r>
            <a:endParaRPr lang="en-US" altLang="zh-CN" sz="1050" dirty="0"/>
          </a:p>
        </p:txBody>
      </p:sp>
      <p:sp>
        <p:nvSpPr>
          <p:cNvPr id="52" name="Rectangle 51"/>
          <p:cNvSpPr/>
          <p:nvPr/>
        </p:nvSpPr>
        <p:spPr>
          <a:xfrm>
            <a:off x="1746088" y="4536091"/>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050" dirty="0"/>
              <a:t>……</a:t>
            </a:r>
            <a:endParaRPr lang="en-US" altLang="zh-CN" sz="1050" dirty="0"/>
          </a:p>
        </p:txBody>
      </p:sp>
      <p:sp>
        <p:nvSpPr>
          <p:cNvPr id="53" name="Rectangle 52"/>
          <p:cNvSpPr/>
          <p:nvPr/>
        </p:nvSpPr>
        <p:spPr>
          <a:xfrm>
            <a:off x="3761564" y="3601971"/>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武汉音乐学院</a:t>
            </a:r>
            <a:endParaRPr lang="en-US" altLang="zh-CN" sz="1050" dirty="0"/>
          </a:p>
        </p:txBody>
      </p:sp>
      <p:sp>
        <p:nvSpPr>
          <p:cNvPr id="54" name="矩形: 圆角 21"/>
          <p:cNvSpPr/>
          <p:nvPr/>
        </p:nvSpPr>
        <p:spPr>
          <a:xfrm>
            <a:off x="1814245" y="1062830"/>
            <a:ext cx="4471610" cy="535354"/>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1</a:t>
            </a:r>
            <a:r>
              <a:rPr lang="zh-CN" altLang="en-US" sz="1400" dirty="0">
                <a:solidFill>
                  <a:schemeClr val="tx1"/>
                </a:solidFill>
              </a:rPr>
              <a:t>、通过调研沟通，准确了解用户现状，帮助用户定位其当前的</a:t>
            </a:r>
            <a:r>
              <a:rPr lang="zh-CN" altLang="en-US" sz="1400" dirty="0">
                <a:solidFill>
                  <a:srgbClr val="FF0000"/>
                </a:solidFill>
              </a:rPr>
              <a:t>信息化建设现状</a:t>
            </a:r>
            <a:r>
              <a:rPr lang="zh-CN" altLang="en-US" sz="1400" dirty="0">
                <a:solidFill>
                  <a:schemeClr val="tx1"/>
                </a:solidFill>
              </a:rPr>
              <a:t>和</a:t>
            </a:r>
            <a:r>
              <a:rPr lang="zh-CN" altLang="en-US" sz="1400" dirty="0">
                <a:solidFill>
                  <a:srgbClr val="FF0000"/>
                </a:solidFill>
              </a:rPr>
              <a:t>数据资源条件</a:t>
            </a:r>
            <a:endParaRPr lang="en-US" altLang="zh-CN" sz="1400" dirty="0">
              <a:solidFill>
                <a:srgbClr val="FF0000"/>
              </a:solidFill>
            </a:endParaRPr>
          </a:p>
        </p:txBody>
      </p:sp>
      <p:sp>
        <p:nvSpPr>
          <p:cNvPr id="8" name="Rectangle 7"/>
          <p:cNvSpPr/>
          <p:nvPr/>
        </p:nvSpPr>
        <p:spPr>
          <a:xfrm>
            <a:off x="636365" y="1022050"/>
            <a:ext cx="902811" cy="523220"/>
          </a:xfrm>
          <a:prstGeom prst="rect">
            <a:avLst/>
          </a:prstGeom>
          <a:noFill/>
        </p:spPr>
        <p:txBody>
          <a:bodyPr wrap="none" lIns="91440" tIns="45720" rIns="91440" bIns="45720">
            <a:spAutoFit/>
          </a:bodyPr>
          <a:lstStyle/>
          <a:p>
            <a:pPr algn="ctr"/>
            <a:r>
              <a:rPr lang="zh-CN" alt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要</a:t>
            </a:r>
            <a:r>
              <a:rPr lang="zh-CN" altLang="en-US" sz="2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点</a:t>
            </a:r>
            <a:endParaRPr lang="en-US" altLang="zh-CN" sz="2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57" name="矩形: 圆角 21"/>
          <p:cNvSpPr/>
          <p:nvPr/>
        </p:nvSpPr>
        <p:spPr>
          <a:xfrm>
            <a:off x="916854" y="2393202"/>
            <a:ext cx="4471610" cy="593120"/>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3</a:t>
            </a:r>
            <a:r>
              <a:rPr lang="zh-CN" altLang="en-US" sz="1400" dirty="0">
                <a:solidFill>
                  <a:schemeClr val="tx1"/>
                </a:solidFill>
              </a:rPr>
              <a:t>、通过实际案例，与用户就现状和目标达成共识，确定建设内容边界。</a:t>
            </a:r>
            <a:r>
              <a:rPr lang="zh-CN" altLang="en-US" sz="1400" dirty="0">
                <a:solidFill>
                  <a:srgbClr val="FF0000"/>
                </a:solidFill>
              </a:rPr>
              <a:t>尤其注意避免设定不切实际的目标</a:t>
            </a:r>
            <a:endParaRPr lang="en-US" altLang="zh-CN" sz="1400" dirty="0">
              <a:solidFill>
                <a:srgbClr val="FF0000"/>
              </a:solidFill>
            </a:endParaRPr>
          </a:p>
        </p:txBody>
      </p:sp>
      <p:sp>
        <p:nvSpPr>
          <p:cNvPr id="59" name="矩形: 圆角 21"/>
          <p:cNvSpPr/>
          <p:nvPr/>
        </p:nvSpPr>
        <p:spPr>
          <a:xfrm>
            <a:off x="1374446" y="1712944"/>
            <a:ext cx="4471610" cy="535354"/>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2</a:t>
            </a:r>
            <a:r>
              <a:rPr lang="zh-CN" altLang="en-US" sz="1400" dirty="0">
                <a:solidFill>
                  <a:schemeClr val="tx1"/>
                </a:solidFill>
              </a:rPr>
              <a:t>、一般只能从当前现状出发，以上一级为目标考虑建设方案。</a:t>
            </a:r>
            <a:r>
              <a:rPr lang="zh-CN" altLang="en-US" sz="1400" dirty="0">
                <a:solidFill>
                  <a:srgbClr val="FF0000"/>
                </a:solidFill>
              </a:rPr>
              <a:t>跨级建设通常难以实现</a:t>
            </a:r>
            <a:r>
              <a:rPr lang="zh-CN" altLang="en-US" sz="1400" dirty="0">
                <a:solidFill>
                  <a:schemeClr val="tx1"/>
                </a:solidFill>
              </a:rPr>
              <a:t>（资金</a:t>
            </a:r>
            <a:r>
              <a:rPr lang="en-US" altLang="zh-CN" sz="1400" dirty="0">
                <a:solidFill>
                  <a:schemeClr val="tx1"/>
                </a:solidFill>
              </a:rPr>
              <a:t>/</a:t>
            </a:r>
            <a:r>
              <a:rPr lang="zh-CN" altLang="en-US" sz="1400" dirty="0">
                <a:solidFill>
                  <a:schemeClr val="tx1"/>
                </a:solidFill>
              </a:rPr>
              <a:t>时间</a:t>
            </a:r>
            <a:r>
              <a:rPr lang="en-US" altLang="zh-CN" sz="1400" dirty="0">
                <a:solidFill>
                  <a:schemeClr val="tx1"/>
                </a:solidFill>
              </a:rPr>
              <a:t>/</a:t>
            </a:r>
            <a:r>
              <a:rPr lang="zh-CN" altLang="en-US" sz="1400" dirty="0">
                <a:solidFill>
                  <a:schemeClr val="tx1"/>
                </a:solidFill>
              </a:rPr>
              <a:t>管理机制）</a:t>
            </a:r>
            <a:endParaRPr lang="en-US" altLang="zh-CN" sz="1400" dirty="0">
              <a:solidFill>
                <a:schemeClr val="tx1"/>
              </a:solidFill>
            </a:endParaRPr>
          </a:p>
        </p:txBody>
      </p:sp>
      <p:sp>
        <p:nvSpPr>
          <p:cNvPr id="60" name="Rectangle 59"/>
          <p:cNvSpPr/>
          <p:nvPr/>
        </p:nvSpPr>
        <p:spPr>
          <a:xfrm>
            <a:off x="8038237" y="1472270"/>
            <a:ext cx="1020597"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xx师范大学</a:t>
            </a:r>
            <a:endParaRPr lang="en-US" altLang="zh-CN" sz="1050" dirty="0"/>
          </a:p>
        </p:txBody>
      </p:sp>
      <p:sp>
        <p:nvSpPr>
          <p:cNvPr id="61" name="Rectangle 60"/>
          <p:cNvSpPr/>
          <p:nvPr/>
        </p:nvSpPr>
        <p:spPr>
          <a:xfrm>
            <a:off x="8038237" y="1664756"/>
            <a:ext cx="1020597"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武汉大学</a:t>
            </a:r>
            <a:endParaRPr lang="en-US" altLang="zh-CN" sz="10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54"/>
          <p:cNvGrpSpPr/>
          <p:nvPr/>
        </p:nvGrpSpPr>
        <p:grpSpPr>
          <a:xfrm>
            <a:off x="7733838" y="70638"/>
            <a:ext cx="4412421" cy="262811"/>
            <a:chOff x="5291227" y="0"/>
            <a:chExt cx="3439301" cy="189000"/>
          </a:xfrm>
        </p:grpSpPr>
        <p:sp>
          <p:nvSpPr>
            <p:cNvPr id="12" name="燕尾形 11"/>
            <p:cNvSpPr/>
            <p:nvPr/>
          </p:nvSpPr>
          <p:spPr bwMode="auto">
            <a:xfrm>
              <a:off x="5291227"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3" name="燕尾形 12"/>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4" name="燕尾形 13"/>
            <p:cNvSpPr/>
            <p:nvPr/>
          </p:nvSpPr>
          <p:spPr bwMode="auto">
            <a:xfrm>
              <a:off x="6670247" y="0"/>
              <a:ext cx="857678"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燕尾形 14"/>
            <p:cNvSpPr/>
            <p:nvPr/>
          </p:nvSpPr>
          <p:spPr bwMode="auto">
            <a:xfrm>
              <a:off x="745372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6" name="燕尾形 15"/>
            <p:cNvSpPr/>
            <p:nvPr/>
          </p:nvSpPr>
          <p:spPr bwMode="auto">
            <a:xfrm>
              <a:off x="805570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9" name="组合 5"/>
          <p:cNvGrpSpPr/>
          <p:nvPr/>
        </p:nvGrpSpPr>
        <p:grpSpPr>
          <a:xfrm>
            <a:off x="1264026" y="4847664"/>
            <a:ext cx="4347224" cy="1690725"/>
            <a:chOff x="-3601189" y="8700493"/>
            <a:chExt cx="11265629" cy="4028307"/>
          </a:xfrm>
        </p:grpSpPr>
        <p:sp>
          <p:nvSpPr>
            <p:cNvPr id="37" name="立方体 2"/>
            <p:cNvSpPr/>
            <p:nvPr/>
          </p:nvSpPr>
          <p:spPr>
            <a:xfrm>
              <a:off x="-3601189" y="11588766"/>
              <a:ext cx="5555234" cy="1140034"/>
            </a:xfrm>
            <a:prstGeom prst="cube">
              <a:avLst/>
            </a:prstGeom>
            <a:solidFill>
              <a:schemeClr val="bg2">
                <a:lumMod val="25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solidFill>
                    <a:srgbClr val="FFFF00"/>
                  </a:solidFill>
                  <a:effectLst>
                    <a:outerShdw blurRad="38100" dist="38100" dir="2700000" algn="tl">
                      <a:srgbClr val="000000">
                        <a:alpha val="43137"/>
                      </a:srgbClr>
                    </a:outerShdw>
                  </a:effectLst>
                </a:rPr>
                <a:t>数字化校园</a:t>
              </a:r>
              <a:endParaRPr lang="zh-CN" altLang="en-US" sz="2000" b="1" dirty="0">
                <a:solidFill>
                  <a:srgbClr val="FFFF00"/>
                </a:solidFill>
                <a:effectLst>
                  <a:outerShdw blurRad="38100" dist="38100" dir="2700000" algn="tl">
                    <a:srgbClr val="000000">
                      <a:alpha val="43137"/>
                    </a:srgbClr>
                  </a:outerShdw>
                </a:effectLst>
              </a:endParaRPr>
            </a:p>
          </p:txBody>
        </p:sp>
        <p:sp>
          <p:nvSpPr>
            <p:cNvPr id="20" name="立方体 2"/>
            <p:cNvSpPr/>
            <p:nvPr/>
          </p:nvSpPr>
          <p:spPr>
            <a:xfrm>
              <a:off x="1549390" y="10267306"/>
              <a:ext cx="6115050" cy="2461490"/>
            </a:xfrm>
            <a:prstGeom prst="cub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三大平台</a:t>
              </a:r>
              <a:endParaRPr lang="zh-CN" altLang="en-US" b="1" dirty="0">
                <a:solidFill>
                  <a:srgbClr val="FFFF00"/>
                </a:solidFill>
                <a:effectLst>
                  <a:outerShdw blurRad="38100" dist="38100" dir="2700000" algn="tl">
                    <a:srgbClr val="000000">
                      <a:alpha val="43137"/>
                    </a:srgbClr>
                  </a:outerShdw>
                </a:effectLst>
              </a:endParaRPr>
            </a:p>
          </p:txBody>
        </p:sp>
        <p:sp>
          <p:nvSpPr>
            <p:cNvPr id="21" name="矩形: 圆角 3"/>
            <p:cNvSpPr/>
            <p:nvPr/>
          </p:nvSpPr>
          <p:spPr>
            <a:xfrm>
              <a:off x="2568054" y="8700493"/>
              <a:ext cx="3600713" cy="18656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共享数据库</a:t>
              </a:r>
              <a:endParaRPr lang="en-US" altLang="zh-CN" sz="1400" dirty="0">
                <a:solidFill>
                  <a:schemeClr val="tx1"/>
                </a:solidFill>
              </a:endParaRPr>
            </a:p>
            <a:p>
              <a:pPr algn="ctr"/>
              <a:r>
                <a:rPr lang="zh-CN" altLang="en-US" sz="1400" dirty="0">
                  <a:solidFill>
                    <a:schemeClr val="tx1"/>
                  </a:solidFill>
                </a:rPr>
                <a:t>统一身份认证</a:t>
              </a:r>
              <a:endParaRPr lang="en-US" altLang="zh-CN" sz="1400" dirty="0">
                <a:solidFill>
                  <a:schemeClr val="tx1"/>
                </a:solidFill>
              </a:endParaRPr>
            </a:p>
            <a:p>
              <a:pPr algn="ctr"/>
              <a:r>
                <a:rPr lang="zh-CN" altLang="en-US" sz="1400" dirty="0">
                  <a:solidFill>
                    <a:schemeClr val="tx1"/>
                  </a:solidFill>
                </a:rPr>
                <a:t>统一信息门户</a:t>
              </a:r>
              <a:endParaRPr lang="zh-CN" altLang="en-US" sz="1400" dirty="0">
                <a:solidFill>
                  <a:schemeClr val="tx1"/>
                </a:solidFill>
              </a:endParaRPr>
            </a:p>
          </p:txBody>
        </p:sp>
        <p:sp>
          <p:nvSpPr>
            <p:cNvPr id="38" name="矩形: 圆角 3"/>
            <p:cNvSpPr/>
            <p:nvPr/>
          </p:nvSpPr>
          <p:spPr>
            <a:xfrm>
              <a:off x="-2799544" y="10818140"/>
              <a:ext cx="3523503" cy="93280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业务系统建设</a:t>
              </a:r>
              <a:endParaRPr lang="en-US" altLang="zh-CN" sz="1400" dirty="0">
                <a:solidFill>
                  <a:schemeClr val="tx1"/>
                </a:solidFill>
              </a:endParaRPr>
            </a:p>
          </p:txBody>
        </p:sp>
      </p:grpSp>
      <p:grpSp>
        <p:nvGrpSpPr>
          <p:cNvPr id="22" name="组合 23"/>
          <p:cNvGrpSpPr/>
          <p:nvPr/>
        </p:nvGrpSpPr>
        <p:grpSpPr>
          <a:xfrm>
            <a:off x="5342092" y="4072906"/>
            <a:ext cx="2359699" cy="2465482"/>
            <a:chOff x="6966930" y="6854562"/>
            <a:chExt cx="6115050" cy="5874237"/>
          </a:xfrm>
        </p:grpSpPr>
        <p:sp>
          <p:nvSpPr>
            <p:cNvPr id="23" name="立方体 8"/>
            <p:cNvSpPr/>
            <p:nvPr/>
          </p:nvSpPr>
          <p:spPr>
            <a:xfrm>
              <a:off x="6966930" y="10267309"/>
              <a:ext cx="6115050" cy="2461490"/>
            </a:xfrm>
            <a:prstGeom prst="cube">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4" name="立方体 9"/>
            <p:cNvSpPr/>
            <p:nvPr/>
          </p:nvSpPr>
          <p:spPr>
            <a:xfrm>
              <a:off x="6966930" y="8406540"/>
              <a:ext cx="6115050" cy="2461490"/>
            </a:xfrm>
            <a:prstGeom prst="cube">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综合事务支持</a:t>
              </a:r>
              <a:endParaRPr lang="zh-CN" altLang="en-US" b="1" dirty="0">
                <a:solidFill>
                  <a:srgbClr val="FFFF00"/>
                </a:solidFill>
                <a:effectLst>
                  <a:outerShdw blurRad="38100" dist="38100" dir="2700000" algn="tl">
                    <a:srgbClr val="000000">
                      <a:alpha val="43137"/>
                    </a:srgbClr>
                  </a:outerShdw>
                </a:effectLst>
              </a:endParaRPr>
            </a:p>
          </p:txBody>
        </p:sp>
        <p:sp>
          <p:nvSpPr>
            <p:cNvPr id="25" name="矩形: 圆角 20"/>
            <p:cNvSpPr/>
            <p:nvPr/>
          </p:nvSpPr>
          <p:spPr>
            <a:xfrm>
              <a:off x="8008803" y="6854562"/>
              <a:ext cx="3669319" cy="18656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主数据平台</a:t>
              </a:r>
              <a:endParaRPr lang="en-US" altLang="zh-CN" sz="1400" dirty="0">
                <a:solidFill>
                  <a:schemeClr val="tx1"/>
                </a:solidFill>
              </a:endParaRPr>
            </a:p>
            <a:p>
              <a:pPr algn="ctr"/>
              <a:r>
                <a:rPr lang="zh-CN" altLang="en-US" sz="1400" dirty="0">
                  <a:solidFill>
                    <a:schemeClr val="tx1"/>
                  </a:solidFill>
                </a:rPr>
                <a:t>一站式服务</a:t>
              </a:r>
              <a:endParaRPr lang="en-US" altLang="zh-CN" sz="1400" dirty="0">
                <a:solidFill>
                  <a:schemeClr val="tx1"/>
                </a:solidFill>
              </a:endParaRPr>
            </a:p>
            <a:p>
              <a:pPr algn="ctr"/>
              <a:r>
                <a:rPr lang="zh-CN" altLang="en-US" sz="1400" dirty="0">
                  <a:solidFill>
                    <a:schemeClr val="tx1"/>
                  </a:solidFill>
                </a:rPr>
                <a:t>移动校园</a:t>
              </a:r>
              <a:endParaRPr lang="en-US" altLang="zh-CN" sz="1400" dirty="0">
                <a:solidFill>
                  <a:schemeClr val="tx1"/>
                </a:solidFill>
              </a:endParaRPr>
            </a:p>
          </p:txBody>
        </p:sp>
      </p:grpSp>
      <p:grpSp>
        <p:nvGrpSpPr>
          <p:cNvPr id="26" name="组合 24"/>
          <p:cNvGrpSpPr/>
          <p:nvPr/>
        </p:nvGrpSpPr>
        <p:grpSpPr>
          <a:xfrm>
            <a:off x="7385694" y="3035240"/>
            <a:ext cx="2359699" cy="3503149"/>
            <a:chOff x="12262830" y="4382226"/>
            <a:chExt cx="6115050" cy="8346573"/>
          </a:xfrm>
        </p:grpSpPr>
        <p:sp>
          <p:nvSpPr>
            <p:cNvPr id="27" name="立方体 10"/>
            <p:cNvSpPr/>
            <p:nvPr/>
          </p:nvSpPr>
          <p:spPr>
            <a:xfrm>
              <a:off x="12262830" y="10267309"/>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8" name="立方体 12"/>
            <p:cNvSpPr/>
            <p:nvPr/>
          </p:nvSpPr>
          <p:spPr>
            <a:xfrm>
              <a:off x="12262830" y="8406540"/>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9" name="立方体 14"/>
            <p:cNvSpPr/>
            <p:nvPr/>
          </p:nvSpPr>
          <p:spPr>
            <a:xfrm>
              <a:off x="12262830" y="6545770"/>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科学决策支持</a:t>
              </a:r>
              <a:endParaRPr lang="zh-CN" altLang="en-US" b="1" dirty="0">
                <a:solidFill>
                  <a:srgbClr val="FFFF00"/>
                </a:solidFill>
                <a:effectLst>
                  <a:outerShdw blurRad="38100" dist="38100" dir="2700000" algn="tl">
                    <a:srgbClr val="000000">
                      <a:alpha val="43137"/>
                    </a:srgbClr>
                  </a:outerShdw>
                </a:effectLst>
              </a:endParaRPr>
            </a:p>
          </p:txBody>
        </p:sp>
        <p:sp>
          <p:nvSpPr>
            <p:cNvPr id="30" name="矩形: 圆角 21"/>
            <p:cNvSpPr/>
            <p:nvPr/>
          </p:nvSpPr>
          <p:spPr>
            <a:xfrm>
              <a:off x="13418530" y="4382226"/>
              <a:ext cx="3638305" cy="246149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全量数仓</a:t>
              </a:r>
              <a:endParaRPr lang="en-US" altLang="zh-CN" sz="1400" dirty="0">
                <a:solidFill>
                  <a:schemeClr val="tx1"/>
                </a:solidFill>
              </a:endParaRPr>
            </a:p>
            <a:p>
              <a:pPr algn="ctr"/>
              <a:r>
                <a:rPr lang="zh-CN" altLang="en-US" sz="1400" dirty="0">
                  <a:solidFill>
                    <a:schemeClr val="tx1"/>
                  </a:solidFill>
                </a:rPr>
                <a:t>高质量</a:t>
              </a:r>
              <a:r>
                <a:rPr lang="en-US" altLang="zh-CN" sz="1400" dirty="0">
                  <a:solidFill>
                    <a:schemeClr val="tx1"/>
                  </a:solidFill>
                </a:rPr>
                <a:t>/</a:t>
              </a:r>
              <a:r>
                <a:rPr lang="zh-CN" altLang="en-US" sz="1400" dirty="0">
                  <a:solidFill>
                    <a:schemeClr val="tx1"/>
                  </a:solidFill>
                </a:rPr>
                <a:t>全维度</a:t>
              </a:r>
              <a:endParaRPr lang="en-US" altLang="zh-CN" sz="1400" dirty="0">
                <a:solidFill>
                  <a:schemeClr val="tx1"/>
                </a:solidFill>
              </a:endParaRPr>
            </a:p>
            <a:p>
              <a:pPr algn="ctr"/>
              <a:r>
                <a:rPr lang="zh-CN" altLang="en-US" sz="1400" dirty="0">
                  <a:solidFill>
                    <a:schemeClr val="tx1"/>
                  </a:solidFill>
                </a:rPr>
                <a:t>辅助决策支持</a:t>
              </a:r>
              <a:endParaRPr lang="en-US" altLang="zh-CN" sz="1400" dirty="0">
                <a:solidFill>
                  <a:schemeClr val="tx1"/>
                </a:solidFill>
              </a:endParaRPr>
            </a:p>
            <a:p>
              <a:pPr algn="ctr"/>
              <a:r>
                <a:rPr lang="zh-CN" altLang="en-US" sz="1400" dirty="0">
                  <a:solidFill>
                    <a:schemeClr val="tx1"/>
                  </a:solidFill>
                </a:rPr>
                <a:t>一表通</a:t>
              </a:r>
              <a:endParaRPr lang="zh-CN" altLang="en-US" sz="1400" dirty="0">
                <a:solidFill>
                  <a:schemeClr val="tx1"/>
                </a:solidFill>
              </a:endParaRPr>
            </a:p>
          </p:txBody>
        </p:sp>
      </p:grpSp>
      <p:grpSp>
        <p:nvGrpSpPr>
          <p:cNvPr id="31" name="组合 25"/>
          <p:cNvGrpSpPr/>
          <p:nvPr/>
        </p:nvGrpSpPr>
        <p:grpSpPr>
          <a:xfrm>
            <a:off x="9449277" y="2099462"/>
            <a:ext cx="2359699" cy="4438927"/>
            <a:chOff x="17610510" y="2152650"/>
            <a:chExt cx="6115050" cy="10576149"/>
          </a:xfrm>
        </p:grpSpPr>
        <p:sp>
          <p:nvSpPr>
            <p:cNvPr id="32" name="立方体 15"/>
            <p:cNvSpPr/>
            <p:nvPr/>
          </p:nvSpPr>
          <p:spPr>
            <a:xfrm>
              <a:off x="17610510" y="10267309"/>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33" name="立方体 16"/>
            <p:cNvSpPr/>
            <p:nvPr/>
          </p:nvSpPr>
          <p:spPr>
            <a:xfrm>
              <a:off x="17610510" y="8406540"/>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34" name="立方体 17"/>
            <p:cNvSpPr/>
            <p:nvPr/>
          </p:nvSpPr>
          <p:spPr>
            <a:xfrm>
              <a:off x="17610510" y="6545770"/>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35" name="立方体 18"/>
            <p:cNvSpPr/>
            <p:nvPr/>
          </p:nvSpPr>
          <p:spPr>
            <a:xfrm>
              <a:off x="17610510" y="4685001"/>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战略发展支持</a:t>
              </a:r>
              <a:endParaRPr lang="zh-CN" altLang="en-US" b="1" dirty="0">
                <a:solidFill>
                  <a:srgbClr val="FFFF00"/>
                </a:solidFill>
                <a:effectLst>
                  <a:outerShdw blurRad="38100" dist="38100" dir="2700000" algn="tl">
                    <a:srgbClr val="000000">
                      <a:alpha val="43137"/>
                    </a:srgbClr>
                  </a:outerShdw>
                </a:effectLst>
              </a:endParaRPr>
            </a:p>
          </p:txBody>
        </p:sp>
        <p:sp>
          <p:nvSpPr>
            <p:cNvPr id="36" name="矩形: 圆角 22"/>
            <p:cNvSpPr/>
            <p:nvPr/>
          </p:nvSpPr>
          <p:spPr>
            <a:xfrm>
              <a:off x="18672182" y="2152650"/>
              <a:ext cx="4557390" cy="27800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数据</a:t>
              </a:r>
              <a:r>
                <a:rPr lang="en-US" altLang="zh-CN" sz="1400" dirty="0">
                  <a:solidFill>
                    <a:schemeClr val="tx1"/>
                  </a:solidFill>
                </a:rPr>
                <a:t>=</a:t>
              </a:r>
              <a:r>
                <a:rPr lang="zh-CN" altLang="en-US" sz="1400" dirty="0">
                  <a:solidFill>
                    <a:schemeClr val="tx1"/>
                  </a:solidFill>
                </a:rPr>
                <a:t>战略资产</a:t>
              </a:r>
              <a:endParaRPr lang="en-US" altLang="zh-CN" sz="1400" dirty="0">
                <a:solidFill>
                  <a:schemeClr val="tx1"/>
                </a:solidFill>
              </a:endParaRPr>
            </a:p>
            <a:p>
              <a:pPr algn="ctr"/>
              <a:r>
                <a:rPr lang="zh-CN" altLang="en-US" sz="1400" dirty="0">
                  <a:solidFill>
                    <a:schemeClr val="tx1"/>
                  </a:solidFill>
                </a:rPr>
                <a:t>大数据、人工智能</a:t>
              </a:r>
              <a:endParaRPr lang="en-US" altLang="zh-CN" sz="1400" dirty="0">
                <a:solidFill>
                  <a:schemeClr val="tx1"/>
                </a:solidFill>
              </a:endParaRPr>
            </a:p>
            <a:p>
              <a:pPr algn="ctr"/>
              <a:r>
                <a:rPr lang="zh-CN" altLang="en-US" sz="1400" dirty="0">
                  <a:solidFill>
                    <a:schemeClr val="tx1"/>
                  </a:solidFill>
                </a:rPr>
                <a:t>制度规范建设</a:t>
              </a:r>
              <a:endParaRPr lang="en-US" altLang="zh-CN" sz="1400" dirty="0">
                <a:solidFill>
                  <a:schemeClr val="tx1"/>
                </a:solidFill>
              </a:endParaRPr>
            </a:p>
            <a:p>
              <a:pPr algn="ctr"/>
              <a:r>
                <a:rPr lang="zh-CN" altLang="en-US" sz="1400" dirty="0">
                  <a:solidFill>
                    <a:schemeClr val="tx1"/>
                  </a:solidFill>
                </a:rPr>
                <a:t>学科建设</a:t>
              </a:r>
              <a:endParaRPr lang="en-US" altLang="zh-CN" sz="1400" dirty="0">
                <a:solidFill>
                  <a:schemeClr val="tx1"/>
                </a:solidFill>
              </a:endParaRPr>
            </a:p>
            <a:p>
              <a:pPr algn="ctr"/>
              <a:r>
                <a:rPr lang="zh-CN" altLang="en-US" sz="1400" dirty="0">
                  <a:solidFill>
                    <a:schemeClr val="tx1"/>
                  </a:solidFill>
                </a:rPr>
                <a:t>竞争力、影响力</a:t>
              </a:r>
              <a:endParaRPr lang="en-US" altLang="zh-CN" sz="1400" dirty="0">
                <a:solidFill>
                  <a:schemeClr val="tx1"/>
                </a:solidFill>
              </a:endParaRPr>
            </a:p>
          </p:txBody>
        </p:sp>
      </p:grpSp>
      <p:sp>
        <p:nvSpPr>
          <p:cNvPr id="6" name="Rectangle 5"/>
          <p:cNvSpPr/>
          <p:nvPr/>
        </p:nvSpPr>
        <p:spPr>
          <a:xfrm>
            <a:off x="1602458" y="4734442"/>
            <a:ext cx="1296144" cy="845388"/>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中职</a:t>
            </a:r>
            <a:endParaRPr lang="en-US" altLang="zh-CN" sz="1800" dirty="0"/>
          </a:p>
          <a:p>
            <a:pPr algn="ctr"/>
            <a:r>
              <a:rPr lang="zh-CN" altLang="en-US" sz="1800" dirty="0"/>
              <a:t>独立学院</a:t>
            </a:r>
            <a:endParaRPr lang="en-US" altLang="zh-CN" sz="1800" dirty="0"/>
          </a:p>
          <a:p>
            <a:pPr algn="ctr"/>
            <a:r>
              <a:rPr lang="zh-CN" altLang="en-US" sz="1800" dirty="0"/>
              <a:t>二、三本</a:t>
            </a:r>
            <a:endParaRPr lang="zh-CN" altLang="en-US" sz="1800" dirty="0"/>
          </a:p>
        </p:txBody>
      </p:sp>
      <p:sp>
        <p:nvSpPr>
          <p:cNvPr id="39" name="Rectangle 38"/>
          <p:cNvSpPr/>
          <p:nvPr/>
        </p:nvSpPr>
        <p:spPr>
          <a:xfrm>
            <a:off x="3644637" y="3973765"/>
            <a:ext cx="1296144" cy="760677"/>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一般高职</a:t>
            </a:r>
            <a:endParaRPr lang="en-US" altLang="zh-CN" sz="1800" dirty="0"/>
          </a:p>
          <a:p>
            <a:pPr algn="ctr"/>
            <a:r>
              <a:rPr lang="zh-CN" altLang="en-US" sz="1800" dirty="0"/>
              <a:t>省属本科</a:t>
            </a:r>
            <a:endParaRPr lang="zh-CN" altLang="en-US" sz="1800" dirty="0"/>
          </a:p>
        </p:txBody>
      </p:sp>
      <p:sp>
        <p:nvSpPr>
          <p:cNvPr id="40" name="Rectangle 39"/>
          <p:cNvSpPr/>
          <p:nvPr/>
        </p:nvSpPr>
        <p:spPr>
          <a:xfrm>
            <a:off x="5780617" y="3054910"/>
            <a:ext cx="1296144" cy="88839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部分</a:t>
            </a:r>
            <a:r>
              <a:rPr lang="en-US" altLang="zh-CN" sz="1800" dirty="0"/>
              <a:t>211</a:t>
            </a:r>
            <a:endParaRPr lang="en-US" altLang="zh-CN" sz="1800" dirty="0"/>
          </a:p>
          <a:p>
            <a:pPr algn="ctr"/>
            <a:r>
              <a:rPr lang="zh-CN" altLang="en-US" sz="1800" dirty="0"/>
              <a:t>重点本科</a:t>
            </a:r>
            <a:endParaRPr lang="en-US" altLang="zh-CN" sz="1800" dirty="0"/>
          </a:p>
          <a:p>
            <a:pPr algn="ctr"/>
            <a:r>
              <a:rPr lang="zh-CN" altLang="en-US" sz="1800" dirty="0"/>
              <a:t>重点高职</a:t>
            </a:r>
            <a:endParaRPr lang="zh-CN" altLang="en-US" sz="1800" dirty="0"/>
          </a:p>
        </p:txBody>
      </p:sp>
      <p:sp>
        <p:nvSpPr>
          <p:cNvPr id="41" name="Rectangle 40"/>
          <p:cNvSpPr/>
          <p:nvPr/>
        </p:nvSpPr>
        <p:spPr>
          <a:xfrm>
            <a:off x="7917596" y="2038545"/>
            <a:ext cx="1296144" cy="88839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主流</a:t>
            </a:r>
            <a:r>
              <a:rPr lang="en-US" altLang="zh-CN" sz="1800" dirty="0"/>
              <a:t>211</a:t>
            </a:r>
            <a:endParaRPr lang="en-US" altLang="zh-CN" sz="1800" dirty="0"/>
          </a:p>
          <a:p>
            <a:pPr algn="ctr"/>
            <a:r>
              <a:rPr lang="zh-CN" altLang="en-US" sz="1800" dirty="0"/>
              <a:t>部分</a:t>
            </a:r>
            <a:r>
              <a:rPr lang="en-US" altLang="zh-CN" sz="1800" dirty="0"/>
              <a:t>985</a:t>
            </a:r>
            <a:endParaRPr lang="en-US" altLang="zh-CN" sz="1800" dirty="0"/>
          </a:p>
        </p:txBody>
      </p:sp>
      <p:sp>
        <p:nvSpPr>
          <p:cNvPr id="42" name="Rectangle 41"/>
          <p:cNvSpPr/>
          <p:nvPr/>
        </p:nvSpPr>
        <p:spPr>
          <a:xfrm>
            <a:off x="9930776" y="1570606"/>
            <a:ext cx="1614988" cy="42128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1800" dirty="0"/>
              <a:t>全国顶尖高校</a:t>
            </a:r>
            <a:endParaRPr lang="en-US" altLang="zh-CN" sz="1800" dirty="0"/>
          </a:p>
        </p:txBody>
      </p:sp>
      <p:sp>
        <p:nvSpPr>
          <p:cNvPr id="7" name="Arrow: Right 6"/>
          <p:cNvSpPr/>
          <p:nvPr/>
        </p:nvSpPr>
        <p:spPr>
          <a:xfrm rot="19801510">
            <a:off x="3014664" y="5605999"/>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3" name="Arrow: Right 42"/>
          <p:cNvSpPr/>
          <p:nvPr/>
        </p:nvSpPr>
        <p:spPr>
          <a:xfrm rot="19801510">
            <a:off x="5125852" y="4703647"/>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4" name="Arrow: Right 43"/>
          <p:cNvSpPr/>
          <p:nvPr/>
        </p:nvSpPr>
        <p:spPr>
          <a:xfrm rot="19801510">
            <a:off x="7202584" y="3799286"/>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5" name="Arrow: Right 44"/>
          <p:cNvSpPr/>
          <p:nvPr/>
        </p:nvSpPr>
        <p:spPr>
          <a:xfrm rot="19801510">
            <a:off x="9289124" y="2863039"/>
            <a:ext cx="538214" cy="288032"/>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6" name="Rectangle 45"/>
          <p:cNvSpPr/>
          <p:nvPr/>
        </p:nvSpPr>
        <p:spPr>
          <a:xfrm>
            <a:off x="10322986" y="1381127"/>
            <a:ext cx="784418"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复旦大学</a:t>
            </a:r>
            <a:endParaRPr lang="en-US" altLang="zh-CN" sz="1050" dirty="0"/>
          </a:p>
        </p:txBody>
      </p:sp>
      <p:sp>
        <p:nvSpPr>
          <p:cNvPr id="47" name="Rectangle 46"/>
          <p:cNvSpPr/>
          <p:nvPr/>
        </p:nvSpPr>
        <p:spPr>
          <a:xfrm>
            <a:off x="8032778" y="1857242"/>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西安电子科大</a:t>
            </a:r>
            <a:endParaRPr lang="en-US" altLang="zh-CN" sz="1050" dirty="0"/>
          </a:p>
        </p:txBody>
      </p:sp>
      <p:sp>
        <p:nvSpPr>
          <p:cNvPr id="49" name="Rectangle 48"/>
          <p:cNvSpPr/>
          <p:nvPr/>
        </p:nvSpPr>
        <p:spPr>
          <a:xfrm>
            <a:off x="5920954" y="2835910"/>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武汉理工大学</a:t>
            </a:r>
            <a:endParaRPr lang="en-US" altLang="zh-CN" sz="1050" dirty="0"/>
          </a:p>
        </p:txBody>
      </p:sp>
      <p:sp>
        <p:nvSpPr>
          <p:cNvPr id="50" name="Rectangle 49"/>
          <p:cNvSpPr/>
          <p:nvPr/>
        </p:nvSpPr>
        <p:spPr>
          <a:xfrm>
            <a:off x="5920954" y="2644482"/>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xx农业大学</a:t>
            </a:r>
            <a:endParaRPr lang="en-US" altLang="zh-CN" sz="1050" dirty="0"/>
          </a:p>
        </p:txBody>
      </p:sp>
      <p:sp>
        <p:nvSpPr>
          <p:cNvPr id="51" name="Rectangle 50"/>
          <p:cNvSpPr/>
          <p:nvPr/>
        </p:nvSpPr>
        <p:spPr>
          <a:xfrm>
            <a:off x="3761564" y="3787543"/>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武汉城市职院</a:t>
            </a:r>
            <a:endParaRPr lang="en-US" altLang="zh-CN" sz="1050" dirty="0"/>
          </a:p>
        </p:txBody>
      </p:sp>
      <p:sp>
        <p:nvSpPr>
          <p:cNvPr id="52" name="Rectangle 51"/>
          <p:cNvSpPr/>
          <p:nvPr/>
        </p:nvSpPr>
        <p:spPr>
          <a:xfrm>
            <a:off x="1746088" y="4536091"/>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050" dirty="0"/>
              <a:t>……</a:t>
            </a:r>
            <a:endParaRPr lang="en-US" altLang="zh-CN" sz="1050" dirty="0"/>
          </a:p>
        </p:txBody>
      </p:sp>
      <p:sp>
        <p:nvSpPr>
          <p:cNvPr id="53" name="Rectangle 52"/>
          <p:cNvSpPr/>
          <p:nvPr/>
        </p:nvSpPr>
        <p:spPr>
          <a:xfrm>
            <a:off x="3761564" y="3601971"/>
            <a:ext cx="1062289"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武汉音乐学院</a:t>
            </a:r>
            <a:endParaRPr lang="en-US" altLang="zh-CN" sz="1050" dirty="0"/>
          </a:p>
        </p:txBody>
      </p:sp>
      <p:sp>
        <p:nvSpPr>
          <p:cNvPr id="60" name="Rectangle 59"/>
          <p:cNvSpPr/>
          <p:nvPr/>
        </p:nvSpPr>
        <p:spPr>
          <a:xfrm>
            <a:off x="8038237" y="1472270"/>
            <a:ext cx="1020597"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xx师范大学</a:t>
            </a:r>
            <a:endParaRPr lang="en-US" altLang="zh-CN" sz="1050" dirty="0"/>
          </a:p>
        </p:txBody>
      </p:sp>
      <p:sp>
        <p:nvSpPr>
          <p:cNvPr id="61" name="Rectangle 60"/>
          <p:cNvSpPr/>
          <p:nvPr/>
        </p:nvSpPr>
        <p:spPr>
          <a:xfrm>
            <a:off x="8038237" y="1664756"/>
            <a:ext cx="1020597" cy="146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50" dirty="0"/>
              <a:t>武汉大学</a:t>
            </a:r>
            <a:endParaRPr lang="en-US" altLang="zh-CN" sz="1050" dirty="0"/>
          </a:p>
        </p:txBody>
      </p:sp>
      <p:sp>
        <p:nvSpPr>
          <p:cNvPr id="55" name="矩形: 圆角 21"/>
          <p:cNvSpPr/>
          <p:nvPr/>
        </p:nvSpPr>
        <p:spPr>
          <a:xfrm>
            <a:off x="560151" y="1574311"/>
            <a:ext cx="4601332" cy="347721"/>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1</a:t>
            </a:r>
            <a:r>
              <a:rPr lang="zh-CN" altLang="en-US" sz="1400" dirty="0">
                <a:solidFill>
                  <a:schemeClr val="tx1"/>
                </a:solidFill>
              </a:rPr>
              <a:t>、不同层次、不同建设阶段的高校、职校均为潜在客户</a:t>
            </a:r>
            <a:endParaRPr lang="en-US" altLang="zh-CN" sz="1400" dirty="0">
              <a:solidFill>
                <a:srgbClr val="FF0000"/>
              </a:solidFill>
            </a:endParaRPr>
          </a:p>
        </p:txBody>
      </p:sp>
      <p:sp>
        <p:nvSpPr>
          <p:cNvPr id="56" name="Rectangle 55"/>
          <p:cNvSpPr/>
          <p:nvPr/>
        </p:nvSpPr>
        <p:spPr>
          <a:xfrm>
            <a:off x="555116" y="1029497"/>
            <a:ext cx="902811" cy="523220"/>
          </a:xfrm>
          <a:prstGeom prst="rect">
            <a:avLst/>
          </a:prstGeom>
          <a:noFill/>
        </p:spPr>
        <p:txBody>
          <a:bodyPr wrap="none" lIns="91440" tIns="45720" rIns="91440" bIns="45720">
            <a:spAutoFit/>
          </a:bodyPr>
          <a:lstStyle/>
          <a:p>
            <a:pPr algn="ctr"/>
            <a:r>
              <a:rPr lang="zh-CN" alt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要</a:t>
            </a:r>
            <a:r>
              <a:rPr lang="zh-CN" altLang="en-US" sz="2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点</a:t>
            </a:r>
            <a:endParaRPr lang="en-US" altLang="zh-CN" sz="2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58" name="矩形: 圆角 21"/>
          <p:cNvSpPr/>
          <p:nvPr/>
        </p:nvSpPr>
        <p:spPr>
          <a:xfrm>
            <a:off x="560151" y="2007375"/>
            <a:ext cx="4601332" cy="347721"/>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2</a:t>
            </a:r>
            <a:r>
              <a:rPr lang="zh-CN" altLang="en-US" sz="1400" dirty="0">
                <a:solidFill>
                  <a:schemeClr val="tx1"/>
                </a:solidFill>
              </a:rPr>
              <a:t>、负责部门：</a:t>
            </a:r>
            <a:r>
              <a:rPr lang="zh-CN" altLang="en-US" sz="1400" dirty="0">
                <a:solidFill>
                  <a:srgbClr val="FF0000"/>
                </a:solidFill>
              </a:rPr>
              <a:t>信息中心</a:t>
            </a:r>
            <a:r>
              <a:rPr lang="zh-CN" altLang="en-US" sz="1400" dirty="0">
                <a:solidFill>
                  <a:schemeClr val="tx1"/>
                </a:solidFill>
              </a:rPr>
              <a:t>。</a:t>
            </a:r>
            <a:r>
              <a:rPr lang="zh-CN" altLang="en-US" sz="1400" dirty="0">
                <a:solidFill>
                  <a:srgbClr val="FF0000"/>
                </a:solidFill>
              </a:rPr>
              <a:t>校领导</a:t>
            </a:r>
            <a:r>
              <a:rPr lang="zh-CN" altLang="en-US" sz="1400" dirty="0">
                <a:solidFill>
                  <a:schemeClr val="tx1"/>
                </a:solidFill>
              </a:rPr>
              <a:t>对项目推进有巨大作用</a:t>
            </a:r>
            <a:endParaRPr lang="en-US" altLang="zh-CN" sz="1400" dirty="0">
              <a:solidFill>
                <a:srgbClr val="FF0000"/>
              </a:solidFill>
            </a:endParaRPr>
          </a:p>
        </p:txBody>
      </p:sp>
      <p:sp>
        <p:nvSpPr>
          <p:cNvPr id="64" name="标题 1"/>
          <p:cNvSpPr>
            <a:spLocks noGrp="1"/>
          </p:cNvSpPr>
          <p:nvPr>
            <p:ph type="ctrTitle"/>
          </p:nvPr>
        </p:nvSpPr>
        <p:spPr>
          <a:xfrm>
            <a:off x="517588" y="165139"/>
            <a:ext cx="11160000" cy="888392"/>
          </a:xfrm>
        </p:spPr>
        <p:txBody>
          <a:bodyPr/>
          <a:lstStyle/>
          <a:p>
            <a:r>
              <a:rPr lang="zh-CN" altLang="en-US" dirty="0"/>
              <a:t>我们的客户是谁？</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17588" y="165139"/>
            <a:ext cx="11160000" cy="888392"/>
          </a:xfrm>
        </p:spPr>
        <p:txBody>
          <a:bodyPr/>
          <a:lstStyle/>
          <a:p>
            <a:r>
              <a:rPr lang="zh-CN" altLang="en-US" dirty="0"/>
              <a:t>我们的客户是谁？</a:t>
            </a:r>
            <a:endParaRPr lang="zh-CN" altLang="en-US" dirty="0"/>
          </a:p>
        </p:txBody>
      </p:sp>
      <p:grpSp>
        <p:nvGrpSpPr>
          <p:cNvPr id="4" name="组合 54"/>
          <p:cNvGrpSpPr/>
          <p:nvPr/>
        </p:nvGrpSpPr>
        <p:grpSpPr>
          <a:xfrm>
            <a:off x="7733838" y="70638"/>
            <a:ext cx="4412421" cy="262811"/>
            <a:chOff x="5291227" y="0"/>
            <a:chExt cx="3439301" cy="189000"/>
          </a:xfrm>
        </p:grpSpPr>
        <p:sp>
          <p:nvSpPr>
            <p:cNvPr id="5" name="燕尾形 4"/>
            <p:cNvSpPr/>
            <p:nvPr/>
          </p:nvSpPr>
          <p:spPr bwMode="auto">
            <a:xfrm>
              <a:off x="5291227"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燕尾形 5"/>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燕尾形 6"/>
            <p:cNvSpPr/>
            <p:nvPr/>
          </p:nvSpPr>
          <p:spPr bwMode="auto">
            <a:xfrm>
              <a:off x="667024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燕尾形 7"/>
            <p:cNvSpPr/>
            <p:nvPr/>
          </p:nvSpPr>
          <p:spPr bwMode="auto">
            <a:xfrm>
              <a:off x="7453724" y="0"/>
              <a:ext cx="674824"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燕尾形 8"/>
            <p:cNvSpPr/>
            <p:nvPr/>
          </p:nvSpPr>
          <p:spPr bwMode="auto">
            <a:xfrm>
              <a:off x="805570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0" name="组合 5"/>
          <p:cNvGrpSpPr/>
          <p:nvPr/>
        </p:nvGrpSpPr>
        <p:grpSpPr>
          <a:xfrm>
            <a:off x="1199480" y="4800105"/>
            <a:ext cx="4347224" cy="1690725"/>
            <a:chOff x="-3601189" y="8700493"/>
            <a:chExt cx="11265629" cy="4028307"/>
          </a:xfrm>
        </p:grpSpPr>
        <p:sp>
          <p:nvSpPr>
            <p:cNvPr id="11" name="立方体 2"/>
            <p:cNvSpPr/>
            <p:nvPr/>
          </p:nvSpPr>
          <p:spPr>
            <a:xfrm>
              <a:off x="-3601189" y="11588766"/>
              <a:ext cx="5555234" cy="1140034"/>
            </a:xfrm>
            <a:prstGeom prst="cube">
              <a:avLst/>
            </a:prstGeom>
            <a:solidFill>
              <a:schemeClr val="bg2">
                <a:lumMod val="25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zh-CN" altLang="en-US" sz="2000" b="1" dirty="0">
                  <a:solidFill>
                    <a:srgbClr val="FFFF00"/>
                  </a:solidFill>
                  <a:effectLst>
                    <a:outerShdw blurRad="38100" dist="38100" dir="2700000" algn="tl">
                      <a:srgbClr val="000000">
                        <a:alpha val="43137"/>
                      </a:srgbClr>
                    </a:outerShdw>
                  </a:effectLst>
                </a:rPr>
                <a:t>数字化校园</a:t>
              </a:r>
              <a:endParaRPr lang="zh-CN" altLang="en-US" sz="2000" b="1" dirty="0">
                <a:solidFill>
                  <a:srgbClr val="FFFF00"/>
                </a:solidFill>
                <a:effectLst>
                  <a:outerShdw blurRad="38100" dist="38100" dir="2700000" algn="tl">
                    <a:srgbClr val="000000">
                      <a:alpha val="43137"/>
                    </a:srgbClr>
                  </a:outerShdw>
                </a:effectLst>
              </a:endParaRPr>
            </a:p>
          </p:txBody>
        </p:sp>
        <p:sp>
          <p:nvSpPr>
            <p:cNvPr id="12" name="立方体 2"/>
            <p:cNvSpPr/>
            <p:nvPr/>
          </p:nvSpPr>
          <p:spPr>
            <a:xfrm>
              <a:off x="1549390" y="10267306"/>
              <a:ext cx="6115050" cy="2461490"/>
            </a:xfrm>
            <a:prstGeom prst="cub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三大平台</a:t>
              </a:r>
              <a:endParaRPr lang="zh-CN" altLang="en-US" b="1" dirty="0">
                <a:solidFill>
                  <a:srgbClr val="FFFF00"/>
                </a:solidFill>
                <a:effectLst>
                  <a:outerShdw blurRad="38100" dist="38100" dir="2700000" algn="tl">
                    <a:srgbClr val="000000">
                      <a:alpha val="43137"/>
                    </a:srgbClr>
                  </a:outerShdw>
                </a:effectLst>
              </a:endParaRPr>
            </a:p>
          </p:txBody>
        </p:sp>
        <p:sp>
          <p:nvSpPr>
            <p:cNvPr id="13" name="矩形: 圆角 3"/>
            <p:cNvSpPr/>
            <p:nvPr/>
          </p:nvSpPr>
          <p:spPr>
            <a:xfrm>
              <a:off x="2568054" y="8700493"/>
              <a:ext cx="3600713" cy="18656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共享数据库</a:t>
              </a:r>
              <a:endParaRPr lang="en-US" altLang="zh-CN" sz="1400" dirty="0">
                <a:solidFill>
                  <a:schemeClr val="tx1"/>
                </a:solidFill>
              </a:endParaRPr>
            </a:p>
            <a:p>
              <a:pPr algn="ctr"/>
              <a:r>
                <a:rPr lang="zh-CN" altLang="en-US" sz="1400" dirty="0">
                  <a:solidFill>
                    <a:schemeClr val="tx1"/>
                  </a:solidFill>
                </a:rPr>
                <a:t>统一身份认证</a:t>
              </a:r>
              <a:endParaRPr lang="en-US" altLang="zh-CN" sz="1400" dirty="0">
                <a:solidFill>
                  <a:schemeClr val="tx1"/>
                </a:solidFill>
              </a:endParaRPr>
            </a:p>
            <a:p>
              <a:pPr algn="ctr"/>
              <a:r>
                <a:rPr lang="zh-CN" altLang="en-US" sz="1400" dirty="0">
                  <a:solidFill>
                    <a:schemeClr val="tx1"/>
                  </a:solidFill>
                </a:rPr>
                <a:t>统一信息门户</a:t>
              </a:r>
              <a:endParaRPr lang="zh-CN" altLang="en-US" sz="1400" dirty="0">
                <a:solidFill>
                  <a:schemeClr val="tx1"/>
                </a:solidFill>
              </a:endParaRPr>
            </a:p>
          </p:txBody>
        </p:sp>
        <p:sp>
          <p:nvSpPr>
            <p:cNvPr id="14" name="矩形: 圆角 3"/>
            <p:cNvSpPr/>
            <p:nvPr/>
          </p:nvSpPr>
          <p:spPr>
            <a:xfrm>
              <a:off x="-2799544" y="10818140"/>
              <a:ext cx="3523503" cy="93280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业务系统建设</a:t>
              </a:r>
              <a:endParaRPr lang="en-US" altLang="zh-CN" sz="1400" dirty="0">
                <a:solidFill>
                  <a:schemeClr val="tx1"/>
                </a:solidFill>
              </a:endParaRPr>
            </a:p>
          </p:txBody>
        </p:sp>
      </p:grpSp>
      <p:grpSp>
        <p:nvGrpSpPr>
          <p:cNvPr id="15" name="组合 23"/>
          <p:cNvGrpSpPr/>
          <p:nvPr/>
        </p:nvGrpSpPr>
        <p:grpSpPr>
          <a:xfrm>
            <a:off x="5277546" y="4025347"/>
            <a:ext cx="2359699" cy="2465482"/>
            <a:chOff x="6966930" y="6854562"/>
            <a:chExt cx="6115050" cy="5874237"/>
          </a:xfrm>
        </p:grpSpPr>
        <p:sp>
          <p:nvSpPr>
            <p:cNvPr id="16" name="立方体 8"/>
            <p:cNvSpPr/>
            <p:nvPr/>
          </p:nvSpPr>
          <p:spPr>
            <a:xfrm>
              <a:off x="6966930" y="10267309"/>
              <a:ext cx="6115050" cy="2461490"/>
            </a:xfrm>
            <a:prstGeom prst="cube">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17" name="立方体 9"/>
            <p:cNvSpPr/>
            <p:nvPr/>
          </p:nvSpPr>
          <p:spPr>
            <a:xfrm>
              <a:off x="6966930" y="8406540"/>
              <a:ext cx="6115050" cy="2461490"/>
            </a:xfrm>
            <a:prstGeom prst="cube">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综合事务支持</a:t>
              </a:r>
              <a:endParaRPr lang="zh-CN" altLang="en-US" b="1" dirty="0">
                <a:solidFill>
                  <a:srgbClr val="FFFF00"/>
                </a:solidFill>
                <a:effectLst>
                  <a:outerShdw blurRad="38100" dist="38100" dir="2700000" algn="tl">
                    <a:srgbClr val="000000">
                      <a:alpha val="43137"/>
                    </a:srgbClr>
                  </a:outerShdw>
                </a:effectLst>
              </a:endParaRPr>
            </a:p>
          </p:txBody>
        </p:sp>
        <p:sp>
          <p:nvSpPr>
            <p:cNvPr id="18" name="矩形: 圆角 20"/>
            <p:cNvSpPr/>
            <p:nvPr/>
          </p:nvSpPr>
          <p:spPr>
            <a:xfrm>
              <a:off x="8008803" y="6854562"/>
              <a:ext cx="3669319" cy="18656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主数据平台</a:t>
              </a:r>
              <a:endParaRPr lang="en-US" altLang="zh-CN" sz="1400" dirty="0">
                <a:solidFill>
                  <a:schemeClr val="tx1"/>
                </a:solidFill>
              </a:endParaRPr>
            </a:p>
            <a:p>
              <a:pPr algn="ctr"/>
              <a:r>
                <a:rPr lang="zh-CN" altLang="en-US" sz="1400" dirty="0">
                  <a:solidFill>
                    <a:schemeClr val="tx1"/>
                  </a:solidFill>
                </a:rPr>
                <a:t>一站式服务</a:t>
              </a:r>
              <a:endParaRPr lang="en-US" altLang="zh-CN" sz="1400" dirty="0">
                <a:solidFill>
                  <a:schemeClr val="tx1"/>
                </a:solidFill>
              </a:endParaRPr>
            </a:p>
            <a:p>
              <a:pPr algn="ctr"/>
              <a:r>
                <a:rPr lang="zh-CN" altLang="en-US" sz="1400" dirty="0">
                  <a:solidFill>
                    <a:schemeClr val="tx1"/>
                  </a:solidFill>
                </a:rPr>
                <a:t>移动校园</a:t>
              </a:r>
              <a:endParaRPr lang="en-US" altLang="zh-CN" sz="1400" dirty="0">
                <a:solidFill>
                  <a:schemeClr val="tx1"/>
                </a:solidFill>
              </a:endParaRPr>
            </a:p>
          </p:txBody>
        </p:sp>
      </p:grpSp>
      <p:grpSp>
        <p:nvGrpSpPr>
          <p:cNvPr id="19" name="组合 24"/>
          <p:cNvGrpSpPr/>
          <p:nvPr/>
        </p:nvGrpSpPr>
        <p:grpSpPr>
          <a:xfrm>
            <a:off x="7321148" y="2987681"/>
            <a:ext cx="2359699" cy="3503149"/>
            <a:chOff x="12262830" y="4382226"/>
            <a:chExt cx="6115050" cy="8346573"/>
          </a:xfrm>
        </p:grpSpPr>
        <p:sp>
          <p:nvSpPr>
            <p:cNvPr id="20" name="立方体 10"/>
            <p:cNvSpPr/>
            <p:nvPr/>
          </p:nvSpPr>
          <p:spPr>
            <a:xfrm>
              <a:off x="12262830" y="10267309"/>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1" name="立方体 12"/>
            <p:cNvSpPr/>
            <p:nvPr/>
          </p:nvSpPr>
          <p:spPr>
            <a:xfrm>
              <a:off x="12262830" y="8406540"/>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2" name="立方体 14"/>
            <p:cNvSpPr/>
            <p:nvPr/>
          </p:nvSpPr>
          <p:spPr>
            <a:xfrm>
              <a:off x="12262830" y="6545770"/>
              <a:ext cx="6115050" cy="2461490"/>
            </a:xfrm>
            <a:prstGeom prst="cub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科学决策支持</a:t>
              </a:r>
              <a:endParaRPr lang="zh-CN" altLang="en-US" b="1" dirty="0">
                <a:solidFill>
                  <a:srgbClr val="FFFF00"/>
                </a:solidFill>
                <a:effectLst>
                  <a:outerShdw blurRad="38100" dist="38100" dir="2700000" algn="tl">
                    <a:srgbClr val="000000">
                      <a:alpha val="43137"/>
                    </a:srgbClr>
                  </a:outerShdw>
                </a:effectLst>
              </a:endParaRPr>
            </a:p>
          </p:txBody>
        </p:sp>
        <p:sp>
          <p:nvSpPr>
            <p:cNvPr id="23" name="矩形: 圆角 21"/>
            <p:cNvSpPr/>
            <p:nvPr/>
          </p:nvSpPr>
          <p:spPr>
            <a:xfrm>
              <a:off x="13418530" y="4382226"/>
              <a:ext cx="3638305" cy="246149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全量数仓</a:t>
              </a:r>
              <a:endParaRPr lang="en-US" altLang="zh-CN" sz="1400" dirty="0">
                <a:solidFill>
                  <a:schemeClr val="tx1"/>
                </a:solidFill>
              </a:endParaRPr>
            </a:p>
            <a:p>
              <a:pPr algn="ctr"/>
              <a:r>
                <a:rPr lang="zh-CN" altLang="en-US" sz="1400" dirty="0">
                  <a:solidFill>
                    <a:schemeClr val="tx1"/>
                  </a:solidFill>
                </a:rPr>
                <a:t>高质量</a:t>
              </a:r>
              <a:r>
                <a:rPr lang="en-US" altLang="zh-CN" sz="1400" dirty="0">
                  <a:solidFill>
                    <a:schemeClr val="tx1"/>
                  </a:solidFill>
                </a:rPr>
                <a:t>/</a:t>
              </a:r>
              <a:r>
                <a:rPr lang="zh-CN" altLang="en-US" sz="1400" dirty="0">
                  <a:solidFill>
                    <a:schemeClr val="tx1"/>
                  </a:solidFill>
                </a:rPr>
                <a:t>全维度</a:t>
              </a:r>
              <a:endParaRPr lang="en-US" altLang="zh-CN" sz="1400" dirty="0">
                <a:solidFill>
                  <a:schemeClr val="tx1"/>
                </a:solidFill>
              </a:endParaRPr>
            </a:p>
            <a:p>
              <a:pPr algn="ctr"/>
              <a:r>
                <a:rPr lang="zh-CN" altLang="en-US" sz="1400" dirty="0">
                  <a:solidFill>
                    <a:schemeClr val="tx1"/>
                  </a:solidFill>
                </a:rPr>
                <a:t>辅助决策支持</a:t>
              </a:r>
              <a:endParaRPr lang="en-US" altLang="zh-CN" sz="1400" dirty="0">
                <a:solidFill>
                  <a:schemeClr val="tx1"/>
                </a:solidFill>
              </a:endParaRPr>
            </a:p>
            <a:p>
              <a:pPr algn="ctr"/>
              <a:r>
                <a:rPr lang="zh-CN" altLang="en-US" sz="1400" dirty="0">
                  <a:solidFill>
                    <a:schemeClr val="tx1"/>
                  </a:solidFill>
                </a:rPr>
                <a:t>一表通</a:t>
              </a:r>
              <a:endParaRPr lang="zh-CN" altLang="en-US" sz="1400" dirty="0">
                <a:solidFill>
                  <a:schemeClr val="tx1"/>
                </a:solidFill>
              </a:endParaRPr>
            </a:p>
          </p:txBody>
        </p:sp>
      </p:grpSp>
      <p:grpSp>
        <p:nvGrpSpPr>
          <p:cNvPr id="24" name="组合 25"/>
          <p:cNvGrpSpPr/>
          <p:nvPr/>
        </p:nvGrpSpPr>
        <p:grpSpPr>
          <a:xfrm>
            <a:off x="9384731" y="2051903"/>
            <a:ext cx="2359699" cy="4438927"/>
            <a:chOff x="17610510" y="2152650"/>
            <a:chExt cx="6115050" cy="10576149"/>
          </a:xfrm>
        </p:grpSpPr>
        <p:sp>
          <p:nvSpPr>
            <p:cNvPr id="25" name="立方体 15"/>
            <p:cNvSpPr/>
            <p:nvPr/>
          </p:nvSpPr>
          <p:spPr>
            <a:xfrm>
              <a:off x="17610510" y="10267309"/>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6" name="立方体 16"/>
            <p:cNvSpPr/>
            <p:nvPr/>
          </p:nvSpPr>
          <p:spPr>
            <a:xfrm>
              <a:off x="17610510" y="8406540"/>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7" name="立方体 17"/>
            <p:cNvSpPr/>
            <p:nvPr/>
          </p:nvSpPr>
          <p:spPr>
            <a:xfrm>
              <a:off x="17610510" y="6545770"/>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1200"/>
            </a:p>
          </p:txBody>
        </p:sp>
        <p:sp>
          <p:nvSpPr>
            <p:cNvPr id="28" name="立方体 18"/>
            <p:cNvSpPr/>
            <p:nvPr/>
          </p:nvSpPr>
          <p:spPr>
            <a:xfrm>
              <a:off x="17610510" y="4685001"/>
              <a:ext cx="6115050" cy="2461490"/>
            </a:xfrm>
            <a:prstGeom prst="cub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b="1" dirty="0">
                  <a:solidFill>
                    <a:srgbClr val="FFFF00"/>
                  </a:solidFill>
                  <a:effectLst>
                    <a:outerShdw blurRad="38100" dist="38100" dir="2700000" algn="tl">
                      <a:srgbClr val="000000">
                        <a:alpha val="43137"/>
                      </a:srgbClr>
                    </a:outerShdw>
                  </a:effectLst>
                </a:rPr>
                <a:t>战略发展支持</a:t>
              </a:r>
              <a:endParaRPr lang="zh-CN" altLang="en-US" b="1" dirty="0">
                <a:solidFill>
                  <a:srgbClr val="FFFF00"/>
                </a:solidFill>
                <a:effectLst>
                  <a:outerShdw blurRad="38100" dist="38100" dir="2700000" algn="tl">
                    <a:srgbClr val="000000">
                      <a:alpha val="43137"/>
                    </a:srgbClr>
                  </a:outerShdw>
                </a:effectLst>
              </a:endParaRPr>
            </a:p>
          </p:txBody>
        </p:sp>
        <p:sp>
          <p:nvSpPr>
            <p:cNvPr id="29" name="矩形: 圆角 22"/>
            <p:cNvSpPr/>
            <p:nvPr/>
          </p:nvSpPr>
          <p:spPr>
            <a:xfrm>
              <a:off x="18672182" y="2152650"/>
              <a:ext cx="4557390" cy="27800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数据</a:t>
              </a:r>
              <a:r>
                <a:rPr lang="en-US" altLang="zh-CN" sz="1400" dirty="0">
                  <a:solidFill>
                    <a:schemeClr val="tx1"/>
                  </a:solidFill>
                </a:rPr>
                <a:t>=</a:t>
              </a:r>
              <a:r>
                <a:rPr lang="zh-CN" altLang="en-US" sz="1400" dirty="0">
                  <a:solidFill>
                    <a:schemeClr val="tx1"/>
                  </a:solidFill>
                </a:rPr>
                <a:t>战略资产</a:t>
              </a:r>
              <a:endParaRPr lang="en-US" altLang="zh-CN" sz="1400" dirty="0">
                <a:solidFill>
                  <a:schemeClr val="tx1"/>
                </a:solidFill>
              </a:endParaRPr>
            </a:p>
            <a:p>
              <a:pPr algn="ctr"/>
              <a:r>
                <a:rPr lang="zh-CN" altLang="en-US" sz="1400" dirty="0">
                  <a:solidFill>
                    <a:schemeClr val="tx1"/>
                  </a:solidFill>
                </a:rPr>
                <a:t>大数据、人工智能</a:t>
              </a:r>
              <a:endParaRPr lang="en-US" altLang="zh-CN" sz="1400" dirty="0">
                <a:solidFill>
                  <a:schemeClr val="tx1"/>
                </a:solidFill>
              </a:endParaRPr>
            </a:p>
            <a:p>
              <a:pPr algn="ctr"/>
              <a:r>
                <a:rPr lang="zh-CN" altLang="en-US" sz="1400" dirty="0">
                  <a:solidFill>
                    <a:schemeClr val="tx1"/>
                  </a:solidFill>
                </a:rPr>
                <a:t>制度规范建设</a:t>
              </a:r>
              <a:endParaRPr lang="en-US" altLang="zh-CN" sz="1400" dirty="0">
                <a:solidFill>
                  <a:schemeClr val="tx1"/>
                </a:solidFill>
              </a:endParaRPr>
            </a:p>
            <a:p>
              <a:pPr algn="ctr"/>
              <a:r>
                <a:rPr lang="zh-CN" altLang="en-US" sz="1400" dirty="0">
                  <a:solidFill>
                    <a:schemeClr val="tx1"/>
                  </a:solidFill>
                </a:rPr>
                <a:t>学科建设</a:t>
              </a:r>
              <a:endParaRPr lang="en-US" altLang="zh-CN" sz="1400" dirty="0">
                <a:solidFill>
                  <a:schemeClr val="tx1"/>
                </a:solidFill>
              </a:endParaRPr>
            </a:p>
            <a:p>
              <a:pPr algn="ctr"/>
              <a:r>
                <a:rPr lang="zh-CN" altLang="en-US" sz="1400" dirty="0">
                  <a:solidFill>
                    <a:schemeClr val="tx1"/>
                  </a:solidFill>
                </a:rPr>
                <a:t>竞争力、影响力</a:t>
              </a:r>
              <a:endParaRPr lang="en-US" altLang="zh-CN" sz="1400" dirty="0">
                <a:solidFill>
                  <a:schemeClr val="tx1"/>
                </a:solidFill>
              </a:endParaRPr>
            </a:p>
          </p:txBody>
        </p:sp>
      </p:grpSp>
      <p:sp>
        <p:nvSpPr>
          <p:cNvPr id="52" name="矩形: 圆角 21"/>
          <p:cNvSpPr/>
          <p:nvPr/>
        </p:nvSpPr>
        <p:spPr>
          <a:xfrm>
            <a:off x="1614401" y="4758737"/>
            <a:ext cx="1143165" cy="336033"/>
          </a:xfrm>
          <a:prstGeom prst="roundRect">
            <a:avLst>
              <a:gd name="adj" fmla="val 1175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tx1"/>
                </a:solidFill>
              </a:rPr>
              <a:t>云服务</a:t>
            </a:r>
            <a:endParaRPr lang="en-US" altLang="zh-CN" sz="1400" dirty="0">
              <a:solidFill>
                <a:srgbClr val="FF0000"/>
              </a:solidFill>
            </a:endParaRPr>
          </a:p>
        </p:txBody>
      </p:sp>
      <p:sp>
        <p:nvSpPr>
          <p:cNvPr id="54" name="Rectangle 53"/>
          <p:cNvSpPr/>
          <p:nvPr/>
        </p:nvSpPr>
        <p:spPr>
          <a:xfrm>
            <a:off x="555116" y="1029497"/>
            <a:ext cx="902811" cy="523220"/>
          </a:xfrm>
          <a:prstGeom prst="rect">
            <a:avLst/>
          </a:prstGeom>
          <a:noFill/>
        </p:spPr>
        <p:txBody>
          <a:bodyPr wrap="none" lIns="91440" tIns="45720" rIns="91440" bIns="45720">
            <a:spAutoFit/>
          </a:bodyPr>
          <a:lstStyle/>
          <a:p>
            <a:pPr algn="ctr"/>
            <a:r>
              <a:rPr lang="zh-CN" alt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要</a:t>
            </a:r>
            <a:r>
              <a:rPr lang="zh-CN" altLang="en-US" sz="2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点</a:t>
            </a:r>
            <a:endParaRPr lang="en-US" altLang="zh-CN" sz="2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59" name="矩形: 圆角 21"/>
          <p:cNvSpPr/>
          <p:nvPr/>
        </p:nvSpPr>
        <p:spPr>
          <a:xfrm>
            <a:off x="552867" y="1568358"/>
            <a:ext cx="4409397"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3</a:t>
            </a:r>
            <a:r>
              <a:rPr lang="zh-CN" altLang="en-US" sz="1400" dirty="0">
                <a:solidFill>
                  <a:schemeClr val="tx1"/>
                </a:solidFill>
              </a:rPr>
              <a:t>、针对不同的客户需求重点，分别建议如下</a:t>
            </a:r>
            <a:r>
              <a:rPr lang="en-US" altLang="zh-CN" sz="1400" dirty="0">
                <a:solidFill>
                  <a:schemeClr val="tx1"/>
                </a:solidFill>
              </a:rPr>
              <a:t>:</a:t>
            </a:r>
            <a:endParaRPr lang="en-US" altLang="zh-CN" sz="1400" dirty="0">
              <a:solidFill>
                <a:srgbClr val="FF0000"/>
              </a:solidFill>
            </a:endParaRPr>
          </a:p>
        </p:txBody>
      </p:sp>
      <p:sp>
        <p:nvSpPr>
          <p:cNvPr id="62" name="矩形: 圆角 21"/>
          <p:cNvSpPr/>
          <p:nvPr/>
        </p:nvSpPr>
        <p:spPr>
          <a:xfrm>
            <a:off x="3580091" y="3669098"/>
            <a:ext cx="1529838" cy="542486"/>
          </a:xfrm>
          <a:prstGeom prst="roundRect">
            <a:avLst>
              <a:gd name="adj" fmla="val 1175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tx1"/>
                </a:solidFill>
              </a:rPr>
              <a:t>云服务</a:t>
            </a:r>
            <a:endParaRPr lang="en-US" altLang="zh-CN" sz="1400" dirty="0">
              <a:solidFill>
                <a:schemeClr val="tx1"/>
              </a:solidFill>
            </a:endParaRPr>
          </a:p>
          <a:p>
            <a:pPr algn="ctr"/>
            <a:r>
              <a:rPr lang="zh-CN" altLang="en-US" sz="1400" dirty="0">
                <a:solidFill>
                  <a:schemeClr val="tx1"/>
                </a:solidFill>
              </a:rPr>
              <a:t>数据集成共享</a:t>
            </a:r>
            <a:endParaRPr lang="en-US" altLang="zh-CN" sz="1400" dirty="0">
              <a:solidFill>
                <a:schemeClr val="tx1"/>
              </a:solidFill>
            </a:endParaRPr>
          </a:p>
        </p:txBody>
      </p:sp>
      <p:sp>
        <p:nvSpPr>
          <p:cNvPr id="64" name="矩形: 圆角 21"/>
          <p:cNvSpPr/>
          <p:nvPr/>
        </p:nvSpPr>
        <p:spPr>
          <a:xfrm>
            <a:off x="5647852" y="2943277"/>
            <a:ext cx="1581667" cy="511894"/>
          </a:xfrm>
          <a:prstGeom prst="roundRect">
            <a:avLst>
              <a:gd name="adj" fmla="val 1175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tx1"/>
                </a:solidFill>
              </a:rPr>
              <a:t>云服务</a:t>
            </a:r>
            <a:endParaRPr lang="en-US" altLang="zh-CN" sz="1400" dirty="0">
              <a:solidFill>
                <a:schemeClr val="tx1"/>
              </a:solidFill>
            </a:endParaRPr>
          </a:p>
          <a:p>
            <a:pPr algn="ctr"/>
            <a:r>
              <a:rPr lang="zh-CN" altLang="en-US" sz="1400" dirty="0">
                <a:solidFill>
                  <a:schemeClr val="tx1"/>
                </a:solidFill>
              </a:rPr>
              <a:t>核心主数据治理</a:t>
            </a:r>
            <a:endParaRPr lang="en-US" altLang="zh-CN" sz="1400" dirty="0">
              <a:solidFill>
                <a:schemeClr val="tx1"/>
              </a:solidFill>
            </a:endParaRPr>
          </a:p>
        </p:txBody>
      </p:sp>
      <p:sp>
        <p:nvSpPr>
          <p:cNvPr id="66" name="矩形: 圆角 21"/>
          <p:cNvSpPr/>
          <p:nvPr/>
        </p:nvSpPr>
        <p:spPr>
          <a:xfrm>
            <a:off x="7767114" y="1921161"/>
            <a:ext cx="1403963" cy="537663"/>
          </a:xfrm>
          <a:prstGeom prst="roundRect">
            <a:avLst>
              <a:gd name="adj" fmla="val 1175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tx1"/>
                </a:solidFill>
              </a:rPr>
              <a:t>云服务</a:t>
            </a:r>
            <a:endParaRPr lang="en-US" altLang="zh-CN" sz="1400" dirty="0">
              <a:solidFill>
                <a:schemeClr val="tx1"/>
              </a:solidFill>
            </a:endParaRPr>
          </a:p>
          <a:p>
            <a:pPr algn="ctr"/>
            <a:r>
              <a:rPr lang="zh-CN" altLang="en-US" sz="1400" dirty="0">
                <a:solidFill>
                  <a:schemeClr val="tx1"/>
                </a:solidFill>
              </a:rPr>
              <a:t>全量数据治理</a:t>
            </a:r>
            <a:endParaRPr lang="en-US" altLang="zh-CN" sz="1400" dirty="0">
              <a:solidFill>
                <a:schemeClr val="tx1"/>
              </a:solidFill>
            </a:endParaRPr>
          </a:p>
        </p:txBody>
      </p:sp>
      <p:sp>
        <p:nvSpPr>
          <p:cNvPr id="67" name="矩形: 圆角 21"/>
          <p:cNvSpPr/>
          <p:nvPr/>
        </p:nvSpPr>
        <p:spPr>
          <a:xfrm>
            <a:off x="9935383" y="739958"/>
            <a:ext cx="1403963" cy="713015"/>
          </a:xfrm>
          <a:prstGeom prst="roundRect">
            <a:avLst>
              <a:gd name="adj" fmla="val 1175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tx1"/>
                </a:solidFill>
              </a:rPr>
              <a:t>云服务</a:t>
            </a:r>
            <a:endParaRPr lang="en-US" altLang="zh-CN" sz="1400" dirty="0">
              <a:solidFill>
                <a:schemeClr val="tx1"/>
              </a:solidFill>
            </a:endParaRPr>
          </a:p>
          <a:p>
            <a:pPr algn="ctr"/>
            <a:r>
              <a:rPr lang="zh-CN" altLang="en-US" sz="1400" dirty="0">
                <a:solidFill>
                  <a:schemeClr val="tx1"/>
                </a:solidFill>
              </a:rPr>
              <a:t>全量数据治理</a:t>
            </a:r>
            <a:endParaRPr lang="en-US" altLang="zh-CN" sz="1400" dirty="0">
              <a:solidFill>
                <a:schemeClr val="tx1"/>
              </a:solidFill>
            </a:endParaRPr>
          </a:p>
          <a:p>
            <a:pPr algn="ctr"/>
            <a:r>
              <a:rPr lang="zh-CN" altLang="en-US" sz="1400" dirty="0">
                <a:solidFill>
                  <a:schemeClr val="tx1"/>
                </a:solidFill>
              </a:rPr>
              <a:t>管理制度咨询</a:t>
            </a:r>
            <a:endParaRPr lang="en-US" altLang="zh-CN" sz="1400" dirty="0">
              <a:solidFill>
                <a:schemeClr val="tx1"/>
              </a:solidFill>
            </a:endParaRPr>
          </a:p>
        </p:txBody>
      </p:sp>
      <p:sp>
        <p:nvSpPr>
          <p:cNvPr id="3" name="Arrow: Up 2"/>
          <p:cNvSpPr/>
          <p:nvPr/>
        </p:nvSpPr>
        <p:spPr>
          <a:xfrm>
            <a:off x="1985959" y="5241808"/>
            <a:ext cx="360040" cy="352803"/>
          </a:xfrm>
          <a:prstGeom prst="up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9" name="Arrow: Up 38"/>
          <p:cNvSpPr/>
          <p:nvPr/>
        </p:nvSpPr>
        <p:spPr>
          <a:xfrm>
            <a:off x="4140539" y="4322569"/>
            <a:ext cx="360040" cy="352803"/>
          </a:xfrm>
          <a:prstGeom prst="up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0" name="Arrow: Up 39"/>
          <p:cNvSpPr/>
          <p:nvPr/>
        </p:nvSpPr>
        <p:spPr>
          <a:xfrm>
            <a:off x="6258666" y="3592632"/>
            <a:ext cx="360040" cy="352803"/>
          </a:xfrm>
          <a:prstGeom prst="up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1" name="Arrow: Up 40"/>
          <p:cNvSpPr/>
          <p:nvPr/>
        </p:nvSpPr>
        <p:spPr>
          <a:xfrm>
            <a:off x="8320978" y="2514118"/>
            <a:ext cx="360040" cy="352803"/>
          </a:xfrm>
          <a:prstGeom prst="up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42" name="Arrow: Up 41"/>
          <p:cNvSpPr/>
          <p:nvPr/>
        </p:nvSpPr>
        <p:spPr>
          <a:xfrm>
            <a:off x="10493704" y="1629026"/>
            <a:ext cx="360040" cy="352803"/>
          </a:xfrm>
          <a:prstGeom prst="up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17588" y="165139"/>
            <a:ext cx="11160000" cy="888392"/>
          </a:xfrm>
        </p:spPr>
        <p:txBody>
          <a:bodyPr/>
          <a:lstStyle/>
          <a:p>
            <a:r>
              <a:rPr lang="zh-CN" altLang="en-US" dirty="0"/>
              <a:t>客户需求：他们关注什么？</a:t>
            </a:r>
            <a:endParaRPr lang="zh-CN" altLang="en-US" dirty="0"/>
          </a:p>
        </p:txBody>
      </p:sp>
      <p:grpSp>
        <p:nvGrpSpPr>
          <p:cNvPr id="4" name="组合 54"/>
          <p:cNvGrpSpPr/>
          <p:nvPr/>
        </p:nvGrpSpPr>
        <p:grpSpPr>
          <a:xfrm>
            <a:off x="7733838" y="70638"/>
            <a:ext cx="4412421" cy="262811"/>
            <a:chOff x="5291227" y="0"/>
            <a:chExt cx="3439301" cy="189000"/>
          </a:xfrm>
        </p:grpSpPr>
        <p:sp>
          <p:nvSpPr>
            <p:cNvPr id="5" name="燕尾形 4"/>
            <p:cNvSpPr/>
            <p:nvPr/>
          </p:nvSpPr>
          <p:spPr bwMode="auto">
            <a:xfrm>
              <a:off x="5291227"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燕尾形 5"/>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燕尾形 6"/>
            <p:cNvSpPr/>
            <p:nvPr/>
          </p:nvSpPr>
          <p:spPr bwMode="auto">
            <a:xfrm>
              <a:off x="667024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燕尾形 7"/>
            <p:cNvSpPr/>
            <p:nvPr/>
          </p:nvSpPr>
          <p:spPr bwMode="auto">
            <a:xfrm>
              <a:off x="7453724" y="0"/>
              <a:ext cx="674824"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燕尾形 8"/>
            <p:cNvSpPr/>
            <p:nvPr/>
          </p:nvSpPr>
          <p:spPr bwMode="auto">
            <a:xfrm>
              <a:off x="805570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0" name="矩形: 圆角 21"/>
          <p:cNvSpPr/>
          <p:nvPr/>
        </p:nvSpPr>
        <p:spPr>
          <a:xfrm>
            <a:off x="560151" y="1419853"/>
            <a:ext cx="5537436" cy="347721"/>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1</a:t>
            </a:r>
            <a:r>
              <a:rPr lang="zh-CN" altLang="en-US" sz="1400" dirty="0">
                <a:solidFill>
                  <a:schemeClr val="tx1"/>
                </a:solidFill>
              </a:rPr>
              <a:t>、数据治理对学校的价值是什么？为什么需要做数据治理？</a:t>
            </a:r>
            <a:endParaRPr lang="en-US" altLang="zh-CN" sz="1400" dirty="0">
              <a:solidFill>
                <a:srgbClr val="FF0000"/>
              </a:solidFill>
            </a:endParaRPr>
          </a:p>
        </p:txBody>
      </p:sp>
      <p:sp>
        <p:nvSpPr>
          <p:cNvPr id="12" name="矩形: 圆角 21"/>
          <p:cNvSpPr/>
          <p:nvPr/>
        </p:nvSpPr>
        <p:spPr>
          <a:xfrm>
            <a:off x="560151" y="1852917"/>
            <a:ext cx="5537436" cy="347721"/>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2</a:t>
            </a:r>
            <a:r>
              <a:rPr lang="zh-CN" altLang="en-US" sz="1400" dirty="0">
                <a:solidFill>
                  <a:schemeClr val="tx1"/>
                </a:solidFill>
              </a:rPr>
              <a:t>、数据治理有哪些成果？如何向全校和领导证明和体现这些成果？</a:t>
            </a:r>
            <a:endParaRPr lang="en-US" altLang="zh-CN" sz="1400" dirty="0">
              <a:solidFill>
                <a:srgbClr val="FF0000"/>
              </a:solidFill>
            </a:endParaRPr>
          </a:p>
        </p:txBody>
      </p:sp>
      <p:sp>
        <p:nvSpPr>
          <p:cNvPr id="13" name="矩形: 圆角 21"/>
          <p:cNvSpPr/>
          <p:nvPr/>
        </p:nvSpPr>
        <p:spPr>
          <a:xfrm>
            <a:off x="560151" y="2296430"/>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3</a:t>
            </a:r>
            <a:r>
              <a:rPr lang="zh-CN" altLang="en-US" sz="1400" dirty="0">
                <a:solidFill>
                  <a:schemeClr val="tx1"/>
                </a:solidFill>
              </a:rPr>
              <a:t>、学校需要提供哪些资源和配套工作？分别需要各部门做什么？</a:t>
            </a:r>
            <a:endParaRPr lang="en-US" altLang="zh-CN" sz="1400" dirty="0">
              <a:solidFill>
                <a:srgbClr val="FF0000"/>
              </a:solidFill>
            </a:endParaRPr>
          </a:p>
        </p:txBody>
      </p:sp>
      <p:sp>
        <p:nvSpPr>
          <p:cNvPr id="14" name="矩形: 圆角 21"/>
          <p:cNvSpPr/>
          <p:nvPr/>
        </p:nvSpPr>
        <p:spPr>
          <a:xfrm>
            <a:off x="560151" y="2745025"/>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4</a:t>
            </a:r>
            <a:r>
              <a:rPr lang="zh-CN" altLang="en-US" sz="1400" dirty="0">
                <a:solidFill>
                  <a:schemeClr val="tx1"/>
                </a:solidFill>
              </a:rPr>
              <a:t>、希嘉（华为）的数据治理与传统三大平台方案的区别？</a:t>
            </a:r>
            <a:endParaRPr lang="en-US" altLang="zh-CN" sz="1400" dirty="0">
              <a:solidFill>
                <a:srgbClr val="FF0000"/>
              </a:solidFill>
            </a:endParaRPr>
          </a:p>
        </p:txBody>
      </p:sp>
      <p:sp>
        <p:nvSpPr>
          <p:cNvPr id="15" name="矩形: 圆角 21"/>
          <p:cNvSpPr/>
          <p:nvPr/>
        </p:nvSpPr>
        <p:spPr>
          <a:xfrm>
            <a:off x="560151" y="3193620"/>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5</a:t>
            </a:r>
            <a:r>
              <a:rPr lang="zh-CN" altLang="en-US" sz="1400" dirty="0">
                <a:solidFill>
                  <a:schemeClr val="tx1"/>
                </a:solidFill>
              </a:rPr>
              <a:t>、数据标准如何确定？如何落地执行？</a:t>
            </a:r>
            <a:endParaRPr lang="en-US" altLang="zh-CN" sz="1400" dirty="0">
              <a:solidFill>
                <a:srgbClr val="FF0000"/>
              </a:solidFill>
            </a:endParaRPr>
          </a:p>
        </p:txBody>
      </p:sp>
      <p:sp>
        <p:nvSpPr>
          <p:cNvPr id="16" name="矩形: 圆角 21"/>
          <p:cNvSpPr/>
          <p:nvPr/>
        </p:nvSpPr>
        <p:spPr>
          <a:xfrm>
            <a:off x="6241603" y="1419853"/>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1</a:t>
            </a:r>
            <a:r>
              <a:rPr lang="zh-CN" altLang="en-US" sz="1400" dirty="0">
                <a:solidFill>
                  <a:schemeClr val="tx1"/>
                </a:solidFill>
              </a:rPr>
              <a:t>、当前虚拟化用的挺好的</a:t>
            </a:r>
            <a:r>
              <a:rPr lang="en-US" altLang="zh-CN" sz="1400" dirty="0">
                <a:solidFill>
                  <a:schemeClr val="tx1"/>
                </a:solidFill>
              </a:rPr>
              <a:t>…</a:t>
            </a:r>
            <a:r>
              <a:rPr lang="zh-CN" altLang="en-US" sz="1400" dirty="0">
                <a:solidFill>
                  <a:schemeClr val="tx1"/>
                </a:solidFill>
              </a:rPr>
              <a:t>为什么要上云？</a:t>
            </a:r>
            <a:endParaRPr lang="en-US" altLang="zh-CN" sz="1400" dirty="0">
              <a:solidFill>
                <a:srgbClr val="FF0000"/>
              </a:solidFill>
            </a:endParaRPr>
          </a:p>
        </p:txBody>
      </p:sp>
      <p:sp>
        <p:nvSpPr>
          <p:cNvPr id="17" name="矩形: 圆角 21"/>
          <p:cNvSpPr/>
          <p:nvPr/>
        </p:nvSpPr>
        <p:spPr>
          <a:xfrm>
            <a:off x="6241603" y="1868448"/>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2</a:t>
            </a:r>
            <a:r>
              <a:rPr lang="zh-CN" altLang="en-US" sz="1400" dirty="0">
                <a:solidFill>
                  <a:schemeClr val="tx1"/>
                </a:solidFill>
              </a:rPr>
              <a:t>、设备</a:t>
            </a:r>
            <a:r>
              <a:rPr lang="en-US" altLang="zh-CN" sz="1400" dirty="0">
                <a:solidFill>
                  <a:schemeClr val="tx1"/>
                </a:solidFill>
              </a:rPr>
              <a:t>=</a:t>
            </a:r>
            <a:r>
              <a:rPr lang="zh-CN" altLang="en-US" sz="1400" dirty="0">
                <a:solidFill>
                  <a:schemeClr val="tx1"/>
                </a:solidFill>
              </a:rPr>
              <a:t>资产，但购买云服务</a:t>
            </a:r>
            <a:r>
              <a:rPr lang="en-US" altLang="zh-CN" sz="1400" dirty="0">
                <a:solidFill>
                  <a:schemeClr val="tx1"/>
                </a:solidFill>
              </a:rPr>
              <a:t>…</a:t>
            </a:r>
            <a:r>
              <a:rPr lang="zh-CN" altLang="en-US" sz="1400" dirty="0">
                <a:solidFill>
                  <a:schemeClr val="tx1"/>
                </a:solidFill>
              </a:rPr>
              <a:t>？长期成本？</a:t>
            </a:r>
            <a:endParaRPr lang="en-US" altLang="zh-CN" sz="1400" dirty="0">
              <a:solidFill>
                <a:srgbClr val="FF0000"/>
              </a:solidFill>
            </a:endParaRPr>
          </a:p>
        </p:txBody>
      </p:sp>
      <p:sp>
        <p:nvSpPr>
          <p:cNvPr id="18" name="矩形: 圆角 21"/>
          <p:cNvSpPr/>
          <p:nvPr/>
        </p:nvSpPr>
        <p:spPr>
          <a:xfrm>
            <a:off x="6241603" y="2317043"/>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3</a:t>
            </a:r>
            <a:r>
              <a:rPr lang="zh-CN" altLang="en-US" sz="1400" dirty="0">
                <a:solidFill>
                  <a:schemeClr val="tx1"/>
                </a:solidFill>
              </a:rPr>
              <a:t>、上云后现在部门这些人怎么安排？职责如何调整？部门被拿掉</a:t>
            </a:r>
            <a:r>
              <a:rPr lang="en-US" altLang="zh-CN" sz="1400" dirty="0">
                <a:solidFill>
                  <a:schemeClr val="tx1"/>
                </a:solidFill>
              </a:rPr>
              <a:t>…?</a:t>
            </a:r>
            <a:endParaRPr lang="en-US" altLang="zh-CN" sz="1400" dirty="0">
              <a:solidFill>
                <a:srgbClr val="FF0000"/>
              </a:solidFill>
            </a:endParaRPr>
          </a:p>
        </p:txBody>
      </p:sp>
      <p:sp>
        <p:nvSpPr>
          <p:cNvPr id="19" name="矩形: 圆角 21"/>
          <p:cNvSpPr/>
          <p:nvPr/>
        </p:nvSpPr>
        <p:spPr>
          <a:xfrm>
            <a:off x="6241603" y="2765638"/>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4</a:t>
            </a:r>
            <a:r>
              <a:rPr lang="zh-CN" altLang="en-US" sz="1400" dirty="0">
                <a:solidFill>
                  <a:schemeClr val="tx1"/>
                </a:solidFill>
              </a:rPr>
              <a:t>、华为云服务与当前的虚拟化平台异同点？</a:t>
            </a:r>
            <a:endParaRPr lang="en-US" altLang="zh-CN" sz="1400" dirty="0">
              <a:solidFill>
                <a:srgbClr val="FF0000"/>
              </a:solidFill>
            </a:endParaRPr>
          </a:p>
        </p:txBody>
      </p:sp>
      <p:sp>
        <p:nvSpPr>
          <p:cNvPr id="20" name="矩形: 圆角 21"/>
          <p:cNvSpPr/>
          <p:nvPr/>
        </p:nvSpPr>
        <p:spPr>
          <a:xfrm>
            <a:off x="2634140" y="965205"/>
            <a:ext cx="1389458" cy="352803"/>
          </a:xfrm>
          <a:prstGeom prst="roundRect">
            <a:avLst>
              <a:gd name="adj" fmla="val 1175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tx1"/>
                </a:solidFill>
              </a:rPr>
              <a:t>数据治理相关</a:t>
            </a:r>
            <a:endParaRPr lang="en-US" altLang="zh-CN" sz="1400" dirty="0">
              <a:solidFill>
                <a:schemeClr val="tx1"/>
              </a:solidFill>
            </a:endParaRPr>
          </a:p>
        </p:txBody>
      </p:sp>
      <p:sp>
        <p:nvSpPr>
          <p:cNvPr id="21" name="矩形: 圆角 21"/>
          <p:cNvSpPr/>
          <p:nvPr/>
        </p:nvSpPr>
        <p:spPr>
          <a:xfrm>
            <a:off x="8315592" y="965205"/>
            <a:ext cx="1389458" cy="352803"/>
          </a:xfrm>
          <a:prstGeom prst="roundRect">
            <a:avLst>
              <a:gd name="adj" fmla="val 1175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tx1"/>
                </a:solidFill>
              </a:rPr>
              <a:t>云服务相关</a:t>
            </a:r>
            <a:endParaRPr lang="en-US" altLang="zh-CN" sz="1400" dirty="0">
              <a:solidFill>
                <a:schemeClr val="tx1"/>
              </a:solidFill>
            </a:endParaRPr>
          </a:p>
        </p:txBody>
      </p:sp>
      <p:sp>
        <p:nvSpPr>
          <p:cNvPr id="22" name="矩形: 圆角 21"/>
          <p:cNvSpPr/>
          <p:nvPr/>
        </p:nvSpPr>
        <p:spPr>
          <a:xfrm>
            <a:off x="560151" y="3642215"/>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6</a:t>
            </a:r>
            <a:r>
              <a:rPr lang="zh-CN" altLang="en-US" sz="1400" dirty="0">
                <a:solidFill>
                  <a:schemeClr val="tx1"/>
                </a:solidFill>
              </a:rPr>
              <a:t>、数据交换能否实现足够的实时性？如何保障高实时场景需求？</a:t>
            </a:r>
            <a:endParaRPr lang="en-US" altLang="zh-CN" sz="1400" dirty="0">
              <a:solidFill>
                <a:srgbClr val="FF0000"/>
              </a:solidFill>
            </a:endParaRPr>
          </a:p>
        </p:txBody>
      </p:sp>
      <p:sp>
        <p:nvSpPr>
          <p:cNvPr id="23" name="矩形: 圆角 21"/>
          <p:cNvSpPr/>
          <p:nvPr/>
        </p:nvSpPr>
        <p:spPr>
          <a:xfrm>
            <a:off x="560151" y="4090810"/>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7</a:t>
            </a:r>
            <a:r>
              <a:rPr lang="zh-CN" altLang="en-US" sz="1400" dirty="0">
                <a:solidFill>
                  <a:schemeClr val="tx1"/>
                </a:solidFill>
              </a:rPr>
              <a:t>、治理后生成的数仓与当前共享库什么关系？有哪些可能选项？</a:t>
            </a:r>
            <a:endParaRPr lang="en-US" altLang="zh-CN" sz="1400" dirty="0">
              <a:solidFill>
                <a:srgbClr val="FF0000"/>
              </a:solidFill>
            </a:endParaRPr>
          </a:p>
        </p:txBody>
      </p:sp>
      <p:sp>
        <p:nvSpPr>
          <p:cNvPr id="24" name="矩形: 圆角 21"/>
          <p:cNvSpPr/>
          <p:nvPr/>
        </p:nvSpPr>
        <p:spPr>
          <a:xfrm>
            <a:off x="560151" y="4539405"/>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8</a:t>
            </a:r>
            <a:r>
              <a:rPr lang="zh-CN" altLang="en-US" sz="1400" dirty="0">
                <a:solidFill>
                  <a:schemeClr val="tx1"/>
                </a:solidFill>
              </a:rPr>
              <a:t>、原有的数据交换共享如何平滑无风险迁移到新建的数仓中？</a:t>
            </a:r>
            <a:endParaRPr lang="en-US" altLang="zh-CN" sz="1400" dirty="0">
              <a:solidFill>
                <a:srgbClr val="FF0000"/>
              </a:solidFill>
            </a:endParaRPr>
          </a:p>
        </p:txBody>
      </p:sp>
      <p:sp>
        <p:nvSpPr>
          <p:cNvPr id="25" name="矩形: 圆角 21"/>
          <p:cNvSpPr/>
          <p:nvPr/>
        </p:nvSpPr>
        <p:spPr>
          <a:xfrm>
            <a:off x="560151" y="4988000"/>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9</a:t>
            </a:r>
            <a:r>
              <a:rPr lang="zh-CN" altLang="en-US" sz="1400" dirty="0">
                <a:solidFill>
                  <a:schemeClr val="tx1"/>
                </a:solidFill>
              </a:rPr>
              <a:t>、</a:t>
            </a:r>
            <a:r>
              <a:rPr lang="en-US" altLang="zh-CN" sz="1400" dirty="0">
                <a:solidFill>
                  <a:schemeClr val="tx1"/>
                </a:solidFill>
              </a:rPr>
              <a:t>(</a:t>
            </a:r>
            <a:r>
              <a:rPr lang="zh-CN" altLang="en-US" sz="1400" dirty="0">
                <a:solidFill>
                  <a:schemeClr val="tx1"/>
                </a:solidFill>
              </a:rPr>
              <a:t>华为</a:t>
            </a:r>
            <a:r>
              <a:rPr lang="en-US" altLang="zh-CN" sz="1400" dirty="0">
                <a:solidFill>
                  <a:schemeClr val="tx1"/>
                </a:solidFill>
              </a:rPr>
              <a:t>)</a:t>
            </a:r>
            <a:r>
              <a:rPr lang="zh-CN" altLang="en-US" sz="1400" dirty="0">
                <a:solidFill>
                  <a:schemeClr val="tx1"/>
                </a:solidFill>
              </a:rPr>
              <a:t>数据工具的功能、易用性如何？学校是否有能力接手管理？</a:t>
            </a:r>
            <a:endParaRPr lang="en-US" altLang="zh-CN" sz="1400" dirty="0">
              <a:solidFill>
                <a:srgbClr val="FF0000"/>
              </a:solidFill>
            </a:endParaRPr>
          </a:p>
        </p:txBody>
      </p:sp>
      <p:sp>
        <p:nvSpPr>
          <p:cNvPr id="26" name="矩形: 圆角 21"/>
          <p:cNvSpPr/>
          <p:nvPr/>
        </p:nvSpPr>
        <p:spPr>
          <a:xfrm>
            <a:off x="560151" y="5436595"/>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10</a:t>
            </a:r>
            <a:r>
              <a:rPr lang="zh-CN" altLang="en-US" sz="1400" dirty="0">
                <a:solidFill>
                  <a:schemeClr val="tx1"/>
                </a:solidFill>
              </a:rPr>
              <a:t>、数据质量问题如何发现？如何有效提升数据质量？</a:t>
            </a:r>
            <a:endParaRPr lang="en-US" altLang="zh-CN" sz="1400" dirty="0">
              <a:solidFill>
                <a:srgbClr val="FF0000"/>
              </a:solidFill>
            </a:endParaRPr>
          </a:p>
        </p:txBody>
      </p:sp>
      <p:sp>
        <p:nvSpPr>
          <p:cNvPr id="27" name="矩形: 圆角 21"/>
          <p:cNvSpPr/>
          <p:nvPr/>
        </p:nvSpPr>
        <p:spPr>
          <a:xfrm>
            <a:off x="560151" y="5885190"/>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11</a:t>
            </a:r>
            <a:r>
              <a:rPr lang="zh-CN" altLang="en-US" sz="1400" dirty="0">
                <a:solidFill>
                  <a:schemeClr val="tx1"/>
                </a:solidFill>
              </a:rPr>
              <a:t>、如何确保数据安全？如何保护个人隐私？</a:t>
            </a:r>
            <a:endParaRPr lang="en-US" altLang="zh-CN" sz="1400" dirty="0">
              <a:solidFill>
                <a:srgbClr val="FF0000"/>
              </a:solidFill>
            </a:endParaRPr>
          </a:p>
        </p:txBody>
      </p:sp>
      <p:sp>
        <p:nvSpPr>
          <p:cNvPr id="28" name="矩形: 圆角 21"/>
          <p:cNvSpPr/>
          <p:nvPr/>
        </p:nvSpPr>
        <p:spPr>
          <a:xfrm>
            <a:off x="6241603" y="3200183"/>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5</a:t>
            </a:r>
            <a:r>
              <a:rPr lang="zh-CN" altLang="en-US" sz="1400" dirty="0">
                <a:solidFill>
                  <a:schemeClr val="tx1"/>
                </a:solidFill>
              </a:rPr>
              <a:t>、私有云与公有云如何打通好互操作</a:t>
            </a:r>
            <a:r>
              <a:rPr lang="en-US" altLang="zh-CN" sz="1400" dirty="0">
                <a:solidFill>
                  <a:schemeClr val="tx1"/>
                </a:solidFill>
              </a:rPr>
              <a:t>?</a:t>
            </a:r>
            <a:endParaRPr lang="en-US" altLang="zh-CN" sz="1400" dirty="0">
              <a:solidFill>
                <a:srgbClr val="FF0000"/>
              </a:solidFill>
            </a:endParaRPr>
          </a:p>
        </p:txBody>
      </p:sp>
      <p:sp>
        <p:nvSpPr>
          <p:cNvPr id="29" name="矩形: 圆角 21"/>
          <p:cNvSpPr/>
          <p:nvPr/>
        </p:nvSpPr>
        <p:spPr>
          <a:xfrm>
            <a:off x="6241603" y="3634728"/>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6</a:t>
            </a:r>
            <a:r>
              <a:rPr lang="zh-CN" altLang="en-US" sz="1400" dirty="0">
                <a:solidFill>
                  <a:schemeClr val="tx1"/>
                </a:solidFill>
              </a:rPr>
              <a:t>、云端</a:t>
            </a:r>
            <a:r>
              <a:rPr lang="en-US" altLang="zh-CN" sz="1400" dirty="0">
                <a:solidFill>
                  <a:schemeClr val="tx1"/>
                </a:solidFill>
              </a:rPr>
              <a:t>(</a:t>
            </a:r>
            <a:r>
              <a:rPr lang="zh-CN" altLang="en-US" sz="1400" dirty="0">
                <a:solidFill>
                  <a:schemeClr val="tx1"/>
                </a:solidFill>
              </a:rPr>
              <a:t>公有云</a:t>
            </a:r>
            <a:r>
              <a:rPr lang="en-US" altLang="zh-CN" sz="1400" dirty="0">
                <a:solidFill>
                  <a:schemeClr val="tx1"/>
                </a:solidFill>
              </a:rPr>
              <a:t>)</a:t>
            </a:r>
            <a:r>
              <a:rPr lang="zh-CN" altLang="en-US" sz="1400" dirty="0">
                <a:solidFill>
                  <a:schemeClr val="tx1"/>
                </a:solidFill>
              </a:rPr>
              <a:t>数据安全如何保障？</a:t>
            </a:r>
            <a:endParaRPr lang="en-US" altLang="zh-CN" sz="1400" dirty="0">
              <a:solidFill>
                <a:srgbClr val="FF0000"/>
              </a:solidFill>
            </a:endParaRPr>
          </a:p>
        </p:txBody>
      </p:sp>
      <p:sp>
        <p:nvSpPr>
          <p:cNvPr id="30" name="矩形: 圆角 21"/>
          <p:cNvSpPr/>
          <p:nvPr/>
        </p:nvSpPr>
        <p:spPr>
          <a:xfrm>
            <a:off x="6241603" y="4069273"/>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7</a:t>
            </a:r>
            <a:r>
              <a:rPr lang="zh-CN" altLang="en-US" sz="1400" dirty="0">
                <a:solidFill>
                  <a:schemeClr val="tx1"/>
                </a:solidFill>
              </a:rPr>
              <a:t>、云端</a:t>
            </a:r>
            <a:r>
              <a:rPr lang="en-US" altLang="zh-CN" sz="1400" dirty="0">
                <a:solidFill>
                  <a:schemeClr val="tx1"/>
                </a:solidFill>
              </a:rPr>
              <a:t>(</a:t>
            </a:r>
            <a:r>
              <a:rPr lang="zh-CN" altLang="en-US" sz="1400" dirty="0">
                <a:solidFill>
                  <a:schemeClr val="tx1"/>
                </a:solidFill>
              </a:rPr>
              <a:t>公有云</a:t>
            </a:r>
            <a:r>
              <a:rPr lang="en-US" altLang="zh-CN" sz="1400" dirty="0">
                <a:solidFill>
                  <a:schemeClr val="tx1"/>
                </a:solidFill>
              </a:rPr>
              <a:t>)</a:t>
            </a:r>
            <a:r>
              <a:rPr lang="zh-CN" altLang="en-US" sz="1400" dirty="0">
                <a:solidFill>
                  <a:schemeClr val="tx1"/>
                </a:solidFill>
              </a:rPr>
              <a:t>的业务性能、连续性如何保障？如何运维监控？</a:t>
            </a:r>
            <a:endParaRPr lang="en-US" altLang="zh-CN" sz="1400" dirty="0">
              <a:solidFill>
                <a:srgbClr val="FF0000"/>
              </a:solidFill>
            </a:endParaRPr>
          </a:p>
        </p:txBody>
      </p:sp>
      <p:sp>
        <p:nvSpPr>
          <p:cNvPr id="31" name="矩形: 圆角 21"/>
          <p:cNvSpPr/>
          <p:nvPr/>
        </p:nvSpPr>
        <p:spPr>
          <a:xfrm>
            <a:off x="6241603" y="4503818"/>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8</a:t>
            </a:r>
            <a:r>
              <a:rPr lang="zh-CN" altLang="en-US" sz="1400" dirty="0">
                <a:solidFill>
                  <a:schemeClr val="tx1"/>
                </a:solidFill>
              </a:rPr>
              <a:t>、大量数据从本地流向公有云对出口压力？延迟？</a:t>
            </a:r>
            <a:endParaRPr lang="en-US" altLang="zh-CN" sz="1400" dirty="0">
              <a:solidFill>
                <a:srgbClr val="FF0000"/>
              </a:solidFill>
            </a:endParaRPr>
          </a:p>
        </p:txBody>
      </p:sp>
      <p:sp>
        <p:nvSpPr>
          <p:cNvPr id="32" name="矩形: 圆角 21"/>
          <p:cNvSpPr/>
          <p:nvPr/>
        </p:nvSpPr>
        <p:spPr>
          <a:xfrm>
            <a:off x="6241603" y="4938363"/>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9</a:t>
            </a:r>
            <a:r>
              <a:rPr lang="zh-CN" altLang="en-US" sz="1400" dirty="0">
                <a:solidFill>
                  <a:schemeClr val="tx1"/>
                </a:solidFill>
              </a:rPr>
              <a:t>、</a:t>
            </a:r>
            <a:r>
              <a:rPr lang="en-US" altLang="zh-CN" sz="1400" dirty="0">
                <a:solidFill>
                  <a:schemeClr val="tx1"/>
                </a:solidFill>
              </a:rPr>
              <a:t> …</a:t>
            </a:r>
            <a:r>
              <a:rPr lang="zh-CN" altLang="en-US" sz="1400" dirty="0">
                <a:solidFill>
                  <a:schemeClr val="tx1"/>
                </a:solidFill>
              </a:rPr>
              <a:t>？</a:t>
            </a:r>
            <a:endParaRPr lang="en-US" altLang="zh-CN" sz="1400" dirty="0">
              <a:solidFill>
                <a:srgbClr val="FF0000"/>
              </a:solidFill>
            </a:endParaRPr>
          </a:p>
        </p:txBody>
      </p:sp>
      <p:sp>
        <p:nvSpPr>
          <p:cNvPr id="33" name="矩形: 圆角 21"/>
          <p:cNvSpPr/>
          <p:nvPr/>
        </p:nvSpPr>
        <p:spPr>
          <a:xfrm>
            <a:off x="6241603" y="5372908"/>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10</a:t>
            </a:r>
            <a:r>
              <a:rPr lang="zh-CN" altLang="en-US" sz="1400" dirty="0">
                <a:solidFill>
                  <a:schemeClr val="tx1"/>
                </a:solidFill>
              </a:rPr>
              <a:t>、</a:t>
            </a:r>
            <a:r>
              <a:rPr lang="en-US" altLang="zh-CN" sz="1400" dirty="0">
                <a:solidFill>
                  <a:schemeClr val="tx1"/>
                </a:solidFill>
              </a:rPr>
              <a:t>…</a:t>
            </a:r>
            <a:r>
              <a:rPr lang="zh-CN" altLang="en-US" sz="1400" dirty="0">
                <a:solidFill>
                  <a:schemeClr val="tx1"/>
                </a:solidFill>
              </a:rPr>
              <a:t>？</a:t>
            </a:r>
            <a:endParaRPr lang="en-US" altLang="zh-CN" sz="1400" dirty="0">
              <a:solidFill>
                <a:srgbClr val="FF0000"/>
              </a:solidFill>
            </a:endParaRPr>
          </a:p>
        </p:txBody>
      </p:sp>
      <p:sp>
        <p:nvSpPr>
          <p:cNvPr id="34" name="矩形: 圆角 21"/>
          <p:cNvSpPr/>
          <p:nvPr/>
        </p:nvSpPr>
        <p:spPr>
          <a:xfrm>
            <a:off x="560151" y="6341646"/>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12</a:t>
            </a:r>
            <a:r>
              <a:rPr lang="zh-CN" altLang="en-US" sz="1400" dirty="0">
                <a:solidFill>
                  <a:schemeClr val="tx1"/>
                </a:solidFill>
              </a:rPr>
              <a:t>、如何利用数据辅助决策、报表等过程？</a:t>
            </a:r>
            <a:endParaRPr lang="en-US" altLang="zh-CN" sz="14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客户需求：他们为什么关注？</a:t>
            </a:r>
            <a:endParaRPr lang="zh-CN" altLang="en-US" dirty="0"/>
          </a:p>
        </p:txBody>
      </p:sp>
      <p:grpSp>
        <p:nvGrpSpPr>
          <p:cNvPr id="4" name="组合 54"/>
          <p:cNvGrpSpPr/>
          <p:nvPr/>
        </p:nvGrpSpPr>
        <p:grpSpPr>
          <a:xfrm>
            <a:off x="7733838" y="70638"/>
            <a:ext cx="4412421" cy="262811"/>
            <a:chOff x="5291227" y="0"/>
            <a:chExt cx="3439301" cy="189000"/>
          </a:xfrm>
        </p:grpSpPr>
        <p:sp>
          <p:nvSpPr>
            <p:cNvPr id="5" name="燕尾形 4"/>
            <p:cNvSpPr/>
            <p:nvPr/>
          </p:nvSpPr>
          <p:spPr bwMode="auto">
            <a:xfrm>
              <a:off x="5291227"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燕尾形 5"/>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燕尾形 6"/>
            <p:cNvSpPr/>
            <p:nvPr/>
          </p:nvSpPr>
          <p:spPr bwMode="auto">
            <a:xfrm>
              <a:off x="667024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燕尾形 7"/>
            <p:cNvSpPr/>
            <p:nvPr/>
          </p:nvSpPr>
          <p:spPr bwMode="auto">
            <a:xfrm>
              <a:off x="7453724" y="0"/>
              <a:ext cx="674824"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燕尾形 8"/>
            <p:cNvSpPr/>
            <p:nvPr/>
          </p:nvSpPr>
          <p:spPr bwMode="auto">
            <a:xfrm>
              <a:off x="805570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0" name="矩形: 圆角 21"/>
          <p:cNvSpPr/>
          <p:nvPr/>
        </p:nvSpPr>
        <p:spPr>
          <a:xfrm>
            <a:off x="560151" y="1419853"/>
            <a:ext cx="5537436" cy="347721"/>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1</a:t>
            </a:r>
            <a:r>
              <a:rPr lang="zh-CN" altLang="en-US" sz="1400" dirty="0">
                <a:solidFill>
                  <a:schemeClr val="tx1"/>
                </a:solidFill>
              </a:rPr>
              <a:t>、管理痛点：共享库管理困难，数据问题太多</a:t>
            </a:r>
            <a:endParaRPr lang="en-US" altLang="zh-CN" sz="1400" dirty="0">
              <a:solidFill>
                <a:srgbClr val="FF0000"/>
              </a:solidFill>
            </a:endParaRPr>
          </a:p>
        </p:txBody>
      </p:sp>
      <p:sp>
        <p:nvSpPr>
          <p:cNvPr id="11" name="矩形: 圆角 21"/>
          <p:cNvSpPr/>
          <p:nvPr/>
        </p:nvSpPr>
        <p:spPr>
          <a:xfrm>
            <a:off x="560151" y="1852917"/>
            <a:ext cx="5537436" cy="347721"/>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2</a:t>
            </a:r>
            <a:r>
              <a:rPr lang="zh-CN" altLang="en-US" sz="1400" dirty="0">
                <a:solidFill>
                  <a:schemeClr val="tx1"/>
                </a:solidFill>
              </a:rPr>
              <a:t>、业务驱动：一站式服务，高基表，一表通，决策支持</a:t>
            </a:r>
            <a:endParaRPr lang="en-US" altLang="zh-CN" sz="1400" dirty="0">
              <a:solidFill>
                <a:srgbClr val="FF0000"/>
              </a:solidFill>
            </a:endParaRPr>
          </a:p>
        </p:txBody>
      </p:sp>
      <p:sp>
        <p:nvSpPr>
          <p:cNvPr id="12" name="矩形: 圆角 21"/>
          <p:cNvSpPr/>
          <p:nvPr/>
        </p:nvSpPr>
        <p:spPr>
          <a:xfrm>
            <a:off x="560151" y="2296430"/>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3</a:t>
            </a:r>
            <a:r>
              <a:rPr lang="zh-CN" altLang="en-US" sz="1400" dirty="0">
                <a:solidFill>
                  <a:schemeClr val="tx1"/>
                </a:solidFill>
              </a:rPr>
              <a:t>、领导要求：很多校领导对数据重要性的认知和站位高于信息中心</a:t>
            </a:r>
            <a:endParaRPr lang="en-US" altLang="zh-CN" sz="1400" dirty="0">
              <a:solidFill>
                <a:srgbClr val="FF0000"/>
              </a:solidFill>
            </a:endParaRPr>
          </a:p>
        </p:txBody>
      </p:sp>
      <p:sp>
        <p:nvSpPr>
          <p:cNvPr id="13" name="矩形: 圆角 21"/>
          <p:cNvSpPr/>
          <p:nvPr/>
        </p:nvSpPr>
        <p:spPr>
          <a:xfrm>
            <a:off x="560151" y="2723670"/>
            <a:ext cx="5537436" cy="8897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4</a:t>
            </a:r>
            <a:r>
              <a:rPr lang="zh-CN" altLang="en-US" sz="1400" dirty="0">
                <a:solidFill>
                  <a:schemeClr val="tx1"/>
                </a:solidFill>
              </a:rPr>
              <a:t>、发展觉悟：希望提升部门在学校的地位（从辅助服务部门变成核心战略部门），为全校提供信息化综合服务能力，被领导、各部门、师生认可，提升存在感，建立良好服务形象。</a:t>
            </a:r>
            <a:endParaRPr lang="en-US" altLang="zh-CN" sz="1400" dirty="0">
              <a:solidFill>
                <a:srgbClr val="FF0000"/>
              </a:solidFill>
            </a:endParaRPr>
          </a:p>
        </p:txBody>
      </p:sp>
      <p:sp>
        <p:nvSpPr>
          <p:cNvPr id="14" name="矩形: 圆角 21"/>
          <p:cNvSpPr/>
          <p:nvPr/>
        </p:nvSpPr>
        <p:spPr>
          <a:xfrm>
            <a:off x="560151" y="3687810"/>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5</a:t>
            </a:r>
            <a:r>
              <a:rPr lang="zh-CN" altLang="en-US" sz="1400" dirty="0">
                <a:solidFill>
                  <a:schemeClr val="tx1"/>
                </a:solidFill>
              </a:rPr>
              <a:t>、政策驱动：信息化</a:t>
            </a:r>
            <a:r>
              <a:rPr lang="en-US" altLang="zh-CN" sz="1400" dirty="0">
                <a:solidFill>
                  <a:schemeClr val="tx1"/>
                </a:solidFill>
              </a:rPr>
              <a:t>2.0</a:t>
            </a:r>
            <a:r>
              <a:rPr lang="zh-CN" altLang="en-US" sz="1400" dirty="0">
                <a:solidFill>
                  <a:schemeClr val="tx1"/>
                </a:solidFill>
              </a:rPr>
              <a:t>，本科评估，诊断与改进</a:t>
            </a:r>
            <a:endParaRPr lang="en-US" altLang="zh-CN" sz="1400" dirty="0">
              <a:solidFill>
                <a:srgbClr val="FF0000"/>
              </a:solidFill>
            </a:endParaRPr>
          </a:p>
        </p:txBody>
      </p:sp>
      <p:sp>
        <p:nvSpPr>
          <p:cNvPr id="15" name="矩形: 圆角 21"/>
          <p:cNvSpPr/>
          <p:nvPr/>
        </p:nvSpPr>
        <p:spPr>
          <a:xfrm>
            <a:off x="6313611" y="1419853"/>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1</a:t>
            </a:r>
            <a:r>
              <a:rPr lang="zh-CN" altLang="en-US" sz="1400" dirty="0">
                <a:solidFill>
                  <a:schemeClr val="tx1"/>
                </a:solidFill>
              </a:rPr>
              <a:t>、</a:t>
            </a:r>
            <a:endParaRPr lang="en-US" altLang="zh-CN" sz="1400" dirty="0">
              <a:solidFill>
                <a:srgbClr val="FF0000"/>
              </a:solidFill>
            </a:endParaRPr>
          </a:p>
        </p:txBody>
      </p:sp>
      <p:sp>
        <p:nvSpPr>
          <p:cNvPr id="16" name="矩形: 圆角 21"/>
          <p:cNvSpPr/>
          <p:nvPr/>
        </p:nvSpPr>
        <p:spPr>
          <a:xfrm>
            <a:off x="6313611" y="1868448"/>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2</a:t>
            </a:r>
            <a:r>
              <a:rPr lang="zh-CN" altLang="en-US" sz="1400" dirty="0">
                <a:solidFill>
                  <a:schemeClr val="tx1"/>
                </a:solidFill>
              </a:rPr>
              <a:t>、</a:t>
            </a:r>
            <a:endParaRPr lang="en-US" altLang="zh-CN" sz="1400" dirty="0">
              <a:solidFill>
                <a:srgbClr val="FF0000"/>
              </a:solidFill>
            </a:endParaRPr>
          </a:p>
        </p:txBody>
      </p:sp>
      <p:sp>
        <p:nvSpPr>
          <p:cNvPr id="17" name="矩形: 圆角 21"/>
          <p:cNvSpPr/>
          <p:nvPr/>
        </p:nvSpPr>
        <p:spPr>
          <a:xfrm>
            <a:off x="6313611" y="2317043"/>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3</a:t>
            </a:r>
            <a:r>
              <a:rPr lang="zh-CN" altLang="en-US" sz="1400" dirty="0">
                <a:solidFill>
                  <a:schemeClr val="tx1"/>
                </a:solidFill>
              </a:rPr>
              <a:t>、</a:t>
            </a:r>
            <a:endParaRPr lang="en-US" altLang="zh-CN" sz="1400" dirty="0">
              <a:solidFill>
                <a:srgbClr val="FF0000"/>
              </a:solidFill>
            </a:endParaRPr>
          </a:p>
        </p:txBody>
      </p:sp>
      <p:sp>
        <p:nvSpPr>
          <p:cNvPr id="18" name="矩形: 圆角 21"/>
          <p:cNvSpPr/>
          <p:nvPr/>
        </p:nvSpPr>
        <p:spPr>
          <a:xfrm>
            <a:off x="6313611" y="2765638"/>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4</a:t>
            </a:r>
            <a:r>
              <a:rPr lang="zh-CN" altLang="en-US" sz="1400" dirty="0">
                <a:solidFill>
                  <a:schemeClr val="tx1"/>
                </a:solidFill>
              </a:rPr>
              <a:t>、</a:t>
            </a:r>
            <a:endParaRPr lang="en-US" altLang="zh-CN" sz="1400" dirty="0">
              <a:solidFill>
                <a:srgbClr val="FF0000"/>
              </a:solidFill>
            </a:endParaRPr>
          </a:p>
        </p:txBody>
      </p:sp>
      <p:sp>
        <p:nvSpPr>
          <p:cNvPr id="19" name="矩形: 圆角 21"/>
          <p:cNvSpPr/>
          <p:nvPr/>
        </p:nvSpPr>
        <p:spPr>
          <a:xfrm>
            <a:off x="2634140" y="965205"/>
            <a:ext cx="1389458" cy="352803"/>
          </a:xfrm>
          <a:prstGeom prst="roundRect">
            <a:avLst>
              <a:gd name="adj" fmla="val 1175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tx1"/>
                </a:solidFill>
              </a:rPr>
              <a:t>数据治理相关</a:t>
            </a:r>
            <a:endParaRPr lang="en-US" altLang="zh-CN" sz="1400" dirty="0">
              <a:solidFill>
                <a:schemeClr val="tx1"/>
              </a:solidFill>
            </a:endParaRPr>
          </a:p>
        </p:txBody>
      </p:sp>
      <p:sp>
        <p:nvSpPr>
          <p:cNvPr id="20" name="矩形: 圆角 21"/>
          <p:cNvSpPr/>
          <p:nvPr/>
        </p:nvSpPr>
        <p:spPr>
          <a:xfrm>
            <a:off x="8387600" y="965205"/>
            <a:ext cx="1389458" cy="352803"/>
          </a:xfrm>
          <a:prstGeom prst="roundRect">
            <a:avLst>
              <a:gd name="adj" fmla="val 11750"/>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400" dirty="0">
                <a:solidFill>
                  <a:schemeClr val="tx1"/>
                </a:solidFill>
              </a:rPr>
              <a:t>云服务相关</a:t>
            </a:r>
            <a:endParaRPr lang="en-US" altLang="zh-CN" sz="1400" dirty="0">
              <a:solidFill>
                <a:schemeClr val="tx1"/>
              </a:solidFill>
            </a:endParaRPr>
          </a:p>
        </p:txBody>
      </p:sp>
      <p:sp>
        <p:nvSpPr>
          <p:cNvPr id="21" name="矩形: 圆角 21"/>
          <p:cNvSpPr/>
          <p:nvPr/>
        </p:nvSpPr>
        <p:spPr>
          <a:xfrm>
            <a:off x="560151" y="4136405"/>
            <a:ext cx="5537436" cy="352803"/>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6</a:t>
            </a:r>
            <a:r>
              <a:rPr lang="zh-CN" altLang="en-US" sz="1400" dirty="0">
                <a:solidFill>
                  <a:schemeClr val="tx1"/>
                </a:solidFill>
              </a:rPr>
              <a:t>、同行示范：本地区、本级别的高校走到前面去了</a:t>
            </a:r>
            <a:endParaRPr lang="en-US" altLang="zh-CN" sz="1400" dirty="0">
              <a:solidFill>
                <a:srgbClr val="FF0000"/>
              </a:solidFill>
            </a:endParaRPr>
          </a:p>
        </p:txBody>
      </p:sp>
      <p:sp>
        <p:nvSpPr>
          <p:cNvPr id="22" name="矩形: 圆角 21"/>
          <p:cNvSpPr/>
          <p:nvPr/>
        </p:nvSpPr>
        <p:spPr>
          <a:xfrm>
            <a:off x="560151" y="4585001"/>
            <a:ext cx="5537436" cy="352804"/>
          </a:xfrm>
          <a:prstGeom prst="roundRect">
            <a:avLst>
              <a:gd name="adj" fmla="val 11750"/>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400" dirty="0">
                <a:solidFill>
                  <a:schemeClr val="tx1"/>
                </a:solidFill>
              </a:rPr>
              <a:t>7</a:t>
            </a:r>
            <a:r>
              <a:rPr lang="zh-CN" altLang="en-US" sz="1400" dirty="0">
                <a:solidFill>
                  <a:schemeClr val="tx1"/>
                </a:solidFill>
              </a:rPr>
              <a:t>、行业趋势：云大物移</a:t>
            </a:r>
            <a:endParaRPr lang="en-US" altLang="zh-CN" sz="1400" dirty="0">
              <a:solidFill>
                <a:srgbClr val="FF0000"/>
              </a:solidFill>
            </a:endParaRPr>
          </a:p>
        </p:txBody>
      </p:sp>
      <p:sp>
        <p:nvSpPr>
          <p:cNvPr id="27" name="矩形: 圆角 21"/>
          <p:cNvSpPr/>
          <p:nvPr/>
        </p:nvSpPr>
        <p:spPr>
          <a:xfrm>
            <a:off x="6313611" y="3200183"/>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5</a:t>
            </a:r>
            <a:r>
              <a:rPr lang="zh-CN" altLang="en-US" sz="1400" dirty="0">
                <a:solidFill>
                  <a:schemeClr val="tx1"/>
                </a:solidFill>
              </a:rPr>
              <a:t>、</a:t>
            </a:r>
            <a:endParaRPr lang="en-US" altLang="zh-CN" sz="1400" dirty="0">
              <a:solidFill>
                <a:srgbClr val="FF0000"/>
              </a:solidFill>
            </a:endParaRPr>
          </a:p>
        </p:txBody>
      </p:sp>
      <p:sp>
        <p:nvSpPr>
          <p:cNvPr id="28" name="矩形: 圆角 21"/>
          <p:cNvSpPr/>
          <p:nvPr/>
        </p:nvSpPr>
        <p:spPr>
          <a:xfrm>
            <a:off x="6313611" y="3634728"/>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6</a:t>
            </a:r>
            <a:r>
              <a:rPr lang="zh-CN" altLang="en-US" sz="1400" dirty="0">
                <a:solidFill>
                  <a:schemeClr val="tx1"/>
                </a:solidFill>
              </a:rPr>
              <a:t>、</a:t>
            </a:r>
            <a:endParaRPr lang="en-US" altLang="zh-CN" sz="1400" dirty="0">
              <a:solidFill>
                <a:srgbClr val="FF0000"/>
              </a:solidFill>
            </a:endParaRPr>
          </a:p>
        </p:txBody>
      </p:sp>
      <p:sp>
        <p:nvSpPr>
          <p:cNvPr id="29" name="矩形: 圆角 21"/>
          <p:cNvSpPr/>
          <p:nvPr/>
        </p:nvSpPr>
        <p:spPr>
          <a:xfrm>
            <a:off x="6313611" y="4069273"/>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7</a:t>
            </a:r>
            <a:r>
              <a:rPr lang="zh-CN" altLang="en-US" sz="1400" dirty="0">
                <a:solidFill>
                  <a:schemeClr val="tx1"/>
                </a:solidFill>
              </a:rPr>
              <a:t>、</a:t>
            </a:r>
            <a:endParaRPr lang="en-US" altLang="zh-CN" sz="1400" dirty="0">
              <a:solidFill>
                <a:srgbClr val="FF0000"/>
              </a:solidFill>
            </a:endParaRPr>
          </a:p>
        </p:txBody>
      </p:sp>
      <p:sp>
        <p:nvSpPr>
          <p:cNvPr id="30" name="矩形: 圆角 21"/>
          <p:cNvSpPr/>
          <p:nvPr/>
        </p:nvSpPr>
        <p:spPr>
          <a:xfrm>
            <a:off x="6313611" y="4503818"/>
            <a:ext cx="5537436" cy="352803"/>
          </a:xfrm>
          <a:prstGeom prst="roundRect">
            <a:avLst>
              <a:gd name="adj" fmla="val 11750"/>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1400" dirty="0">
                <a:solidFill>
                  <a:schemeClr val="tx1"/>
                </a:solidFill>
              </a:rPr>
              <a:t>8</a:t>
            </a:r>
            <a:r>
              <a:rPr lang="zh-CN" altLang="en-US" sz="1400" dirty="0">
                <a:solidFill>
                  <a:schemeClr val="tx1"/>
                </a:solidFill>
              </a:rPr>
              <a:t>、</a:t>
            </a:r>
            <a:endParaRPr lang="en-US" altLang="zh-CN" sz="14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客户痛点：</a:t>
            </a:r>
            <a:endParaRPr lang="zh-CN" altLang="en-US" dirty="0"/>
          </a:p>
        </p:txBody>
      </p:sp>
      <p:grpSp>
        <p:nvGrpSpPr>
          <p:cNvPr id="4" name="组合 54"/>
          <p:cNvGrpSpPr/>
          <p:nvPr/>
        </p:nvGrpSpPr>
        <p:grpSpPr>
          <a:xfrm>
            <a:off x="7733838" y="70638"/>
            <a:ext cx="4412421" cy="262811"/>
            <a:chOff x="5291227" y="0"/>
            <a:chExt cx="3439301" cy="189000"/>
          </a:xfrm>
        </p:grpSpPr>
        <p:sp>
          <p:nvSpPr>
            <p:cNvPr id="5" name="燕尾形 4"/>
            <p:cNvSpPr/>
            <p:nvPr/>
          </p:nvSpPr>
          <p:spPr bwMode="auto">
            <a:xfrm>
              <a:off x="5291227"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燕尾形 5"/>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燕尾形 6"/>
            <p:cNvSpPr/>
            <p:nvPr/>
          </p:nvSpPr>
          <p:spPr bwMode="auto">
            <a:xfrm>
              <a:off x="667024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燕尾形 7"/>
            <p:cNvSpPr/>
            <p:nvPr/>
          </p:nvSpPr>
          <p:spPr bwMode="auto">
            <a:xfrm>
              <a:off x="745372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燕尾形 8"/>
            <p:cNvSpPr/>
            <p:nvPr/>
          </p:nvSpPr>
          <p:spPr bwMode="auto">
            <a:xfrm>
              <a:off x="8055704" y="0"/>
              <a:ext cx="674824"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graphicFrame>
        <p:nvGraphicFramePr>
          <p:cNvPr id="33" name="表格 1"/>
          <p:cNvGraphicFramePr>
            <a:graphicFrameLocks noGrp="1"/>
          </p:cNvGraphicFramePr>
          <p:nvPr/>
        </p:nvGraphicFramePr>
        <p:xfrm>
          <a:off x="552971" y="898804"/>
          <a:ext cx="5112568" cy="4995164"/>
        </p:xfrm>
        <a:graphic>
          <a:graphicData uri="http://schemas.openxmlformats.org/drawingml/2006/table">
            <a:tbl>
              <a:tblPr firstRow="1" firstCol="1" bandRow="1">
                <a:tableStyleId>{F5AB1C69-6EDB-4FF4-983F-18BD219EF322}</a:tableStyleId>
              </a:tblPr>
              <a:tblGrid>
                <a:gridCol w="295637"/>
                <a:gridCol w="751936"/>
                <a:gridCol w="4064995"/>
              </a:tblGrid>
              <a:tr h="0">
                <a:tc>
                  <a:txBody>
                    <a:bodyPr/>
                    <a:lstStyle/>
                    <a:p>
                      <a:pPr algn="ctr">
                        <a:lnSpc>
                          <a:spcPct val="125000"/>
                        </a:lnSpc>
                        <a:spcAft>
                          <a:spcPts val="0"/>
                        </a:spcAft>
                      </a:pPr>
                      <a:r>
                        <a:rPr lang="en-US" sz="1400" kern="100" dirty="0">
                          <a:effectLst/>
                        </a:rPr>
                        <a:t> </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400" kern="100">
                          <a:effectLst/>
                        </a:rPr>
                        <a:t>问题</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400" kern="100">
                          <a:effectLst/>
                        </a:rPr>
                        <a:t>描述</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r>
              <a:tr h="0">
                <a:tc>
                  <a:txBody>
                    <a:bodyPr/>
                    <a:lstStyle/>
                    <a:p>
                      <a:pPr marL="0" algn="just" defTabSz="1219200" rtl="0" eaLnBrk="1" latinLnBrk="0" hangingPunct="1">
                        <a:spcAft>
                          <a:spcPts val="0"/>
                        </a:spcAft>
                      </a:pPr>
                      <a:r>
                        <a:rPr lang="en-US" altLang="zh-CN" sz="1400" kern="100" dirty="0">
                          <a:effectLst/>
                        </a:rPr>
                        <a:t>1</a:t>
                      </a:r>
                      <a:endParaRPr lang="zh-CN" altLang="en-US" sz="1400" kern="100" dirty="0">
                        <a:solidFill>
                          <a:schemeClr val="bg1"/>
                        </a:solidFill>
                        <a:effectLst/>
                        <a:latin typeface="+mn-lt"/>
                        <a:ea typeface="+mn-ea"/>
                        <a:cs typeface="+mn-cs"/>
                      </a:endParaRPr>
                    </a:p>
                  </a:txBody>
                  <a:tcPr marL="68580" marR="68580" marT="0" marB="0" anchor="ctr"/>
                </a:tc>
                <a:tc>
                  <a:txBody>
                    <a:bodyPr/>
                    <a:lstStyle/>
                    <a:p>
                      <a:pPr marL="0" algn="just" defTabSz="1219200" rtl="0" eaLnBrk="1" latinLnBrk="0" hangingPunct="1">
                        <a:spcAft>
                          <a:spcPts val="0"/>
                        </a:spcAft>
                      </a:pPr>
                      <a:r>
                        <a:rPr lang="zh-CN" altLang="en-US" sz="1400" kern="100" dirty="0">
                          <a:effectLst/>
                        </a:rPr>
                        <a:t>数据资产不清晰</a:t>
                      </a:r>
                      <a:endParaRPr lang="zh-CN" altLang="en-US" sz="1400" kern="100" dirty="0">
                        <a:solidFill>
                          <a:schemeClr val="dk1"/>
                        </a:solidFill>
                        <a:effectLst/>
                        <a:latin typeface="+mn-lt"/>
                        <a:ea typeface="+mn-ea"/>
                        <a:cs typeface="+mn-cs"/>
                      </a:endParaRPr>
                    </a:p>
                  </a:txBody>
                  <a:tcPr marL="68580" marR="68580" marT="0" marB="0" anchor="ctr"/>
                </a:tc>
                <a:tc>
                  <a:txBody>
                    <a:bodyPr/>
                    <a:lstStyle/>
                    <a:p>
                      <a:pPr marL="0" indent="266700" algn="just" defTabSz="1219200" rtl="0" eaLnBrk="1" latinLnBrk="0" hangingPunct="1">
                        <a:lnSpc>
                          <a:spcPct val="120000"/>
                        </a:lnSpc>
                        <a:spcAft>
                          <a:spcPts val="0"/>
                        </a:spcAft>
                      </a:pPr>
                      <a:r>
                        <a:rPr lang="zh-CN" altLang="en-US" sz="1400" kern="100" dirty="0">
                          <a:effectLst/>
                        </a:rPr>
                        <a:t>共享库之外的数据散落在全校各处，没有人知道这些数据的分布、内容、质量、管理权、责任人。即使是共享库，除了信息中心自己，校内其他部门也不清楚有哪些数据可用。这种现状与国家要求及行业发展趋势差距巨大。</a:t>
                      </a:r>
                      <a:endParaRPr lang="zh-CN" altLang="en-US" sz="1400" kern="100" dirty="0">
                        <a:solidFill>
                          <a:schemeClr val="dk1"/>
                        </a:solidFill>
                        <a:effectLst/>
                        <a:latin typeface="华文楷体" panose="02010600040101010101" pitchFamily="2" charset="-122"/>
                        <a:ea typeface="华文楷体" panose="02010600040101010101" pitchFamily="2" charset="-122"/>
                        <a:cs typeface="+mn-cs"/>
                      </a:endParaRPr>
                    </a:p>
                  </a:txBody>
                  <a:tcPr marL="68580" marR="68580" marT="0" marB="0"/>
                </a:tc>
              </a:tr>
              <a:tr h="0">
                <a:tc>
                  <a:txBody>
                    <a:bodyPr/>
                    <a:lstStyle/>
                    <a:p>
                      <a:pPr algn="ctr">
                        <a:lnSpc>
                          <a:spcPct val="125000"/>
                        </a:lnSpc>
                        <a:spcAft>
                          <a:spcPts val="0"/>
                        </a:spcAft>
                      </a:pPr>
                      <a:r>
                        <a:rPr lang="en-US" sz="1400" kern="100" dirty="0">
                          <a:effectLst/>
                        </a:rPr>
                        <a:t>1</a:t>
                      </a:r>
                      <a:endParaRPr lang="zh-CN" sz="1400" kern="100" dirty="0">
                        <a:solidFill>
                          <a:schemeClr val="bg1"/>
                        </a:solidFill>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altLang="en-US" sz="1400" kern="100" dirty="0">
                          <a:effectLst/>
                        </a:rPr>
                        <a:t>共享库</a:t>
                      </a:r>
                      <a:r>
                        <a:rPr lang="zh-CN" sz="1400" kern="100" dirty="0">
                          <a:effectLst/>
                        </a:rPr>
                        <a:t>覆盖</a:t>
                      </a:r>
                      <a:r>
                        <a:rPr lang="zh-CN" altLang="en-US" sz="1400" kern="100" dirty="0">
                          <a:effectLst/>
                        </a:rPr>
                        <a:t>数据太少</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indent="266700" algn="just">
                        <a:lnSpc>
                          <a:spcPct val="125000"/>
                        </a:lnSpc>
                        <a:spcAft>
                          <a:spcPts val="0"/>
                        </a:spcAft>
                      </a:pPr>
                      <a:r>
                        <a:rPr lang="zh-CN" sz="1400" kern="100" dirty="0">
                          <a:effectLst/>
                        </a:rPr>
                        <a:t>三大平台中</a:t>
                      </a:r>
                      <a:r>
                        <a:rPr lang="zh-CN" altLang="en-US" sz="1400" kern="100" dirty="0">
                          <a:effectLst/>
                        </a:rPr>
                        <a:t>的共享库只覆盖</a:t>
                      </a:r>
                      <a:r>
                        <a:rPr lang="zh-CN" altLang="en-US" sz="1400" kern="100" dirty="0" smtClean="0">
                          <a:effectLst/>
                        </a:rPr>
                        <a:t>了核心</a:t>
                      </a:r>
                      <a:r>
                        <a:rPr lang="zh-CN" altLang="en-US" sz="1400" kern="100" dirty="0">
                          <a:effectLst/>
                        </a:rPr>
                        <a:t>的</a:t>
                      </a:r>
                      <a:r>
                        <a:rPr lang="zh-CN" sz="1400" kern="100" dirty="0">
                          <a:effectLst/>
                        </a:rPr>
                        <a:t>主数据</a:t>
                      </a:r>
                      <a:r>
                        <a:rPr lang="zh-CN" altLang="en-US" sz="1400" kern="100" dirty="0">
                          <a:effectLst/>
                        </a:rPr>
                        <a:t>（</a:t>
                      </a:r>
                      <a:r>
                        <a:rPr lang="zh-CN" altLang="zh-CN" sz="1400" kern="100" dirty="0">
                          <a:effectLst/>
                        </a:rPr>
                        <a:t>学校基本信息</a:t>
                      </a:r>
                      <a:r>
                        <a:rPr lang="zh-CN" altLang="en-US" sz="1400" kern="100" dirty="0">
                          <a:effectLst/>
                        </a:rPr>
                        <a:t>、</a:t>
                      </a:r>
                      <a:r>
                        <a:rPr lang="zh-CN" altLang="zh-CN" sz="1400" kern="100" dirty="0">
                          <a:effectLst/>
                        </a:rPr>
                        <a:t>人员基本信息</a:t>
                      </a:r>
                      <a:r>
                        <a:rPr lang="zh-CN" altLang="en-US" sz="1400" kern="100" dirty="0">
                          <a:effectLst/>
                        </a:rPr>
                        <a:t>），只承担了数据交换共享的职能。</a:t>
                      </a:r>
                      <a:endParaRPr lang="en-US" altLang="zh-CN" sz="1400" kern="100" dirty="0">
                        <a:effectLst/>
                      </a:endParaRPr>
                    </a:p>
                    <a:p>
                      <a:pPr indent="266700" algn="just">
                        <a:lnSpc>
                          <a:spcPct val="125000"/>
                        </a:lnSpc>
                        <a:spcAft>
                          <a:spcPts val="0"/>
                        </a:spcAft>
                      </a:pPr>
                      <a:r>
                        <a:rPr lang="zh-CN" altLang="en-US" sz="1400" kern="100" dirty="0">
                          <a:effectLst/>
                        </a:rPr>
                        <a:t>共享库远远达不到合格的“</a:t>
                      </a:r>
                      <a:r>
                        <a:rPr lang="zh-CN" altLang="zh-CN" sz="1400" kern="100" dirty="0">
                          <a:effectLst/>
                        </a:rPr>
                        <a:t>数据中心</a:t>
                      </a:r>
                      <a:r>
                        <a:rPr lang="zh-CN" altLang="en-US" sz="1400" kern="100" dirty="0">
                          <a:effectLst/>
                        </a:rPr>
                        <a:t>”</a:t>
                      </a:r>
                      <a:r>
                        <a:rPr lang="zh-CN" altLang="zh-CN" sz="1400" kern="100" dirty="0">
                          <a:effectLst/>
                        </a:rPr>
                        <a:t>的要求</a:t>
                      </a:r>
                      <a:r>
                        <a:rPr lang="zh-CN" altLang="en-US" sz="1400" kern="100" dirty="0">
                          <a:effectLst/>
                        </a:rPr>
                        <a:t>。数据</a:t>
                      </a:r>
                      <a:r>
                        <a:rPr lang="zh-CN" sz="1400" kern="100" dirty="0">
                          <a:effectLst/>
                        </a:rPr>
                        <a:t>不够完整，大量的管理业务数据</a:t>
                      </a:r>
                      <a:r>
                        <a:rPr lang="zh-CN" altLang="en-US" sz="1400" kern="100" dirty="0">
                          <a:effectLst/>
                        </a:rPr>
                        <a:t>、线下表格数据、日志数据、互联网数据</a:t>
                      </a:r>
                      <a:r>
                        <a:rPr lang="zh-CN" sz="1400" kern="100" dirty="0">
                          <a:effectLst/>
                        </a:rPr>
                        <a:t>都没有纳入进行</a:t>
                      </a:r>
                      <a:r>
                        <a:rPr lang="zh-CN" altLang="en-US" sz="1400" kern="100" dirty="0">
                          <a:effectLst/>
                        </a:rPr>
                        <a:t>存储和</a:t>
                      </a:r>
                      <a:r>
                        <a:rPr lang="zh-CN" sz="1400" kern="100" dirty="0">
                          <a:effectLst/>
                        </a:rPr>
                        <a:t>管理</a:t>
                      </a:r>
                      <a:r>
                        <a:rPr lang="zh-CN" altLang="en-US" sz="1400" kern="100" dirty="0">
                          <a:effectLst/>
                        </a:rPr>
                        <a:t>。而且共享库的技术架构（</a:t>
                      </a:r>
                      <a:r>
                        <a:rPr lang="en-US" altLang="zh-CN" sz="1400" kern="100" dirty="0">
                          <a:effectLst/>
                        </a:rPr>
                        <a:t>RDB</a:t>
                      </a:r>
                      <a:r>
                        <a:rPr lang="zh-CN" altLang="en-US" sz="1400" kern="100" dirty="0">
                          <a:effectLst/>
                        </a:rPr>
                        <a:t>）也不能支持海量异构数据的一体化服务和分析计算。</a:t>
                      </a:r>
                      <a:endParaRPr lang="zh-CN" sz="14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r>
              <a:tr h="0">
                <a:tc>
                  <a:txBody>
                    <a:bodyPr/>
                    <a:lstStyle/>
                    <a:p>
                      <a:pPr algn="ctr">
                        <a:lnSpc>
                          <a:spcPct val="125000"/>
                        </a:lnSpc>
                        <a:spcAft>
                          <a:spcPts val="0"/>
                        </a:spcAft>
                      </a:pPr>
                      <a:r>
                        <a:rPr lang="en-US" sz="1400" kern="100">
                          <a:effectLst/>
                        </a:rPr>
                        <a:t>2</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400" kern="100" dirty="0">
                          <a:effectLst/>
                        </a:rPr>
                        <a:t>缺乏标准规范</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indent="266700" algn="just">
                        <a:lnSpc>
                          <a:spcPct val="125000"/>
                        </a:lnSpc>
                        <a:spcAft>
                          <a:spcPts val="0"/>
                        </a:spcAft>
                      </a:pPr>
                      <a:r>
                        <a:rPr lang="zh-CN" sz="1400" kern="100" dirty="0">
                          <a:effectLst/>
                        </a:rPr>
                        <a:t>共享库中的数据</a:t>
                      </a:r>
                      <a:r>
                        <a:rPr lang="zh-CN" altLang="en-US" sz="1400" kern="100" dirty="0">
                          <a:effectLst/>
                        </a:rPr>
                        <a:t>通常是</a:t>
                      </a:r>
                      <a:r>
                        <a:rPr lang="zh-CN" sz="1400" kern="100" dirty="0">
                          <a:effectLst/>
                        </a:rPr>
                        <a:t>按照</a:t>
                      </a:r>
                      <a:r>
                        <a:rPr lang="en-US" altLang="zh-CN" sz="1400" kern="100" dirty="0">
                          <a:effectLst/>
                        </a:rPr>
                        <a:t>MIS</a:t>
                      </a:r>
                      <a:r>
                        <a:rPr lang="zh-CN" altLang="en-US" sz="1400" kern="100" dirty="0">
                          <a:effectLst/>
                        </a:rPr>
                        <a:t>中</a:t>
                      </a:r>
                      <a:r>
                        <a:rPr lang="zh-CN" sz="1400" kern="100" dirty="0">
                          <a:effectLst/>
                        </a:rPr>
                        <a:t>的</a:t>
                      </a:r>
                      <a:r>
                        <a:rPr lang="zh-CN" altLang="en-US" sz="1400" kern="100" dirty="0">
                          <a:effectLst/>
                        </a:rPr>
                        <a:t>样子</a:t>
                      </a:r>
                      <a:r>
                        <a:rPr lang="zh-CN" sz="1400" kern="100" dirty="0">
                          <a:effectLst/>
                        </a:rPr>
                        <a:t>原样</a:t>
                      </a:r>
                      <a:r>
                        <a:rPr lang="zh-CN" altLang="en-US" sz="1400" kern="100" dirty="0">
                          <a:effectLst/>
                        </a:rPr>
                        <a:t>照搬</a:t>
                      </a:r>
                      <a:r>
                        <a:rPr lang="zh-CN" sz="1400" kern="100" dirty="0">
                          <a:effectLst/>
                        </a:rPr>
                        <a:t>，并</a:t>
                      </a:r>
                      <a:r>
                        <a:rPr lang="zh-CN" altLang="en-US" sz="1400" kern="100" dirty="0">
                          <a:effectLst/>
                        </a:rPr>
                        <a:t>未</a:t>
                      </a:r>
                      <a:r>
                        <a:rPr lang="zh-CN" sz="1400" kern="100" dirty="0">
                          <a:effectLst/>
                        </a:rPr>
                        <a:t>进行元数据和代码</a:t>
                      </a:r>
                      <a:r>
                        <a:rPr lang="zh-CN" altLang="en-US" sz="1400" kern="100" dirty="0">
                          <a:effectLst/>
                        </a:rPr>
                        <a:t>表</a:t>
                      </a:r>
                      <a:r>
                        <a:rPr lang="zh-CN" sz="1400" kern="100" dirty="0">
                          <a:effectLst/>
                        </a:rPr>
                        <a:t>的统一。</a:t>
                      </a:r>
                      <a:r>
                        <a:rPr lang="zh-CN" altLang="en-US" sz="1400" kern="100" dirty="0">
                          <a:effectLst/>
                        </a:rPr>
                        <a:t>即使</a:t>
                      </a:r>
                      <a:r>
                        <a:rPr lang="zh-CN" sz="1400" kern="100" dirty="0">
                          <a:effectLst/>
                        </a:rPr>
                        <a:t>有</a:t>
                      </a:r>
                      <a:r>
                        <a:rPr lang="zh-CN" altLang="en-US" sz="1400" kern="100" dirty="0">
                          <a:effectLst/>
                        </a:rPr>
                        <a:t>名义上的“校级</a:t>
                      </a:r>
                      <a:r>
                        <a:rPr lang="zh-CN" sz="1400" kern="100" dirty="0">
                          <a:effectLst/>
                        </a:rPr>
                        <a:t>数据标准</a:t>
                      </a:r>
                      <a:r>
                        <a:rPr lang="zh-CN" altLang="en-US" sz="1400" kern="100" dirty="0">
                          <a:effectLst/>
                        </a:rPr>
                        <a:t>”</a:t>
                      </a:r>
                      <a:r>
                        <a:rPr lang="zh-CN" sz="1400" kern="100" dirty="0">
                          <a:effectLst/>
                        </a:rPr>
                        <a:t>，但没有相应的技术</a:t>
                      </a:r>
                      <a:r>
                        <a:rPr lang="zh-CN" altLang="en-US" sz="1400" kern="100" dirty="0">
                          <a:effectLst/>
                        </a:rPr>
                        <a:t>和</a:t>
                      </a:r>
                      <a:r>
                        <a:rPr lang="zh-CN" sz="1400" kern="100" dirty="0">
                          <a:effectLst/>
                        </a:rPr>
                        <a:t>管理措施保障</a:t>
                      </a:r>
                      <a:r>
                        <a:rPr lang="zh-CN" altLang="en-US" sz="1400" kern="100" dirty="0">
                          <a:effectLst/>
                        </a:rPr>
                        <a:t>落地</a:t>
                      </a:r>
                      <a:r>
                        <a:rPr lang="zh-CN" sz="1400" kern="100" dirty="0">
                          <a:effectLst/>
                        </a:rPr>
                        <a:t>执行。数据交换</a:t>
                      </a:r>
                      <a:r>
                        <a:rPr lang="zh-CN" altLang="en-US" sz="1400" kern="100" dirty="0">
                          <a:effectLst/>
                        </a:rPr>
                        <a:t>基本依赖</a:t>
                      </a:r>
                      <a:r>
                        <a:rPr lang="zh-CN" sz="1400" kern="100" dirty="0">
                          <a:effectLst/>
                        </a:rPr>
                        <a:t>各厂商之间</a:t>
                      </a:r>
                      <a:r>
                        <a:rPr lang="zh-CN" altLang="en-US" sz="1400" kern="100" dirty="0">
                          <a:effectLst/>
                        </a:rPr>
                        <a:t>自己</a:t>
                      </a:r>
                      <a:r>
                        <a:rPr lang="zh-CN" sz="1400" kern="100" dirty="0">
                          <a:effectLst/>
                        </a:rPr>
                        <a:t>协调</a:t>
                      </a:r>
                      <a:r>
                        <a:rPr lang="zh-CN" altLang="en-US" sz="1400" kern="100" dirty="0">
                          <a:effectLst/>
                        </a:rPr>
                        <a:t>，困难</a:t>
                      </a:r>
                      <a:r>
                        <a:rPr lang="zh-CN" sz="1400" kern="100" dirty="0">
                          <a:effectLst/>
                        </a:rPr>
                        <a:t>重重</a:t>
                      </a:r>
                      <a:r>
                        <a:rPr lang="zh-CN" altLang="en-US" sz="1400" kern="100" dirty="0">
                          <a:effectLst/>
                        </a:rPr>
                        <a:t>，进度很慢，难以管理</a:t>
                      </a:r>
                      <a:r>
                        <a:rPr lang="zh-CN" sz="1400" kern="100" dirty="0">
                          <a:effectLst/>
                        </a:rPr>
                        <a:t>。</a:t>
                      </a:r>
                      <a:endParaRPr lang="zh-CN" sz="14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r>
            </a:tbl>
          </a:graphicData>
        </a:graphic>
      </p:graphicFrame>
      <p:graphicFrame>
        <p:nvGraphicFramePr>
          <p:cNvPr id="34" name="表格 1"/>
          <p:cNvGraphicFramePr>
            <a:graphicFrameLocks noGrp="1"/>
          </p:cNvGraphicFramePr>
          <p:nvPr/>
        </p:nvGraphicFramePr>
        <p:xfrm>
          <a:off x="6385195" y="898804"/>
          <a:ext cx="5112567" cy="5152644"/>
        </p:xfrm>
        <a:graphic>
          <a:graphicData uri="http://schemas.openxmlformats.org/drawingml/2006/table">
            <a:tbl>
              <a:tblPr firstRow="1" firstCol="1" bandRow="1" bandCol="1">
                <a:tableStyleId>{F5AB1C69-6EDB-4FF4-983F-18BD219EF322}</a:tableStyleId>
              </a:tblPr>
              <a:tblGrid>
                <a:gridCol w="294060"/>
                <a:gridCol w="962448"/>
                <a:gridCol w="3856059"/>
              </a:tblGrid>
              <a:tr h="0">
                <a:tc>
                  <a:txBody>
                    <a:bodyPr/>
                    <a:lstStyle/>
                    <a:p>
                      <a:pPr algn="ctr">
                        <a:spcAft>
                          <a:spcPts val="0"/>
                        </a:spcAft>
                      </a:pPr>
                      <a:r>
                        <a:rPr lang="en-US" sz="1400" kern="100">
                          <a:effectLst/>
                        </a:rPr>
                        <a:t> </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spcAft>
                          <a:spcPts val="0"/>
                        </a:spcAft>
                      </a:pPr>
                      <a:r>
                        <a:rPr lang="zh-CN" sz="1400" kern="100">
                          <a:effectLst/>
                        </a:rPr>
                        <a:t>问题</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spcAft>
                          <a:spcPts val="0"/>
                        </a:spcAft>
                      </a:pPr>
                      <a:r>
                        <a:rPr lang="zh-CN" sz="1400" kern="100">
                          <a:effectLst/>
                        </a:rPr>
                        <a:t>描述</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r>
              <a:tr h="0">
                <a:tc>
                  <a:txBody>
                    <a:bodyPr/>
                    <a:lstStyle/>
                    <a:p>
                      <a:pPr algn="ctr">
                        <a:spcAft>
                          <a:spcPts val="0"/>
                        </a:spcAft>
                      </a:pPr>
                      <a:r>
                        <a:rPr lang="en-US" sz="1400" kern="100" dirty="0">
                          <a:effectLst/>
                        </a:rPr>
                        <a:t>4</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just">
                        <a:spcAft>
                          <a:spcPts val="0"/>
                        </a:spcAft>
                      </a:pPr>
                      <a:r>
                        <a:rPr lang="zh-CN" altLang="en-US" sz="1400" kern="100" dirty="0">
                          <a:effectLst/>
                        </a:rPr>
                        <a:t>大量</a:t>
                      </a:r>
                      <a:r>
                        <a:rPr lang="zh-CN" sz="1400" kern="100" dirty="0">
                          <a:effectLst/>
                        </a:rPr>
                        <a:t>视图管理困难</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indent="266700" algn="just">
                        <a:lnSpc>
                          <a:spcPct val="120000"/>
                        </a:lnSpc>
                        <a:spcAft>
                          <a:spcPts val="0"/>
                        </a:spcAft>
                      </a:pPr>
                      <a:r>
                        <a:rPr lang="zh-CN" sz="1400" kern="100" dirty="0">
                          <a:effectLst/>
                        </a:rPr>
                        <a:t>数据交换通常</a:t>
                      </a:r>
                      <a:r>
                        <a:rPr lang="zh-CN" altLang="en-US" sz="1400" kern="100" dirty="0">
                          <a:effectLst/>
                        </a:rPr>
                        <a:t>是通过共享库中构建</a:t>
                      </a:r>
                      <a:r>
                        <a:rPr lang="zh-CN" sz="1400" kern="100" dirty="0">
                          <a:effectLst/>
                        </a:rPr>
                        <a:t>视图</a:t>
                      </a:r>
                      <a:r>
                        <a:rPr lang="zh-CN" altLang="en-US" sz="1400" kern="100" dirty="0">
                          <a:effectLst/>
                        </a:rPr>
                        <a:t>来</a:t>
                      </a:r>
                      <a:r>
                        <a:rPr lang="zh-CN" sz="1400" kern="100" dirty="0">
                          <a:effectLst/>
                        </a:rPr>
                        <a:t>实现</a:t>
                      </a:r>
                      <a:r>
                        <a:rPr lang="zh-CN" altLang="en-US" sz="1400" kern="100" dirty="0">
                          <a:effectLst/>
                        </a:rPr>
                        <a:t>，与</a:t>
                      </a:r>
                      <a:r>
                        <a:rPr lang="en-US" altLang="zh-CN" sz="1400" kern="100" dirty="0">
                          <a:effectLst/>
                        </a:rPr>
                        <a:t>MIS</a:t>
                      </a:r>
                      <a:r>
                        <a:rPr lang="zh-CN" altLang="en-US" sz="1400" kern="100" dirty="0">
                          <a:effectLst/>
                        </a:rPr>
                        <a:t>系统耦合紧密，无法复用。经过长时间运行后，大量视图的归属、用途、是否活动经常无人知晓，学校老师自己难以管理（通常是由</a:t>
                      </a:r>
                      <a:r>
                        <a:rPr lang="zh-CN" altLang="zh-CN" sz="1400" kern="100" dirty="0">
                          <a:effectLst/>
                        </a:rPr>
                        <a:t>厂商</a:t>
                      </a:r>
                      <a:r>
                        <a:rPr lang="zh-CN" altLang="en-US" sz="1400" kern="100" dirty="0">
                          <a:effectLst/>
                        </a:rPr>
                        <a:t>负责维护</a:t>
                      </a:r>
                      <a:r>
                        <a:rPr lang="zh-CN" altLang="zh-CN" sz="1400" kern="100" dirty="0">
                          <a:effectLst/>
                        </a:rPr>
                        <a:t>管理</a:t>
                      </a:r>
                      <a:r>
                        <a:rPr lang="zh-CN" altLang="en-US" sz="1400" kern="100" dirty="0">
                          <a:effectLst/>
                        </a:rPr>
                        <a:t>）</a:t>
                      </a:r>
                      <a:r>
                        <a:rPr lang="zh-CN" sz="1400" kern="100" dirty="0">
                          <a:effectLst/>
                        </a:rPr>
                        <a:t>。</a:t>
                      </a:r>
                      <a:endParaRPr lang="en-US" altLang="zh-CN" sz="1400" kern="100" dirty="0">
                        <a:effectLst/>
                      </a:endParaRPr>
                    </a:p>
                    <a:p>
                      <a:pPr indent="266700" algn="just">
                        <a:lnSpc>
                          <a:spcPct val="120000"/>
                        </a:lnSpc>
                        <a:spcAft>
                          <a:spcPts val="0"/>
                        </a:spcAft>
                      </a:pPr>
                      <a:r>
                        <a:rPr lang="zh-CN" altLang="en-US" sz="1400" kern="100" dirty="0">
                          <a:effectLst/>
                        </a:rPr>
                        <a:t>当学校尝试使用共享库去支持一站式服务、数据分析、决策支持等场景时，才发现数据很乱难以识别</a:t>
                      </a:r>
                      <a:r>
                        <a:rPr lang="zh-CN" sz="1400" kern="100" dirty="0">
                          <a:effectLst/>
                        </a:rPr>
                        <a:t>。</a:t>
                      </a:r>
                      <a:endParaRPr lang="zh-CN" sz="14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r>
              <a:tr h="0">
                <a:tc>
                  <a:txBody>
                    <a:bodyPr/>
                    <a:lstStyle/>
                    <a:p>
                      <a:pPr algn="ctr">
                        <a:spcAft>
                          <a:spcPts val="0"/>
                        </a:spcAft>
                      </a:pPr>
                      <a:r>
                        <a:rPr lang="en-US" sz="1400" kern="100" dirty="0">
                          <a:effectLst/>
                        </a:rPr>
                        <a:t>5</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just">
                        <a:spcAft>
                          <a:spcPts val="0"/>
                        </a:spcAft>
                      </a:pPr>
                      <a:r>
                        <a:rPr lang="zh-CN" sz="1400" kern="100" dirty="0">
                          <a:effectLst/>
                        </a:rPr>
                        <a:t>接口费问题</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indent="266700" algn="just">
                        <a:lnSpc>
                          <a:spcPct val="120000"/>
                        </a:lnSpc>
                        <a:spcAft>
                          <a:spcPts val="0"/>
                        </a:spcAft>
                      </a:pPr>
                      <a:r>
                        <a:rPr lang="zh-CN" sz="1400" kern="100" dirty="0">
                          <a:effectLst/>
                        </a:rPr>
                        <a:t>新上</a:t>
                      </a:r>
                      <a:r>
                        <a:rPr lang="en-US" altLang="zh-CN" sz="1400" kern="100" dirty="0">
                          <a:effectLst/>
                        </a:rPr>
                        <a:t>MIS</a:t>
                      </a:r>
                      <a:r>
                        <a:rPr lang="zh-CN" sz="1400" kern="100" dirty="0">
                          <a:effectLst/>
                        </a:rPr>
                        <a:t>业务系统需要</a:t>
                      </a:r>
                      <a:r>
                        <a:rPr lang="zh-CN" altLang="en-US" sz="1400" kern="100" dirty="0">
                          <a:effectLst/>
                        </a:rPr>
                        <a:t>与其他系统</a:t>
                      </a:r>
                      <a:r>
                        <a:rPr lang="zh-CN" sz="1400" kern="100" dirty="0">
                          <a:effectLst/>
                        </a:rPr>
                        <a:t>数据对接的时候，经常</a:t>
                      </a:r>
                      <a:r>
                        <a:rPr lang="zh-CN" altLang="en-US" sz="1400" kern="100" dirty="0">
                          <a:effectLst/>
                        </a:rPr>
                        <a:t>被</a:t>
                      </a:r>
                      <a:r>
                        <a:rPr lang="zh-CN" sz="1400" kern="100" dirty="0">
                          <a:effectLst/>
                        </a:rPr>
                        <a:t>厂家</a:t>
                      </a:r>
                      <a:r>
                        <a:rPr lang="zh-CN" altLang="en-US" sz="1400" kern="100" dirty="0">
                          <a:effectLst/>
                        </a:rPr>
                        <a:t>要求</a:t>
                      </a:r>
                      <a:r>
                        <a:rPr lang="zh-CN" sz="1400" kern="100" dirty="0">
                          <a:effectLst/>
                        </a:rPr>
                        <a:t>交接口费</a:t>
                      </a:r>
                      <a:r>
                        <a:rPr lang="zh-CN" altLang="en-US" sz="1400" kern="100" dirty="0">
                          <a:effectLst/>
                        </a:rPr>
                        <a:t>（</a:t>
                      </a:r>
                      <a:r>
                        <a:rPr lang="en-US" altLang="zh-CN" sz="1400" kern="100" dirty="0">
                          <a:effectLst/>
                        </a:rPr>
                        <a:t>2</a:t>
                      </a:r>
                      <a:r>
                        <a:rPr lang="zh-CN" altLang="en-US" sz="1400" kern="100" dirty="0">
                          <a:effectLst/>
                        </a:rPr>
                        <a:t>万</a:t>
                      </a:r>
                      <a:r>
                        <a:rPr lang="en-US" altLang="zh-CN" sz="1400" kern="100" dirty="0">
                          <a:effectLst/>
                        </a:rPr>
                        <a:t>~10</a:t>
                      </a:r>
                      <a:r>
                        <a:rPr lang="zh-CN" altLang="en-US" sz="1400" kern="100" dirty="0">
                          <a:effectLst/>
                        </a:rPr>
                        <a:t>万不等），经常导致矛盾，增加校方成本。</a:t>
                      </a:r>
                      <a:r>
                        <a:rPr lang="zh-CN" sz="1400" kern="100" dirty="0">
                          <a:effectLst/>
                        </a:rPr>
                        <a:t>接口费不是一次性</a:t>
                      </a:r>
                      <a:r>
                        <a:rPr lang="zh-CN" altLang="en-US" sz="1400" kern="100" dirty="0">
                          <a:effectLst/>
                        </a:rPr>
                        <a:t>的</a:t>
                      </a:r>
                      <a:r>
                        <a:rPr lang="zh-CN" sz="1400" kern="100" dirty="0">
                          <a:effectLst/>
                        </a:rPr>
                        <a:t>，</a:t>
                      </a:r>
                      <a:r>
                        <a:rPr lang="zh-CN" altLang="en-US" sz="1400" kern="100" dirty="0">
                          <a:effectLst/>
                        </a:rPr>
                        <a:t>可能需要收很多次。</a:t>
                      </a:r>
                      <a:endParaRPr lang="zh-CN" sz="14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r>
              <a:tr h="0">
                <a:tc>
                  <a:txBody>
                    <a:bodyPr/>
                    <a:lstStyle/>
                    <a:p>
                      <a:pPr algn="ctr">
                        <a:lnSpc>
                          <a:spcPct val="125000"/>
                        </a:lnSpc>
                        <a:spcAft>
                          <a:spcPts val="0"/>
                        </a:spcAft>
                      </a:pPr>
                      <a:r>
                        <a:rPr lang="en-US" sz="1400" kern="100" dirty="0">
                          <a:effectLst/>
                        </a:rPr>
                        <a:t>6</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400" kern="100" dirty="0">
                          <a:effectLst/>
                        </a:rPr>
                        <a:t>数据质量</a:t>
                      </a:r>
                      <a:r>
                        <a:rPr lang="zh-CN" altLang="en-US" sz="1400" kern="100" dirty="0">
                          <a:effectLst/>
                        </a:rPr>
                        <a:t>无保障</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indent="266700" algn="just">
                        <a:lnSpc>
                          <a:spcPct val="125000"/>
                        </a:lnSpc>
                        <a:spcAft>
                          <a:spcPts val="0"/>
                        </a:spcAft>
                      </a:pPr>
                      <a:r>
                        <a:rPr lang="zh-CN" sz="1400" kern="100" dirty="0">
                          <a:effectLst/>
                        </a:rPr>
                        <a:t>共享库中数据</a:t>
                      </a:r>
                      <a:r>
                        <a:rPr lang="zh-CN" altLang="en-US" sz="1400" kern="100" dirty="0">
                          <a:effectLst/>
                        </a:rPr>
                        <a:t>的</a:t>
                      </a:r>
                      <a:r>
                        <a:rPr lang="zh-CN" sz="1400" kern="100" dirty="0">
                          <a:effectLst/>
                        </a:rPr>
                        <a:t>完整性、准确性</a:t>
                      </a:r>
                      <a:r>
                        <a:rPr lang="zh-CN" altLang="en-US" sz="1400" kern="100" dirty="0">
                          <a:effectLst/>
                        </a:rPr>
                        <a:t>依赖于</a:t>
                      </a:r>
                      <a:r>
                        <a:rPr lang="en-US" altLang="zh-CN" sz="1400" kern="100" dirty="0">
                          <a:effectLst/>
                        </a:rPr>
                        <a:t>MIS</a:t>
                      </a:r>
                      <a:r>
                        <a:rPr lang="zh-CN" altLang="en-US" sz="1400" kern="100" dirty="0">
                          <a:effectLst/>
                        </a:rPr>
                        <a:t>系统的运行质量，</a:t>
                      </a:r>
                      <a:r>
                        <a:rPr lang="zh-CN" sz="1400" kern="100" dirty="0">
                          <a:effectLst/>
                        </a:rPr>
                        <a:t>通常</a:t>
                      </a:r>
                      <a:r>
                        <a:rPr lang="zh-CN" altLang="en-US" sz="1400" kern="100" dirty="0">
                          <a:effectLst/>
                        </a:rPr>
                        <a:t>难以保障。在数据交换场景下，</a:t>
                      </a:r>
                      <a:r>
                        <a:rPr lang="zh-CN" altLang="zh-CN" sz="1400" kern="100" dirty="0">
                          <a:effectLst/>
                        </a:rPr>
                        <a:t>共享库</a:t>
                      </a:r>
                      <a:r>
                        <a:rPr lang="zh-CN" altLang="en-US" sz="1400" kern="100" dirty="0">
                          <a:effectLst/>
                        </a:rPr>
                        <a:t>建设厂商可以不承担数据准确性责任。但是在大数据分析和决策支持场景下，数据不够准确将直接导致分析结果与现实不符或决策失败。传统三大平台厂商对数据质量问题缺乏处理经验和能力。</a:t>
                      </a:r>
                      <a:endParaRPr lang="zh-CN" sz="14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客户痛点：</a:t>
            </a:r>
            <a:endParaRPr lang="zh-CN" altLang="en-US" dirty="0"/>
          </a:p>
        </p:txBody>
      </p:sp>
      <p:grpSp>
        <p:nvGrpSpPr>
          <p:cNvPr id="4" name="组合 54"/>
          <p:cNvGrpSpPr/>
          <p:nvPr/>
        </p:nvGrpSpPr>
        <p:grpSpPr>
          <a:xfrm>
            <a:off x="7733838" y="70638"/>
            <a:ext cx="4412421" cy="262811"/>
            <a:chOff x="5291227" y="0"/>
            <a:chExt cx="3439301" cy="189000"/>
          </a:xfrm>
        </p:grpSpPr>
        <p:sp>
          <p:nvSpPr>
            <p:cNvPr id="5" name="燕尾形 4"/>
            <p:cNvSpPr/>
            <p:nvPr/>
          </p:nvSpPr>
          <p:spPr bwMode="auto">
            <a:xfrm>
              <a:off x="5291227"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燕尾形 5"/>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燕尾形 6"/>
            <p:cNvSpPr/>
            <p:nvPr/>
          </p:nvSpPr>
          <p:spPr bwMode="auto">
            <a:xfrm>
              <a:off x="667024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燕尾形 7"/>
            <p:cNvSpPr/>
            <p:nvPr/>
          </p:nvSpPr>
          <p:spPr bwMode="auto">
            <a:xfrm>
              <a:off x="745372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燕尾形 8"/>
            <p:cNvSpPr/>
            <p:nvPr/>
          </p:nvSpPr>
          <p:spPr bwMode="auto">
            <a:xfrm>
              <a:off x="8055704" y="0"/>
              <a:ext cx="674824"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1" name="流程图: 磁盘 34"/>
          <p:cNvSpPr>
            <a:spLocks noChangeArrowheads="1"/>
          </p:cNvSpPr>
          <p:nvPr/>
        </p:nvSpPr>
        <p:spPr bwMode="auto">
          <a:xfrm>
            <a:off x="2454896" y="3903514"/>
            <a:ext cx="800898" cy="469897"/>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400">
              <a:defRPr/>
            </a:pPr>
            <a:r>
              <a:rPr lang="zh-CN" altLang="en-US" sz="900" b="1" dirty="0">
                <a:solidFill>
                  <a:prstClr val="white"/>
                </a:solidFill>
                <a:latin typeface="微软雅黑" panose="020B0503020204020204" pitchFamily="34" charset="-122"/>
              </a:rPr>
              <a:t>人事管理系统</a:t>
            </a:r>
            <a:endParaRPr lang="zh-CN" altLang="en-US" sz="900" b="1" dirty="0">
              <a:solidFill>
                <a:prstClr val="white"/>
              </a:solidFill>
              <a:latin typeface="微软雅黑" panose="020B0503020204020204" pitchFamily="34" charset="-122"/>
            </a:endParaRPr>
          </a:p>
        </p:txBody>
      </p:sp>
      <p:sp>
        <p:nvSpPr>
          <p:cNvPr id="12" name="流程图: 磁盘 36"/>
          <p:cNvSpPr>
            <a:spLocks noChangeArrowheads="1"/>
          </p:cNvSpPr>
          <p:nvPr/>
        </p:nvSpPr>
        <p:spPr bwMode="auto">
          <a:xfrm>
            <a:off x="7708363" y="5925493"/>
            <a:ext cx="802011" cy="469897"/>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400">
              <a:defRPr/>
            </a:pPr>
            <a:r>
              <a:rPr lang="zh-CN" altLang="en-US" sz="900" b="1" dirty="0">
                <a:solidFill>
                  <a:prstClr val="white"/>
                </a:solidFill>
                <a:latin typeface="微软雅黑" panose="020B0503020204020204" pitchFamily="34" charset="-122"/>
              </a:rPr>
              <a:t>更多系统</a:t>
            </a:r>
            <a:r>
              <a:rPr lang="en-US" altLang="zh-CN" sz="900" b="1" dirty="0">
                <a:solidFill>
                  <a:prstClr val="white"/>
                </a:solidFill>
                <a:latin typeface="微软雅黑" panose="020B0503020204020204" pitchFamily="34" charset="-122"/>
              </a:rPr>
              <a:t>…</a:t>
            </a:r>
            <a:endParaRPr lang="zh-CN" altLang="en-US" sz="900" b="1" dirty="0">
              <a:solidFill>
                <a:prstClr val="white"/>
              </a:solidFill>
              <a:latin typeface="微软雅黑" panose="020B0503020204020204" pitchFamily="34" charset="-122"/>
            </a:endParaRPr>
          </a:p>
        </p:txBody>
      </p:sp>
      <p:sp>
        <p:nvSpPr>
          <p:cNvPr id="13" name="流程图: 磁盘 38"/>
          <p:cNvSpPr>
            <a:spLocks noChangeArrowheads="1"/>
          </p:cNvSpPr>
          <p:nvPr/>
        </p:nvSpPr>
        <p:spPr bwMode="auto">
          <a:xfrm>
            <a:off x="8862399" y="2029074"/>
            <a:ext cx="789775" cy="469897"/>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400">
              <a:defRPr/>
            </a:pPr>
            <a:r>
              <a:rPr lang="zh-CN" altLang="en-US" sz="900" b="1" dirty="0">
                <a:solidFill>
                  <a:prstClr val="white"/>
                </a:solidFill>
                <a:latin typeface="微软雅黑" panose="020B0503020204020204" pitchFamily="34" charset="-122"/>
              </a:rPr>
              <a:t>学工管理系统</a:t>
            </a:r>
            <a:endParaRPr lang="zh-CN" altLang="en-US" sz="900" b="1" dirty="0">
              <a:solidFill>
                <a:prstClr val="white"/>
              </a:solidFill>
              <a:latin typeface="微软雅黑" panose="020B0503020204020204" pitchFamily="34" charset="-122"/>
            </a:endParaRPr>
          </a:p>
        </p:txBody>
      </p:sp>
      <p:sp>
        <p:nvSpPr>
          <p:cNvPr id="14" name="流程图: 磁盘 39"/>
          <p:cNvSpPr>
            <a:spLocks noChangeArrowheads="1"/>
          </p:cNvSpPr>
          <p:nvPr/>
        </p:nvSpPr>
        <p:spPr bwMode="auto">
          <a:xfrm>
            <a:off x="8917181" y="3906738"/>
            <a:ext cx="790887" cy="469897"/>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400">
              <a:defRPr/>
            </a:pPr>
            <a:r>
              <a:rPr lang="zh-CN" altLang="en-US" sz="900" b="1" dirty="0">
                <a:solidFill>
                  <a:prstClr val="white"/>
                </a:solidFill>
                <a:latin typeface="微软雅黑" panose="020B0503020204020204" pitchFamily="34" charset="-122"/>
              </a:rPr>
              <a:t>科研管理系统</a:t>
            </a:r>
            <a:endParaRPr lang="zh-CN" altLang="en-US" sz="900" b="1" dirty="0">
              <a:solidFill>
                <a:prstClr val="white"/>
              </a:solidFill>
              <a:latin typeface="微软雅黑" panose="020B0503020204020204" pitchFamily="34" charset="-122"/>
            </a:endParaRPr>
          </a:p>
        </p:txBody>
      </p:sp>
      <p:sp>
        <p:nvSpPr>
          <p:cNvPr id="15" name="流程图: 磁盘 40"/>
          <p:cNvSpPr>
            <a:spLocks noChangeArrowheads="1"/>
          </p:cNvSpPr>
          <p:nvPr/>
        </p:nvSpPr>
        <p:spPr bwMode="auto">
          <a:xfrm>
            <a:off x="3874853" y="5974587"/>
            <a:ext cx="800898" cy="469897"/>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400">
              <a:defRPr/>
            </a:pPr>
            <a:r>
              <a:rPr lang="zh-CN" altLang="en-US" sz="900" b="1" dirty="0">
                <a:solidFill>
                  <a:prstClr val="white"/>
                </a:solidFill>
                <a:latin typeface="微软雅黑" panose="020B0503020204020204" pitchFamily="34" charset="-122"/>
              </a:rPr>
              <a:t>财务管理系统</a:t>
            </a:r>
            <a:endParaRPr lang="zh-CN" altLang="en-US" sz="900" b="1" dirty="0">
              <a:solidFill>
                <a:prstClr val="white"/>
              </a:solidFill>
              <a:latin typeface="微软雅黑" panose="020B0503020204020204" pitchFamily="34" charset="-122"/>
            </a:endParaRPr>
          </a:p>
        </p:txBody>
      </p:sp>
      <p:sp>
        <p:nvSpPr>
          <p:cNvPr id="16" name="流程图: 磁盘 41"/>
          <p:cNvSpPr>
            <a:spLocks noChangeArrowheads="1"/>
          </p:cNvSpPr>
          <p:nvPr/>
        </p:nvSpPr>
        <p:spPr bwMode="auto">
          <a:xfrm>
            <a:off x="5861649" y="5974587"/>
            <a:ext cx="747505" cy="469897"/>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400">
              <a:defRPr/>
            </a:pPr>
            <a:r>
              <a:rPr lang="zh-CN" altLang="en-US" sz="900" b="1" dirty="0">
                <a:solidFill>
                  <a:prstClr val="white"/>
                </a:solidFill>
                <a:latin typeface="微软雅黑" panose="020B0503020204020204" pitchFamily="34" charset="-122"/>
              </a:rPr>
              <a:t>资产管理系统</a:t>
            </a:r>
            <a:endParaRPr lang="zh-CN" altLang="en-US" sz="900" b="1" dirty="0">
              <a:solidFill>
                <a:prstClr val="white"/>
              </a:solidFill>
              <a:latin typeface="微软雅黑" panose="020B0503020204020204" pitchFamily="34" charset="-122"/>
            </a:endParaRPr>
          </a:p>
        </p:txBody>
      </p:sp>
      <p:grpSp>
        <p:nvGrpSpPr>
          <p:cNvPr id="17" name="组合 2"/>
          <p:cNvGrpSpPr/>
          <p:nvPr/>
        </p:nvGrpSpPr>
        <p:grpSpPr>
          <a:xfrm>
            <a:off x="4280500" y="3047726"/>
            <a:ext cx="3602155" cy="1625459"/>
            <a:chOff x="4439265" y="2581171"/>
            <a:chExt cx="7846141" cy="3291589"/>
          </a:xfrm>
        </p:grpSpPr>
        <p:sp>
          <p:nvSpPr>
            <p:cNvPr id="18" name="圆角矩形 8"/>
            <p:cNvSpPr/>
            <p:nvPr/>
          </p:nvSpPr>
          <p:spPr bwMode="auto">
            <a:xfrm>
              <a:off x="4439265" y="2581171"/>
              <a:ext cx="7846141" cy="3175583"/>
            </a:xfrm>
            <a:prstGeom prst="roundRect">
              <a:avLst/>
            </a:prstGeom>
            <a:solidFill>
              <a:srgbClr val="1C4885"/>
            </a:solidFill>
            <a:ln w="19050" cap="flat" cmpd="sng" algn="ctr">
              <a:noFill/>
              <a:prstDash val="solid"/>
              <a:miter lim="800000"/>
              <a:headEnd type="none" w="med" len="med"/>
              <a:tailEnd type="none" w="med" len="med"/>
            </a:ln>
            <a:effectLst/>
          </p:spPr>
          <p:txBody>
            <a:bodyPr tIns="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400">
                <a:defRPr/>
              </a:pPr>
              <a:r>
                <a:rPr lang="zh-CN" altLang="en-US" sz="1000" b="1" dirty="0">
                  <a:solidFill>
                    <a:prstClr val="white"/>
                  </a:solidFill>
                  <a:latin typeface="微软雅黑" panose="020B0503020204020204" pitchFamily="34" charset="-122"/>
                </a:rPr>
                <a:t>共享库</a:t>
              </a:r>
              <a:endParaRPr lang="zh-CN" altLang="en-US" sz="1000" b="1" dirty="0">
                <a:solidFill>
                  <a:prstClr val="white"/>
                </a:solidFill>
                <a:latin typeface="微软雅黑" panose="020B0503020204020204" pitchFamily="34" charset="-122"/>
              </a:endParaRPr>
            </a:p>
          </p:txBody>
        </p:sp>
        <p:sp>
          <p:nvSpPr>
            <p:cNvPr id="19" name="圆角矩形 31"/>
            <p:cNvSpPr/>
            <p:nvPr/>
          </p:nvSpPr>
          <p:spPr bwMode="auto">
            <a:xfrm>
              <a:off x="6548918" y="3198875"/>
              <a:ext cx="5571969" cy="399929"/>
            </a:xfrm>
            <a:prstGeom prst="roundRect">
              <a:avLst/>
            </a:prstGeom>
            <a:solidFill>
              <a:sysClr val="window" lastClr="FFFFFF"/>
            </a:solidFill>
            <a:ln w="12700" cap="flat" cmpd="sng" algn="ctr">
              <a:noFill/>
              <a:prstDash val="solid"/>
              <a:miter lim="800000"/>
              <a:headEnd type="none" w="med" len="med"/>
              <a:tailEnd type="none" w="med" len="med"/>
            </a:ln>
            <a:effectLst/>
          </p:spPr>
          <p:txBody>
            <a:bodyPr lIns="36000" rIns="36000"/>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defTabSz="914400">
                <a:defRPr/>
              </a:pPr>
              <a:r>
                <a:rPr lang="zh-CN" altLang="en-US" sz="800" dirty="0">
                  <a:solidFill>
                    <a:prstClr val="black"/>
                  </a:solidFill>
                  <a:latin typeface="微软雅黑" panose="020B0503020204020204" pitchFamily="34" charset="-122"/>
                </a:rPr>
                <a:t>教学信息、科研信息、财务数据等</a:t>
              </a:r>
              <a:endParaRPr lang="zh-CN" altLang="en-US" sz="800" dirty="0">
                <a:solidFill>
                  <a:prstClr val="black"/>
                </a:solidFill>
                <a:latin typeface="微软雅黑" panose="020B0503020204020204" pitchFamily="34" charset="-122"/>
              </a:endParaRPr>
            </a:p>
          </p:txBody>
        </p:sp>
        <p:sp>
          <p:nvSpPr>
            <p:cNvPr id="20" name="流程图: 磁盘 62"/>
            <p:cNvSpPr>
              <a:spLocks noChangeArrowheads="1"/>
            </p:cNvSpPr>
            <p:nvPr/>
          </p:nvSpPr>
          <p:spPr bwMode="auto">
            <a:xfrm>
              <a:off x="4630994" y="3012078"/>
              <a:ext cx="1767852" cy="688160"/>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400">
                <a:defRPr/>
              </a:pPr>
              <a:r>
                <a:rPr lang="zh-CN" altLang="en-US" sz="700" dirty="0">
                  <a:solidFill>
                    <a:prstClr val="white"/>
                  </a:solidFill>
                  <a:latin typeface="微软雅黑" panose="020B0503020204020204" pitchFamily="34" charset="-122"/>
                </a:rPr>
                <a:t>财务共享数据</a:t>
              </a:r>
              <a:endParaRPr lang="zh-CN" altLang="en-US" sz="700" dirty="0">
                <a:solidFill>
                  <a:prstClr val="white"/>
                </a:solidFill>
                <a:latin typeface="微软雅黑" panose="020B0503020204020204" pitchFamily="34" charset="-122"/>
              </a:endParaRPr>
            </a:p>
          </p:txBody>
        </p:sp>
        <p:sp>
          <p:nvSpPr>
            <p:cNvPr id="21" name="流程图: 磁盘 63"/>
            <p:cNvSpPr>
              <a:spLocks noChangeArrowheads="1"/>
            </p:cNvSpPr>
            <p:nvPr/>
          </p:nvSpPr>
          <p:spPr bwMode="auto">
            <a:xfrm>
              <a:off x="4630994" y="3792827"/>
              <a:ext cx="1767852" cy="688160"/>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400">
                <a:defRPr/>
              </a:pPr>
              <a:r>
                <a:rPr lang="zh-CN" altLang="en-US" sz="700" dirty="0">
                  <a:solidFill>
                    <a:prstClr val="white"/>
                  </a:solidFill>
                  <a:latin typeface="微软雅黑" panose="020B0503020204020204" pitchFamily="34" charset="-122"/>
                </a:rPr>
                <a:t>教务共享数据</a:t>
              </a:r>
              <a:endParaRPr lang="zh-CN" altLang="en-US" sz="700" dirty="0">
                <a:solidFill>
                  <a:prstClr val="white"/>
                </a:solidFill>
                <a:latin typeface="微软雅黑" panose="020B0503020204020204" pitchFamily="34" charset="-122"/>
              </a:endParaRPr>
            </a:p>
          </p:txBody>
        </p:sp>
        <p:sp>
          <p:nvSpPr>
            <p:cNvPr id="22" name="流程图: 磁盘 64"/>
            <p:cNvSpPr>
              <a:spLocks noChangeArrowheads="1"/>
            </p:cNvSpPr>
            <p:nvPr/>
          </p:nvSpPr>
          <p:spPr bwMode="auto">
            <a:xfrm>
              <a:off x="4610811" y="4579840"/>
              <a:ext cx="1767852" cy="688160"/>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400">
                <a:defRPr/>
              </a:pPr>
              <a:r>
                <a:rPr lang="zh-CN" altLang="en-US" sz="700" dirty="0">
                  <a:solidFill>
                    <a:prstClr val="white"/>
                  </a:solidFill>
                  <a:latin typeface="微软雅黑" panose="020B0503020204020204" pitchFamily="34" charset="-122"/>
                </a:rPr>
                <a:t>人事共享数据</a:t>
              </a:r>
              <a:endParaRPr lang="zh-CN" altLang="en-US" sz="700" dirty="0">
                <a:solidFill>
                  <a:prstClr val="white"/>
                </a:solidFill>
                <a:latin typeface="微软雅黑" panose="020B0503020204020204" pitchFamily="34" charset="-122"/>
              </a:endParaRPr>
            </a:p>
          </p:txBody>
        </p:sp>
        <p:sp>
          <p:nvSpPr>
            <p:cNvPr id="23" name="圆角矩形 31"/>
            <p:cNvSpPr/>
            <p:nvPr/>
          </p:nvSpPr>
          <p:spPr bwMode="auto">
            <a:xfrm>
              <a:off x="4873377" y="5183519"/>
              <a:ext cx="1242720" cy="689241"/>
            </a:xfrm>
            <a:prstGeom prst="roundRect">
              <a:avLst/>
            </a:prstGeom>
            <a:noFill/>
            <a:ln w="12700" cap="flat" cmpd="sng" algn="ctr">
              <a:noFill/>
              <a:prstDash val="solid"/>
              <a:miter lim="800000"/>
              <a:headEnd type="none" w="med" len="med"/>
              <a:tailEnd type="none" w="med" len="med"/>
            </a:ln>
            <a:effectLst/>
          </p:spPr>
          <p:txBody>
            <a:bodyPr lIns="36000" rIns="36000"/>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defTabSz="914400">
                <a:defRPr/>
              </a:pPr>
              <a:r>
                <a:rPr lang="en-US" altLang="zh-CN" sz="800" dirty="0">
                  <a:solidFill>
                    <a:prstClr val="white"/>
                  </a:solidFill>
                  <a:latin typeface="微软雅黑" panose="020B0503020204020204" pitchFamily="34" charset="-122"/>
                </a:rPr>
                <a:t>……</a:t>
              </a:r>
              <a:endParaRPr lang="zh-CN" altLang="en-US" sz="800" dirty="0">
                <a:solidFill>
                  <a:prstClr val="white"/>
                </a:solidFill>
                <a:latin typeface="微软雅黑" panose="020B0503020204020204" pitchFamily="34" charset="-122"/>
              </a:endParaRPr>
            </a:p>
          </p:txBody>
        </p:sp>
        <p:sp>
          <p:nvSpPr>
            <p:cNvPr id="24" name="圆角矩形 31"/>
            <p:cNvSpPr/>
            <p:nvPr/>
          </p:nvSpPr>
          <p:spPr bwMode="auto">
            <a:xfrm>
              <a:off x="6548918" y="3917938"/>
              <a:ext cx="5571969" cy="480381"/>
            </a:xfrm>
            <a:prstGeom prst="roundRect">
              <a:avLst/>
            </a:prstGeom>
            <a:solidFill>
              <a:sysClr val="window" lastClr="FFFFFF"/>
            </a:solidFill>
            <a:ln w="12700" cap="flat" cmpd="sng" algn="ctr">
              <a:noFill/>
              <a:prstDash val="solid"/>
              <a:miter lim="800000"/>
              <a:headEnd type="none" w="med" len="med"/>
              <a:tailEnd type="none" w="med" len="med"/>
            </a:ln>
            <a:effectLst/>
          </p:spPr>
          <p:txBody>
            <a:bodyPr lIns="36000" rIns="36000"/>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defTabSz="914400">
                <a:defRPr/>
              </a:pPr>
              <a:r>
                <a:rPr lang="zh-CN" altLang="en-US" sz="800" dirty="0">
                  <a:solidFill>
                    <a:prstClr val="black"/>
                  </a:solidFill>
                  <a:latin typeface="微软雅黑" panose="020B0503020204020204" pitchFamily="34" charset="-122"/>
                </a:rPr>
                <a:t>教师人员基本信息、学生基本信息、组织机构信息等</a:t>
              </a:r>
              <a:endParaRPr lang="zh-CN" altLang="en-US" sz="800" dirty="0">
                <a:solidFill>
                  <a:prstClr val="black"/>
                </a:solidFill>
                <a:latin typeface="微软雅黑" panose="020B0503020204020204" pitchFamily="34" charset="-122"/>
              </a:endParaRPr>
            </a:p>
          </p:txBody>
        </p:sp>
        <p:sp>
          <p:nvSpPr>
            <p:cNvPr id="25" name="圆角矩形 31"/>
            <p:cNvSpPr/>
            <p:nvPr/>
          </p:nvSpPr>
          <p:spPr bwMode="auto">
            <a:xfrm>
              <a:off x="6525215" y="4704243"/>
              <a:ext cx="5571969" cy="480381"/>
            </a:xfrm>
            <a:prstGeom prst="roundRect">
              <a:avLst/>
            </a:prstGeom>
            <a:solidFill>
              <a:sysClr val="window" lastClr="FFFFFF"/>
            </a:solidFill>
            <a:ln w="12700" cap="flat" cmpd="sng" algn="ctr">
              <a:noFill/>
              <a:prstDash val="solid"/>
              <a:miter lim="800000"/>
              <a:headEnd type="none" w="med" len="med"/>
              <a:tailEnd type="none" w="med" len="med"/>
            </a:ln>
            <a:effectLst/>
          </p:spPr>
          <p:txBody>
            <a:bodyPr lIns="36000" rIns="36000"/>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defTabSz="914400">
                <a:defRPr/>
              </a:pPr>
              <a:r>
                <a:rPr lang="zh-CN" altLang="en-US" sz="800" dirty="0">
                  <a:solidFill>
                    <a:prstClr val="black"/>
                  </a:solidFill>
                  <a:latin typeface="微软雅黑" panose="020B0503020204020204" pitchFamily="34" charset="-122"/>
                </a:rPr>
                <a:t>教师人员基本信息、组织机构信息等</a:t>
              </a:r>
              <a:endParaRPr lang="zh-CN" altLang="en-US" sz="800" dirty="0">
                <a:solidFill>
                  <a:prstClr val="black"/>
                </a:solidFill>
                <a:latin typeface="微软雅黑" panose="020B0503020204020204" pitchFamily="34" charset="-122"/>
              </a:endParaRPr>
            </a:p>
          </p:txBody>
        </p:sp>
      </p:grpSp>
      <p:sp>
        <p:nvSpPr>
          <p:cNvPr id="26" name="矩形 1"/>
          <p:cNvSpPr/>
          <p:nvPr/>
        </p:nvSpPr>
        <p:spPr>
          <a:xfrm>
            <a:off x="2508195" y="3708173"/>
            <a:ext cx="624589" cy="137063"/>
          </a:xfrm>
          <a:prstGeom prst="rect">
            <a:avLst/>
          </a:prstGeom>
          <a:noFill/>
          <a:ln w="12700" cap="flat" cmpd="sng" algn="ctr">
            <a:solidFill>
              <a:srgbClr val="4472C4">
                <a:shade val="50000"/>
              </a:srgbClr>
            </a:solidFill>
            <a:prstDash val="dash"/>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rPr>
              <a:t>中间库</a:t>
            </a:r>
            <a:endPar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endParaRPr>
          </a:p>
        </p:txBody>
      </p:sp>
      <p:sp>
        <p:nvSpPr>
          <p:cNvPr id="27" name="矩形 79"/>
          <p:cNvSpPr/>
          <p:nvPr/>
        </p:nvSpPr>
        <p:spPr>
          <a:xfrm>
            <a:off x="8902440" y="2623061"/>
            <a:ext cx="624589" cy="137063"/>
          </a:xfrm>
          <a:prstGeom prst="rect">
            <a:avLst/>
          </a:prstGeom>
          <a:noFill/>
          <a:ln w="12700" cap="flat" cmpd="sng" algn="ctr">
            <a:solidFill>
              <a:srgbClr val="4472C4">
                <a:shade val="50000"/>
              </a:srgbClr>
            </a:solidFill>
            <a:prstDash val="dash"/>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rPr>
              <a:t>中间库</a:t>
            </a:r>
            <a:endPar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endParaRPr>
          </a:p>
        </p:txBody>
      </p:sp>
      <p:sp>
        <p:nvSpPr>
          <p:cNvPr id="28" name="矩形 81"/>
          <p:cNvSpPr/>
          <p:nvPr/>
        </p:nvSpPr>
        <p:spPr>
          <a:xfrm>
            <a:off x="8957778" y="3729791"/>
            <a:ext cx="624589" cy="137063"/>
          </a:xfrm>
          <a:prstGeom prst="rect">
            <a:avLst/>
          </a:prstGeom>
          <a:noFill/>
          <a:ln w="12700" cap="flat" cmpd="sng" algn="ctr">
            <a:solidFill>
              <a:srgbClr val="4472C4">
                <a:shade val="50000"/>
              </a:srgbClr>
            </a:solidFill>
            <a:prstDash val="dash"/>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rPr>
              <a:t>中间库</a:t>
            </a:r>
            <a:endPar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endParaRPr>
          </a:p>
        </p:txBody>
      </p:sp>
      <p:sp>
        <p:nvSpPr>
          <p:cNvPr id="29" name="矩形 83"/>
          <p:cNvSpPr/>
          <p:nvPr/>
        </p:nvSpPr>
        <p:spPr>
          <a:xfrm>
            <a:off x="3957196" y="5800680"/>
            <a:ext cx="624589" cy="137063"/>
          </a:xfrm>
          <a:prstGeom prst="rect">
            <a:avLst/>
          </a:prstGeom>
          <a:noFill/>
          <a:ln w="12700" cap="flat" cmpd="sng" algn="ctr">
            <a:solidFill>
              <a:srgbClr val="4472C4">
                <a:shade val="50000"/>
              </a:srgbClr>
            </a:solidFill>
            <a:prstDash val="dash"/>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rPr>
              <a:t>中间库</a:t>
            </a:r>
            <a:endPar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endParaRPr>
          </a:p>
        </p:txBody>
      </p:sp>
      <p:sp>
        <p:nvSpPr>
          <p:cNvPr id="30" name="矩形 84"/>
          <p:cNvSpPr/>
          <p:nvPr/>
        </p:nvSpPr>
        <p:spPr>
          <a:xfrm>
            <a:off x="5867206" y="5809856"/>
            <a:ext cx="624589" cy="137063"/>
          </a:xfrm>
          <a:prstGeom prst="rect">
            <a:avLst/>
          </a:prstGeom>
          <a:noFill/>
          <a:ln w="12700" cap="flat" cmpd="sng" algn="ctr">
            <a:solidFill>
              <a:srgbClr val="4472C4">
                <a:shade val="50000"/>
              </a:srgbClr>
            </a:solidFill>
            <a:prstDash val="dash"/>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rPr>
              <a:t>中间库</a:t>
            </a:r>
            <a:endPar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endParaRPr>
          </a:p>
        </p:txBody>
      </p:sp>
      <p:sp>
        <p:nvSpPr>
          <p:cNvPr id="31" name="矩形 85"/>
          <p:cNvSpPr/>
          <p:nvPr/>
        </p:nvSpPr>
        <p:spPr>
          <a:xfrm>
            <a:off x="7754522" y="5761991"/>
            <a:ext cx="624589" cy="137063"/>
          </a:xfrm>
          <a:prstGeom prst="rect">
            <a:avLst/>
          </a:prstGeom>
          <a:noFill/>
          <a:ln w="12700" cap="flat" cmpd="sng" algn="ctr">
            <a:solidFill>
              <a:srgbClr val="4472C4">
                <a:shade val="50000"/>
              </a:srgbClr>
            </a:solidFill>
            <a:prstDash val="dash"/>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rPr>
              <a:t>中间库</a:t>
            </a:r>
            <a:endPar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endParaRPr>
          </a:p>
        </p:txBody>
      </p:sp>
      <p:sp>
        <p:nvSpPr>
          <p:cNvPr id="35" name="流程图: 磁盘 86"/>
          <p:cNvSpPr>
            <a:spLocks noChangeArrowheads="1"/>
          </p:cNvSpPr>
          <p:nvPr/>
        </p:nvSpPr>
        <p:spPr bwMode="auto">
          <a:xfrm>
            <a:off x="3926500" y="1147136"/>
            <a:ext cx="789775" cy="469897"/>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900" b="1"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charset="-122"/>
                <a:cs typeface="+mn-cs"/>
              </a:rPr>
              <a:t>图书馆管理系统</a:t>
            </a:r>
            <a:endParaRPr kumimoji="0" lang="zh-CN" altLang="en-US" sz="900" b="1"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charset="-122"/>
              <a:cs typeface="+mn-cs"/>
            </a:endParaRPr>
          </a:p>
        </p:txBody>
      </p:sp>
      <p:sp>
        <p:nvSpPr>
          <p:cNvPr id="36" name="矩形 87"/>
          <p:cNvSpPr/>
          <p:nvPr/>
        </p:nvSpPr>
        <p:spPr>
          <a:xfrm>
            <a:off x="3966542" y="1741455"/>
            <a:ext cx="624590" cy="137063"/>
          </a:xfrm>
          <a:prstGeom prst="rect">
            <a:avLst/>
          </a:prstGeom>
          <a:noFill/>
          <a:ln w="12700" cap="flat" cmpd="sng" algn="ctr">
            <a:solidFill>
              <a:srgbClr val="4472C4">
                <a:shade val="50000"/>
              </a:srgbClr>
            </a:solidFill>
            <a:prstDash val="dash"/>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rPr>
              <a:t>中间库</a:t>
            </a:r>
            <a:endPar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endParaRPr>
          </a:p>
        </p:txBody>
      </p:sp>
      <p:sp>
        <p:nvSpPr>
          <p:cNvPr id="38" name="流程图: 磁盘 88"/>
          <p:cNvSpPr>
            <a:spLocks noChangeArrowheads="1"/>
          </p:cNvSpPr>
          <p:nvPr/>
        </p:nvSpPr>
        <p:spPr bwMode="auto">
          <a:xfrm>
            <a:off x="7658866" y="1186912"/>
            <a:ext cx="789775" cy="469897"/>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900" b="1"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charset="-122"/>
                <a:cs typeface="+mn-cs"/>
              </a:rPr>
              <a:t>教务管理系统</a:t>
            </a:r>
            <a:endParaRPr kumimoji="0" lang="zh-CN" altLang="en-US" sz="900" b="1" i="0" u="none" strike="noStrike" kern="1200" cap="none" spc="0" normalizeH="0" baseline="0" noProof="0" dirty="0">
              <a:ln>
                <a:noFill/>
              </a:ln>
              <a:solidFill>
                <a:prstClr val="white"/>
              </a:solidFill>
              <a:effectLst/>
              <a:uLnTx/>
              <a:uFillTx/>
              <a:latin typeface="微软雅黑" panose="020B0503020204020204" pitchFamily="34" charset="-122"/>
              <a:ea typeface="等线" panose="02010600030101010101" charset="-122"/>
              <a:cs typeface="+mn-cs"/>
            </a:endParaRPr>
          </a:p>
        </p:txBody>
      </p:sp>
      <p:sp>
        <p:nvSpPr>
          <p:cNvPr id="39" name="矩形 89"/>
          <p:cNvSpPr/>
          <p:nvPr/>
        </p:nvSpPr>
        <p:spPr>
          <a:xfrm>
            <a:off x="7698908" y="1781231"/>
            <a:ext cx="624590" cy="137063"/>
          </a:xfrm>
          <a:prstGeom prst="rect">
            <a:avLst/>
          </a:prstGeom>
          <a:noFill/>
          <a:ln w="12700" cap="flat" cmpd="sng" algn="ctr">
            <a:solidFill>
              <a:srgbClr val="4472C4">
                <a:shade val="50000"/>
              </a:srgbClr>
            </a:solidFill>
            <a:prstDash val="dash"/>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rPr>
              <a:t>中间库</a:t>
            </a:r>
            <a:endPar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endParaRPr>
          </a:p>
        </p:txBody>
      </p:sp>
      <p:sp>
        <p:nvSpPr>
          <p:cNvPr id="40" name="流程图: 磁盘 90"/>
          <p:cNvSpPr>
            <a:spLocks noChangeArrowheads="1"/>
          </p:cNvSpPr>
          <p:nvPr/>
        </p:nvSpPr>
        <p:spPr bwMode="auto">
          <a:xfrm>
            <a:off x="6312333" y="951963"/>
            <a:ext cx="789775" cy="469897"/>
          </a:xfrm>
          <a:prstGeom prst="flowChartMagneticDisk">
            <a:avLst/>
          </a:prstGeom>
          <a:solidFill>
            <a:srgbClr val="2C3E50"/>
          </a:solidFill>
          <a:ln w="12700" cap="flat" cmpd="sng" algn="ctr">
            <a:solidFill>
              <a:sysClr val="window" lastClr="FFFFFF">
                <a:lumMod val="85000"/>
              </a:sysClr>
            </a:solidFill>
            <a:prstDash val="solid"/>
            <a:miter lim="800000"/>
          </a:ln>
          <a:effectLst/>
        </p:spPr>
        <p:txBody>
          <a:bodyPr lIns="36000" rIns="36000"/>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defTabSz="914400">
              <a:defRPr/>
            </a:pPr>
            <a:r>
              <a:rPr lang="zh-CN" altLang="en-US" sz="900" b="1" dirty="0">
                <a:solidFill>
                  <a:prstClr val="white"/>
                </a:solidFill>
                <a:latin typeface="微软雅黑" panose="020B0503020204020204" pitchFamily="34" charset="-122"/>
              </a:rPr>
              <a:t>后勤管理系统</a:t>
            </a:r>
            <a:endParaRPr lang="zh-CN" altLang="en-US" sz="900" b="1" dirty="0">
              <a:solidFill>
                <a:prstClr val="white"/>
              </a:solidFill>
              <a:latin typeface="微软雅黑" panose="020B0503020204020204" pitchFamily="34" charset="-122"/>
            </a:endParaRPr>
          </a:p>
        </p:txBody>
      </p:sp>
      <p:sp>
        <p:nvSpPr>
          <p:cNvPr id="41" name="矩形 91"/>
          <p:cNvSpPr/>
          <p:nvPr/>
        </p:nvSpPr>
        <p:spPr>
          <a:xfrm>
            <a:off x="5859420" y="1546283"/>
            <a:ext cx="624589" cy="137063"/>
          </a:xfrm>
          <a:prstGeom prst="rect">
            <a:avLst/>
          </a:prstGeom>
          <a:noFill/>
          <a:ln w="12700" cap="flat" cmpd="sng" algn="ctr">
            <a:solidFill>
              <a:srgbClr val="4472C4">
                <a:shade val="50000"/>
              </a:srgbClr>
            </a:solidFill>
            <a:prstDash val="dash"/>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rPr>
              <a:t>中间库</a:t>
            </a:r>
            <a:endParaRPr kumimoji="0" lang="zh-CN" altLang="en-US" sz="900" b="0" i="0" u="none" strike="noStrike" kern="0" cap="none" spc="0" normalizeH="0" baseline="0" noProof="0" dirty="0">
              <a:ln>
                <a:noFill/>
              </a:ln>
              <a:solidFill>
                <a:sysClr val="windowText" lastClr="000000"/>
              </a:solidFill>
              <a:effectLst/>
              <a:uLnTx/>
              <a:uFillTx/>
              <a:latin typeface="Calibri" panose="020F0502020204030204"/>
              <a:ea typeface="等线" panose="02010600030101010101" charset="-122"/>
              <a:cs typeface="+mn-cs"/>
            </a:endParaRPr>
          </a:p>
        </p:txBody>
      </p:sp>
      <p:cxnSp>
        <p:nvCxnSpPr>
          <p:cNvPr id="42" name="直接箭头连接符 10"/>
          <p:cNvCxnSpPr/>
          <p:nvPr/>
        </p:nvCxnSpPr>
        <p:spPr>
          <a:xfrm>
            <a:off x="4377502" y="1885420"/>
            <a:ext cx="1511618" cy="1091591"/>
          </a:xfrm>
          <a:prstGeom prst="straightConnector1">
            <a:avLst/>
          </a:prstGeom>
          <a:noFill/>
          <a:ln w="57150" cap="flat" cmpd="sng" algn="ctr">
            <a:solidFill>
              <a:srgbClr val="FF3399"/>
            </a:solidFill>
            <a:prstDash val="solid"/>
            <a:miter lim="800000"/>
            <a:tailEnd type="triangle"/>
          </a:ln>
          <a:effectLst/>
        </p:spPr>
      </p:cxnSp>
      <p:cxnSp>
        <p:nvCxnSpPr>
          <p:cNvPr id="43" name="直接箭头连接符 92"/>
          <p:cNvCxnSpPr/>
          <p:nvPr/>
        </p:nvCxnSpPr>
        <p:spPr>
          <a:xfrm flipH="1" flipV="1">
            <a:off x="4212790" y="1915143"/>
            <a:ext cx="1521340" cy="1080513"/>
          </a:xfrm>
          <a:prstGeom prst="straightConnector1">
            <a:avLst/>
          </a:prstGeom>
          <a:noFill/>
          <a:ln w="57150" cap="flat" cmpd="sng" algn="ctr">
            <a:solidFill>
              <a:srgbClr val="4472C4"/>
            </a:solidFill>
            <a:prstDash val="solid"/>
            <a:miter lim="800000"/>
            <a:tailEnd type="triangle"/>
          </a:ln>
          <a:effectLst/>
        </p:spPr>
      </p:cxnSp>
      <p:cxnSp>
        <p:nvCxnSpPr>
          <p:cNvPr id="44" name="直接箭头连接符 96"/>
          <p:cNvCxnSpPr/>
          <p:nvPr/>
        </p:nvCxnSpPr>
        <p:spPr>
          <a:xfrm>
            <a:off x="6292688" y="1679259"/>
            <a:ext cx="0" cy="1316397"/>
          </a:xfrm>
          <a:prstGeom prst="straightConnector1">
            <a:avLst/>
          </a:prstGeom>
          <a:noFill/>
          <a:ln w="57150" cap="flat" cmpd="sng" algn="ctr">
            <a:solidFill>
              <a:srgbClr val="FF3399"/>
            </a:solidFill>
            <a:prstDash val="solid"/>
            <a:miter lim="800000"/>
            <a:tailEnd type="triangle"/>
          </a:ln>
          <a:effectLst/>
        </p:spPr>
      </p:cxnSp>
      <p:cxnSp>
        <p:nvCxnSpPr>
          <p:cNvPr id="45" name="直接箭头连接符 98"/>
          <p:cNvCxnSpPr/>
          <p:nvPr/>
        </p:nvCxnSpPr>
        <p:spPr>
          <a:xfrm flipV="1">
            <a:off x="6147526" y="1691667"/>
            <a:ext cx="0" cy="1240007"/>
          </a:xfrm>
          <a:prstGeom prst="straightConnector1">
            <a:avLst/>
          </a:prstGeom>
          <a:noFill/>
          <a:ln w="57150" cap="flat" cmpd="sng" algn="ctr">
            <a:solidFill>
              <a:srgbClr val="4472C4"/>
            </a:solidFill>
            <a:prstDash val="solid"/>
            <a:miter lim="800000"/>
            <a:tailEnd type="triangle"/>
          </a:ln>
          <a:effectLst/>
        </p:spPr>
      </p:cxnSp>
      <p:sp>
        <p:nvSpPr>
          <p:cNvPr id="46" name="矩形 102"/>
          <p:cNvSpPr/>
          <p:nvPr/>
        </p:nvSpPr>
        <p:spPr>
          <a:xfrm>
            <a:off x="4762602" y="2039203"/>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47" name="矩形 103"/>
          <p:cNvSpPr/>
          <p:nvPr/>
        </p:nvSpPr>
        <p:spPr>
          <a:xfrm>
            <a:off x="4291594" y="2339397"/>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48" name="矩形 104"/>
          <p:cNvSpPr/>
          <p:nvPr/>
        </p:nvSpPr>
        <p:spPr>
          <a:xfrm>
            <a:off x="6275587" y="2067619"/>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49" name="矩形 105"/>
          <p:cNvSpPr/>
          <p:nvPr/>
        </p:nvSpPr>
        <p:spPr>
          <a:xfrm>
            <a:off x="5608166" y="2067619"/>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cxnSp>
        <p:nvCxnSpPr>
          <p:cNvPr id="50" name="直接箭头连接符 106"/>
          <p:cNvCxnSpPr/>
          <p:nvPr/>
        </p:nvCxnSpPr>
        <p:spPr>
          <a:xfrm flipH="1">
            <a:off x="6706579" y="1936603"/>
            <a:ext cx="1511618" cy="1091591"/>
          </a:xfrm>
          <a:prstGeom prst="straightConnector1">
            <a:avLst/>
          </a:prstGeom>
          <a:noFill/>
          <a:ln w="57150" cap="flat" cmpd="sng" algn="ctr">
            <a:solidFill>
              <a:srgbClr val="FF3399"/>
            </a:solidFill>
            <a:prstDash val="solid"/>
            <a:miter lim="800000"/>
            <a:tailEnd type="triangle"/>
          </a:ln>
          <a:effectLst/>
        </p:spPr>
      </p:cxnSp>
      <p:cxnSp>
        <p:nvCxnSpPr>
          <p:cNvPr id="51" name="直接箭头连接符 107"/>
          <p:cNvCxnSpPr/>
          <p:nvPr/>
        </p:nvCxnSpPr>
        <p:spPr>
          <a:xfrm flipV="1">
            <a:off x="6494472" y="1966326"/>
            <a:ext cx="1521340" cy="1080513"/>
          </a:xfrm>
          <a:prstGeom prst="straightConnector1">
            <a:avLst/>
          </a:prstGeom>
          <a:noFill/>
          <a:ln w="57150" cap="flat" cmpd="sng" algn="ctr">
            <a:solidFill>
              <a:srgbClr val="4472C4"/>
            </a:solidFill>
            <a:prstDash val="solid"/>
            <a:miter lim="800000"/>
            <a:tailEnd type="triangle"/>
          </a:ln>
          <a:effectLst/>
        </p:spPr>
      </p:cxnSp>
      <p:cxnSp>
        <p:nvCxnSpPr>
          <p:cNvPr id="52" name="直接箭头连接符 108"/>
          <p:cNvCxnSpPr/>
          <p:nvPr/>
        </p:nvCxnSpPr>
        <p:spPr>
          <a:xfrm>
            <a:off x="6292688" y="4603491"/>
            <a:ext cx="0" cy="1174739"/>
          </a:xfrm>
          <a:prstGeom prst="straightConnector1">
            <a:avLst/>
          </a:prstGeom>
          <a:noFill/>
          <a:ln w="57150" cap="flat" cmpd="sng" algn="ctr">
            <a:solidFill>
              <a:srgbClr val="FF3399"/>
            </a:solidFill>
            <a:prstDash val="solid"/>
            <a:miter lim="800000"/>
            <a:tailEnd type="triangle"/>
          </a:ln>
          <a:effectLst/>
        </p:spPr>
      </p:cxnSp>
      <p:cxnSp>
        <p:nvCxnSpPr>
          <p:cNvPr id="53" name="直接箭头连接符 109"/>
          <p:cNvCxnSpPr/>
          <p:nvPr/>
        </p:nvCxnSpPr>
        <p:spPr>
          <a:xfrm flipV="1">
            <a:off x="6147526" y="4615899"/>
            <a:ext cx="0" cy="1126234"/>
          </a:xfrm>
          <a:prstGeom prst="straightConnector1">
            <a:avLst/>
          </a:prstGeom>
          <a:noFill/>
          <a:ln w="57150" cap="flat" cmpd="sng" algn="ctr">
            <a:solidFill>
              <a:srgbClr val="4472C4"/>
            </a:solidFill>
            <a:prstDash val="solid"/>
            <a:miter lim="800000"/>
            <a:tailEnd type="triangle"/>
          </a:ln>
          <a:effectLst/>
        </p:spPr>
      </p:cxnSp>
      <p:cxnSp>
        <p:nvCxnSpPr>
          <p:cNvPr id="54" name="直接箭头连接符 114"/>
          <p:cNvCxnSpPr/>
          <p:nvPr/>
        </p:nvCxnSpPr>
        <p:spPr>
          <a:xfrm>
            <a:off x="6679868" y="4615993"/>
            <a:ext cx="1511618" cy="1091591"/>
          </a:xfrm>
          <a:prstGeom prst="straightConnector1">
            <a:avLst/>
          </a:prstGeom>
          <a:noFill/>
          <a:ln w="57150" cap="flat" cmpd="sng" algn="ctr">
            <a:solidFill>
              <a:srgbClr val="FF3399"/>
            </a:solidFill>
            <a:prstDash val="solid"/>
            <a:miter lim="800000"/>
            <a:tailEnd type="triangle"/>
          </a:ln>
          <a:effectLst/>
        </p:spPr>
      </p:cxnSp>
      <p:cxnSp>
        <p:nvCxnSpPr>
          <p:cNvPr id="55" name="直接箭头连接符 115"/>
          <p:cNvCxnSpPr/>
          <p:nvPr/>
        </p:nvCxnSpPr>
        <p:spPr>
          <a:xfrm flipH="1" flipV="1">
            <a:off x="6515156" y="4645716"/>
            <a:ext cx="1521340" cy="1080513"/>
          </a:xfrm>
          <a:prstGeom prst="straightConnector1">
            <a:avLst/>
          </a:prstGeom>
          <a:noFill/>
          <a:ln w="57150" cap="flat" cmpd="sng" algn="ctr">
            <a:solidFill>
              <a:srgbClr val="4472C4"/>
            </a:solidFill>
            <a:prstDash val="solid"/>
            <a:miter lim="800000"/>
            <a:tailEnd type="triangle"/>
          </a:ln>
          <a:effectLst/>
        </p:spPr>
      </p:cxnSp>
      <p:cxnSp>
        <p:nvCxnSpPr>
          <p:cNvPr id="56" name="直接箭头连接符 116"/>
          <p:cNvCxnSpPr/>
          <p:nvPr/>
        </p:nvCxnSpPr>
        <p:spPr>
          <a:xfrm flipH="1">
            <a:off x="4429833" y="4631897"/>
            <a:ext cx="1511618" cy="1091591"/>
          </a:xfrm>
          <a:prstGeom prst="straightConnector1">
            <a:avLst/>
          </a:prstGeom>
          <a:noFill/>
          <a:ln w="57150" cap="flat" cmpd="sng" algn="ctr">
            <a:solidFill>
              <a:srgbClr val="FF3399"/>
            </a:solidFill>
            <a:prstDash val="solid"/>
            <a:miter lim="800000"/>
            <a:tailEnd type="triangle"/>
          </a:ln>
          <a:effectLst/>
        </p:spPr>
      </p:cxnSp>
      <p:cxnSp>
        <p:nvCxnSpPr>
          <p:cNvPr id="57" name="直接箭头连接符 117"/>
          <p:cNvCxnSpPr/>
          <p:nvPr/>
        </p:nvCxnSpPr>
        <p:spPr>
          <a:xfrm flipV="1">
            <a:off x="4217726" y="4661621"/>
            <a:ext cx="1521340" cy="1080513"/>
          </a:xfrm>
          <a:prstGeom prst="straightConnector1">
            <a:avLst/>
          </a:prstGeom>
          <a:noFill/>
          <a:ln w="57150" cap="flat" cmpd="sng" algn="ctr">
            <a:solidFill>
              <a:srgbClr val="4472C4"/>
            </a:solidFill>
            <a:prstDash val="solid"/>
            <a:miter lim="800000"/>
            <a:tailEnd type="triangle"/>
          </a:ln>
          <a:effectLst/>
        </p:spPr>
      </p:cxnSp>
      <p:cxnSp>
        <p:nvCxnSpPr>
          <p:cNvPr id="58" name="直接箭头连接符 120"/>
          <p:cNvCxnSpPr/>
          <p:nvPr/>
        </p:nvCxnSpPr>
        <p:spPr>
          <a:xfrm>
            <a:off x="7908922" y="3732358"/>
            <a:ext cx="1124780" cy="0"/>
          </a:xfrm>
          <a:prstGeom prst="straightConnector1">
            <a:avLst/>
          </a:prstGeom>
          <a:noFill/>
          <a:ln w="57150" cap="flat" cmpd="sng" algn="ctr">
            <a:solidFill>
              <a:srgbClr val="FF3399"/>
            </a:solidFill>
            <a:prstDash val="solid"/>
            <a:miter lim="800000"/>
            <a:tailEnd type="triangle"/>
          </a:ln>
          <a:effectLst/>
        </p:spPr>
      </p:cxnSp>
      <p:cxnSp>
        <p:nvCxnSpPr>
          <p:cNvPr id="59" name="直接箭头连接符 124"/>
          <p:cNvCxnSpPr/>
          <p:nvPr/>
        </p:nvCxnSpPr>
        <p:spPr>
          <a:xfrm flipH="1">
            <a:off x="7916619" y="3870511"/>
            <a:ext cx="1071177" cy="0"/>
          </a:xfrm>
          <a:prstGeom prst="straightConnector1">
            <a:avLst/>
          </a:prstGeom>
          <a:noFill/>
          <a:ln w="57150" cap="flat" cmpd="sng" algn="ctr">
            <a:solidFill>
              <a:srgbClr val="4472C4"/>
            </a:solidFill>
            <a:prstDash val="solid"/>
            <a:miter lim="800000"/>
            <a:tailEnd type="triangle"/>
          </a:ln>
          <a:effectLst/>
        </p:spPr>
      </p:cxnSp>
      <p:cxnSp>
        <p:nvCxnSpPr>
          <p:cNvPr id="60" name="直接箭头连接符 126"/>
          <p:cNvCxnSpPr/>
          <p:nvPr/>
        </p:nvCxnSpPr>
        <p:spPr>
          <a:xfrm flipH="1">
            <a:off x="3147827" y="3732358"/>
            <a:ext cx="1124780" cy="0"/>
          </a:xfrm>
          <a:prstGeom prst="straightConnector1">
            <a:avLst/>
          </a:prstGeom>
          <a:noFill/>
          <a:ln w="57150" cap="flat" cmpd="sng" algn="ctr">
            <a:solidFill>
              <a:srgbClr val="FF3399"/>
            </a:solidFill>
            <a:prstDash val="solid"/>
            <a:miter lim="800000"/>
            <a:tailEnd type="triangle"/>
          </a:ln>
          <a:effectLst/>
        </p:spPr>
      </p:cxnSp>
      <p:cxnSp>
        <p:nvCxnSpPr>
          <p:cNvPr id="61" name="直接箭头连接符 127"/>
          <p:cNvCxnSpPr/>
          <p:nvPr/>
        </p:nvCxnSpPr>
        <p:spPr>
          <a:xfrm>
            <a:off x="3155524" y="3870511"/>
            <a:ext cx="1071177" cy="0"/>
          </a:xfrm>
          <a:prstGeom prst="straightConnector1">
            <a:avLst/>
          </a:prstGeom>
          <a:noFill/>
          <a:ln w="57150" cap="flat" cmpd="sng" algn="ctr">
            <a:solidFill>
              <a:srgbClr val="4472C4"/>
            </a:solidFill>
            <a:prstDash val="solid"/>
            <a:miter lim="800000"/>
            <a:tailEnd type="triangle"/>
          </a:ln>
          <a:effectLst/>
        </p:spPr>
      </p:cxnSp>
      <p:sp>
        <p:nvSpPr>
          <p:cNvPr id="62" name="矩形 132"/>
          <p:cNvSpPr/>
          <p:nvPr/>
        </p:nvSpPr>
        <p:spPr>
          <a:xfrm>
            <a:off x="3486437" y="3510613"/>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63" name="矩形 134"/>
          <p:cNvSpPr/>
          <p:nvPr/>
        </p:nvSpPr>
        <p:spPr>
          <a:xfrm>
            <a:off x="3486437" y="3962880"/>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64" name="矩形 135"/>
          <p:cNvSpPr/>
          <p:nvPr/>
        </p:nvSpPr>
        <p:spPr>
          <a:xfrm>
            <a:off x="8210535" y="3510613"/>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65" name="矩形 136"/>
          <p:cNvSpPr/>
          <p:nvPr/>
        </p:nvSpPr>
        <p:spPr>
          <a:xfrm>
            <a:off x="8210535" y="3962880"/>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66" name="矩形 137"/>
          <p:cNvSpPr/>
          <p:nvPr/>
        </p:nvSpPr>
        <p:spPr>
          <a:xfrm>
            <a:off x="6275587" y="5461568"/>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67" name="矩形 138"/>
          <p:cNvSpPr/>
          <p:nvPr/>
        </p:nvSpPr>
        <p:spPr>
          <a:xfrm>
            <a:off x="5608166" y="5461568"/>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68" name="矩形 139"/>
          <p:cNvSpPr/>
          <p:nvPr/>
        </p:nvSpPr>
        <p:spPr>
          <a:xfrm>
            <a:off x="4503632" y="5052826"/>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69" name="矩形 140"/>
          <p:cNvSpPr/>
          <p:nvPr/>
        </p:nvSpPr>
        <p:spPr>
          <a:xfrm>
            <a:off x="4806083" y="5323847"/>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70" name="矩形 141"/>
          <p:cNvSpPr/>
          <p:nvPr/>
        </p:nvSpPr>
        <p:spPr>
          <a:xfrm>
            <a:off x="7436261" y="5059270"/>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sp>
        <p:nvSpPr>
          <p:cNvPr id="71" name="矩形 142"/>
          <p:cNvSpPr/>
          <p:nvPr/>
        </p:nvSpPr>
        <p:spPr>
          <a:xfrm>
            <a:off x="6965254" y="5359464"/>
            <a:ext cx="524503" cy="200055"/>
          </a:xfrm>
          <a:prstGeom prst="rect">
            <a:avLst/>
          </a:prstGeom>
        </p:spPr>
        <p:txBody>
          <a:bodyPr wrap="none">
            <a:spAutoFit/>
          </a:bodyPr>
          <a:lstStyle/>
          <a:p>
            <a:pPr algn="ctr" defTabSz="1828165"/>
            <a:r>
              <a:rPr lang="en-US" altLang="zh-CN" sz="700" dirty="0">
                <a:solidFill>
                  <a:sysClr val="windowText" lastClr="000000"/>
                </a:solidFill>
                <a:latin typeface="Calibri" panose="020F0502020204030204"/>
                <a:ea typeface="等线" panose="02010600030101010101" charset="-122"/>
              </a:rPr>
              <a:t>ETL/</a:t>
            </a:r>
            <a:r>
              <a:rPr lang="zh-CN" altLang="en-US" sz="700" dirty="0">
                <a:solidFill>
                  <a:sysClr val="windowText" lastClr="000000"/>
                </a:solidFill>
                <a:latin typeface="Calibri" panose="020F0502020204030204"/>
                <a:ea typeface="等线" panose="02010600030101010101" charset="-122"/>
              </a:rPr>
              <a:t>视图</a:t>
            </a:r>
            <a:endParaRPr lang="en-US" altLang="zh-CN" sz="700" dirty="0">
              <a:solidFill>
                <a:sysClr val="windowText" lastClr="000000"/>
              </a:solidFill>
              <a:latin typeface="Calibri" panose="020F0502020204030204"/>
              <a:ea typeface="等线" panose="02010600030101010101" charset="-122"/>
            </a:endParaRPr>
          </a:p>
        </p:txBody>
      </p:sp>
      <p:cxnSp>
        <p:nvCxnSpPr>
          <p:cNvPr id="72" name="直接箭头连接符 72"/>
          <p:cNvCxnSpPr/>
          <p:nvPr/>
        </p:nvCxnSpPr>
        <p:spPr>
          <a:xfrm flipH="1">
            <a:off x="7919000" y="2763782"/>
            <a:ext cx="1245411" cy="588980"/>
          </a:xfrm>
          <a:prstGeom prst="straightConnector1">
            <a:avLst/>
          </a:prstGeom>
          <a:noFill/>
          <a:ln w="57150" cap="flat" cmpd="sng" algn="ctr">
            <a:solidFill>
              <a:srgbClr val="FF3399"/>
            </a:solidFill>
            <a:prstDash val="solid"/>
            <a:miter lim="800000"/>
            <a:tailEnd type="triangle"/>
          </a:ln>
          <a:effectLst/>
        </p:spPr>
      </p:cxnSp>
      <p:cxnSp>
        <p:nvCxnSpPr>
          <p:cNvPr id="73" name="直接箭头连接符 75"/>
          <p:cNvCxnSpPr/>
          <p:nvPr/>
        </p:nvCxnSpPr>
        <p:spPr>
          <a:xfrm flipV="1">
            <a:off x="7908922" y="2796856"/>
            <a:ext cx="1411247" cy="683598"/>
          </a:xfrm>
          <a:prstGeom prst="straightConnector1">
            <a:avLst/>
          </a:prstGeom>
          <a:noFill/>
          <a:ln w="57150" cap="flat" cmpd="sng" algn="ctr">
            <a:solidFill>
              <a:srgbClr val="4472C4"/>
            </a:solidFill>
            <a:prstDash val="solid"/>
            <a:miter lim="800000"/>
            <a:tailEnd type="triangle"/>
          </a:ln>
          <a:effectLst/>
        </p:spPr>
      </p:cxnSp>
      <p:cxnSp>
        <p:nvCxnSpPr>
          <p:cNvPr id="74" name="直接箭头连接符 78"/>
          <p:cNvCxnSpPr/>
          <p:nvPr/>
        </p:nvCxnSpPr>
        <p:spPr>
          <a:xfrm flipH="1">
            <a:off x="2807438" y="1790518"/>
            <a:ext cx="1252487" cy="1855550"/>
          </a:xfrm>
          <a:prstGeom prst="straightConnector1">
            <a:avLst/>
          </a:prstGeom>
          <a:noFill/>
          <a:ln w="57150" cap="flat" cmpd="sng" algn="ctr">
            <a:solidFill>
              <a:srgbClr val="FF3399"/>
            </a:solidFill>
            <a:prstDash val="solid"/>
            <a:miter lim="800000"/>
            <a:tailEnd type="triangle"/>
          </a:ln>
          <a:effectLst/>
        </p:spPr>
      </p:cxnSp>
      <p:cxnSp>
        <p:nvCxnSpPr>
          <p:cNvPr id="75" name="直接箭头连接符 80"/>
          <p:cNvCxnSpPr/>
          <p:nvPr/>
        </p:nvCxnSpPr>
        <p:spPr>
          <a:xfrm flipV="1">
            <a:off x="2944456" y="1915143"/>
            <a:ext cx="1153347" cy="1730925"/>
          </a:xfrm>
          <a:prstGeom prst="straightConnector1">
            <a:avLst/>
          </a:prstGeom>
          <a:noFill/>
          <a:ln w="57150" cap="flat" cmpd="sng" algn="ctr">
            <a:solidFill>
              <a:srgbClr val="4472C4"/>
            </a:solidFill>
            <a:prstDash val="solid"/>
            <a:miter lim="800000"/>
            <a:tailEnd type="triangle"/>
          </a:ln>
          <a:effectLst/>
        </p:spPr>
      </p:cxnSp>
      <p:sp>
        <p:nvSpPr>
          <p:cNvPr id="76" name="对话气泡: 矩形 21"/>
          <p:cNvSpPr/>
          <p:nvPr/>
        </p:nvSpPr>
        <p:spPr>
          <a:xfrm>
            <a:off x="1111867" y="1250677"/>
            <a:ext cx="1156534" cy="1339023"/>
          </a:xfrm>
          <a:prstGeom prst="wedgeRectCallout">
            <a:avLst>
              <a:gd name="adj1" fmla="val 239790"/>
              <a:gd name="adj2" fmla="val 89546"/>
            </a:avLst>
          </a:prstGeom>
          <a:solidFill>
            <a:srgbClr val="FFFF00"/>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00B0F0"/>
                </a:solidFill>
                <a:effectLst/>
                <a:uLnTx/>
                <a:uFillTx/>
                <a:latin typeface="微软雅黑" panose="020B0503020204020204" pitchFamily="34" charset="-122"/>
                <a:ea typeface="等线" panose="02010600030101010101" charset="-122"/>
                <a:cs typeface="+mn-cs"/>
              </a:rPr>
              <a:t>共享库</a:t>
            </a:r>
            <a:endParaRPr kumimoji="0" lang="en-US" altLang="zh-CN" sz="1600" b="0" i="0" u="none" strike="noStrike" kern="0" cap="none" spc="0" normalizeH="0" baseline="0" noProof="0" dirty="0">
              <a:ln>
                <a:noFill/>
              </a:ln>
              <a:solidFill>
                <a:srgbClr val="00B0F0"/>
              </a:solidFill>
              <a:effectLst/>
              <a:uLnTx/>
              <a:uFillTx/>
              <a:latin typeface="微软雅黑" panose="020B0503020204020204" pitchFamily="34" charset="-122"/>
              <a:ea typeface="等线" panose="02010600030101010101" charset="-122"/>
              <a:cs typeface="+mn-cs"/>
            </a:endParaRPr>
          </a:p>
          <a:p>
            <a:pPr marL="0" marR="0" lvl="0" indent="0"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pitchFamily="34" charset="-122"/>
                <a:ea typeface="等线" panose="02010600030101010101" charset="-122"/>
                <a:cs typeface="+mn-cs"/>
              </a:rPr>
              <a:t>覆盖有限</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pitchFamily="34" charset="-122"/>
              <a:ea typeface="等线" panose="02010600030101010101" charset="-122"/>
              <a:cs typeface="+mn-cs"/>
            </a:endParaRPr>
          </a:p>
          <a:p>
            <a:pPr marL="0" marR="0" lvl="0" indent="0"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pitchFamily="34" charset="-122"/>
                <a:ea typeface="等线" panose="02010600030101010101" charset="-122"/>
                <a:cs typeface="+mn-cs"/>
              </a:rPr>
              <a:t>质量不高</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pitchFamily="34" charset="-122"/>
              <a:ea typeface="等线" panose="02010600030101010101" charset="-122"/>
              <a:cs typeface="+mn-cs"/>
            </a:endParaRPr>
          </a:p>
          <a:p>
            <a:pPr marL="0" marR="0" lvl="0" indent="0"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pitchFamily="34" charset="-122"/>
                <a:ea typeface="等线" panose="02010600030101010101" charset="-122"/>
                <a:cs typeface="+mn-cs"/>
              </a:rPr>
              <a:t>缺乏标准规范</a:t>
            </a:r>
            <a:endParaRPr kumimoji="0" lang="en-US" altLang="zh-CN" sz="1050" b="0" i="0" u="none" strike="noStrike" kern="0" cap="none" spc="0" normalizeH="0" baseline="0" noProof="0" dirty="0">
              <a:ln>
                <a:noFill/>
              </a:ln>
              <a:solidFill>
                <a:sysClr val="windowText" lastClr="000000"/>
              </a:solidFill>
              <a:effectLst/>
              <a:uLnTx/>
              <a:uFillTx/>
              <a:latin typeface="微软雅黑" panose="020B0503020204020204" pitchFamily="34" charset="-122"/>
              <a:ea typeface="等线" panose="02010600030101010101" charset="-122"/>
              <a:cs typeface="+mn-cs"/>
            </a:endParaRPr>
          </a:p>
          <a:p>
            <a:pPr defTabSz="1828165"/>
            <a:r>
              <a:rPr lang="zh-CN" altLang="en-US" sz="1050" kern="0" dirty="0">
                <a:solidFill>
                  <a:sysClr val="windowText" lastClr="000000"/>
                </a:solidFill>
                <a:latin typeface="微软雅黑" panose="020B0503020204020204" pitchFamily="34" charset="-122"/>
                <a:ea typeface="等线" panose="02010600030101010101" charset="-122"/>
              </a:rPr>
              <a:t>视图管理困难</a:t>
            </a:r>
            <a:endParaRPr lang="en-US" altLang="zh-CN" sz="1050" kern="0" dirty="0">
              <a:solidFill>
                <a:sysClr val="windowText" lastClr="000000"/>
              </a:solidFill>
              <a:latin typeface="微软雅黑" panose="020B0503020204020204" pitchFamily="34" charset="-122"/>
              <a:ea typeface="等线" panose="02010600030101010101" charset="-122"/>
            </a:endParaRPr>
          </a:p>
          <a:p>
            <a:pPr marL="0" marR="0" lvl="0" indent="0"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pitchFamily="34" charset="-122"/>
                <a:ea typeface="等线" panose="02010600030101010101" charset="-122"/>
                <a:cs typeface="+mn-cs"/>
              </a:rPr>
              <a:t>管理受制于人</a:t>
            </a:r>
            <a:endParaRPr kumimoji="0" lang="zh-CN" altLang="en-US" sz="1050" b="0" i="0" u="none" strike="noStrike" kern="0" cap="none" spc="0" normalizeH="0" baseline="0" noProof="0" dirty="0">
              <a:ln>
                <a:noFill/>
              </a:ln>
              <a:solidFill>
                <a:sysClr val="windowText" lastClr="000000"/>
              </a:solidFill>
              <a:effectLst/>
              <a:uLnTx/>
              <a:uFillTx/>
              <a:latin typeface="微软雅黑" panose="020B0503020204020204" pitchFamily="34" charset="-122"/>
              <a:ea typeface="等线" panose="02010600030101010101" charset="-122"/>
              <a:cs typeface="+mn-cs"/>
            </a:endParaRPr>
          </a:p>
        </p:txBody>
      </p:sp>
      <p:sp>
        <p:nvSpPr>
          <p:cNvPr id="77" name="对话气泡: 矩形 93"/>
          <p:cNvSpPr/>
          <p:nvPr/>
        </p:nvSpPr>
        <p:spPr>
          <a:xfrm>
            <a:off x="10019982" y="2551375"/>
            <a:ext cx="1156534" cy="1013794"/>
          </a:xfrm>
          <a:prstGeom prst="wedgeRectCallout">
            <a:avLst>
              <a:gd name="adj1" fmla="val -86320"/>
              <a:gd name="adj2" fmla="val 92753"/>
            </a:avLst>
          </a:prstGeom>
          <a:solidFill>
            <a:srgbClr val="FFFF00"/>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1828165" eaLnBrk="1" fontAlgn="auto" latinLnBrk="0" hangingPunct="1">
              <a:lnSpc>
                <a:spcPct val="100000"/>
              </a:lnSpc>
              <a:spcBef>
                <a:spcPts val="0"/>
              </a:spcBef>
              <a:spcAft>
                <a:spcPts val="0"/>
              </a:spcAft>
              <a:buClrTx/>
              <a:buSzTx/>
              <a:buFontTx/>
              <a:buNone/>
              <a:defRPr/>
            </a:pPr>
            <a:r>
              <a:rPr lang="zh-CN" altLang="en-US" sz="1600" kern="0" dirty="0">
                <a:solidFill>
                  <a:srgbClr val="00B0F0"/>
                </a:solidFill>
                <a:latin typeface="微软雅黑" panose="020B0503020204020204" pitchFamily="34" charset="-122"/>
                <a:ea typeface="等线" panose="02010600030101010101" charset="-122"/>
              </a:rPr>
              <a:t>数据接口</a:t>
            </a:r>
            <a:endParaRPr kumimoji="0" lang="en-US" altLang="zh-CN" sz="1600" b="0"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等线" panose="02010600030101010101" charset="-122"/>
              <a:cs typeface="+mn-cs"/>
            </a:endParaRPr>
          </a:p>
          <a:p>
            <a:pPr marR="0" lvl="0" indent="0" defTabSz="1828165" fontAlgn="auto">
              <a:lnSpc>
                <a:spcPct val="100000"/>
              </a:lnSpc>
              <a:spcBef>
                <a:spcPts val="0"/>
              </a:spcBef>
              <a:spcAft>
                <a:spcPts val="0"/>
              </a:spcAft>
              <a:buClrTx/>
              <a:buSzTx/>
              <a:buFontTx/>
              <a:buNone/>
              <a:defRPr/>
            </a:pPr>
            <a:r>
              <a:rPr lang="zh-CN" altLang="en-US" sz="1050" kern="0" dirty="0">
                <a:solidFill>
                  <a:sysClr val="windowText" lastClr="000000"/>
                </a:solidFill>
                <a:latin typeface="微软雅黑" panose="020B0503020204020204" pitchFamily="34" charset="-122"/>
                <a:ea typeface="等线" panose="02010600030101010101" charset="-122"/>
              </a:rPr>
              <a:t>高额接口费</a:t>
            </a:r>
            <a:endParaRPr lang="zh-CN" altLang="en-US" sz="1050" kern="0" dirty="0">
              <a:solidFill>
                <a:sysClr val="windowText" lastClr="000000"/>
              </a:solidFill>
              <a:latin typeface="微软雅黑" panose="020B0503020204020204" pitchFamily="34" charset="-122"/>
              <a:ea typeface="等线" panose="02010600030101010101" charset="-122"/>
            </a:endParaRPr>
          </a:p>
        </p:txBody>
      </p:sp>
      <p:sp>
        <p:nvSpPr>
          <p:cNvPr id="78" name="对话气泡: 矩形 93"/>
          <p:cNvSpPr/>
          <p:nvPr/>
        </p:nvSpPr>
        <p:spPr>
          <a:xfrm>
            <a:off x="10019982" y="4791549"/>
            <a:ext cx="1139864" cy="1013794"/>
          </a:xfrm>
          <a:prstGeom prst="wedgeRectCallout">
            <a:avLst>
              <a:gd name="adj1" fmla="val -184627"/>
              <a:gd name="adj2" fmla="val 75355"/>
            </a:avLst>
          </a:prstGeom>
          <a:solidFill>
            <a:srgbClr val="FFFF00"/>
          </a:solid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1828165" eaLnBrk="1" fontAlgn="auto" latinLnBrk="0" hangingPunct="1">
              <a:lnSpc>
                <a:spcPct val="100000"/>
              </a:lnSpc>
              <a:spcBef>
                <a:spcPts val="0"/>
              </a:spcBef>
              <a:spcAft>
                <a:spcPts val="0"/>
              </a:spcAft>
              <a:buClrTx/>
              <a:buSzTx/>
              <a:buFontTx/>
              <a:buNone/>
              <a:defRPr/>
            </a:pPr>
            <a:r>
              <a:rPr lang="zh-CN" altLang="en-US" sz="1600" kern="0" dirty="0">
                <a:solidFill>
                  <a:srgbClr val="00B0F0"/>
                </a:solidFill>
                <a:latin typeface="微软雅黑" panose="020B0503020204020204" pitchFamily="34" charset="-122"/>
                <a:ea typeface="等线" panose="02010600030101010101" charset="-122"/>
              </a:rPr>
              <a:t>数据资产</a:t>
            </a:r>
            <a:endParaRPr kumimoji="0" lang="en-US" altLang="zh-CN" sz="1600" b="0" i="0" u="none" strike="noStrike" kern="0" cap="none" spc="0" normalizeH="0" baseline="0" noProof="0" dirty="0">
              <a:ln>
                <a:noFill/>
              </a:ln>
              <a:solidFill>
                <a:prstClr val="white">
                  <a:lumMod val="95000"/>
                </a:prstClr>
              </a:solidFill>
              <a:effectLst/>
              <a:uLnTx/>
              <a:uFillTx/>
              <a:latin typeface="微软雅黑" panose="020B0503020204020204" pitchFamily="34" charset="-122"/>
              <a:ea typeface="等线" panose="02010600030101010101" charset="-122"/>
              <a:cs typeface="+mn-cs"/>
            </a:endParaRPr>
          </a:p>
          <a:p>
            <a:pPr defTabSz="1828165"/>
            <a:r>
              <a:rPr lang="zh-CN" altLang="en-US" sz="1050" kern="0" dirty="0">
                <a:solidFill>
                  <a:sysClr val="windowText" lastClr="000000"/>
                </a:solidFill>
                <a:latin typeface="微软雅黑" panose="020B0503020204020204" pitchFamily="34" charset="-122"/>
                <a:ea typeface="等线" panose="02010600030101010101" charset="-122"/>
              </a:rPr>
              <a:t>散落各处</a:t>
            </a:r>
            <a:endParaRPr lang="en-US" altLang="zh-CN" sz="1050" kern="0" dirty="0">
              <a:solidFill>
                <a:sysClr val="windowText" lastClr="000000"/>
              </a:solidFill>
              <a:latin typeface="微软雅黑" panose="020B0503020204020204" pitchFamily="34" charset="-122"/>
              <a:ea typeface="等线" panose="02010600030101010101" charset="-122"/>
            </a:endParaRPr>
          </a:p>
          <a:p>
            <a:pPr defTabSz="1828165"/>
            <a:r>
              <a:rPr lang="zh-CN" altLang="en-US" sz="1050" kern="0" dirty="0">
                <a:solidFill>
                  <a:sysClr val="windowText" lastClr="000000"/>
                </a:solidFill>
                <a:latin typeface="微软雅黑" panose="020B0503020204020204" pitchFamily="34" charset="-122"/>
                <a:ea typeface="等线" panose="02010600030101010101" charset="-122"/>
              </a:rPr>
              <a:t>难以整合利用</a:t>
            </a:r>
            <a:endParaRPr lang="en-US" altLang="zh-CN" sz="1050" kern="0" dirty="0">
              <a:solidFill>
                <a:sysClr val="windowText" lastClr="000000"/>
              </a:solidFill>
              <a:latin typeface="微软雅黑" panose="020B0503020204020204" pitchFamily="34" charset="-122"/>
              <a:ea typeface="等线" panose="02010600030101010101" charset="-122"/>
            </a:endParaRPr>
          </a:p>
          <a:p>
            <a:pPr defTabSz="1828165"/>
            <a:r>
              <a:rPr lang="zh-CN" altLang="en-US" sz="1050" kern="0" dirty="0">
                <a:solidFill>
                  <a:sysClr val="windowText" lastClr="000000"/>
                </a:solidFill>
                <a:latin typeface="微软雅黑" panose="020B0503020204020204" pitchFamily="34" charset="-122"/>
                <a:ea typeface="等线" panose="02010600030101010101" charset="-122"/>
              </a:rPr>
              <a:t>质量无人负责</a:t>
            </a:r>
            <a:endParaRPr lang="en-US" altLang="zh-CN" sz="1050" kern="0" dirty="0">
              <a:solidFill>
                <a:sysClr val="windowText" lastClr="000000"/>
              </a:solidFill>
              <a:latin typeface="微软雅黑" panose="020B0503020204020204" pitchFamily="34" charset="-122"/>
              <a:ea typeface="等线" panose="02010600030101010101" charset="-122"/>
            </a:endParaRPr>
          </a:p>
          <a:p>
            <a:pPr defTabSz="1828165"/>
            <a:r>
              <a:rPr lang="zh-CN" altLang="en-US" sz="1050" kern="0" dirty="0">
                <a:solidFill>
                  <a:sysClr val="windowText" lastClr="000000"/>
                </a:solidFill>
                <a:latin typeface="微软雅黑" panose="020B0503020204020204" pitchFamily="34" charset="-122"/>
                <a:ea typeface="等线" panose="02010600030101010101" charset="-122"/>
              </a:rPr>
              <a:t>管理归属不清</a:t>
            </a:r>
            <a:endParaRPr lang="en-US" altLang="zh-CN" sz="1050" kern="0" dirty="0">
              <a:solidFill>
                <a:sysClr val="windowText" lastClr="000000"/>
              </a:solidFill>
              <a:latin typeface="微软雅黑" panose="020B0503020204020204" pitchFamily="34" charset="-122"/>
              <a:ea typeface="等线" panose="0201060003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54"/>
          <p:cNvGrpSpPr/>
          <p:nvPr/>
        </p:nvGrpSpPr>
        <p:grpSpPr>
          <a:xfrm>
            <a:off x="7733838" y="70638"/>
            <a:ext cx="4412421" cy="262811"/>
            <a:chOff x="5291227" y="0"/>
            <a:chExt cx="3439301" cy="189000"/>
          </a:xfrm>
        </p:grpSpPr>
        <p:sp>
          <p:nvSpPr>
            <p:cNvPr id="5" name="燕尾形 4"/>
            <p:cNvSpPr/>
            <p:nvPr/>
          </p:nvSpPr>
          <p:spPr bwMode="auto">
            <a:xfrm>
              <a:off x="5291227"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概念</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燕尾形 5"/>
            <p:cNvSpPr/>
            <p:nvPr/>
          </p:nvSpPr>
          <p:spPr bwMode="auto">
            <a:xfrm>
              <a:off x="588919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市场空间</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燕尾形 6"/>
            <p:cNvSpPr/>
            <p:nvPr/>
          </p:nvSpPr>
          <p:spPr bwMode="auto">
            <a:xfrm>
              <a:off x="6670247" y="0"/>
              <a:ext cx="857678"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驱动力</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燕尾形 7"/>
            <p:cNvSpPr/>
            <p:nvPr/>
          </p:nvSpPr>
          <p:spPr bwMode="auto">
            <a:xfrm>
              <a:off x="7453724" y="0"/>
              <a:ext cx="674824" cy="189000"/>
            </a:xfrm>
            <a:prstGeom prst="chevron">
              <a:avLst/>
            </a:prstGeom>
            <a:solidFill>
              <a:schemeClr val="bg1">
                <a:lumMod val="50000"/>
              </a:schemeClr>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客户需求</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燕尾形 8"/>
            <p:cNvSpPr/>
            <p:nvPr/>
          </p:nvSpPr>
          <p:spPr bwMode="auto">
            <a:xfrm>
              <a:off x="8055704" y="0"/>
              <a:ext cx="674824" cy="189000"/>
            </a:xfrm>
            <a:prstGeom prst="chevron">
              <a:avLst/>
            </a:prstGeom>
            <a:solidFill>
              <a:srgbClr val="C00000"/>
            </a:solidFill>
            <a:ln w="3175" cap="flat" cmpd="sng" algn="ctr">
              <a:noFill/>
              <a:prstDash val="solid"/>
              <a:round/>
              <a:headEnd type="none" w="med" len="med"/>
              <a:tailEnd type="none" w="med" len="med"/>
            </a:ln>
            <a:effectLst/>
          </p:spPr>
          <p:txBody>
            <a:bodyPr vert="horz" wrap="square" lIns="0" tIns="60968" rIns="0" bIns="60968" numCol="1" rtlCol="0" anchor="ctr" anchorCtr="0" compatLnSpc="1"/>
            <a:lstStyle/>
            <a:p>
              <a:pPr algn="ctr" defTabSz="914400" eaLnBrk="0" hangingPunct="0"/>
              <a:r>
                <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rPr>
                <a:t>客户痛点</a:t>
              </a:r>
              <a:endParaRPr lang="zh-CN" altLang="en-US" sz="11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graphicFrame>
        <p:nvGraphicFramePr>
          <p:cNvPr id="33" name="表格 1"/>
          <p:cNvGraphicFramePr>
            <a:graphicFrameLocks noGrp="1"/>
          </p:cNvGraphicFramePr>
          <p:nvPr/>
        </p:nvGraphicFramePr>
        <p:xfrm>
          <a:off x="552971" y="898804"/>
          <a:ext cx="5112568" cy="4736592"/>
        </p:xfrm>
        <a:graphic>
          <a:graphicData uri="http://schemas.openxmlformats.org/drawingml/2006/table">
            <a:tbl>
              <a:tblPr firstRow="1" firstCol="1" bandRow="1">
                <a:tableStyleId>{F5AB1C69-6EDB-4FF4-983F-18BD219EF322}</a:tableStyleId>
              </a:tblPr>
              <a:tblGrid>
                <a:gridCol w="295637"/>
                <a:gridCol w="928499"/>
                <a:gridCol w="3888432"/>
              </a:tblGrid>
              <a:tr h="0">
                <a:tc>
                  <a:txBody>
                    <a:bodyPr/>
                    <a:lstStyle/>
                    <a:p>
                      <a:pPr algn="ctr">
                        <a:lnSpc>
                          <a:spcPct val="125000"/>
                        </a:lnSpc>
                        <a:spcAft>
                          <a:spcPts val="0"/>
                        </a:spcAft>
                      </a:pPr>
                      <a:r>
                        <a:rPr lang="en-US" sz="1400" kern="100">
                          <a:effectLst/>
                        </a:rPr>
                        <a:t> </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400" kern="100">
                          <a:effectLst/>
                        </a:rPr>
                        <a:t>问题</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400" kern="100">
                          <a:effectLst/>
                        </a:rPr>
                        <a:t>描述</a:t>
                      </a:r>
                      <a:endParaRPr lang="zh-CN" sz="1400" kern="100">
                        <a:effectLst/>
                        <a:latin typeface="等线" panose="02010600030101010101" charset="-122"/>
                        <a:ea typeface="等线" panose="02010600030101010101" charset="-122"/>
                        <a:cs typeface="Times New Roman" panose="02020603050405020304" pitchFamily="18" charset="0"/>
                      </a:endParaRPr>
                    </a:p>
                  </a:txBody>
                  <a:tcPr marL="68580" marR="68580" marT="0" marB="0"/>
                </a:tc>
              </a:tr>
              <a:tr h="0">
                <a:tc>
                  <a:txBody>
                    <a:bodyPr/>
                    <a:lstStyle/>
                    <a:p>
                      <a:pPr marL="0" algn="just" defTabSz="1219200" rtl="0" eaLnBrk="1" latinLnBrk="0" hangingPunct="1">
                        <a:spcAft>
                          <a:spcPts val="0"/>
                        </a:spcAft>
                      </a:pPr>
                      <a:r>
                        <a:rPr lang="en-US" altLang="zh-CN" sz="1400" kern="100" dirty="0">
                          <a:effectLst/>
                        </a:rPr>
                        <a:t>1</a:t>
                      </a:r>
                      <a:endParaRPr lang="zh-CN" altLang="en-US" sz="1400" kern="100" dirty="0">
                        <a:solidFill>
                          <a:schemeClr val="bg1"/>
                        </a:solidFill>
                        <a:effectLst/>
                        <a:latin typeface="+mn-lt"/>
                        <a:ea typeface="+mn-ea"/>
                        <a:cs typeface="+mn-cs"/>
                      </a:endParaRPr>
                    </a:p>
                  </a:txBody>
                  <a:tcPr marL="68580" marR="68580" marT="0" marB="0" anchor="ctr"/>
                </a:tc>
                <a:tc>
                  <a:txBody>
                    <a:bodyPr/>
                    <a:lstStyle/>
                    <a:p>
                      <a:pPr marL="0" algn="just" defTabSz="1219200" rtl="0" eaLnBrk="1" latinLnBrk="0" hangingPunct="1">
                        <a:spcAft>
                          <a:spcPts val="0"/>
                        </a:spcAft>
                      </a:pPr>
                      <a:r>
                        <a:rPr lang="zh-CN" altLang="en-US" sz="1400" kern="100" dirty="0">
                          <a:effectLst/>
                        </a:rPr>
                        <a:t>数据资产不清晰</a:t>
                      </a:r>
                      <a:endParaRPr lang="zh-CN" altLang="en-US" sz="1400" kern="100" dirty="0">
                        <a:solidFill>
                          <a:schemeClr val="dk1"/>
                        </a:solidFill>
                        <a:effectLst/>
                        <a:latin typeface="+mn-lt"/>
                        <a:ea typeface="+mn-ea"/>
                        <a:cs typeface="+mn-cs"/>
                      </a:endParaRPr>
                    </a:p>
                  </a:txBody>
                  <a:tcPr marL="68580" marR="68580" marT="0" marB="0" anchor="ctr"/>
                </a:tc>
                <a:tc>
                  <a:txBody>
                    <a:bodyPr/>
                    <a:lstStyle/>
                    <a:p>
                      <a:pPr marL="0" indent="266700" algn="just" defTabSz="1219200" rtl="0" eaLnBrk="1" latinLnBrk="0" hangingPunct="1">
                        <a:lnSpc>
                          <a:spcPct val="120000"/>
                        </a:lnSpc>
                        <a:spcAft>
                          <a:spcPts val="0"/>
                        </a:spcAft>
                      </a:pPr>
                      <a:r>
                        <a:rPr lang="zh-CN" altLang="en-US" sz="1400" kern="100" dirty="0">
                          <a:effectLst/>
                        </a:rPr>
                        <a:t>通过全校业务和数据调研，盘点清理数据资源，通过治理形成集成化、标准化的统一数据资源。同时，输出数据</a:t>
                      </a:r>
                      <a:r>
                        <a:rPr lang="en-US" altLang="zh-CN" sz="1400" kern="100" dirty="0">
                          <a:effectLst/>
                        </a:rPr>
                        <a:t>U/C</a:t>
                      </a:r>
                      <a:r>
                        <a:rPr lang="zh-CN" altLang="en-US" sz="1400" kern="100" dirty="0">
                          <a:effectLst/>
                        </a:rPr>
                        <a:t>矩阵、数据流向图等知识信息，使数据来源具备权威性；数据归属到明确责任部门、责任岗位；数据供需关系、流动路径有明确信息，从而形成清晰的全校数据资产。</a:t>
                      </a:r>
                      <a:endParaRPr lang="zh-CN" altLang="en-US" sz="1400" kern="100" dirty="0">
                        <a:solidFill>
                          <a:schemeClr val="dk1"/>
                        </a:solidFill>
                        <a:effectLst/>
                        <a:latin typeface="华文楷体" panose="02010600040101010101" pitchFamily="2" charset="-122"/>
                        <a:ea typeface="华文楷体" panose="02010600040101010101" pitchFamily="2" charset="-122"/>
                        <a:cs typeface="+mn-cs"/>
                      </a:endParaRPr>
                    </a:p>
                  </a:txBody>
                  <a:tcPr marL="68580" marR="68580" marT="0" marB="0"/>
                </a:tc>
              </a:tr>
              <a:tr h="0">
                <a:tc>
                  <a:txBody>
                    <a:bodyPr/>
                    <a:lstStyle/>
                    <a:p>
                      <a:pPr algn="ctr">
                        <a:lnSpc>
                          <a:spcPct val="125000"/>
                        </a:lnSpc>
                        <a:spcAft>
                          <a:spcPts val="0"/>
                        </a:spcAft>
                      </a:pPr>
                      <a:r>
                        <a:rPr lang="en-US" sz="1400" kern="100" dirty="0">
                          <a:effectLst/>
                        </a:rPr>
                        <a:t>1</a:t>
                      </a:r>
                      <a:endParaRPr lang="zh-CN" sz="1400" kern="100" dirty="0">
                        <a:solidFill>
                          <a:schemeClr val="bg1"/>
                        </a:solidFill>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altLang="en-US" sz="1400" kern="100" dirty="0">
                          <a:effectLst/>
                        </a:rPr>
                        <a:t>共享库</a:t>
                      </a:r>
                      <a:r>
                        <a:rPr lang="zh-CN" sz="1400" kern="100" dirty="0">
                          <a:effectLst/>
                        </a:rPr>
                        <a:t>覆盖</a:t>
                      </a:r>
                      <a:r>
                        <a:rPr lang="zh-CN" altLang="en-US" sz="1400" kern="100" dirty="0">
                          <a:effectLst/>
                        </a:rPr>
                        <a:t>数据太少</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indent="266700" algn="just">
                        <a:lnSpc>
                          <a:spcPct val="125000"/>
                        </a:lnSpc>
                        <a:spcAft>
                          <a:spcPts val="0"/>
                        </a:spcAft>
                      </a:pPr>
                      <a:r>
                        <a:rPr lang="zh-CN" altLang="en-US" sz="1400" kern="100" dirty="0">
                          <a:effectLst/>
                        </a:rPr>
                        <a:t>基于调研得到的数据资源分布情况，全面采集数据，形成全量数据仓库。采集对象包括业务系统的在线数据、线下电子表格文件数据、日志类数据和互联网端数据，覆盖面远超共享库。全量数据仓库将支持综合性跨部门流程服务、决策分析、数据挖掘、可视化等应用场景，同时也可以替代原有的共享库作用。</a:t>
                      </a:r>
                      <a:endParaRPr lang="zh-CN" sz="14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r>
              <a:tr h="0">
                <a:tc>
                  <a:txBody>
                    <a:bodyPr/>
                    <a:lstStyle/>
                    <a:p>
                      <a:pPr algn="ctr">
                        <a:lnSpc>
                          <a:spcPct val="125000"/>
                        </a:lnSpc>
                        <a:spcAft>
                          <a:spcPts val="0"/>
                        </a:spcAft>
                      </a:pPr>
                      <a:r>
                        <a:rPr lang="en-US" sz="1400" kern="100" dirty="0">
                          <a:effectLst/>
                        </a:rPr>
                        <a:t>2</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400" kern="100" dirty="0">
                          <a:effectLst/>
                        </a:rPr>
                        <a:t>缺乏标准规范</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indent="266700" algn="just">
                        <a:lnSpc>
                          <a:spcPct val="125000"/>
                        </a:lnSpc>
                        <a:spcAft>
                          <a:spcPts val="0"/>
                        </a:spcAft>
                      </a:pPr>
                      <a:r>
                        <a:rPr lang="zh-CN" altLang="en-US" sz="1400" kern="100" dirty="0">
                          <a:effectLst/>
                        </a:rPr>
                        <a:t>基于调研情况设计校级数据标准，并利用校标对数据仓库进行定义和建模，使治理后的成果数据符合统一的标准规范。同时后期还会推行数据标准遵循规范在全校推行落地数据标准。</a:t>
                      </a:r>
                      <a:endParaRPr lang="zh-CN" sz="14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r>
            </a:tbl>
          </a:graphicData>
        </a:graphic>
      </p:graphicFrame>
      <p:graphicFrame>
        <p:nvGraphicFramePr>
          <p:cNvPr id="34" name="表格 1"/>
          <p:cNvGraphicFramePr>
            <a:graphicFrameLocks noGrp="1"/>
          </p:cNvGraphicFramePr>
          <p:nvPr/>
        </p:nvGraphicFramePr>
        <p:xfrm>
          <a:off x="6385195" y="898804"/>
          <a:ext cx="5112567" cy="4107180"/>
        </p:xfrm>
        <a:graphic>
          <a:graphicData uri="http://schemas.openxmlformats.org/drawingml/2006/table">
            <a:tbl>
              <a:tblPr firstRow="1" firstCol="1" bandRow="1" bandCol="1">
                <a:tableStyleId>{F5AB1C69-6EDB-4FF4-983F-18BD219EF322}</a:tableStyleId>
              </a:tblPr>
              <a:tblGrid>
                <a:gridCol w="294060"/>
                <a:gridCol w="858492"/>
                <a:gridCol w="3960015"/>
              </a:tblGrid>
              <a:tr h="0">
                <a:tc>
                  <a:txBody>
                    <a:bodyPr/>
                    <a:lstStyle/>
                    <a:p>
                      <a:pPr algn="ctr">
                        <a:spcAft>
                          <a:spcPts val="0"/>
                        </a:spcAft>
                      </a:pPr>
                      <a:r>
                        <a:rPr lang="en-US" sz="1400" kern="100" dirty="0">
                          <a:effectLst/>
                        </a:rPr>
                        <a:t> </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spcAft>
                          <a:spcPts val="0"/>
                        </a:spcAft>
                      </a:pPr>
                      <a:r>
                        <a:rPr lang="zh-CN" sz="1400" kern="100" dirty="0">
                          <a:effectLst/>
                        </a:rPr>
                        <a:t>问题</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c>
                  <a:txBody>
                    <a:bodyPr/>
                    <a:lstStyle/>
                    <a:p>
                      <a:pPr algn="ctr">
                        <a:spcAft>
                          <a:spcPts val="0"/>
                        </a:spcAft>
                      </a:pPr>
                      <a:r>
                        <a:rPr lang="zh-CN" sz="1400" kern="100" dirty="0">
                          <a:effectLst/>
                        </a:rPr>
                        <a:t>描述</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tc>
              </a:tr>
              <a:tr h="0">
                <a:tc>
                  <a:txBody>
                    <a:bodyPr/>
                    <a:lstStyle/>
                    <a:p>
                      <a:pPr algn="ctr">
                        <a:spcAft>
                          <a:spcPts val="0"/>
                        </a:spcAft>
                      </a:pPr>
                      <a:r>
                        <a:rPr lang="en-US" sz="1400" kern="100" dirty="0">
                          <a:effectLst/>
                        </a:rPr>
                        <a:t>4</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just">
                        <a:spcAft>
                          <a:spcPts val="0"/>
                        </a:spcAft>
                      </a:pPr>
                      <a:r>
                        <a:rPr lang="zh-CN" altLang="en-US" sz="1400" kern="100" dirty="0">
                          <a:effectLst/>
                        </a:rPr>
                        <a:t>大量</a:t>
                      </a:r>
                      <a:r>
                        <a:rPr lang="zh-CN" sz="1400" kern="100" dirty="0">
                          <a:effectLst/>
                        </a:rPr>
                        <a:t>视图管理困难</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indent="266700" algn="just">
                        <a:lnSpc>
                          <a:spcPct val="120000"/>
                        </a:lnSpc>
                        <a:spcAft>
                          <a:spcPts val="0"/>
                        </a:spcAft>
                      </a:pPr>
                      <a:r>
                        <a:rPr lang="zh-CN" altLang="en-US" sz="1400" kern="100" dirty="0">
                          <a:effectLst/>
                        </a:rPr>
                        <a:t>在一站式服务平台、微服务、移动校园等新兴综合化应用开发场景下，通过</a:t>
                      </a:r>
                      <a:r>
                        <a:rPr lang="en-US" altLang="zh-CN" sz="1400" kern="100" dirty="0">
                          <a:effectLst/>
                        </a:rPr>
                        <a:t>ROMA</a:t>
                      </a:r>
                      <a:r>
                        <a:rPr lang="zh-CN" altLang="en-US" sz="1400" kern="100" dirty="0">
                          <a:effectLst/>
                        </a:rPr>
                        <a:t>平台将数据以</a:t>
                      </a:r>
                      <a:r>
                        <a:rPr lang="en-US" altLang="zh-CN" sz="1400" kern="100" dirty="0">
                          <a:effectLst/>
                        </a:rPr>
                        <a:t>API</a:t>
                      </a:r>
                      <a:r>
                        <a:rPr lang="zh-CN" altLang="en-US" sz="1400" kern="100" dirty="0">
                          <a:effectLst/>
                        </a:rPr>
                        <a:t>接口对外提供服务，屏蔽了底层架构复杂性，解除了</a:t>
                      </a:r>
                      <a:r>
                        <a:rPr lang="en-US" altLang="zh-CN" sz="1400" kern="100" dirty="0">
                          <a:effectLst/>
                        </a:rPr>
                        <a:t>APP</a:t>
                      </a:r>
                      <a:r>
                        <a:rPr lang="zh-CN" altLang="en-US" sz="1400" kern="100" dirty="0">
                          <a:effectLst/>
                        </a:rPr>
                        <a:t>与底层数据之间的紧耦合关系。原有的基于视图的</a:t>
                      </a:r>
                      <a:r>
                        <a:rPr lang="en-US" altLang="zh-CN" sz="1400" kern="100" dirty="0">
                          <a:effectLst/>
                        </a:rPr>
                        <a:t>ETL</a:t>
                      </a:r>
                      <a:r>
                        <a:rPr lang="zh-CN" altLang="en-US" sz="1400" kern="100" dirty="0">
                          <a:effectLst/>
                        </a:rPr>
                        <a:t>过程，仅在传统的数据交换场景小范围保留使用。</a:t>
                      </a:r>
                      <a:endParaRPr lang="zh-CN" sz="14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r>
              <a:tr h="0">
                <a:tc>
                  <a:txBody>
                    <a:bodyPr/>
                    <a:lstStyle/>
                    <a:p>
                      <a:pPr algn="ctr">
                        <a:spcAft>
                          <a:spcPts val="0"/>
                        </a:spcAft>
                      </a:pPr>
                      <a:r>
                        <a:rPr lang="en-US" sz="1400" kern="100" dirty="0">
                          <a:effectLst/>
                        </a:rPr>
                        <a:t>5</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just">
                        <a:spcAft>
                          <a:spcPts val="0"/>
                        </a:spcAft>
                      </a:pPr>
                      <a:r>
                        <a:rPr lang="zh-CN" sz="1400" kern="100" dirty="0">
                          <a:effectLst/>
                        </a:rPr>
                        <a:t>接口费问题</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indent="266700" algn="just">
                        <a:lnSpc>
                          <a:spcPct val="120000"/>
                        </a:lnSpc>
                        <a:spcAft>
                          <a:spcPts val="0"/>
                        </a:spcAft>
                      </a:pPr>
                      <a:r>
                        <a:rPr lang="zh-CN" altLang="en-US" sz="1400" kern="100" dirty="0">
                          <a:effectLst/>
                        </a:rPr>
                        <a:t>数据仓库建设完成后，所有的数据资源发布均通过该平台完成，学校拥有完全自主的数据管理权，不再需要向厂商支付接口费。（最多只需要支付一次性费用进行数据采集）</a:t>
                      </a:r>
                      <a:endParaRPr lang="zh-CN" sz="14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r>
              <a:tr h="0">
                <a:tc>
                  <a:txBody>
                    <a:bodyPr/>
                    <a:lstStyle/>
                    <a:p>
                      <a:pPr algn="ctr">
                        <a:lnSpc>
                          <a:spcPct val="125000"/>
                        </a:lnSpc>
                        <a:spcAft>
                          <a:spcPts val="0"/>
                        </a:spcAft>
                      </a:pPr>
                      <a:r>
                        <a:rPr lang="en-US" sz="1400" kern="100" dirty="0">
                          <a:effectLst/>
                        </a:rPr>
                        <a:t>6</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algn="just">
                        <a:lnSpc>
                          <a:spcPct val="125000"/>
                        </a:lnSpc>
                        <a:spcAft>
                          <a:spcPts val="0"/>
                        </a:spcAft>
                      </a:pPr>
                      <a:r>
                        <a:rPr lang="zh-CN" sz="1400" kern="100" dirty="0">
                          <a:effectLst/>
                        </a:rPr>
                        <a:t>数据质量</a:t>
                      </a:r>
                      <a:r>
                        <a:rPr lang="zh-CN" altLang="en-US" sz="1400" kern="100" dirty="0">
                          <a:effectLst/>
                        </a:rPr>
                        <a:t>无保障</a:t>
                      </a:r>
                      <a:endParaRPr lang="zh-CN" sz="1400" kern="100" dirty="0">
                        <a:effectLst/>
                        <a:latin typeface="等线" panose="02010600030101010101" charset="-122"/>
                        <a:ea typeface="等线" panose="02010600030101010101" charset="-122"/>
                        <a:cs typeface="Times New Roman" panose="02020603050405020304" pitchFamily="18" charset="0"/>
                      </a:endParaRPr>
                    </a:p>
                  </a:txBody>
                  <a:tcPr marL="68580" marR="68580" marT="0" marB="0" anchor="ctr"/>
                </a:tc>
                <a:tc>
                  <a:txBody>
                    <a:bodyPr/>
                    <a:lstStyle/>
                    <a:p>
                      <a:pPr indent="266700" algn="just">
                        <a:lnSpc>
                          <a:spcPct val="125000"/>
                        </a:lnSpc>
                        <a:spcAft>
                          <a:spcPts val="0"/>
                        </a:spcAft>
                      </a:pPr>
                      <a:r>
                        <a:rPr lang="zh-CN" altLang="en-US" sz="1400" kern="100" dirty="0">
                          <a:effectLst/>
                        </a:rPr>
                        <a:t>数据治理过程中，会通过</a:t>
                      </a:r>
                      <a:r>
                        <a:rPr lang="en-US" altLang="zh-CN" sz="1400" kern="100" dirty="0">
                          <a:effectLst/>
                        </a:rPr>
                        <a:t>DLG</a:t>
                      </a:r>
                      <a:r>
                        <a:rPr lang="zh-CN" altLang="en-US" sz="1400" kern="100" dirty="0">
                          <a:effectLst/>
                        </a:rPr>
                        <a:t>对数据进行质量检查，配置质量规则和质量指标，进行检查后输出数据质量评估报告，并通过不同手段进行质量问题处理，最终使数据仓库的数据质量达到使用要求。</a:t>
                      </a:r>
                      <a:endParaRPr lang="zh-CN" sz="1400" kern="100" dirty="0">
                        <a:effectLst/>
                        <a:latin typeface="华文楷体" panose="02010600040101010101" pitchFamily="2" charset="-122"/>
                        <a:ea typeface="华文楷体" panose="02010600040101010101" pitchFamily="2" charset="-122"/>
                        <a:cs typeface="Times New Roman" panose="02020603050405020304" pitchFamily="18" charset="0"/>
                      </a:endParaRPr>
                    </a:p>
                  </a:txBody>
                  <a:tcPr marL="68580" marR="68580" marT="0" marB="0"/>
                </a:tc>
              </a:tr>
            </a:tbl>
          </a:graphicData>
        </a:graphic>
      </p:graphicFrame>
      <p:sp>
        <p:nvSpPr>
          <p:cNvPr id="13" name="标题 1"/>
          <p:cNvSpPr>
            <a:spLocks noGrp="1"/>
          </p:cNvSpPr>
          <p:nvPr>
            <p:ph type="ctrTitle"/>
          </p:nvPr>
        </p:nvSpPr>
        <p:spPr>
          <a:xfrm>
            <a:off x="517588" y="165139"/>
            <a:ext cx="11160000" cy="888392"/>
          </a:xfrm>
        </p:spPr>
        <p:txBody>
          <a:bodyPr/>
          <a:lstStyle/>
          <a:p>
            <a:r>
              <a:rPr lang="zh-CN" altLang="en-US" dirty="0"/>
              <a:t>客户需求：我们如何帮助他们解决问题？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49851" y="2592074"/>
            <a:ext cx="5112568" cy="432048"/>
          </a:xfrm>
          <a:prstGeom prst="rect">
            <a:avLst/>
          </a:prstGeom>
          <a:solidFill>
            <a:schemeClr val="bg2"/>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sp>
        <p:nvSpPr>
          <p:cNvPr id="4" name="标题 3"/>
          <p:cNvSpPr>
            <a:spLocks noGrp="1"/>
          </p:cNvSpPr>
          <p:nvPr>
            <p:ph type="ctrTitle"/>
          </p:nvPr>
        </p:nvSpPr>
        <p:spPr/>
        <p:txBody>
          <a:bodyPr/>
          <a:lstStyle/>
          <a:p>
            <a:r>
              <a:rPr lang="zh-CN" altLang="en-US" dirty="0"/>
              <a:t>目录</a:t>
            </a:r>
            <a:endParaRPr lang="zh-CN" altLang="en-US" dirty="0"/>
          </a:p>
        </p:txBody>
      </p:sp>
      <p:sp>
        <p:nvSpPr>
          <p:cNvPr id="5" name="副标题 4"/>
          <p:cNvSpPr>
            <a:spLocks noGrp="1"/>
          </p:cNvSpPr>
          <p:nvPr>
            <p:ph type="subTitle" idx="1"/>
          </p:nvPr>
        </p:nvSpPr>
        <p:spPr/>
        <p:txBody>
          <a:bodyPr/>
          <a:lstStyle/>
          <a:p>
            <a:r>
              <a:rPr lang="zh-CN" altLang="en-US" dirty="0"/>
              <a:t>行业现状与挑战</a:t>
            </a:r>
            <a:endParaRPr lang="en-US" altLang="zh-CN" dirty="0"/>
          </a:p>
          <a:p>
            <a:r>
              <a:rPr lang="zh-CN" altLang="en-US" dirty="0"/>
              <a:t>华为数据治理解决方案</a:t>
            </a:r>
            <a:endParaRPr lang="en-US" altLang="zh-CN" dirty="0"/>
          </a:p>
          <a:p>
            <a:r>
              <a:rPr lang="zh-CN" altLang="en-US" dirty="0"/>
              <a:t>华为解决方案价值分析</a:t>
            </a:r>
            <a:endParaRPr lang="en-US" altLang="zh-CN" dirty="0"/>
          </a:p>
          <a:p>
            <a:r>
              <a:rPr lang="zh-CN" altLang="en-US" dirty="0"/>
              <a:t>成功案例介绍</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数据治理解决方案 </a:t>
            </a:r>
            <a:r>
              <a:rPr lang="en-US" altLang="zh-CN" dirty="0"/>
              <a:t>– </a:t>
            </a:r>
            <a:r>
              <a:rPr lang="zh-CN" altLang="en-US" dirty="0"/>
              <a:t>总体方案架构</a:t>
            </a:r>
            <a:endParaRPr lang="zh-CN" altLang="en-US" dirty="0"/>
          </a:p>
        </p:txBody>
      </p:sp>
      <p:grpSp>
        <p:nvGrpSpPr>
          <p:cNvPr id="69" name="组合 350"/>
          <p:cNvGrpSpPr/>
          <p:nvPr/>
        </p:nvGrpSpPr>
        <p:grpSpPr>
          <a:xfrm>
            <a:off x="4334717" y="4850360"/>
            <a:ext cx="2123198" cy="1309630"/>
            <a:chOff x="4811235" y="1915064"/>
            <a:chExt cx="3386161" cy="3259085"/>
          </a:xfrm>
          <a:solidFill>
            <a:srgbClr val="E7E6E6">
              <a:lumMod val="50000"/>
            </a:srgbClr>
          </a:solidFill>
        </p:grpSpPr>
        <p:sp>
          <p:nvSpPr>
            <p:cNvPr id="70" name="圆柱形 95"/>
            <p:cNvSpPr/>
            <p:nvPr/>
          </p:nvSpPr>
          <p:spPr>
            <a:xfrm>
              <a:off x="4811235" y="1915064"/>
              <a:ext cx="1054727" cy="724619"/>
            </a:xfrm>
            <a:prstGeom prst="can">
              <a:avLst/>
            </a:prstGeom>
            <a:grp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教务</a:t>
              </a:r>
              <a:endPar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1" name="圆柱形 96"/>
            <p:cNvSpPr/>
            <p:nvPr/>
          </p:nvSpPr>
          <p:spPr>
            <a:xfrm>
              <a:off x="5976952" y="1915064"/>
              <a:ext cx="1054727" cy="724619"/>
            </a:xfrm>
            <a:prstGeom prst="can">
              <a:avLst/>
            </a:prstGeom>
            <a:grp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学工</a:t>
              </a:r>
              <a:endPar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2" name="圆柱形 97"/>
            <p:cNvSpPr/>
            <p:nvPr/>
          </p:nvSpPr>
          <p:spPr>
            <a:xfrm>
              <a:off x="7142669" y="1915064"/>
              <a:ext cx="1054727" cy="724619"/>
            </a:xfrm>
            <a:prstGeom prst="can">
              <a:avLst/>
            </a:prstGeom>
            <a:grp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资产</a:t>
              </a:r>
              <a:endPar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3" name="圆柱形 98"/>
            <p:cNvSpPr/>
            <p:nvPr/>
          </p:nvSpPr>
          <p:spPr>
            <a:xfrm>
              <a:off x="4811235" y="3596147"/>
              <a:ext cx="1054727" cy="724619"/>
            </a:xfrm>
            <a:prstGeom prst="can">
              <a:avLst/>
            </a:prstGeom>
            <a:grp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财务</a:t>
              </a:r>
              <a:endPar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4" name="圆柱形 99"/>
            <p:cNvSpPr/>
            <p:nvPr/>
          </p:nvSpPr>
          <p:spPr>
            <a:xfrm>
              <a:off x="5976952" y="3596147"/>
              <a:ext cx="1054727" cy="724619"/>
            </a:xfrm>
            <a:prstGeom prst="can">
              <a:avLst/>
            </a:prstGeom>
            <a:grp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科研</a:t>
              </a:r>
              <a:endPar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5" name="圆柱形 101"/>
            <p:cNvSpPr/>
            <p:nvPr/>
          </p:nvSpPr>
          <p:spPr>
            <a:xfrm>
              <a:off x="7142669" y="3596147"/>
              <a:ext cx="1054727" cy="724619"/>
            </a:xfrm>
            <a:prstGeom prst="can">
              <a:avLst/>
            </a:prstGeom>
            <a:grp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迎新</a:t>
              </a:r>
              <a:endPar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6" name="圆柱形 102"/>
            <p:cNvSpPr/>
            <p:nvPr/>
          </p:nvSpPr>
          <p:spPr>
            <a:xfrm>
              <a:off x="4811235" y="2768447"/>
              <a:ext cx="1054727" cy="724619"/>
            </a:xfrm>
            <a:prstGeom prst="can">
              <a:avLst/>
            </a:prstGeom>
            <a:grp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就业</a:t>
              </a:r>
              <a:endPar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7" name="圆柱形 103"/>
            <p:cNvSpPr/>
            <p:nvPr/>
          </p:nvSpPr>
          <p:spPr>
            <a:xfrm>
              <a:off x="5976952" y="2768447"/>
              <a:ext cx="1054727" cy="724619"/>
            </a:xfrm>
            <a:prstGeom prst="can">
              <a:avLst/>
            </a:prstGeom>
            <a:grp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校友</a:t>
              </a:r>
              <a:endPar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8" name="圆柱形 104"/>
            <p:cNvSpPr/>
            <p:nvPr/>
          </p:nvSpPr>
          <p:spPr>
            <a:xfrm>
              <a:off x="7142669" y="2768447"/>
              <a:ext cx="1054727" cy="724619"/>
            </a:xfrm>
            <a:prstGeom prst="can">
              <a:avLst/>
            </a:prstGeom>
            <a:grp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党建</a:t>
              </a:r>
              <a:endPar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79" name="圆柱形 106"/>
            <p:cNvSpPr/>
            <p:nvPr/>
          </p:nvSpPr>
          <p:spPr>
            <a:xfrm>
              <a:off x="4811235" y="4449530"/>
              <a:ext cx="1054727" cy="724619"/>
            </a:xfrm>
            <a:prstGeom prst="can">
              <a:avLst/>
            </a:prstGeom>
            <a:grpFill/>
            <a:ln w="12700" cap="flat" cmpd="sng" algn="ctr">
              <a:solidFill>
                <a:srgbClr val="4472C4">
                  <a:shade val="50000"/>
                </a:srgbClr>
              </a:solidFill>
              <a:prstDash val="solid"/>
              <a:miter lim="800000"/>
            </a:ln>
            <a:effectLst/>
          </p:spPr>
          <p:txBody>
            <a:bodyPr lIns="0" rIns="0"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一卡通</a:t>
              </a:r>
              <a:endParaRPr kumimoji="0" lang="zh-CN" altLang="en-US" sz="11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80" name="圆柱形 107"/>
            <p:cNvSpPr/>
            <p:nvPr/>
          </p:nvSpPr>
          <p:spPr>
            <a:xfrm>
              <a:off x="7142667" y="4449530"/>
              <a:ext cx="1054727" cy="724619"/>
            </a:xfrm>
            <a:prstGeom prst="can">
              <a:avLst/>
            </a:prstGeom>
            <a:grp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a:t>
              </a:r>
              <a:endParaRPr kumimoji="0" lang="zh-CN" altLang="en-US" sz="12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sp>
          <p:nvSpPr>
            <p:cNvPr id="81" name="圆柱形 109"/>
            <p:cNvSpPr/>
            <p:nvPr/>
          </p:nvSpPr>
          <p:spPr>
            <a:xfrm>
              <a:off x="5976951" y="4449530"/>
              <a:ext cx="1054727" cy="724619"/>
            </a:xfrm>
            <a:prstGeom prst="can">
              <a:avLst/>
            </a:prstGeom>
            <a:grpFill/>
            <a:ln w="12700" cap="flat" cmpd="sng" algn="ctr">
              <a:solidFill>
                <a:srgbClr val="4472C4">
                  <a:shade val="50000"/>
                </a:srgbClr>
              </a:solidFill>
              <a:prstDash val="solid"/>
              <a:miter lim="800000"/>
            </a:ln>
            <a:effectLst/>
          </p:spPr>
          <p:txBody>
            <a:bodyPr rot="0" spcFirstLastPara="0" vertOverflow="overflow" horzOverflow="overflow" vert="horz" wrap="square" lIns="0" tIns="34299" rIns="0" bIns="34299" numCol="1" spcCol="0" rtlCol="0" fromWordArt="0" anchor="ctr" anchorCtr="0" forceAA="0" compatLnSpc="1">
              <a:no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rPr>
                <a:t>图书馆</a:t>
              </a:r>
              <a:endParaRPr kumimoji="0" lang="zh-CN" altLang="en-US" sz="1100" b="1" i="0" u="none" strike="noStrike" kern="0" cap="none" spc="0" normalizeH="0" baseline="0" noProof="0" dirty="0">
                <a:ln>
                  <a:noFill/>
                </a:ln>
                <a:solidFill>
                  <a:prstClr val="white"/>
                </a:solidFill>
                <a:effectLst/>
                <a:uLnTx/>
                <a:uFillTx/>
                <a:latin typeface="宋体" panose="02010600030101010101" pitchFamily="2" charset="-122"/>
                <a:ea typeface="宋体" panose="02010600030101010101" pitchFamily="2" charset="-122"/>
                <a:cs typeface="+mn-cs"/>
              </a:endParaRPr>
            </a:p>
          </p:txBody>
        </p:sp>
      </p:grpSp>
      <p:grpSp>
        <p:nvGrpSpPr>
          <p:cNvPr id="82" name="组合 363"/>
          <p:cNvGrpSpPr/>
          <p:nvPr/>
        </p:nvGrpSpPr>
        <p:grpSpPr>
          <a:xfrm>
            <a:off x="6625728" y="4850360"/>
            <a:ext cx="1299980" cy="1273406"/>
            <a:chOff x="8635734" y="10797071"/>
            <a:chExt cx="2352347" cy="1822910"/>
          </a:xfrm>
        </p:grpSpPr>
        <p:pic>
          <p:nvPicPr>
            <p:cNvPr id="83" name="Picture 2" descr="https://timgsa.baidu.com/timg?image&amp;quality=80&amp;size=b9999_10000&amp;sec=1534590355487&amp;di=ddbfdc662f936ad8c8d10ef5647179be&amp;imgtype=0&amp;src=http%3A%2F%2Ff.hiphotos.baidu.com%2Fbaike%2Fw%253D204%2Fsign%3Db15bacd3a2cc7cd9fa2d33d90d002104%2F5fdf8db1cb13495414d75f5a574e9258d0094ac6.jpg"/>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8635734" y="10797071"/>
              <a:ext cx="1049061" cy="884866"/>
            </a:xfrm>
            <a:prstGeom prst="rect">
              <a:avLst/>
            </a:prstGeom>
            <a:noFill/>
          </p:spPr>
        </p:pic>
        <p:pic>
          <p:nvPicPr>
            <p:cNvPr id="84" name="Picture 2" descr="https://timgsa.baidu.com/timg?image&amp;quality=80&amp;size=b9999_10000&amp;sec=1534590355487&amp;di=ddbfdc662f936ad8c8d10ef5647179be&amp;imgtype=0&amp;src=http%3A%2F%2Ff.hiphotos.baidu.com%2Fbaike%2Fw%253D204%2Fsign%3Db15bacd3a2cc7cd9fa2d33d90d002104%2F5fdf8db1cb13495414d75f5a574e9258d0094ac6.jpg"/>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9939020" y="10797071"/>
              <a:ext cx="1049061" cy="884866"/>
            </a:xfrm>
            <a:prstGeom prst="rect">
              <a:avLst/>
            </a:prstGeom>
            <a:noFill/>
          </p:spPr>
        </p:pic>
        <p:pic>
          <p:nvPicPr>
            <p:cNvPr id="85" name="Picture 2" descr="https://timgsa.baidu.com/timg?image&amp;quality=80&amp;size=b9999_10000&amp;sec=1534590355487&amp;di=ddbfdc662f936ad8c8d10ef5647179be&amp;imgtype=0&amp;src=http%3A%2F%2Ff.hiphotos.baidu.com%2Fbaike%2Fw%253D204%2Fsign%3Db15bacd3a2cc7cd9fa2d33d90d002104%2F5fdf8db1cb13495414d75f5a574e9258d0094ac6.jpg"/>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8635734" y="11735115"/>
              <a:ext cx="1049061" cy="884866"/>
            </a:xfrm>
            <a:prstGeom prst="rect">
              <a:avLst/>
            </a:prstGeom>
            <a:noFill/>
          </p:spPr>
        </p:pic>
        <p:pic>
          <p:nvPicPr>
            <p:cNvPr id="86" name="Picture 2" descr="https://timgsa.baidu.com/timg?image&amp;quality=80&amp;size=b9999_10000&amp;sec=1534590355487&amp;di=ddbfdc662f936ad8c8d10ef5647179be&amp;imgtype=0&amp;src=http%3A%2F%2Ff.hiphotos.baidu.com%2Fbaike%2Fw%253D204%2Fsign%3Db15bacd3a2cc7cd9fa2d33d90d002104%2F5fdf8db1cb13495414d75f5a574e9258d0094ac6.jpg"/>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9939020" y="11735115"/>
              <a:ext cx="1049061" cy="884866"/>
            </a:xfrm>
            <a:prstGeom prst="rect">
              <a:avLst/>
            </a:prstGeom>
            <a:noFill/>
          </p:spPr>
        </p:pic>
      </p:grpSp>
      <p:sp>
        <p:nvSpPr>
          <p:cNvPr id="96" name="矩形 377"/>
          <p:cNvSpPr/>
          <p:nvPr/>
        </p:nvSpPr>
        <p:spPr>
          <a:xfrm>
            <a:off x="6531504" y="6220445"/>
            <a:ext cx="1466234" cy="338554"/>
          </a:xfrm>
          <a:prstGeom prst="rect">
            <a:avLst/>
          </a:prstGeom>
        </p:spPr>
        <p:txBody>
          <a:bodyPr vert="horz" wrap="square">
            <a:spAutoFit/>
          </a:bodyPr>
          <a:lstStyle/>
          <a:p>
            <a:pPr algn="ctr" defTabSz="1828165"/>
            <a:r>
              <a:rPr lang="zh-CN" altLang="en-US" sz="1600" b="1" dirty="0">
                <a:solidFill>
                  <a:srgbClr val="C00000"/>
                </a:solidFill>
                <a:latin typeface="宋体" panose="02010600030101010101" pitchFamily="2" charset="-122"/>
                <a:ea typeface="宋体" panose="02010600030101010101" pitchFamily="2" charset="-122"/>
              </a:rPr>
              <a:t>线下</a:t>
            </a:r>
            <a:r>
              <a:rPr lang="zh-CN" altLang="en-US" sz="1600" dirty="0">
                <a:solidFill>
                  <a:srgbClr val="C00000"/>
                </a:solidFill>
                <a:latin typeface="宋体" panose="02010600030101010101" pitchFamily="2" charset="-122"/>
                <a:ea typeface="宋体" panose="02010600030101010101" pitchFamily="2" charset="-122"/>
              </a:rPr>
              <a:t>业务数据</a:t>
            </a:r>
            <a:endParaRPr lang="zh-CN" altLang="en-US" sz="1600" dirty="0">
              <a:solidFill>
                <a:srgbClr val="C00000"/>
              </a:solidFill>
              <a:latin typeface="宋体" panose="02010600030101010101" pitchFamily="2" charset="-122"/>
              <a:ea typeface="宋体" panose="02010600030101010101" pitchFamily="2" charset="-122"/>
            </a:endParaRPr>
          </a:p>
        </p:txBody>
      </p:sp>
      <p:grpSp>
        <p:nvGrpSpPr>
          <p:cNvPr id="97" name="组合 378"/>
          <p:cNvGrpSpPr/>
          <p:nvPr/>
        </p:nvGrpSpPr>
        <p:grpSpPr>
          <a:xfrm>
            <a:off x="9107827" y="4614535"/>
            <a:ext cx="1432764" cy="1571081"/>
            <a:chOff x="11925874" y="10821252"/>
            <a:chExt cx="3019674" cy="2406761"/>
          </a:xfrm>
        </p:grpSpPr>
        <p:pic>
          <p:nvPicPr>
            <p:cNvPr id="98" name="图片 379"/>
            <p:cNvPicPr>
              <a:picLocks noChangeAspect="1"/>
            </p:cNvPicPr>
            <p:nvPr/>
          </p:nvPicPr>
          <p:blipFill>
            <a:blip r:embed="rId2"/>
            <a:stretch>
              <a:fillRect/>
            </a:stretch>
          </p:blipFill>
          <p:spPr>
            <a:xfrm>
              <a:off x="12034423" y="10821252"/>
              <a:ext cx="1228026" cy="580835"/>
            </a:xfrm>
            <a:prstGeom prst="rect">
              <a:avLst/>
            </a:prstGeom>
          </p:spPr>
        </p:pic>
        <p:sp>
          <p:nvSpPr>
            <p:cNvPr id="99" name="矩形 380"/>
            <p:cNvSpPr/>
            <p:nvPr/>
          </p:nvSpPr>
          <p:spPr>
            <a:xfrm>
              <a:off x="11925874" y="11406002"/>
              <a:ext cx="1445115" cy="300205"/>
            </a:xfrm>
            <a:prstGeom prst="rect">
              <a:avLst/>
            </a:prstGeom>
          </p:spPr>
          <p:txBody>
            <a:bodyPr wrap="none">
              <a:spAutoFit/>
            </a:bodyPr>
            <a:lstStyle/>
            <a:p>
              <a:pPr algn="ctr" defTabSz="1828165"/>
              <a:r>
                <a:rPr lang="zh-CN" altLang="en-US" sz="1100" dirty="0">
                  <a:solidFill>
                    <a:srgbClr val="44546A"/>
                  </a:solidFill>
                  <a:latin typeface="宋体" panose="02010600030101010101" pitchFamily="2" charset="-122"/>
                  <a:ea typeface="宋体" panose="02010600030101010101" pitchFamily="2" charset="-122"/>
                </a:rPr>
                <a:t>上网记录</a:t>
              </a:r>
              <a:endParaRPr lang="zh-CN" altLang="en-US" sz="1100" dirty="0">
                <a:solidFill>
                  <a:srgbClr val="44546A"/>
                </a:solidFill>
                <a:latin typeface="宋体" panose="02010600030101010101" pitchFamily="2" charset="-122"/>
                <a:ea typeface="宋体" panose="02010600030101010101" pitchFamily="2" charset="-122"/>
              </a:endParaRPr>
            </a:p>
          </p:txBody>
        </p:sp>
        <p:pic>
          <p:nvPicPr>
            <p:cNvPr id="100" name="图片 381"/>
            <p:cNvPicPr>
              <a:picLocks noChangeAspect="1"/>
            </p:cNvPicPr>
            <p:nvPr/>
          </p:nvPicPr>
          <p:blipFill>
            <a:blip r:embed="rId2"/>
            <a:stretch>
              <a:fillRect/>
            </a:stretch>
          </p:blipFill>
          <p:spPr>
            <a:xfrm>
              <a:off x="13562441" y="10821252"/>
              <a:ext cx="1228026" cy="580835"/>
            </a:xfrm>
            <a:prstGeom prst="rect">
              <a:avLst/>
            </a:prstGeom>
          </p:spPr>
        </p:pic>
        <p:pic>
          <p:nvPicPr>
            <p:cNvPr id="101" name="图片 382"/>
            <p:cNvPicPr>
              <a:picLocks noChangeAspect="1"/>
            </p:cNvPicPr>
            <p:nvPr/>
          </p:nvPicPr>
          <p:blipFill>
            <a:blip r:embed="rId2"/>
            <a:stretch>
              <a:fillRect/>
            </a:stretch>
          </p:blipFill>
          <p:spPr>
            <a:xfrm>
              <a:off x="12034423" y="11902939"/>
              <a:ext cx="1228026" cy="580835"/>
            </a:xfrm>
            <a:prstGeom prst="rect">
              <a:avLst/>
            </a:prstGeom>
          </p:spPr>
        </p:pic>
        <p:pic>
          <p:nvPicPr>
            <p:cNvPr id="102" name="图片 383"/>
            <p:cNvPicPr>
              <a:picLocks noChangeAspect="1"/>
            </p:cNvPicPr>
            <p:nvPr/>
          </p:nvPicPr>
          <p:blipFill>
            <a:blip r:embed="rId2"/>
            <a:stretch>
              <a:fillRect/>
            </a:stretch>
          </p:blipFill>
          <p:spPr>
            <a:xfrm>
              <a:off x="13562441" y="11902939"/>
              <a:ext cx="1228026" cy="580835"/>
            </a:xfrm>
            <a:prstGeom prst="rect">
              <a:avLst/>
            </a:prstGeom>
          </p:spPr>
        </p:pic>
        <p:sp>
          <p:nvSpPr>
            <p:cNvPr id="103" name="矩形 384"/>
            <p:cNvSpPr/>
            <p:nvPr/>
          </p:nvSpPr>
          <p:spPr>
            <a:xfrm>
              <a:off x="13453894" y="11406002"/>
              <a:ext cx="1445115" cy="300205"/>
            </a:xfrm>
            <a:prstGeom prst="rect">
              <a:avLst/>
            </a:prstGeom>
          </p:spPr>
          <p:txBody>
            <a:bodyPr wrap="none">
              <a:spAutoFit/>
            </a:bodyPr>
            <a:lstStyle/>
            <a:p>
              <a:pPr algn="ctr" defTabSz="1828165"/>
              <a:r>
                <a:rPr lang="zh-CN" altLang="en-US" sz="1100" dirty="0">
                  <a:solidFill>
                    <a:srgbClr val="44546A"/>
                  </a:solidFill>
                  <a:latin typeface="宋体" panose="02010600030101010101" pitchFamily="2" charset="-122"/>
                  <a:ea typeface="宋体" panose="02010600030101010101" pitchFamily="2" charset="-122"/>
                </a:rPr>
                <a:t>无线连接</a:t>
              </a:r>
              <a:endParaRPr lang="zh-CN" altLang="en-US" sz="1100" dirty="0">
                <a:solidFill>
                  <a:srgbClr val="44546A"/>
                </a:solidFill>
                <a:latin typeface="宋体" panose="02010600030101010101" pitchFamily="2" charset="-122"/>
                <a:ea typeface="宋体" panose="02010600030101010101" pitchFamily="2" charset="-122"/>
              </a:endParaRPr>
            </a:p>
          </p:txBody>
        </p:sp>
        <p:sp>
          <p:nvSpPr>
            <p:cNvPr id="104" name="矩形 385"/>
            <p:cNvSpPr/>
            <p:nvPr/>
          </p:nvSpPr>
          <p:spPr>
            <a:xfrm>
              <a:off x="11925874" y="12477233"/>
              <a:ext cx="1445115" cy="300205"/>
            </a:xfrm>
            <a:prstGeom prst="rect">
              <a:avLst/>
            </a:prstGeom>
          </p:spPr>
          <p:txBody>
            <a:bodyPr wrap="none">
              <a:spAutoFit/>
            </a:bodyPr>
            <a:lstStyle/>
            <a:p>
              <a:pPr algn="ctr" defTabSz="1828165"/>
              <a:r>
                <a:rPr lang="zh-CN" altLang="en-US" sz="1100" dirty="0">
                  <a:solidFill>
                    <a:srgbClr val="44546A"/>
                  </a:solidFill>
                  <a:latin typeface="宋体" panose="02010600030101010101" pitchFamily="2" charset="-122"/>
                  <a:ea typeface="宋体" panose="02010600030101010101" pitchFamily="2" charset="-122"/>
                </a:rPr>
                <a:t>身份认证</a:t>
              </a:r>
              <a:endParaRPr lang="en-US" altLang="zh-CN" sz="1100" dirty="0">
                <a:solidFill>
                  <a:srgbClr val="44546A"/>
                </a:solidFill>
                <a:latin typeface="宋体" panose="02010600030101010101" pitchFamily="2" charset="-122"/>
                <a:ea typeface="宋体" panose="02010600030101010101" pitchFamily="2" charset="-122"/>
              </a:endParaRPr>
            </a:p>
          </p:txBody>
        </p:sp>
        <p:sp>
          <p:nvSpPr>
            <p:cNvPr id="105" name="矩形 386"/>
            <p:cNvSpPr/>
            <p:nvPr/>
          </p:nvSpPr>
          <p:spPr>
            <a:xfrm>
              <a:off x="13453899" y="12477233"/>
              <a:ext cx="1445115" cy="300205"/>
            </a:xfrm>
            <a:prstGeom prst="rect">
              <a:avLst/>
            </a:prstGeom>
          </p:spPr>
          <p:txBody>
            <a:bodyPr wrap="none">
              <a:spAutoFit/>
            </a:bodyPr>
            <a:lstStyle/>
            <a:p>
              <a:pPr algn="ctr" defTabSz="1828165"/>
              <a:r>
                <a:rPr lang="zh-CN" altLang="en-US" sz="1100" dirty="0">
                  <a:solidFill>
                    <a:srgbClr val="44546A"/>
                  </a:solidFill>
                  <a:latin typeface="宋体" panose="02010600030101010101" pitchFamily="2" charset="-122"/>
                  <a:ea typeface="宋体" panose="02010600030101010101" pitchFamily="2" charset="-122"/>
                </a:rPr>
                <a:t>网络安全</a:t>
              </a:r>
              <a:endParaRPr lang="zh-CN" altLang="en-US" sz="1100" dirty="0">
                <a:solidFill>
                  <a:srgbClr val="44546A"/>
                </a:solidFill>
                <a:latin typeface="宋体" panose="02010600030101010101" pitchFamily="2" charset="-122"/>
                <a:ea typeface="宋体" panose="02010600030101010101" pitchFamily="2" charset="-122"/>
              </a:endParaRPr>
            </a:p>
          </p:txBody>
        </p:sp>
        <p:sp>
          <p:nvSpPr>
            <p:cNvPr id="106" name="矩形 387"/>
            <p:cNvSpPr/>
            <p:nvPr/>
          </p:nvSpPr>
          <p:spPr>
            <a:xfrm>
              <a:off x="11985072" y="12839513"/>
              <a:ext cx="2960476" cy="388500"/>
            </a:xfrm>
            <a:prstGeom prst="rect">
              <a:avLst/>
            </a:prstGeom>
          </p:spPr>
          <p:txBody>
            <a:bodyPr vert="horz" wrap="square">
              <a:spAutoFit/>
            </a:bodyPr>
            <a:lstStyle/>
            <a:p>
              <a:pPr algn="ctr" defTabSz="1828165"/>
              <a:r>
                <a:rPr lang="zh-CN" altLang="en-US" sz="1600" dirty="0">
                  <a:solidFill>
                    <a:srgbClr val="C00000"/>
                  </a:solidFill>
                  <a:latin typeface="宋体" panose="02010600030101010101" pitchFamily="2" charset="-122"/>
                  <a:ea typeface="宋体" panose="02010600030101010101" pitchFamily="2" charset="-122"/>
                </a:rPr>
                <a:t>日志数据</a:t>
              </a:r>
              <a:endParaRPr lang="zh-CN" altLang="en-US" sz="1600" dirty="0">
                <a:solidFill>
                  <a:srgbClr val="C00000"/>
                </a:solidFill>
                <a:latin typeface="宋体" panose="02010600030101010101" pitchFamily="2" charset="-122"/>
                <a:ea typeface="宋体" panose="02010600030101010101" pitchFamily="2" charset="-122"/>
              </a:endParaRPr>
            </a:p>
          </p:txBody>
        </p:sp>
      </p:grpSp>
      <p:grpSp>
        <p:nvGrpSpPr>
          <p:cNvPr id="131" name="组合 3"/>
          <p:cNvGrpSpPr/>
          <p:nvPr/>
        </p:nvGrpSpPr>
        <p:grpSpPr>
          <a:xfrm>
            <a:off x="4275839" y="1767953"/>
            <a:ext cx="7635066" cy="1088415"/>
            <a:chOff x="8707445" y="4670857"/>
            <a:chExt cx="14575989" cy="2250873"/>
          </a:xfrm>
        </p:grpSpPr>
        <p:sp>
          <p:nvSpPr>
            <p:cNvPr id="132" name="矩形: 圆角 349"/>
            <p:cNvSpPr/>
            <p:nvPr/>
          </p:nvSpPr>
          <p:spPr>
            <a:xfrm>
              <a:off x="8707445" y="4670857"/>
              <a:ext cx="13524524" cy="2250873"/>
            </a:xfrm>
            <a:prstGeom prst="roundRect">
              <a:avLst>
                <a:gd name="adj" fmla="val 8618"/>
              </a:avLst>
            </a:prstGeom>
            <a:solidFill>
              <a:srgbClr val="FFFF00"/>
            </a:solidFill>
            <a:ln>
              <a:noFill/>
            </a:ln>
            <a:effectLst>
              <a:outerShdw blurRad="57150" dist="19050" dir="5400000" algn="ctr" rotWithShape="0">
                <a:srgbClr val="000000">
                  <a:alpha val="63000"/>
                </a:srgbClr>
              </a:outerShdw>
            </a:effectLst>
          </p:spPr>
          <p:txBody>
            <a:bodyPr rot="0" spcFirstLastPara="0" vertOverflow="overflow" horzOverflow="overflow" vert="horz" wrap="square" lIns="68598" tIns="34299" rIns="68598" bIns="34299" numCol="1" spcCol="0" rtlCol="0" fromWordArt="0" anchor="ctr" anchorCtr="0" forceAA="0" compatLnSpc="1">
              <a:noAutofit/>
            </a:bodyP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Lato Light"/>
                <a:ea typeface="+mn-ea"/>
                <a:cs typeface="+mn-cs"/>
              </a:endParaRPr>
            </a:p>
          </p:txBody>
        </p:sp>
        <p:sp>
          <p:nvSpPr>
            <p:cNvPr id="133" name="矩形: 圆角 414"/>
            <p:cNvSpPr/>
            <p:nvPr/>
          </p:nvSpPr>
          <p:spPr>
            <a:xfrm>
              <a:off x="8915422" y="5883145"/>
              <a:ext cx="1345168" cy="941835"/>
            </a:xfrm>
            <a:prstGeom prst="roundRect">
              <a:avLst/>
            </a:prstGeom>
            <a:solidFill>
              <a:srgbClr val="FF3399"/>
            </a:solidFill>
            <a:ln w="12700" cap="flat" cmpd="sng" algn="ctr">
              <a:solidFill>
                <a:srgbClr val="4472C4">
                  <a:shade val="50000"/>
                </a:srgbClr>
              </a:solidFill>
              <a:prstDash val="solid"/>
              <a:miter lim="800000"/>
            </a:ln>
            <a:effectLst/>
          </p:spPr>
          <p:txBody>
            <a:bodyPr lIns="0" tIns="0" rIns="0" bIns="0"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Lato Light"/>
                  <a:ea typeface="+mn-ea"/>
                  <a:cs typeface="+mn-cs"/>
                </a:rPr>
                <a:t>学校基本</a:t>
              </a:r>
              <a:endParaRPr kumimoji="0" lang="en-US" altLang="zh-CN" sz="1200" b="0" i="0" u="none" strike="noStrike" kern="0" cap="none" spc="0" normalizeH="0" baseline="0" noProof="0" dirty="0">
                <a:ln>
                  <a:noFill/>
                </a:ln>
                <a:solidFill>
                  <a:prstClr val="white"/>
                </a:solidFill>
                <a:effectLst/>
                <a:uLnTx/>
                <a:uFillTx/>
                <a:latin typeface="Lato Light"/>
                <a:ea typeface="+mn-ea"/>
                <a:cs typeface="+mn-cs"/>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Lato Light"/>
                  <a:ea typeface="+mn-ea"/>
                  <a:cs typeface="+mn-cs"/>
                </a:rPr>
                <a:t>数据</a:t>
              </a:r>
              <a:endParaRPr kumimoji="0" lang="zh-CN" altLang="en-US" sz="1200" b="0" i="0" u="none" strike="noStrike" kern="0" cap="none" spc="0" normalizeH="0" baseline="0" noProof="0" dirty="0">
                <a:ln>
                  <a:noFill/>
                </a:ln>
                <a:solidFill>
                  <a:prstClr val="white"/>
                </a:solidFill>
                <a:effectLst/>
                <a:uLnTx/>
                <a:uFillTx/>
                <a:latin typeface="Lato Light"/>
                <a:ea typeface="+mn-ea"/>
                <a:cs typeface="+mn-cs"/>
              </a:endParaRPr>
            </a:p>
          </p:txBody>
        </p:sp>
        <p:sp>
          <p:nvSpPr>
            <p:cNvPr id="134" name="矩形: 圆角 415"/>
            <p:cNvSpPr/>
            <p:nvPr/>
          </p:nvSpPr>
          <p:spPr>
            <a:xfrm>
              <a:off x="10391797" y="5883145"/>
              <a:ext cx="1345168" cy="941835"/>
            </a:xfrm>
            <a:prstGeom prst="roundRect">
              <a:avLst/>
            </a:prstGeom>
            <a:solidFill>
              <a:srgbClr val="FF3399"/>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Lato Light"/>
                  <a:ea typeface="+mn-ea"/>
                  <a:cs typeface="+mn-cs"/>
                </a:rPr>
                <a:t>学生基本数据</a:t>
              </a:r>
              <a:endParaRPr kumimoji="0" lang="zh-CN" altLang="en-US" sz="1200" b="0" i="0" u="none" strike="noStrike" kern="0" cap="none" spc="0" normalizeH="0" baseline="0" noProof="0" dirty="0">
                <a:ln>
                  <a:noFill/>
                </a:ln>
                <a:solidFill>
                  <a:prstClr val="white"/>
                </a:solidFill>
                <a:effectLst/>
                <a:uLnTx/>
                <a:uFillTx/>
                <a:latin typeface="Lato Light"/>
                <a:ea typeface="+mn-ea"/>
                <a:cs typeface="+mn-cs"/>
              </a:endParaRPr>
            </a:p>
          </p:txBody>
        </p:sp>
        <p:sp>
          <p:nvSpPr>
            <p:cNvPr id="135" name="矩形: 圆角 416"/>
            <p:cNvSpPr/>
            <p:nvPr/>
          </p:nvSpPr>
          <p:spPr>
            <a:xfrm>
              <a:off x="11868172" y="5883145"/>
              <a:ext cx="1345168" cy="941835"/>
            </a:xfrm>
            <a:prstGeom prst="roundRect">
              <a:avLst/>
            </a:prstGeom>
            <a:solidFill>
              <a:srgbClr val="FF3399"/>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Lato Light"/>
                  <a:ea typeface="+mn-ea"/>
                  <a:cs typeface="+mn-cs"/>
                </a:rPr>
                <a:t>教学管理数据</a:t>
              </a:r>
              <a:endParaRPr kumimoji="0" lang="zh-CN" altLang="en-US" sz="1200" b="0" i="0" u="none" strike="noStrike" kern="0" cap="none" spc="0" normalizeH="0" baseline="0" noProof="0" dirty="0">
                <a:ln>
                  <a:noFill/>
                </a:ln>
                <a:solidFill>
                  <a:prstClr val="white"/>
                </a:solidFill>
                <a:effectLst/>
                <a:uLnTx/>
                <a:uFillTx/>
                <a:latin typeface="Lato Light"/>
                <a:ea typeface="+mn-ea"/>
                <a:cs typeface="+mn-cs"/>
              </a:endParaRPr>
            </a:p>
          </p:txBody>
        </p:sp>
        <p:sp>
          <p:nvSpPr>
            <p:cNvPr id="136" name="矩形: 圆角 417"/>
            <p:cNvSpPr/>
            <p:nvPr/>
          </p:nvSpPr>
          <p:spPr>
            <a:xfrm>
              <a:off x="13344547" y="5883145"/>
              <a:ext cx="1345168" cy="941835"/>
            </a:xfrm>
            <a:prstGeom prst="roundRect">
              <a:avLst/>
            </a:prstGeom>
            <a:solidFill>
              <a:srgbClr val="FF3399"/>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Lato Light"/>
                  <a:ea typeface="+mn-ea"/>
                  <a:cs typeface="+mn-cs"/>
                </a:rPr>
                <a:t>人事管理数据</a:t>
              </a:r>
              <a:endParaRPr kumimoji="0" lang="zh-CN" altLang="en-US" sz="1200" b="0" i="0" u="none" strike="noStrike" kern="0" cap="none" spc="0" normalizeH="0" baseline="0" noProof="0" dirty="0">
                <a:ln>
                  <a:noFill/>
                </a:ln>
                <a:solidFill>
                  <a:prstClr val="white"/>
                </a:solidFill>
                <a:effectLst/>
                <a:uLnTx/>
                <a:uFillTx/>
                <a:latin typeface="Lato Light"/>
                <a:ea typeface="+mn-ea"/>
                <a:cs typeface="+mn-cs"/>
              </a:endParaRPr>
            </a:p>
          </p:txBody>
        </p:sp>
        <p:sp>
          <p:nvSpPr>
            <p:cNvPr id="137" name="矩形: 圆角 418"/>
            <p:cNvSpPr/>
            <p:nvPr/>
          </p:nvSpPr>
          <p:spPr>
            <a:xfrm>
              <a:off x="14820922" y="5883145"/>
              <a:ext cx="1345168" cy="941835"/>
            </a:xfrm>
            <a:prstGeom prst="roundRect">
              <a:avLst/>
            </a:prstGeom>
            <a:solidFill>
              <a:srgbClr val="FF3399"/>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Lato Light"/>
                  <a:ea typeface="+mn-ea"/>
                  <a:cs typeface="+mn-cs"/>
                </a:rPr>
                <a:t>科研管理数据</a:t>
              </a:r>
              <a:endParaRPr kumimoji="0" lang="zh-CN" altLang="en-US" sz="1200" b="0" i="0" u="none" strike="noStrike" kern="0" cap="none" spc="0" normalizeH="0" baseline="0" noProof="0" dirty="0">
                <a:ln>
                  <a:noFill/>
                </a:ln>
                <a:solidFill>
                  <a:prstClr val="white"/>
                </a:solidFill>
                <a:effectLst/>
                <a:uLnTx/>
                <a:uFillTx/>
                <a:latin typeface="Lato Light"/>
                <a:ea typeface="+mn-ea"/>
                <a:cs typeface="+mn-cs"/>
              </a:endParaRPr>
            </a:p>
          </p:txBody>
        </p:sp>
        <p:sp>
          <p:nvSpPr>
            <p:cNvPr id="138" name="矩形: 圆角 419"/>
            <p:cNvSpPr/>
            <p:nvPr/>
          </p:nvSpPr>
          <p:spPr>
            <a:xfrm>
              <a:off x="16297297" y="5883145"/>
              <a:ext cx="1345168" cy="941835"/>
            </a:xfrm>
            <a:prstGeom prst="roundRect">
              <a:avLst/>
            </a:prstGeom>
            <a:solidFill>
              <a:srgbClr val="FF3399"/>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Lato Light"/>
                  <a:ea typeface="+mn-ea"/>
                  <a:cs typeface="+mn-cs"/>
                </a:rPr>
                <a:t>后勤管理数据</a:t>
              </a:r>
              <a:endParaRPr kumimoji="0" lang="zh-CN" altLang="en-US" sz="1200" b="0" i="0" u="none" strike="noStrike" kern="0" cap="none" spc="0" normalizeH="0" baseline="0" noProof="0" dirty="0">
                <a:ln>
                  <a:noFill/>
                </a:ln>
                <a:solidFill>
                  <a:prstClr val="white"/>
                </a:solidFill>
                <a:effectLst/>
                <a:uLnTx/>
                <a:uFillTx/>
                <a:latin typeface="Lato Light"/>
                <a:ea typeface="+mn-ea"/>
                <a:cs typeface="+mn-cs"/>
              </a:endParaRPr>
            </a:p>
          </p:txBody>
        </p:sp>
        <p:sp>
          <p:nvSpPr>
            <p:cNvPr id="139" name="矩形: 圆角 420"/>
            <p:cNvSpPr/>
            <p:nvPr/>
          </p:nvSpPr>
          <p:spPr>
            <a:xfrm>
              <a:off x="17773672" y="5883145"/>
              <a:ext cx="1345168" cy="941835"/>
            </a:xfrm>
            <a:prstGeom prst="roundRect">
              <a:avLst/>
            </a:prstGeom>
            <a:solidFill>
              <a:srgbClr val="FF3399"/>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Lato Light"/>
                  <a:ea typeface="+mn-ea"/>
                  <a:cs typeface="+mn-cs"/>
                </a:rPr>
                <a:t>日志分析数据</a:t>
              </a:r>
              <a:endParaRPr kumimoji="0" lang="zh-CN" altLang="en-US" sz="1200" b="0" i="0" u="none" strike="noStrike" kern="0" cap="none" spc="0" normalizeH="0" baseline="0" noProof="0" dirty="0">
                <a:ln>
                  <a:noFill/>
                </a:ln>
                <a:solidFill>
                  <a:prstClr val="white"/>
                </a:solidFill>
                <a:effectLst/>
                <a:uLnTx/>
                <a:uFillTx/>
                <a:latin typeface="Lato Light"/>
                <a:ea typeface="+mn-ea"/>
                <a:cs typeface="+mn-cs"/>
              </a:endParaRPr>
            </a:p>
          </p:txBody>
        </p:sp>
        <p:sp>
          <p:nvSpPr>
            <p:cNvPr id="140" name="矩形: 圆角 421"/>
            <p:cNvSpPr/>
            <p:nvPr/>
          </p:nvSpPr>
          <p:spPr>
            <a:xfrm>
              <a:off x="19250047" y="5883145"/>
              <a:ext cx="1345168" cy="941835"/>
            </a:xfrm>
            <a:prstGeom prst="roundRect">
              <a:avLst/>
            </a:prstGeom>
            <a:solidFill>
              <a:srgbClr val="FF3399"/>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Lato Light"/>
                  <a:ea typeface="+mn-ea"/>
                  <a:cs typeface="+mn-cs"/>
                </a:rPr>
                <a:t>资产管理数据</a:t>
              </a:r>
              <a:endParaRPr kumimoji="0" lang="zh-CN" altLang="en-US" sz="1200" b="0" i="0" u="none" strike="noStrike" kern="0" cap="none" spc="0" normalizeH="0" baseline="0" noProof="0" dirty="0">
                <a:ln>
                  <a:noFill/>
                </a:ln>
                <a:solidFill>
                  <a:prstClr val="white"/>
                </a:solidFill>
                <a:effectLst/>
                <a:uLnTx/>
                <a:uFillTx/>
                <a:latin typeface="Lato Light"/>
                <a:ea typeface="+mn-ea"/>
                <a:cs typeface="+mn-cs"/>
              </a:endParaRPr>
            </a:p>
          </p:txBody>
        </p:sp>
        <p:sp>
          <p:nvSpPr>
            <p:cNvPr id="141" name="矩形: 圆角 422"/>
            <p:cNvSpPr/>
            <p:nvPr/>
          </p:nvSpPr>
          <p:spPr>
            <a:xfrm>
              <a:off x="20726422" y="5883145"/>
              <a:ext cx="1345168" cy="941835"/>
            </a:xfrm>
            <a:prstGeom prst="roundRect">
              <a:avLst/>
            </a:prstGeom>
            <a:solidFill>
              <a:srgbClr val="FF3399"/>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white"/>
                  </a:solidFill>
                  <a:effectLst/>
                  <a:uLnTx/>
                  <a:uFillTx/>
                  <a:latin typeface="Lato Light"/>
                  <a:ea typeface="+mn-ea"/>
                  <a:cs typeface="+mn-cs"/>
                </a:rPr>
                <a:t>历史数据</a:t>
              </a:r>
              <a:endParaRPr kumimoji="0" lang="zh-CN" altLang="en-US" sz="1200" b="0" i="0" u="none" strike="noStrike" kern="0" cap="none" spc="0" normalizeH="0" baseline="0" noProof="0" dirty="0">
                <a:ln>
                  <a:noFill/>
                </a:ln>
                <a:solidFill>
                  <a:prstClr val="white"/>
                </a:solidFill>
                <a:effectLst/>
                <a:uLnTx/>
                <a:uFillTx/>
                <a:latin typeface="Lato Light"/>
                <a:ea typeface="+mn-ea"/>
                <a:cs typeface="+mn-cs"/>
              </a:endParaRPr>
            </a:p>
          </p:txBody>
        </p:sp>
        <p:sp>
          <p:nvSpPr>
            <p:cNvPr id="142" name="矩形 423"/>
            <p:cNvSpPr/>
            <p:nvPr/>
          </p:nvSpPr>
          <p:spPr>
            <a:xfrm>
              <a:off x="22231969" y="5890799"/>
              <a:ext cx="940115" cy="954736"/>
            </a:xfrm>
            <a:prstGeom prst="rect">
              <a:avLst/>
            </a:prstGeom>
          </p:spPr>
          <p:txBody>
            <a:bodyPr wrap="none">
              <a:sp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4546A"/>
                  </a:solidFill>
                  <a:effectLst/>
                  <a:uLnTx/>
                  <a:uFillTx/>
                  <a:latin typeface="Lato Light"/>
                </a:rPr>
                <a:t>全量</a:t>
              </a:r>
              <a:endParaRPr kumimoji="0" lang="en-US" altLang="zh-CN" sz="1200" b="0" i="0" u="none" strike="noStrike" kern="0" cap="none" spc="0" normalizeH="0" baseline="0" noProof="0" dirty="0">
                <a:ln>
                  <a:noFill/>
                </a:ln>
                <a:solidFill>
                  <a:srgbClr val="44546A"/>
                </a:solidFill>
                <a:effectLst/>
                <a:uLnTx/>
                <a:uFillTx/>
                <a:latin typeface="Lato Light"/>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4546A"/>
                  </a:solidFill>
                  <a:effectLst/>
                  <a:uLnTx/>
                  <a:uFillTx/>
                  <a:latin typeface="Lato Light"/>
                </a:rPr>
                <a:t>数仓</a:t>
              </a:r>
              <a:endParaRPr kumimoji="0" lang="en-US" altLang="zh-CN" sz="1200" b="0" i="0" u="none" strike="noStrike" kern="0" cap="none" spc="0" normalizeH="0" baseline="0" noProof="0" dirty="0">
                <a:ln>
                  <a:noFill/>
                </a:ln>
                <a:solidFill>
                  <a:srgbClr val="44546A"/>
                </a:solidFill>
                <a:effectLst/>
                <a:uLnTx/>
                <a:uFillTx/>
                <a:latin typeface="Lato Light"/>
              </a:endParaRPr>
            </a:p>
          </p:txBody>
        </p:sp>
        <p:sp>
          <p:nvSpPr>
            <p:cNvPr id="143" name="矩形 423"/>
            <p:cNvSpPr/>
            <p:nvPr/>
          </p:nvSpPr>
          <p:spPr>
            <a:xfrm>
              <a:off x="22122980" y="4857224"/>
              <a:ext cx="1160454" cy="891087"/>
            </a:xfrm>
            <a:prstGeom prst="rect">
              <a:avLst/>
            </a:prstGeom>
          </p:spPr>
          <p:txBody>
            <a:bodyPr wrap="none">
              <a:sp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44546A"/>
                  </a:solidFill>
                  <a:effectLst/>
                  <a:uLnTx/>
                  <a:uFillTx/>
                  <a:latin typeface="Lato Light"/>
                </a:rPr>
                <a:t>主题</a:t>
              </a:r>
              <a:endParaRPr kumimoji="0" lang="en-US" altLang="zh-CN" sz="1100" b="0" i="0" u="none" strike="noStrike" kern="0" cap="none" spc="0" normalizeH="0" baseline="0" noProof="0" dirty="0">
                <a:ln>
                  <a:noFill/>
                </a:ln>
                <a:solidFill>
                  <a:srgbClr val="44546A"/>
                </a:solidFill>
                <a:effectLst/>
                <a:uLnTx/>
                <a:uFillTx/>
                <a:latin typeface="Lato Light"/>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44546A"/>
                  </a:solidFill>
                  <a:effectLst/>
                  <a:uLnTx/>
                  <a:uFillTx/>
                  <a:latin typeface="Lato Light"/>
                </a:rPr>
                <a:t>数据集</a:t>
              </a:r>
              <a:endParaRPr kumimoji="0" lang="en-US" altLang="zh-CN" sz="1100" b="0" i="0" u="none" strike="noStrike" kern="0" cap="none" spc="0" normalizeH="0" baseline="0" noProof="0" dirty="0">
                <a:ln>
                  <a:noFill/>
                </a:ln>
                <a:solidFill>
                  <a:srgbClr val="44546A"/>
                </a:solidFill>
                <a:effectLst/>
                <a:uLnTx/>
                <a:uFillTx/>
                <a:latin typeface="Lato Light"/>
              </a:endParaRPr>
            </a:p>
          </p:txBody>
        </p:sp>
      </p:grpSp>
      <p:sp>
        <p:nvSpPr>
          <p:cNvPr id="144" name="圆柱形 119"/>
          <p:cNvSpPr/>
          <p:nvPr/>
        </p:nvSpPr>
        <p:spPr>
          <a:xfrm>
            <a:off x="4340874" y="2917101"/>
            <a:ext cx="3818462" cy="366403"/>
          </a:xfrm>
          <a:prstGeom prst="can">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en-US" altLang="zh-CN" sz="1200" b="0" i="0" u="none" strike="noStrike" kern="0" cap="none" spc="0" normalizeH="0" baseline="0" noProof="0" dirty="0">
                <a:ln>
                  <a:noFill/>
                </a:ln>
                <a:solidFill>
                  <a:srgbClr val="44546A"/>
                </a:solidFill>
                <a:effectLst/>
                <a:uLnTx/>
                <a:uFillTx/>
                <a:latin typeface="微软雅黑" panose="020B0503020204020204" pitchFamily="34" charset="-122"/>
                <a:ea typeface="+mn-ea"/>
                <a:cs typeface="+mn-cs"/>
              </a:rPr>
              <a:t>DWS </a:t>
            </a:r>
            <a:r>
              <a:rPr kumimoji="0" lang="zh-CN" altLang="en-US" sz="1200" b="0" i="0" u="none" strike="noStrike" kern="0" cap="none" spc="0" normalizeH="0" baseline="0" noProof="0" dirty="0">
                <a:ln>
                  <a:noFill/>
                </a:ln>
                <a:solidFill>
                  <a:srgbClr val="44546A"/>
                </a:solidFill>
                <a:effectLst/>
                <a:uLnTx/>
                <a:uFillTx/>
                <a:latin typeface="微软雅黑" panose="020B0503020204020204" pitchFamily="34" charset="-122"/>
                <a:ea typeface="+mn-ea"/>
                <a:cs typeface="+mn-cs"/>
              </a:rPr>
              <a:t>数仓组件</a:t>
            </a:r>
            <a:endParaRPr kumimoji="0" lang="zh-CN" altLang="en-US" sz="1200" b="0" i="0" u="none" strike="noStrike" kern="0" cap="none" spc="0" normalizeH="0" baseline="0" noProof="0" dirty="0">
              <a:ln>
                <a:noFill/>
              </a:ln>
              <a:solidFill>
                <a:srgbClr val="44546A"/>
              </a:solidFill>
              <a:effectLst/>
              <a:uLnTx/>
              <a:uFillTx/>
              <a:latin typeface="微软雅黑" panose="020B0503020204020204" pitchFamily="34" charset="-122"/>
              <a:ea typeface="+mn-ea"/>
              <a:cs typeface="+mn-cs"/>
            </a:endParaRPr>
          </a:p>
        </p:txBody>
      </p:sp>
      <p:sp>
        <p:nvSpPr>
          <p:cNvPr id="156" name="矩形 160"/>
          <p:cNvSpPr/>
          <p:nvPr/>
        </p:nvSpPr>
        <p:spPr>
          <a:xfrm>
            <a:off x="1704991" y="3337067"/>
            <a:ext cx="1107996" cy="276999"/>
          </a:xfrm>
          <a:prstGeom prst="rect">
            <a:avLst/>
          </a:prstGeom>
        </p:spPr>
        <p:txBody>
          <a:bodyPr wrap="none">
            <a:spAutoFit/>
          </a:bodyP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44546A"/>
                </a:solidFill>
                <a:effectLst/>
                <a:uLnTx/>
                <a:uFillTx/>
                <a:latin typeface="Lato Light"/>
              </a:rPr>
              <a:t>数据治理服务</a:t>
            </a:r>
            <a:endParaRPr kumimoji="0" lang="zh-CN" altLang="en-US" sz="1200" b="0" i="0" u="none" strike="noStrike" kern="0" cap="none" spc="0" normalizeH="0" baseline="0" noProof="0" dirty="0">
              <a:ln>
                <a:noFill/>
              </a:ln>
              <a:solidFill>
                <a:srgbClr val="44546A"/>
              </a:solidFill>
              <a:effectLst/>
              <a:uLnTx/>
              <a:uFillTx/>
              <a:latin typeface="Lato Light"/>
            </a:endParaRPr>
          </a:p>
        </p:txBody>
      </p:sp>
      <p:grpSp>
        <p:nvGrpSpPr>
          <p:cNvPr id="5" name="Group 4"/>
          <p:cNvGrpSpPr/>
          <p:nvPr/>
        </p:nvGrpSpPr>
        <p:grpSpPr>
          <a:xfrm>
            <a:off x="1697656" y="3608760"/>
            <a:ext cx="1108365" cy="2053602"/>
            <a:chOff x="1628659" y="3054925"/>
            <a:chExt cx="1108365" cy="2100294"/>
          </a:xfrm>
        </p:grpSpPr>
        <p:sp>
          <p:nvSpPr>
            <p:cNvPr id="157" name="矩形: 圆角 166"/>
            <p:cNvSpPr/>
            <p:nvPr/>
          </p:nvSpPr>
          <p:spPr>
            <a:xfrm>
              <a:off x="1628659" y="3054925"/>
              <a:ext cx="1108365" cy="194123"/>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数据标准制定</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58" name="矩形: 圆角 167"/>
            <p:cNvSpPr/>
            <p:nvPr/>
          </p:nvSpPr>
          <p:spPr>
            <a:xfrm>
              <a:off x="1628659" y="3888725"/>
              <a:ext cx="1108365" cy="194123"/>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数据结构采集</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59" name="矩形: 圆角 168"/>
            <p:cNvSpPr/>
            <p:nvPr/>
          </p:nvSpPr>
          <p:spPr>
            <a:xfrm>
              <a:off x="1628659" y="4156229"/>
              <a:ext cx="1108365" cy="194123"/>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数据质量检核</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60" name="矩形: 圆角 169"/>
            <p:cNvSpPr/>
            <p:nvPr/>
          </p:nvSpPr>
          <p:spPr>
            <a:xfrm>
              <a:off x="1628659" y="4423732"/>
              <a:ext cx="1108365" cy="194123"/>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数据接口监控</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61" name="矩形: 圆角 170"/>
            <p:cNvSpPr/>
            <p:nvPr/>
          </p:nvSpPr>
          <p:spPr>
            <a:xfrm>
              <a:off x="1628659" y="4691236"/>
              <a:ext cx="1108365" cy="194123"/>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历史数据备份</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62" name="矩形: 圆角 171"/>
            <p:cNvSpPr/>
            <p:nvPr/>
          </p:nvSpPr>
          <p:spPr>
            <a:xfrm>
              <a:off x="1628659" y="3332641"/>
              <a:ext cx="1108365" cy="194123"/>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有效数据识别</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63" name="矩形: 圆角 172"/>
            <p:cNvSpPr/>
            <p:nvPr/>
          </p:nvSpPr>
          <p:spPr>
            <a:xfrm>
              <a:off x="1628659" y="3608658"/>
              <a:ext cx="1108365" cy="194123"/>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数据采集集成</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64" name="矩形: 圆角 201"/>
            <p:cNvSpPr/>
            <p:nvPr/>
          </p:nvSpPr>
          <p:spPr>
            <a:xfrm>
              <a:off x="1628659" y="4961096"/>
              <a:ext cx="1108365" cy="194123"/>
            </a:xfrm>
            <a:prstGeom prst="roundRect">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制度规范咨询</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grpSp>
      <p:grpSp>
        <p:nvGrpSpPr>
          <p:cNvPr id="190" name="Group 189"/>
          <p:cNvGrpSpPr/>
          <p:nvPr/>
        </p:nvGrpSpPr>
        <p:grpSpPr>
          <a:xfrm>
            <a:off x="322322" y="3272388"/>
            <a:ext cx="1279686" cy="1215828"/>
            <a:chOff x="253325" y="2696750"/>
            <a:chExt cx="1279686" cy="1215828"/>
          </a:xfrm>
        </p:grpSpPr>
        <p:sp>
          <p:nvSpPr>
            <p:cNvPr id="149" name="矩形 402"/>
            <p:cNvSpPr/>
            <p:nvPr/>
          </p:nvSpPr>
          <p:spPr>
            <a:xfrm>
              <a:off x="274668" y="2776047"/>
              <a:ext cx="1255472" cy="276999"/>
            </a:xfrm>
            <a:prstGeom prst="rect">
              <a:avLst/>
            </a:prstGeom>
          </p:spPr>
          <p:txBody>
            <a:bodyPr wrap="none">
              <a:spAutoFit/>
            </a:bodyPr>
            <a:lstStyle/>
            <a:p>
              <a:pPr marL="0" marR="0" lvl="0" indent="0" defTabSz="1828165"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44546A"/>
                  </a:solidFill>
                  <a:effectLst/>
                  <a:uLnTx/>
                  <a:uFillTx/>
                  <a:latin typeface="Lato Light"/>
                </a:rPr>
                <a:t>DLG</a:t>
              </a:r>
              <a:r>
                <a:rPr kumimoji="0" lang="zh-CN" altLang="en-US" sz="1200" b="1" i="0" u="none" strike="noStrike" kern="0" cap="none" spc="0" normalizeH="0" baseline="0" noProof="0" dirty="0">
                  <a:ln>
                    <a:noFill/>
                  </a:ln>
                  <a:solidFill>
                    <a:srgbClr val="44546A"/>
                  </a:solidFill>
                  <a:effectLst/>
                  <a:uLnTx/>
                  <a:uFillTx/>
                  <a:latin typeface="Lato Light"/>
                </a:rPr>
                <a:t>数据湖治理</a:t>
              </a:r>
              <a:endParaRPr kumimoji="0" lang="zh-CN" altLang="en-US" sz="1200" b="0" i="0" u="none" strike="noStrike" kern="0" cap="none" spc="0" normalizeH="0" baseline="0" noProof="0" dirty="0">
                <a:ln>
                  <a:noFill/>
                </a:ln>
                <a:solidFill>
                  <a:srgbClr val="44546A"/>
                </a:solidFill>
                <a:effectLst/>
                <a:uLnTx/>
                <a:uFillTx/>
                <a:latin typeface="Lato Light"/>
              </a:endParaRPr>
            </a:p>
          </p:txBody>
        </p:sp>
        <p:sp>
          <p:nvSpPr>
            <p:cNvPr id="150" name="矩形: 圆角 428"/>
            <p:cNvSpPr/>
            <p:nvPr/>
          </p:nvSpPr>
          <p:spPr>
            <a:xfrm>
              <a:off x="329622" y="3083484"/>
              <a:ext cx="1108364" cy="225843"/>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元数据管理</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52" name="矩形: 圆角 163"/>
            <p:cNvSpPr/>
            <p:nvPr/>
          </p:nvSpPr>
          <p:spPr>
            <a:xfrm>
              <a:off x="329622" y="3336996"/>
              <a:ext cx="1108364" cy="225843"/>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数据质量管理</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54" name="矩形: 圆角 165"/>
            <p:cNvSpPr/>
            <p:nvPr/>
          </p:nvSpPr>
          <p:spPr>
            <a:xfrm>
              <a:off x="329622" y="3586092"/>
              <a:ext cx="1108364" cy="225843"/>
            </a:xfrm>
            <a:prstGeom prst="roundRect">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数据自产产管理</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48" name="矩形 8"/>
            <p:cNvSpPr/>
            <p:nvPr/>
          </p:nvSpPr>
          <p:spPr>
            <a:xfrm>
              <a:off x="253325" y="2696750"/>
              <a:ext cx="1279686" cy="1215828"/>
            </a:xfrm>
            <a:prstGeom prst="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prstClr val="white"/>
                </a:solidFill>
                <a:effectLst/>
                <a:uLnTx/>
                <a:uFillTx/>
                <a:latin typeface="Lato Light"/>
                <a:ea typeface="+mn-ea"/>
                <a:cs typeface="+mn-cs"/>
              </a:endParaRPr>
            </a:p>
          </p:txBody>
        </p:sp>
      </p:grpSp>
      <p:sp>
        <p:nvSpPr>
          <p:cNvPr id="165" name="箭头: 虚尾 198"/>
          <p:cNvSpPr/>
          <p:nvPr/>
        </p:nvSpPr>
        <p:spPr>
          <a:xfrm rot="2382858" flipH="1">
            <a:off x="2735896" y="2475231"/>
            <a:ext cx="1602901" cy="439809"/>
          </a:xfrm>
          <a:prstGeom prst="stripedRightArrow">
            <a:avLst/>
          </a:prstGeom>
          <a:solidFill>
            <a:sysClr val="windowText" lastClr="000000">
              <a:lumMod val="75000"/>
            </a:sysClr>
          </a:solidFill>
          <a:ln w="12700" cap="flat" cmpd="sng" algn="ctr">
            <a:no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prstClr val="white"/>
              </a:solidFill>
              <a:effectLst/>
              <a:uLnTx/>
              <a:uFillTx/>
              <a:latin typeface="Lato Light"/>
              <a:ea typeface="+mn-ea"/>
              <a:cs typeface="+mn-cs"/>
            </a:endParaRPr>
          </a:p>
        </p:txBody>
      </p:sp>
      <p:grpSp>
        <p:nvGrpSpPr>
          <p:cNvPr id="166" name="组合 20"/>
          <p:cNvGrpSpPr/>
          <p:nvPr/>
        </p:nvGrpSpPr>
        <p:grpSpPr>
          <a:xfrm>
            <a:off x="196608" y="1696419"/>
            <a:ext cx="2683109" cy="1285114"/>
            <a:chOff x="921218" y="3484814"/>
            <a:chExt cx="4744377" cy="2657653"/>
          </a:xfrm>
        </p:grpSpPr>
        <p:grpSp>
          <p:nvGrpSpPr>
            <p:cNvPr id="167" name="组合 144"/>
            <p:cNvGrpSpPr/>
            <p:nvPr/>
          </p:nvGrpSpPr>
          <p:grpSpPr>
            <a:xfrm>
              <a:off x="1345031" y="3803064"/>
              <a:ext cx="1006263" cy="2331238"/>
              <a:chOff x="3778716" y="4205381"/>
              <a:chExt cx="1412758" cy="3021982"/>
            </a:xfrm>
          </p:grpSpPr>
          <p:sp>
            <p:nvSpPr>
              <p:cNvPr id="175" name="矩形 145"/>
              <p:cNvSpPr/>
              <p:nvPr/>
            </p:nvSpPr>
            <p:spPr>
              <a:xfrm>
                <a:off x="3778716" y="5680333"/>
                <a:ext cx="1412758" cy="1547030"/>
              </a:xfrm>
              <a:prstGeom prst="rect">
                <a:avLst/>
              </a:prstGeom>
            </p:spPr>
            <p:txBody>
              <a:bodyPr vert="horz" wrap="square">
                <a:sp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rPr>
                  <a:t>校级</a:t>
                </a:r>
                <a:endParaRPr kumimoji="0" lang="en-US" altLang="zh-CN"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rPr>
                  <a:t>数据标准</a:t>
                </a:r>
                <a:endParaRPr kumimoji="0" lang="zh-CN" altLang="en-US"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endParaRPr>
              </a:p>
            </p:txBody>
          </p:sp>
          <p:pic>
            <p:nvPicPr>
              <p:cNvPr id="176" name="图片 146"/>
              <p:cNvPicPr>
                <a:picLocks noChangeAspect="1"/>
              </p:cNvPicPr>
              <p:nvPr/>
            </p:nvPicPr>
            <p:blipFill>
              <a:blip r:embed="rId3" cstate="print"/>
              <a:stretch>
                <a:fillRect/>
              </a:stretch>
            </p:blipFill>
            <p:spPr>
              <a:xfrm>
                <a:off x="3897434" y="4205381"/>
                <a:ext cx="1133793" cy="1457731"/>
              </a:xfrm>
              <a:prstGeom prst="rect">
                <a:avLst/>
              </a:prstGeom>
            </p:spPr>
          </p:pic>
        </p:grpSp>
        <p:grpSp>
          <p:nvGrpSpPr>
            <p:cNvPr id="168" name="组合 154"/>
            <p:cNvGrpSpPr/>
            <p:nvPr/>
          </p:nvGrpSpPr>
          <p:grpSpPr>
            <a:xfrm>
              <a:off x="2813976" y="3824374"/>
              <a:ext cx="1171697" cy="2296647"/>
              <a:chOff x="3621012" y="4222603"/>
              <a:chExt cx="1645022" cy="2977146"/>
            </a:xfrm>
          </p:grpSpPr>
          <p:sp>
            <p:nvSpPr>
              <p:cNvPr id="173" name="矩形 155"/>
              <p:cNvSpPr/>
              <p:nvPr/>
            </p:nvSpPr>
            <p:spPr>
              <a:xfrm>
                <a:off x="3621012" y="5652716"/>
                <a:ext cx="1645022" cy="1547033"/>
              </a:xfrm>
              <a:prstGeom prst="rect">
                <a:avLst/>
              </a:prstGeom>
            </p:spPr>
            <p:txBody>
              <a:bodyPr vert="horz" wrap="square">
                <a:sp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rPr>
                  <a:t>数据</a:t>
                </a:r>
                <a:endParaRPr kumimoji="0" lang="en-US" altLang="zh-CN"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rPr>
                  <a:t>管理</a:t>
                </a:r>
                <a:endParaRPr kumimoji="0" lang="en-US" altLang="zh-CN"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rPr>
                  <a:t>知识库</a:t>
                </a:r>
                <a:endParaRPr kumimoji="0" lang="zh-CN" altLang="en-US"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endParaRPr>
              </a:p>
            </p:txBody>
          </p:sp>
          <p:pic>
            <p:nvPicPr>
              <p:cNvPr id="174" name="图片 156"/>
              <p:cNvPicPr>
                <a:picLocks noChangeAspect="1"/>
              </p:cNvPicPr>
              <p:nvPr/>
            </p:nvPicPr>
            <p:blipFill>
              <a:blip r:embed="rId3" cstate="print"/>
              <a:stretch>
                <a:fillRect/>
              </a:stretch>
            </p:blipFill>
            <p:spPr>
              <a:xfrm>
                <a:off x="3845135" y="4222603"/>
                <a:ext cx="1133793" cy="1457733"/>
              </a:xfrm>
              <a:prstGeom prst="rect">
                <a:avLst/>
              </a:prstGeom>
            </p:spPr>
          </p:pic>
        </p:grpSp>
        <p:grpSp>
          <p:nvGrpSpPr>
            <p:cNvPr id="169" name="组合 157"/>
            <p:cNvGrpSpPr/>
            <p:nvPr/>
          </p:nvGrpSpPr>
          <p:grpSpPr>
            <a:xfrm>
              <a:off x="4172925" y="3817604"/>
              <a:ext cx="1417845" cy="2317955"/>
              <a:chOff x="3361768" y="4222603"/>
              <a:chExt cx="1990605" cy="3004767"/>
            </a:xfrm>
          </p:grpSpPr>
          <p:sp>
            <p:nvSpPr>
              <p:cNvPr id="171" name="矩形 158"/>
              <p:cNvSpPr/>
              <p:nvPr/>
            </p:nvSpPr>
            <p:spPr>
              <a:xfrm>
                <a:off x="3361768" y="5680338"/>
                <a:ext cx="1990605" cy="1547032"/>
              </a:xfrm>
              <a:prstGeom prst="rect">
                <a:avLst/>
              </a:prstGeom>
            </p:spPr>
            <p:txBody>
              <a:bodyPr vert="horz" wrap="square">
                <a:sp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rPr>
                  <a:t>数据</a:t>
                </a:r>
                <a:endParaRPr kumimoji="0" lang="en-US" altLang="zh-CN"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rPr>
                  <a:t>管理</a:t>
                </a:r>
                <a:endParaRPr kumimoji="0" lang="en-US" altLang="zh-CN"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rPr>
                  <a:t>规范</a:t>
                </a:r>
                <a:endParaRPr kumimoji="0" lang="zh-CN" altLang="en-US" sz="1050" b="0" i="0" u="none" strike="noStrike" kern="0" cap="none" spc="0" normalizeH="0" baseline="0" noProof="0" dirty="0">
                  <a:ln>
                    <a:noFill/>
                  </a:ln>
                  <a:solidFill>
                    <a:prstClr val="black">
                      <a:lumMod val="50000"/>
                    </a:prstClr>
                  </a:solidFill>
                  <a:effectLst/>
                  <a:uLnTx/>
                  <a:uFillTx/>
                  <a:latin typeface="微软雅黑" panose="020B0503020204020204" pitchFamily="34" charset="-122"/>
                </a:endParaRPr>
              </a:p>
            </p:txBody>
          </p:sp>
          <p:pic>
            <p:nvPicPr>
              <p:cNvPr id="172" name="图片 159"/>
              <p:cNvPicPr>
                <a:picLocks noChangeAspect="1"/>
              </p:cNvPicPr>
              <p:nvPr/>
            </p:nvPicPr>
            <p:blipFill>
              <a:blip r:embed="rId3" cstate="print"/>
              <a:stretch>
                <a:fillRect/>
              </a:stretch>
            </p:blipFill>
            <p:spPr>
              <a:xfrm>
                <a:off x="3845135" y="4222603"/>
                <a:ext cx="1133793" cy="1457733"/>
              </a:xfrm>
              <a:prstGeom prst="rect">
                <a:avLst/>
              </a:prstGeom>
            </p:spPr>
          </p:pic>
        </p:grpSp>
        <p:sp>
          <p:nvSpPr>
            <p:cNvPr id="170" name="矩形 200"/>
            <p:cNvSpPr/>
            <p:nvPr/>
          </p:nvSpPr>
          <p:spPr>
            <a:xfrm>
              <a:off x="921218" y="3484814"/>
              <a:ext cx="4744377" cy="2657653"/>
            </a:xfrm>
            <a:prstGeom prst="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prstClr val="white"/>
                </a:solidFill>
                <a:effectLst/>
                <a:uLnTx/>
                <a:uFillTx/>
                <a:latin typeface="Lato Light"/>
                <a:ea typeface="+mn-ea"/>
                <a:cs typeface="+mn-cs"/>
              </a:endParaRPr>
            </a:p>
          </p:txBody>
        </p:sp>
      </p:grpSp>
      <p:sp>
        <p:nvSpPr>
          <p:cNvPr id="180" name="箭头: 虚尾 161"/>
          <p:cNvSpPr/>
          <p:nvPr/>
        </p:nvSpPr>
        <p:spPr>
          <a:xfrm rot="8194758" flipH="1">
            <a:off x="2842500" y="3783245"/>
            <a:ext cx="1585635" cy="439809"/>
          </a:xfrm>
          <a:prstGeom prst="stripedRightArrow">
            <a:avLst/>
          </a:prstGeom>
          <a:solidFill>
            <a:sysClr val="windowText" lastClr="000000">
              <a:lumMod val="75000"/>
            </a:sysClr>
          </a:solidFill>
          <a:ln w="12700" cap="flat" cmpd="sng" algn="ctr">
            <a:no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prstClr val="white"/>
              </a:solidFill>
              <a:effectLst/>
              <a:uLnTx/>
              <a:uFillTx/>
              <a:latin typeface="Lato Light"/>
              <a:ea typeface="+mn-ea"/>
              <a:cs typeface="+mn-cs"/>
            </a:endParaRPr>
          </a:p>
        </p:txBody>
      </p:sp>
      <p:sp>
        <p:nvSpPr>
          <p:cNvPr id="183" name="矩形: 圆角 214"/>
          <p:cNvSpPr/>
          <p:nvPr/>
        </p:nvSpPr>
        <p:spPr>
          <a:xfrm>
            <a:off x="7488547" y="1911283"/>
            <a:ext cx="829673" cy="305699"/>
          </a:xfrm>
          <a:prstGeom prst="roundRect">
            <a:avLst/>
          </a:prstGeom>
          <a:solidFill>
            <a:srgbClr val="00B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年终考核</a:t>
            </a:r>
            <a:endParaRPr kumimoji="0" lang="zh-CN" altLang="en-US"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84" name="矩形: 圆角 215"/>
          <p:cNvSpPr/>
          <p:nvPr/>
        </p:nvSpPr>
        <p:spPr>
          <a:xfrm>
            <a:off x="6431507" y="1904918"/>
            <a:ext cx="829673" cy="305699"/>
          </a:xfrm>
          <a:prstGeom prst="roundRect">
            <a:avLst/>
          </a:prstGeom>
          <a:solidFill>
            <a:srgbClr val="00B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职称评审</a:t>
            </a:r>
            <a:endParaRPr kumimoji="0" lang="zh-CN" altLang="en-US"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85" name="矩形: 圆角 216"/>
          <p:cNvSpPr/>
          <p:nvPr/>
        </p:nvSpPr>
        <p:spPr>
          <a:xfrm>
            <a:off x="8546377" y="1915466"/>
            <a:ext cx="829673" cy="305699"/>
          </a:xfrm>
          <a:prstGeom prst="roundRect">
            <a:avLst/>
          </a:prstGeom>
          <a:solidFill>
            <a:srgbClr val="00B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教学资源</a:t>
            </a:r>
            <a:endParaRPr kumimoji="0" lang="zh-CN" altLang="en-US"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86" name="矩形: 圆角 217"/>
          <p:cNvSpPr/>
          <p:nvPr/>
        </p:nvSpPr>
        <p:spPr>
          <a:xfrm>
            <a:off x="5395763" y="1904447"/>
            <a:ext cx="829673" cy="305699"/>
          </a:xfrm>
          <a:prstGeom prst="roundRect">
            <a:avLst/>
          </a:prstGeom>
          <a:solidFill>
            <a:srgbClr val="00B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cs typeface="+mn-cs"/>
              </a:rPr>
              <a:t>离校主题</a:t>
            </a:r>
            <a:endParaRPr kumimoji="0" lang="zh-CN" altLang="en-US"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87" name="矩形: 圆角 218"/>
          <p:cNvSpPr/>
          <p:nvPr/>
        </p:nvSpPr>
        <p:spPr>
          <a:xfrm>
            <a:off x="4366677" y="1904447"/>
            <a:ext cx="829673" cy="305699"/>
          </a:xfrm>
          <a:prstGeom prst="roundRect">
            <a:avLst/>
          </a:prstGeom>
          <a:solidFill>
            <a:srgbClr val="00B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cs typeface="+mn-cs"/>
              </a:rPr>
              <a:t>迎新主题</a:t>
            </a:r>
            <a:endParaRPr kumimoji="0" lang="zh-CN" altLang="en-US"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88" name="矩形: 圆角 219"/>
          <p:cNvSpPr/>
          <p:nvPr/>
        </p:nvSpPr>
        <p:spPr>
          <a:xfrm>
            <a:off x="9637336" y="1915466"/>
            <a:ext cx="829673" cy="305699"/>
          </a:xfrm>
          <a:prstGeom prst="roundRect">
            <a:avLst/>
          </a:prstGeom>
          <a:solidFill>
            <a:srgbClr val="00B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一网通办</a:t>
            </a:r>
            <a:endParaRPr kumimoji="0" lang="zh-CN" altLang="en-US"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191" name="矩形 8"/>
          <p:cNvSpPr/>
          <p:nvPr/>
        </p:nvSpPr>
        <p:spPr>
          <a:xfrm>
            <a:off x="1648182" y="3258583"/>
            <a:ext cx="1240516" cy="2494000"/>
          </a:xfrm>
          <a:prstGeom prst="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prstClr val="white"/>
              </a:solidFill>
              <a:effectLst/>
              <a:uLnTx/>
              <a:uFillTx/>
              <a:latin typeface="Lato Light"/>
              <a:ea typeface="+mn-ea"/>
              <a:cs typeface="+mn-cs"/>
            </a:endParaRPr>
          </a:p>
        </p:txBody>
      </p:sp>
      <p:grpSp>
        <p:nvGrpSpPr>
          <p:cNvPr id="193" name="Group 192"/>
          <p:cNvGrpSpPr/>
          <p:nvPr/>
        </p:nvGrpSpPr>
        <p:grpSpPr>
          <a:xfrm>
            <a:off x="312881" y="4817179"/>
            <a:ext cx="1291592" cy="938931"/>
            <a:chOff x="36781" y="4299311"/>
            <a:chExt cx="1291592" cy="938931"/>
          </a:xfrm>
        </p:grpSpPr>
        <p:grpSp>
          <p:nvGrpSpPr>
            <p:cNvPr id="177" name="组合 18"/>
            <p:cNvGrpSpPr/>
            <p:nvPr/>
          </p:nvGrpSpPr>
          <p:grpSpPr>
            <a:xfrm>
              <a:off x="36781" y="4438488"/>
              <a:ext cx="1236727" cy="784603"/>
              <a:chOff x="6205842" y="-507432"/>
              <a:chExt cx="2361017" cy="1622581"/>
            </a:xfrm>
          </p:grpSpPr>
          <p:pic>
            <p:nvPicPr>
              <p:cNvPr id="178" name="图片 202"/>
              <p:cNvPicPr>
                <a:picLocks noChangeAspect="1"/>
              </p:cNvPicPr>
              <p:nvPr/>
            </p:nvPicPr>
            <p:blipFill rotWithShape="1">
              <a:blip r:embed="rId4" cstate="email">
                <a:duotone>
                  <a:prstClr val="black"/>
                  <a:srgbClr val="ED7D31">
                    <a:tint val="45000"/>
                    <a:satMod val="400000"/>
                  </a:srgbClr>
                </a:duotone>
                <a:extLst>
                  <a:ext uri="{28A0092B-C50C-407E-A947-70E740481C1C}">
                    <a14:useLocalDpi xmlns:a14="http://schemas.microsoft.com/office/drawing/2010/main" val="0"/>
                  </a:ext>
                </a:extLst>
              </a:blip>
              <a:srcRect l="13486" t="24869" r="13853" b="25468"/>
              <a:stretch>
                <a:fillRect/>
              </a:stretch>
            </p:blipFill>
            <p:spPr>
              <a:xfrm rot="746023">
                <a:off x="6205842" y="-507432"/>
                <a:ext cx="2361017" cy="1332540"/>
              </a:xfrm>
              <a:prstGeom prst="rect">
                <a:avLst/>
              </a:prstGeom>
            </p:spPr>
          </p:pic>
          <p:sp>
            <p:nvSpPr>
              <p:cNvPr id="179" name="矩形 203"/>
              <p:cNvSpPr/>
              <p:nvPr/>
            </p:nvSpPr>
            <p:spPr>
              <a:xfrm rot="21455272">
                <a:off x="6611017" y="574132"/>
                <a:ext cx="1609740" cy="541017"/>
              </a:xfrm>
              <a:prstGeom prst="rect">
                <a:avLst/>
              </a:prstGeom>
              <a:solidFill>
                <a:srgbClr val="FFFF00"/>
              </a:solidFill>
            </p:spPr>
            <p:txBody>
              <a:bodyPr wrap="square">
                <a:sp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50" b="0" i="0" u="none" strike="noStrike" kern="0" cap="none" spc="0" normalizeH="0" baseline="0" noProof="0" dirty="0">
                    <a:ln>
                      <a:noFill/>
                    </a:ln>
                    <a:solidFill>
                      <a:srgbClr val="44546A"/>
                    </a:solidFill>
                    <a:effectLst/>
                    <a:uLnTx/>
                    <a:uFillTx/>
                    <a:latin typeface="Lato Light"/>
                  </a:rPr>
                  <a:t>数据字典</a:t>
                </a:r>
                <a:endParaRPr kumimoji="0" lang="zh-CN" altLang="en-US" sz="1050" b="0" i="0" u="none" strike="noStrike" kern="0" cap="none" spc="0" normalizeH="0" baseline="0" noProof="0" dirty="0">
                  <a:ln>
                    <a:noFill/>
                  </a:ln>
                  <a:solidFill>
                    <a:srgbClr val="44546A"/>
                  </a:solidFill>
                  <a:effectLst/>
                  <a:uLnTx/>
                  <a:uFillTx/>
                  <a:latin typeface="Lato Light"/>
                </a:endParaRPr>
              </a:p>
            </p:txBody>
          </p:sp>
        </p:grpSp>
        <p:sp>
          <p:nvSpPr>
            <p:cNvPr id="192" name="矩形 8"/>
            <p:cNvSpPr/>
            <p:nvPr/>
          </p:nvSpPr>
          <p:spPr>
            <a:xfrm>
              <a:off x="48687" y="4299311"/>
              <a:ext cx="1279686" cy="938931"/>
            </a:xfrm>
            <a:prstGeom prst="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prstClr val="white"/>
                </a:solidFill>
                <a:effectLst/>
                <a:uLnTx/>
                <a:uFillTx/>
                <a:latin typeface="Lato Light"/>
                <a:ea typeface="+mn-ea"/>
                <a:cs typeface="+mn-cs"/>
              </a:endParaRPr>
            </a:p>
          </p:txBody>
        </p:sp>
      </p:grpSp>
      <p:sp>
        <p:nvSpPr>
          <p:cNvPr id="204" name="圆柱形 119"/>
          <p:cNvSpPr/>
          <p:nvPr/>
        </p:nvSpPr>
        <p:spPr>
          <a:xfrm>
            <a:off x="8231205" y="2896890"/>
            <a:ext cx="3124589" cy="366403"/>
          </a:xfrm>
          <a:prstGeom prst="can">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en-US" altLang="zh-CN" sz="1200" b="0" i="0" u="none" strike="noStrike" kern="0" cap="none" spc="0" normalizeH="0" baseline="0" noProof="0" dirty="0">
                <a:ln>
                  <a:noFill/>
                </a:ln>
                <a:solidFill>
                  <a:srgbClr val="44546A"/>
                </a:solidFill>
                <a:effectLst/>
                <a:uLnTx/>
                <a:uFillTx/>
                <a:latin typeface="微软雅黑" panose="020B0503020204020204" pitchFamily="34" charset="-122"/>
                <a:ea typeface="+mn-ea"/>
                <a:cs typeface="+mn-cs"/>
              </a:rPr>
              <a:t>MRS </a:t>
            </a:r>
            <a:r>
              <a:rPr kumimoji="0" lang="zh-CN" altLang="en-US" sz="1200" b="0" i="0" u="none" strike="noStrike" kern="0" cap="none" spc="0" normalizeH="0" baseline="0" noProof="0" dirty="0">
                <a:ln>
                  <a:noFill/>
                </a:ln>
                <a:solidFill>
                  <a:srgbClr val="44546A"/>
                </a:solidFill>
                <a:effectLst/>
                <a:uLnTx/>
                <a:uFillTx/>
                <a:latin typeface="微软雅黑" panose="020B0503020204020204" pitchFamily="34" charset="-122"/>
                <a:ea typeface="+mn-ea"/>
                <a:cs typeface="+mn-cs"/>
              </a:rPr>
              <a:t>大数据组件</a:t>
            </a:r>
            <a:endParaRPr kumimoji="0" lang="zh-CN" altLang="en-US" sz="1200" b="0" i="0" u="none" strike="noStrike" kern="0" cap="none" spc="0" normalizeH="0" baseline="0" noProof="0" dirty="0">
              <a:ln>
                <a:noFill/>
              </a:ln>
              <a:solidFill>
                <a:srgbClr val="44546A"/>
              </a:solidFill>
              <a:effectLst/>
              <a:uLnTx/>
              <a:uFillTx/>
              <a:latin typeface="微软雅黑" panose="020B0503020204020204" pitchFamily="34" charset="-122"/>
              <a:ea typeface="+mn-ea"/>
              <a:cs typeface="+mn-cs"/>
            </a:endParaRPr>
          </a:p>
        </p:txBody>
      </p:sp>
      <p:sp>
        <p:nvSpPr>
          <p:cNvPr id="205" name="箭头: 上 400"/>
          <p:cNvSpPr/>
          <p:nvPr/>
        </p:nvSpPr>
        <p:spPr>
          <a:xfrm>
            <a:off x="7012054" y="3908412"/>
            <a:ext cx="505136" cy="903435"/>
          </a:xfrm>
          <a:prstGeom prst="up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050" b="0" i="0" u="none" strike="noStrike" kern="0" cap="none" spc="0" normalizeH="0" baseline="0" noProof="0" dirty="0">
              <a:ln>
                <a:noFill/>
              </a:ln>
              <a:solidFill>
                <a:prstClr val="white"/>
              </a:solidFill>
              <a:effectLst/>
              <a:uLnTx/>
              <a:uFillTx/>
              <a:latin typeface="Lato Light"/>
              <a:ea typeface="+mn-ea"/>
              <a:cs typeface="+mn-cs"/>
            </a:endParaRPr>
          </a:p>
        </p:txBody>
      </p:sp>
      <p:sp>
        <p:nvSpPr>
          <p:cNvPr id="209" name="箭头: 上 400"/>
          <p:cNvSpPr/>
          <p:nvPr/>
        </p:nvSpPr>
        <p:spPr>
          <a:xfrm>
            <a:off x="9532559" y="3355991"/>
            <a:ext cx="505136" cy="1168486"/>
          </a:xfrm>
          <a:prstGeom prst="up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050" b="0" i="0" u="none" strike="noStrike" kern="0" cap="none" spc="0" normalizeH="0" baseline="0" noProof="0" dirty="0">
              <a:ln>
                <a:noFill/>
              </a:ln>
              <a:solidFill>
                <a:prstClr val="white"/>
              </a:solidFill>
              <a:effectLst/>
              <a:uLnTx/>
              <a:uFillTx/>
              <a:latin typeface="Lato Light"/>
              <a:ea typeface="+mn-ea"/>
              <a:cs typeface="+mn-cs"/>
            </a:endParaRPr>
          </a:p>
        </p:txBody>
      </p:sp>
      <p:sp>
        <p:nvSpPr>
          <p:cNvPr id="210" name="箭头: 上 400"/>
          <p:cNvSpPr/>
          <p:nvPr/>
        </p:nvSpPr>
        <p:spPr>
          <a:xfrm rot="10800000">
            <a:off x="5623052" y="3988760"/>
            <a:ext cx="473379" cy="772603"/>
          </a:xfrm>
          <a:prstGeom prst="up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050" b="0" i="0" u="none" strike="noStrike" kern="0" cap="none" spc="0" normalizeH="0" baseline="0" noProof="0" dirty="0">
              <a:ln>
                <a:noFill/>
              </a:ln>
              <a:solidFill>
                <a:prstClr val="white"/>
              </a:solidFill>
              <a:effectLst/>
              <a:uLnTx/>
              <a:uFillTx/>
              <a:latin typeface="Lato Light"/>
              <a:ea typeface="+mn-ea"/>
              <a:cs typeface="+mn-cs"/>
            </a:endParaRPr>
          </a:p>
        </p:txBody>
      </p:sp>
      <p:sp>
        <p:nvSpPr>
          <p:cNvPr id="211" name="箭头: 上 400"/>
          <p:cNvSpPr/>
          <p:nvPr/>
        </p:nvSpPr>
        <p:spPr>
          <a:xfrm>
            <a:off x="4752664" y="3908412"/>
            <a:ext cx="473379" cy="833915"/>
          </a:xfrm>
          <a:prstGeom prst="up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050" b="0" i="0" u="none" strike="noStrike" kern="0" cap="none" spc="0" normalizeH="0" baseline="0" noProof="0" dirty="0">
              <a:ln>
                <a:noFill/>
              </a:ln>
              <a:solidFill>
                <a:prstClr val="white"/>
              </a:solidFill>
              <a:effectLst/>
              <a:uLnTx/>
              <a:uFillTx/>
              <a:latin typeface="Lato Light"/>
              <a:ea typeface="+mn-ea"/>
              <a:cs typeface="+mn-cs"/>
            </a:endParaRPr>
          </a:p>
        </p:txBody>
      </p:sp>
      <p:sp>
        <p:nvSpPr>
          <p:cNvPr id="212" name="矩形 377"/>
          <p:cNvSpPr/>
          <p:nvPr/>
        </p:nvSpPr>
        <p:spPr>
          <a:xfrm>
            <a:off x="4660210" y="6220445"/>
            <a:ext cx="1466234" cy="338554"/>
          </a:xfrm>
          <a:prstGeom prst="rect">
            <a:avLst/>
          </a:prstGeom>
        </p:spPr>
        <p:txBody>
          <a:bodyPr vert="horz" wrap="square">
            <a:spAutoFit/>
          </a:bodyPr>
          <a:lstStyle/>
          <a:p>
            <a:pPr algn="ctr" defTabSz="1828165"/>
            <a:r>
              <a:rPr lang="zh-CN" altLang="en-US" sz="1600" b="1" dirty="0">
                <a:solidFill>
                  <a:srgbClr val="C00000"/>
                </a:solidFill>
                <a:latin typeface="宋体" panose="02010600030101010101" pitchFamily="2" charset="-122"/>
                <a:ea typeface="宋体" panose="02010600030101010101" pitchFamily="2" charset="-122"/>
              </a:rPr>
              <a:t>线上</a:t>
            </a:r>
            <a:r>
              <a:rPr lang="zh-CN" altLang="en-US" sz="1600" dirty="0">
                <a:solidFill>
                  <a:srgbClr val="C00000"/>
                </a:solidFill>
                <a:latin typeface="宋体" panose="02010600030101010101" pitchFamily="2" charset="-122"/>
                <a:ea typeface="宋体" panose="02010600030101010101" pitchFamily="2" charset="-122"/>
              </a:rPr>
              <a:t>业务数据</a:t>
            </a:r>
            <a:endParaRPr lang="zh-CN" altLang="en-US" sz="1600" dirty="0">
              <a:solidFill>
                <a:srgbClr val="C00000"/>
              </a:solidFill>
              <a:latin typeface="宋体" panose="02010600030101010101" pitchFamily="2" charset="-122"/>
              <a:ea typeface="宋体" panose="02010600030101010101" pitchFamily="2" charset="-122"/>
            </a:endParaRPr>
          </a:p>
        </p:txBody>
      </p:sp>
      <p:sp>
        <p:nvSpPr>
          <p:cNvPr id="213" name="TextBox 212"/>
          <p:cNvSpPr txBox="1"/>
          <p:nvPr/>
        </p:nvSpPr>
        <p:spPr>
          <a:xfrm>
            <a:off x="5067758" y="4100488"/>
            <a:ext cx="651140" cy="338554"/>
          </a:xfrm>
          <a:prstGeom prst="rect">
            <a:avLst/>
          </a:prstGeom>
          <a:noFill/>
        </p:spPr>
        <p:txBody>
          <a:bodyPr wrap="none" rtlCol="0">
            <a:spAutoFit/>
          </a:bodyPr>
          <a:lstStyle/>
          <a:p>
            <a:r>
              <a:rPr lang="en-US" altLang="zh-CN" sz="1600" dirty="0"/>
              <a:t>CDM</a:t>
            </a:r>
            <a:endParaRPr lang="zh-CN" altLang="en-US" sz="1600" dirty="0"/>
          </a:p>
        </p:txBody>
      </p:sp>
      <p:sp>
        <p:nvSpPr>
          <p:cNvPr id="214" name="TextBox 213"/>
          <p:cNvSpPr txBox="1"/>
          <p:nvPr/>
        </p:nvSpPr>
        <p:spPr>
          <a:xfrm>
            <a:off x="5112126" y="4302619"/>
            <a:ext cx="570990" cy="338554"/>
          </a:xfrm>
          <a:prstGeom prst="rect">
            <a:avLst/>
          </a:prstGeom>
          <a:noFill/>
        </p:spPr>
        <p:txBody>
          <a:bodyPr wrap="none" rtlCol="0">
            <a:spAutoFit/>
          </a:bodyPr>
          <a:lstStyle/>
          <a:p>
            <a:r>
              <a:rPr lang="en-US" altLang="zh-CN" sz="1600" dirty="0"/>
              <a:t>DLF</a:t>
            </a:r>
            <a:endParaRPr lang="zh-CN" altLang="en-US" sz="1600" dirty="0"/>
          </a:p>
        </p:txBody>
      </p:sp>
      <p:sp>
        <p:nvSpPr>
          <p:cNvPr id="216" name="Rectangle 215"/>
          <p:cNvSpPr/>
          <p:nvPr/>
        </p:nvSpPr>
        <p:spPr>
          <a:xfrm rot="16200000">
            <a:off x="4627942" y="4237060"/>
            <a:ext cx="748923" cy="261610"/>
          </a:xfrm>
          <a:prstGeom prst="rect">
            <a:avLst/>
          </a:prstGeom>
        </p:spPr>
        <p:txBody>
          <a:bodyPr wrap="none">
            <a:spAutoFit/>
          </a:bodyPr>
          <a:lstStyle/>
          <a:p>
            <a:r>
              <a:rPr lang="zh-CN" altLang="en-US" sz="1100" kern="0" dirty="0">
                <a:solidFill>
                  <a:schemeClr val="bg1"/>
                </a:solidFill>
                <a:latin typeface="微软雅黑" panose="020B0503020204020204" pitchFamily="34" charset="-122"/>
              </a:rPr>
              <a:t>数据共享</a:t>
            </a:r>
            <a:endParaRPr lang="zh-CN" altLang="en-US" sz="1100" dirty="0">
              <a:solidFill>
                <a:schemeClr val="bg1"/>
              </a:solidFill>
            </a:endParaRPr>
          </a:p>
        </p:txBody>
      </p:sp>
      <p:sp>
        <p:nvSpPr>
          <p:cNvPr id="217" name="Rectangle 216"/>
          <p:cNvSpPr/>
          <p:nvPr/>
        </p:nvSpPr>
        <p:spPr>
          <a:xfrm rot="16200000">
            <a:off x="5477485" y="4237060"/>
            <a:ext cx="748923" cy="261610"/>
          </a:xfrm>
          <a:prstGeom prst="rect">
            <a:avLst/>
          </a:prstGeom>
        </p:spPr>
        <p:txBody>
          <a:bodyPr wrap="none">
            <a:spAutoFit/>
          </a:bodyPr>
          <a:lstStyle/>
          <a:p>
            <a:r>
              <a:rPr lang="zh-CN" altLang="en-US" sz="1100" kern="0" dirty="0">
                <a:solidFill>
                  <a:schemeClr val="bg1"/>
                </a:solidFill>
                <a:latin typeface="微软雅黑" panose="020B0503020204020204" pitchFamily="34" charset="-122"/>
              </a:rPr>
              <a:t>数据交换</a:t>
            </a:r>
            <a:endParaRPr lang="zh-CN" altLang="en-US" sz="1100" dirty="0">
              <a:solidFill>
                <a:schemeClr val="bg1"/>
              </a:solidFill>
            </a:endParaRPr>
          </a:p>
        </p:txBody>
      </p:sp>
      <p:sp>
        <p:nvSpPr>
          <p:cNvPr id="218" name="Rectangle 217"/>
          <p:cNvSpPr/>
          <p:nvPr/>
        </p:nvSpPr>
        <p:spPr>
          <a:xfrm rot="16200000">
            <a:off x="6886905" y="4306580"/>
            <a:ext cx="748923" cy="261610"/>
          </a:xfrm>
          <a:prstGeom prst="rect">
            <a:avLst/>
          </a:prstGeom>
        </p:spPr>
        <p:txBody>
          <a:bodyPr wrap="none">
            <a:spAutoFit/>
          </a:bodyPr>
          <a:lstStyle/>
          <a:p>
            <a:r>
              <a:rPr lang="zh-CN" altLang="en-US" sz="1100" kern="0" dirty="0">
                <a:solidFill>
                  <a:schemeClr val="bg1"/>
                </a:solidFill>
                <a:latin typeface="微软雅黑" panose="020B0503020204020204" pitchFamily="34" charset="-122"/>
              </a:rPr>
              <a:t>数据采集</a:t>
            </a:r>
            <a:endParaRPr lang="zh-CN" altLang="en-US" sz="1100" dirty="0">
              <a:solidFill>
                <a:schemeClr val="bg1"/>
              </a:solidFill>
            </a:endParaRPr>
          </a:p>
        </p:txBody>
      </p:sp>
      <p:sp>
        <p:nvSpPr>
          <p:cNvPr id="219" name="Rectangle 218"/>
          <p:cNvSpPr/>
          <p:nvPr/>
        </p:nvSpPr>
        <p:spPr>
          <a:xfrm rot="16200000">
            <a:off x="9396345" y="3754160"/>
            <a:ext cx="748923" cy="261610"/>
          </a:xfrm>
          <a:prstGeom prst="rect">
            <a:avLst/>
          </a:prstGeom>
        </p:spPr>
        <p:txBody>
          <a:bodyPr wrap="none">
            <a:spAutoFit/>
          </a:bodyPr>
          <a:lstStyle/>
          <a:p>
            <a:r>
              <a:rPr lang="zh-CN" altLang="en-US" sz="1100" kern="0" dirty="0">
                <a:solidFill>
                  <a:schemeClr val="bg1"/>
                </a:solidFill>
                <a:latin typeface="微软雅黑" panose="020B0503020204020204" pitchFamily="34" charset="-122"/>
              </a:rPr>
              <a:t>数据采集</a:t>
            </a:r>
            <a:endParaRPr lang="zh-CN" altLang="en-US" sz="1100" dirty="0">
              <a:solidFill>
                <a:schemeClr val="bg1"/>
              </a:solidFill>
            </a:endParaRPr>
          </a:p>
        </p:txBody>
      </p:sp>
      <p:sp>
        <p:nvSpPr>
          <p:cNvPr id="221" name="矩形: 圆角 219"/>
          <p:cNvSpPr/>
          <p:nvPr/>
        </p:nvSpPr>
        <p:spPr>
          <a:xfrm>
            <a:off x="10728295" y="1915466"/>
            <a:ext cx="472804" cy="305699"/>
          </a:xfrm>
          <a:prstGeom prst="roundRect">
            <a:avLst/>
          </a:prstGeom>
          <a:solidFill>
            <a:srgbClr val="00B050"/>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a:t>
            </a:r>
            <a:endParaRPr kumimoji="0" lang="zh-CN" altLang="en-US" sz="12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
        <p:nvSpPr>
          <p:cNvPr id="222" name="矩形 79"/>
          <p:cNvSpPr/>
          <p:nvPr/>
        </p:nvSpPr>
        <p:spPr>
          <a:xfrm>
            <a:off x="4269910" y="1357949"/>
            <a:ext cx="7090226" cy="349341"/>
          </a:xfrm>
          <a:prstGeom prst="rect">
            <a:avLst/>
          </a:prstGeom>
          <a:solidFill>
            <a:srgbClr val="92D050"/>
          </a:solidFill>
          <a:ln w="12700" cap="flat" cmpd="sng" algn="ctr">
            <a:no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effectLst/>
                <a:uLnTx/>
                <a:uFillTx/>
                <a:latin typeface="微软雅黑" panose="020B0503020204020204" pitchFamily="34" charset="-122"/>
                <a:ea typeface="+mn-ea"/>
                <a:cs typeface="+mn-cs"/>
              </a:rPr>
              <a:t>ROMA</a:t>
            </a:r>
            <a:endParaRPr kumimoji="0" lang="zh-CN" altLang="en-US" sz="1800" b="0" i="0" u="none" strike="noStrike" kern="0" cap="none" spc="0" normalizeH="0" baseline="0" noProof="0" dirty="0">
              <a:ln>
                <a:noFill/>
              </a:ln>
              <a:effectLst/>
              <a:uLnTx/>
              <a:uFillTx/>
              <a:latin typeface="微软雅黑" panose="020B0503020204020204" pitchFamily="34" charset="-122"/>
              <a:ea typeface="+mn-ea"/>
              <a:cs typeface="+mn-cs"/>
            </a:endParaRPr>
          </a:p>
        </p:txBody>
      </p:sp>
      <p:grpSp>
        <p:nvGrpSpPr>
          <p:cNvPr id="230" name="Group 229"/>
          <p:cNvGrpSpPr/>
          <p:nvPr/>
        </p:nvGrpSpPr>
        <p:grpSpPr>
          <a:xfrm>
            <a:off x="4267621" y="918493"/>
            <a:ext cx="7092515" cy="378996"/>
            <a:chOff x="4267621" y="918493"/>
            <a:chExt cx="7734621" cy="378996"/>
          </a:xfrm>
        </p:grpSpPr>
        <p:sp>
          <p:nvSpPr>
            <p:cNvPr id="223" name="矩形 82"/>
            <p:cNvSpPr/>
            <p:nvPr/>
          </p:nvSpPr>
          <p:spPr>
            <a:xfrm>
              <a:off x="4267621" y="918493"/>
              <a:ext cx="1092012" cy="378996"/>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mn-ea"/>
                  <a:cs typeface="+mn-cs"/>
                </a:rPr>
                <a:t>数据服务</a:t>
              </a:r>
              <a:endPar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
          <p:nvSpPr>
            <p:cNvPr id="224" name="矩形 83"/>
            <p:cNvSpPr/>
            <p:nvPr/>
          </p:nvSpPr>
          <p:spPr>
            <a:xfrm>
              <a:off x="6924665" y="918493"/>
              <a:ext cx="1092012" cy="378996"/>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mn-ea"/>
                  <a:cs typeface="+mn-cs"/>
                </a:rPr>
                <a:t>决策支持</a:t>
              </a:r>
              <a:endPar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
          <p:nvSpPr>
            <p:cNvPr id="225" name="矩形 84"/>
            <p:cNvSpPr/>
            <p:nvPr/>
          </p:nvSpPr>
          <p:spPr>
            <a:xfrm>
              <a:off x="8253187" y="918493"/>
              <a:ext cx="1092012" cy="378996"/>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lang="zh-CN" altLang="en-US" sz="1200" kern="0" dirty="0">
                  <a:solidFill>
                    <a:prstClr val="black"/>
                  </a:solidFill>
                  <a:latin typeface="微软雅黑" panose="020B0503020204020204" pitchFamily="34" charset="-122"/>
                </a:rPr>
                <a:t>数据挖掘</a:t>
              </a:r>
              <a:endPar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
          <p:nvSpPr>
            <p:cNvPr id="226" name="矩形 85"/>
            <p:cNvSpPr/>
            <p:nvPr/>
          </p:nvSpPr>
          <p:spPr>
            <a:xfrm>
              <a:off x="9581709" y="918493"/>
              <a:ext cx="1092012" cy="378996"/>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mn-ea"/>
                  <a:cs typeface="+mn-cs"/>
                </a:rPr>
                <a:t>流程服务</a:t>
              </a:r>
              <a:endPar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
          <p:nvSpPr>
            <p:cNvPr id="227" name="矩形 86"/>
            <p:cNvSpPr/>
            <p:nvPr/>
          </p:nvSpPr>
          <p:spPr>
            <a:xfrm>
              <a:off x="10910230" y="918493"/>
              <a:ext cx="1092012" cy="378996"/>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en-US" altLang="zh-CN" sz="1200" b="0" i="0" u="none" strike="noStrike" kern="0" cap="none" spc="0" normalizeH="0" baseline="0" noProof="0" dirty="0">
                  <a:ln>
                    <a:noFill/>
                  </a:ln>
                  <a:solidFill>
                    <a:prstClr val="black"/>
                  </a:solidFill>
                  <a:effectLst/>
                  <a:uLnTx/>
                  <a:uFillTx/>
                  <a:latin typeface="微软雅黑" panose="020B0503020204020204" pitchFamily="34" charset="-122"/>
                  <a:ea typeface="+mn-ea"/>
                  <a:cs typeface="+mn-cs"/>
                </a:rPr>
                <a:t>…….</a:t>
              </a:r>
              <a:endPar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
          <p:nvSpPr>
            <p:cNvPr id="228" name="矩形 68"/>
            <p:cNvSpPr/>
            <p:nvPr/>
          </p:nvSpPr>
          <p:spPr>
            <a:xfrm>
              <a:off x="5596143" y="918493"/>
              <a:ext cx="1092012" cy="378996"/>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mn-ea"/>
                  <a:cs typeface="+mn-cs"/>
                </a:rPr>
                <a:t>应用开发</a:t>
              </a:r>
              <a:endPar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mn-ea"/>
                <a:cs typeface="+mn-cs"/>
              </a:endParaRPr>
            </a:p>
          </p:txBody>
        </p:sp>
      </p:grpSp>
      <p:sp>
        <p:nvSpPr>
          <p:cNvPr id="231" name="圆柱形 119"/>
          <p:cNvSpPr/>
          <p:nvPr/>
        </p:nvSpPr>
        <p:spPr>
          <a:xfrm>
            <a:off x="4340874" y="3528458"/>
            <a:ext cx="3818462" cy="366403"/>
          </a:xfrm>
          <a:prstGeom prst="can">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en-US" altLang="zh-CN" sz="1200" b="0" i="0" u="none" strike="noStrike" kern="0" cap="none" spc="0" normalizeH="0" baseline="0" noProof="0" dirty="0">
                <a:ln>
                  <a:noFill/>
                </a:ln>
                <a:solidFill>
                  <a:srgbClr val="44546A"/>
                </a:solidFill>
                <a:effectLst/>
                <a:uLnTx/>
                <a:uFillTx/>
                <a:latin typeface="微软雅黑" panose="020B0503020204020204" pitchFamily="34" charset="-122"/>
                <a:ea typeface="+mn-ea"/>
                <a:cs typeface="+mn-cs"/>
              </a:rPr>
              <a:t>RDS </a:t>
            </a:r>
            <a:r>
              <a:rPr kumimoji="0" lang="zh-CN" altLang="en-US" sz="1200" b="0" i="0" u="none" strike="noStrike" kern="0" cap="none" spc="0" normalizeH="0" baseline="0" noProof="0" dirty="0">
                <a:ln>
                  <a:noFill/>
                </a:ln>
                <a:solidFill>
                  <a:srgbClr val="44546A"/>
                </a:solidFill>
                <a:effectLst/>
                <a:uLnTx/>
                <a:uFillTx/>
                <a:latin typeface="微软雅黑" panose="020B0503020204020204" pitchFamily="34" charset="-122"/>
                <a:ea typeface="+mn-ea"/>
                <a:cs typeface="+mn-cs"/>
              </a:rPr>
              <a:t>数据库组件</a:t>
            </a:r>
            <a:endParaRPr kumimoji="0" lang="zh-CN" altLang="en-US" sz="1200" b="0" i="0" u="none" strike="noStrike" kern="0" cap="none" spc="0" normalizeH="0" baseline="0" noProof="0" dirty="0">
              <a:ln>
                <a:noFill/>
              </a:ln>
              <a:solidFill>
                <a:srgbClr val="44546A"/>
              </a:solidFill>
              <a:effectLst/>
              <a:uLnTx/>
              <a:uFillTx/>
              <a:latin typeface="微软雅黑" panose="020B0503020204020204" pitchFamily="34" charset="-122"/>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custDataLst>
              <p:tags r:id="rId1"/>
            </p:custDataLst>
          </p:nvPr>
        </p:nvGraphicFramePr>
        <p:xfrm>
          <a:off x="427267" y="909514"/>
          <a:ext cx="11340640" cy="5706442"/>
        </p:xfrm>
        <a:graphic>
          <a:graphicData uri="http://schemas.openxmlformats.org/drawingml/2006/table">
            <a:tbl>
              <a:tblPr firstRow="1" firstCol="1" bandRow="1">
                <a:tableStyleId>{EB344D84-9AFB-497E-A393-DC336BA19D2E}</a:tableStyleId>
              </a:tblPr>
              <a:tblGrid>
                <a:gridCol w="469498"/>
                <a:gridCol w="885020"/>
                <a:gridCol w="6332026"/>
                <a:gridCol w="3654096"/>
              </a:tblGrid>
              <a:tr h="0">
                <a:tc>
                  <a:txBody>
                    <a:bodyPr/>
                    <a:lstStyle/>
                    <a:p>
                      <a:pPr algn="ctr">
                        <a:lnSpc>
                          <a:spcPct val="115000"/>
                        </a:lnSpc>
                        <a:spcAft>
                          <a:spcPts val="0"/>
                        </a:spcAft>
                        <a:tabLst>
                          <a:tab pos="3371215" algn="l"/>
                        </a:tabLst>
                      </a:pPr>
                      <a:r>
                        <a:rPr lang="zh-CN" sz="1100" kern="100" dirty="0">
                          <a:effectLst/>
                        </a:rPr>
                        <a:t>序号</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ctr">
                        <a:lnSpc>
                          <a:spcPct val="115000"/>
                        </a:lnSpc>
                        <a:spcAft>
                          <a:spcPts val="0"/>
                        </a:spcAft>
                        <a:tabLst>
                          <a:tab pos="3371215" algn="l"/>
                        </a:tabLst>
                      </a:pPr>
                      <a:r>
                        <a:rPr lang="zh-CN" altLang="en-US" sz="1100" kern="100" dirty="0">
                          <a:effectLst/>
                        </a:rPr>
                        <a:t>产品名称</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ctr">
                        <a:lnSpc>
                          <a:spcPct val="115000"/>
                        </a:lnSpc>
                        <a:spcAft>
                          <a:spcPts val="0"/>
                        </a:spcAft>
                        <a:tabLst>
                          <a:tab pos="3371215" algn="l"/>
                        </a:tabLst>
                      </a:pPr>
                      <a:r>
                        <a:rPr lang="zh-CN" altLang="en-US" sz="1100" kern="100" dirty="0">
                          <a:effectLst/>
                        </a:rPr>
                        <a:t>功能</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ctr">
                        <a:lnSpc>
                          <a:spcPct val="115000"/>
                        </a:lnSpc>
                        <a:spcAft>
                          <a:spcPts val="0"/>
                        </a:spcAft>
                        <a:tabLst>
                          <a:tab pos="3371215" algn="l"/>
                        </a:tabLst>
                      </a:pPr>
                      <a:r>
                        <a:rPr lang="zh-CN" altLang="en-US" sz="1100" kern="100" dirty="0">
                          <a:effectLst/>
                        </a:rPr>
                        <a:t>在方案中的作用</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r>
              <a:tr h="0">
                <a:tc>
                  <a:txBody>
                    <a:bodyPr/>
                    <a:lstStyle/>
                    <a:p>
                      <a:pPr algn="ctr">
                        <a:lnSpc>
                          <a:spcPct val="115000"/>
                        </a:lnSpc>
                        <a:spcAft>
                          <a:spcPts val="0"/>
                        </a:spcAft>
                        <a:tabLst>
                          <a:tab pos="3371215" algn="l"/>
                        </a:tabLst>
                      </a:pPr>
                      <a:r>
                        <a:rPr lang="en-US" sz="1100" kern="100" dirty="0">
                          <a:effectLst/>
                        </a:rPr>
                        <a:t>1</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ctr">
                        <a:lnSpc>
                          <a:spcPct val="115000"/>
                        </a:lnSpc>
                        <a:spcAft>
                          <a:spcPts val="0"/>
                        </a:spcAft>
                        <a:tabLst>
                          <a:tab pos="3371215" algn="l"/>
                        </a:tabLst>
                      </a:pPr>
                      <a:r>
                        <a:rPr lang="en-US" altLang="zh-CN" sz="1400" kern="100" dirty="0">
                          <a:effectLst/>
                        </a:rPr>
                        <a:t>CDM</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just">
                        <a:lnSpc>
                          <a:spcPct val="100000"/>
                        </a:lnSpc>
                        <a:spcAft>
                          <a:spcPts val="0"/>
                        </a:spcAft>
                        <a:tabLst>
                          <a:tab pos="3371215" algn="l"/>
                        </a:tabLst>
                      </a:pPr>
                      <a:r>
                        <a:rPr lang="zh-CN" altLang="en-US" sz="1200" kern="100" dirty="0">
                          <a:effectLst/>
                        </a:rPr>
                        <a:t>实现数据全量迁移</a:t>
                      </a:r>
                      <a:endParaRPr lang="zh-CN" sz="12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tc>
                <a:tc>
                  <a:txBody>
                    <a:bodyPr/>
                    <a:lstStyle/>
                    <a:p>
                      <a:pPr algn="just">
                        <a:lnSpc>
                          <a:spcPct val="150000"/>
                        </a:lnSpc>
                        <a:spcAft>
                          <a:spcPts val="0"/>
                        </a:spcAft>
                        <a:tabLst>
                          <a:tab pos="3371215" algn="l"/>
                        </a:tabLst>
                      </a:pPr>
                      <a:r>
                        <a:rPr lang="en-US" altLang="zh-CN" sz="1200" kern="100" dirty="0">
                          <a:effectLst/>
                        </a:rPr>
                        <a:t>[1]</a:t>
                      </a:r>
                      <a:r>
                        <a:rPr lang="zh-CN" altLang="en-US" sz="1200" kern="100" dirty="0">
                          <a:effectLst/>
                        </a:rPr>
                        <a:t>数据采集  </a:t>
                      </a:r>
                      <a:r>
                        <a:rPr lang="en-US" altLang="zh-CN" sz="1200" kern="100" dirty="0">
                          <a:effectLst/>
                        </a:rPr>
                        <a:t>[2]</a:t>
                      </a:r>
                      <a:r>
                        <a:rPr lang="zh-CN" altLang="en-US" sz="1200" kern="100" dirty="0">
                          <a:effectLst/>
                        </a:rPr>
                        <a:t>实现数据共享</a:t>
                      </a:r>
                      <a:endParaRPr lang="zh-CN" sz="12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tc>
              </a:tr>
              <a:tr h="201051">
                <a:tc>
                  <a:txBody>
                    <a:bodyPr/>
                    <a:lstStyle/>
                    <a:p>
                      <a:pPr algn="ctr">
                        <a:lnSpc>
                          <a:spcPct val="115000"/>
                        </a:lnSpc>
                        <a:spcAft>
                          <a:spcPts val="0"/>
                        </a:spcAft>
                        <a:tabLst>
                          <a:tab pos="3371215" algn="l"/>
                        </a:tabLst>
                      </a:pPr>
                      <a:r>
                        <a:rPr lang="en-US" sz="1100" kern="100" dirty="0">
                          <a:effectLst/>
                        </a:rPr>
                        <a:t>2</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ctr">
                        <a:lnSpc>
                          <a:spcPct val="115000"/>
                        </a:lnSpc>
                        <a:spcAft>
                          <a:spcPts val="0"/>
                        </a:spcAft>
                        <a:tabLst>
                          <a:tab pos="3371215" algn="l"/>
                        </a:tabLst>
                      </a:pPr>
                      <a:r>
                        <a:rPr lang="en-US" altLang="zh-CN" sz="1400" kern="100" dirty="0">
                          <a:effectLst/>
                        </a:rPr>
                        <a:t>DLF</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just">
                        <a:lnSpc>
                          <a:spcPct val="100000"/>
                        </a:lnSpc>
                        <a:spcAft>
                          <a:spcPts val="0"/>
                        </a:spcAft>
                        <a:tabLst>
                          <a:tab pos="3371215" algn="l"/>
                        </a:tabLst>
                      </a:pPr>
                      <a:r>
                        <a:rPr lang="zh-CN" altLang="en-US" sz="1200" kern="100" dirty="0">
                          <a:effectLst/>
                        </a:rPr>
                        <a:t>数据湖工厂，含：</a:t>
                      </a:r>
                      <a:endParaRPr lang="en-US" altLang="zh-CN" sz="1200" kern="100" dirty="0">
                        <a:effectLst/>
                      </a:endParaRPr>
                    </a:p>
                    <a:p>
                      <a:pPr algn="just">
                        <a:lnSpc>
                          <a:spcPct val="100000"/>
                        </a:lnSpc>
                        <a:spcAft>
                          <a:spcPts val="0"/>
                        </a:spcAft>
                        <a:tabLst>
                          <a:tab pos="3371215" algn="l"/>
                        </a:tabLst>
                      </a:pPr>
                      <a:r>
                        <a:rPr lang="en-US" altLang="zh-CN" sz="1200" kern="100" dirty="0">
                          <a:effectLst/>
                        </a:rPr>
                        <a:t>[1]</a:t>
                      </a:r>
                      <a:r>
                        <a:rPr lang="zh-CN" altLang="en-US" sz="1200" kern="100" dirty="0">
                          <a:effectLst/>
                        </a:rPr>
                        <a:t>数据基础服务（</a:t>
                      </a:r>
                      <a:r>
                        <a:rPr lang="en-US" altLang="zh-CN" sz="1200" kern="100" dirty="0">
                          <a:effectLst/>
                        </a:rPr>
                        <a:t>DLF Common</a:t>
                      </a:r>
                      <a:r>
                        <a:rPr lang="zh-CN" altLang="en-US" sz="1200" kern="100" dirty="0">
                          <a:effectLst/>
                        </a:rPr>
                        <a:t>），提供</a:t>
                      </a:r>
                      <a:r>
                        <a:rPr lang="en-US" altLang="zh-CN" sz="1200" kern="100" dirty="0">
                          <a:effectLst/>
                        </a:rPr>
                        <a:t>DLF</a:t>
                      </a:r>
                      <a:r>
                        <a:rPr lang="zh-CN" altLang="en-US" sz="1200" kern="100" dirty="0">
                          <a:effectLst/>
                        </a:rPr>
                        <a:t>内部服务的身份、授权框架实现，包含权限管理和消息通知。</a:t>
                      </a:r>
                      <a:endParaRPr lang="zh-CN" altLang="en-US" sz="1200" kern="100" dirty="0">
                        <a:effectLst/>
                      </a:endParaRPr>
                    </a:p>
                    <a:p>
                      <a:pPr algn="just">
                        <a:lnSpc>
                          <a:spcPct val="100000"/>
                        </a:lnSpc>
                        <a:spcAft>
                          <a:spcPts val="0"/>
                        </a:spcAft>
                        <a:tabLst>
                          <a:tab pos="3371215" algn="l"/>
                        </a:tabLst>
                      </a:pPr>
                      <a:r>
                        <a:rPr lang="en-US" altLang="zh-CN" sz="1200" kern="100" dirty="0">
                          <a:effectLst/>
                        </a:rPr>
                        <a:t>[2]</a:t>
                      </a:r>
                      <a:r>
                        <a:rPr lang="zh-CN" altLang="en-US" sz="1200" kern="100" dirty="0">
                          <a:effectLst/>
                        </a:rPr>
                        <a:t>数据集成服务（</a:t>
                      </a:r>
                      <a:r>
                        <a:rPr lang="en-US" altLang="zh-CN" sz="1200" kern="100" dirty="0">
                          <a:effectLst/>
                        </a:rPr>
                        <a:t>DI</a:t>
                      </a:r>
                      <a:r>
                        <a:rPr lang="zh-CN" altLang="en-US" sz="1200" kern="100" dirty="0">
                          <a:effectLst/>
                        </a:rPr>
                        <a:t>）</a:t>
                      </a:r>
                      <a:r>
                        <a:rPr lang="en-US" altLang="zh-CN" sz="1200" kern="100" dirty="0">
                          <a:effectLst/>
                        </a:rPr>
                        <a:t>,</a:t>
                      </a:r>
                      <a:r>
                        <a:rPr lang="zh-CN" altLang="en-US" sz="1200" kern="100" dirty="0">
                          <a:effectLst/>
                        </a:rPr>
                        <a:t>提供同构</a:t>
                      </a:r>
                      <a:r>
                        <a:rPr lang="en-US" altLang="zh-CN" sz="1200" kern="100" dirty="0">
                          <a:effectLst/>
                        </a:rPr>
                        <a:t>/</a:t>
                      </a:r>
                      <a:r>
                        <a:rPr lang="zh-CN" altLang="en-US" sz="1200" kern="100" dirty="0">
                          <a:effectLst/>
                        </a:rPr>
                        <a:t>异构数据源之间批量数据迁移</a:t>
                      </a:r>
                      <a:r>
                        <a:rPr lang="en-US" altLang="zh-CN" sz="1200" kern="100" dirty="0">
                          <a:effectLst/>
                        </a:rPr>
                        <a:t>,</a:t>
                      </a:r>
                      <a:r>
                        <a:rPr lang="zh-CN" altLang="en-US" sz="1200" kern="100" dirty="0">
                          <a:effectLst/>
                        </a:rPr>
                        <a:t>支持</a:t>
                      </a:r>
                      <a:r>
                        <a:rPr lang="en-US" altLang="zh-CN" sz="1200" kern="100" dirty="0">
                          <a:effectLst/>
                        </a:rPr>
                        <a:t>FILE</a:t>
                      </a:r>
                      <a:r>
                        <a:rPr lang="zh-CN" altLang="en-US" sz="1200" kern="100" dirty="0">
                          <a:effectLst/>
                        </a:rPr>
                        <a:t>、</a:t>
                      </a:r>
                      <a:r>
                        <a:rPr lang="en-US" altLang="zh-CN" sz="1200" kern="100" dirty="0">
                          <a:effectLst/>
                        </a:rPr>
                        <a:t>DB</a:t>
                      </a:r>
                      <a:r>
                        <a:rPr lang="zh-CN" altLang="en-US" sz="1200" kern="100" dirty="0">
                          <a:effectLst/>
                        </a:rPr>
                        <a:t>、</a:t>
                      </a:r>
                      <a:r>
                        <a:rPr lang="en-US" altLang="zh-CN" sz="1200" kern="100" dirty="0">
                          <a:effectLst/>
                        </a:rPr>
                        <a:t>DW</a:t>
                      </a:r>
                      <a:r>
                        <a:rPr lang="zh-CN" altLang="en-US" sz="1200" kern="100" dirty="0">
                          <a:effectLst/>
                        </a:rPr>
                        <a:t>、</a:t>
                      </a:r>
                      <a:r>
                        <a:rPr lang="en-US" altLang="zh-CN" sz="1200" kern="100" dirty="0">
                          <a:effectLst/>
                        </a:rPr>
                        <a:t>NoSQL</a:t>
                      </a:r>
                      <a:r>
                        <a:rPr lang="zh-CN" altLang="en-US" sz="1200" kern="100" dirty="0">
                          <a:effectLst/>
                        </a:rPr>
                        <a:t>等数据源。</a:t>
                      </a:r>
                      <a:endParaRPr lang="zh-CN" altLang="en-US" sz="1200" kern="100" dirty="0">
                        <a:effectLst/>
                      </a:endParaRPr>
                    </a:p>
                    <a:p>
                      <a:pPr algn="just">
                        <a:lnSpc>
                          <a:spcPct val="100000"/>
                        </a:lnSpc>
                        <a:spcAft>
                          <a:spcPts val="0"/>
                        </a:spcAft>
                        <a:tabLst>
                          <a:tab pos="3371215" algn="l"/>
                        </a:tabLst>
                      </a:pPr>
                      <a:r>
                        <a:rPr lang="en-US" altLang="zh-CN" sz="1200" kern="100" dirty="0">
                          <a:effectLst/>
                        </a:rPr>
                        <a:t>[3]</a:t>
                      </a:r>
                      <a:r>
                        <a:rPr lang="zh-CN" altLang="en-US" sz="1200" kern="100" dirty="0">
                          <a:effectLst/>
                        </a:rPr>
                        <a:t>数据开发服务（</a:t>
                      </a:r>
                      <a:r>
                        <a:rPr lang="en-US" altLang="zh-CN" sz="1200" kern="100" dirty="0">
                          <a:effectLst/>
                        </a:rPr>
                        <a:t>DS</a:t>
                      </a:r>
                      <a:r>
                        <a:rPr lang="zh-CN" altLang="en-US" sz="1200" kern="100" dirty="0">
                          <a:effectLst/>
                        </a:rPr>
                        <a:t>）</a:t>
                      </a:r>
                      <a:r>
                        <a:rPr lang="en-US" altLang="zh-CN" sz="1200" kern="100" dirty="0">
                          <a:effectLst/>
                        </a:rPr>
                        <a:t>,</a:t>
                      </a:r>
                      <a:r>
                        <a:rPr lang="zh-CN" altLang="en-US" sz="1200" kern="100" dirty="0">
                          <a:effectLst/>
                        </a:rPr>
                        <a:t>管理多种大数据服务，提供一站式的大数据开发环境、全托管的大数据调度能力</a:t>
                      </a:r>
                      <a:r>
                        <a:rPr lang="en-US" altLang="zh-CN" sz="1200" kern="100" dirty="0">
                          <a:effectLst/>
                        </a:rPr>
                        <a:t>,</a:t>
                      </a:r>
                      <a:r>
                        <a:rPr lang="zh-CN" altLang="en-US" sz="1200" kern="100" dirty="0">
                          <a:effectLst/>
                        </a:rPr>
                        <a:t>可进行数据建模、脚本开发、工作流编排、运维监控等操作，完成整个数据的处理分析流程。</a:t>
                      </a:r>
                      <a:endParaRPr lang="zh-CN" altLang="en-US" sz="1200" kern="100" dirty="0">
                        <a:effectLst/>
                      </a:endParaRPr>
                    </a:p>
                    <a:p>
                      <a:pPr algn="just">
                        <a:lnSpc>
                          <a:spcPct val="100000"/>
                        </a:lnSpc>
                        <a:spcAft>
                          <a:spcPts val="0"/>
                        </a:spcAft>
                        <a:tabLst>
                          <a:tab pos="3371215" algn="l"/>
                        </a:tabLst>
                      </a:pPr>
                      <a:r>
                        <a:rPr lang="en-US" altLang="zh-CN" sz="1200" kern="100" dirty="0">
                          <a:effectLst/>
                        </a:rPr>
                        <a:t>[4]</a:t>
                      </a:r>
                      <a:r>
                        <a:rPr lang="zh-CN" altLang="en-US" sz="1200" kern="100" dirty="0">
                          <a:effectLst/>
                        </a:rPr>
                        <a:t>数据治理服务（</a:t>
                      </a:r>
                      <a:r>
                        <a:rPr lang="en-US" altLang="zh-CN" sz="1200" kern="100" dirty="0">
                          <a:effectLst/>
                        </a:rPr>
                        <a:t>DG</a:t>
                      </a:r>
                      <a:r>
                        <a:rPr lang="zh-CN" altLang="en-US" sz="1200" kern="100" dirty="0">
                          <a:effectLst/>
                        </a:rPr>
                        <a:t>）</a:t>
                      </a:r>
                      <a:r>
                        <a:rPr lang="en-US" altLang="zh-CN" sz="1200" kern="100" dirty="0">
                          <a:effectLst/>
                        </a:rPr>
                        <a:t>,</a:t>
                      </a:r>
                      <a:r>
                        <a:rPr lang="zh-CN" altLang="en-US" sz="1200" kern="100" dirty="0">
                          <a:effectLst/>
                        </a:rPr>
                        <a:t>一站式数据治理平台，对数据资产进行梳理、质量监控、标准化、清洗等操作，提供数据资产相关的标准建设、资产管理、质量监控、安全共享。</a:t>
                      </a:r>
                      <a:endParaRPr lang="zh-CN" sz="12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tc>
                <a:tc>
                  <a:txBody>
                    <a:bodyPr/>
                    <a:lstStyle/>
                    <a:p>
                      <a:pPr algn="just">
                        <a:lnSpc>
                          <a:spcPct val="150000"/>
                        </a:lnSpc>
                        <a:spcAft>
                          <a:spcPts val="0"/>
                        </a:spcAft>
                        <a:tabLst>
                          <a:tab pos="3371215" algn="l"/>
                        </a:tabLst>
                      </a:pPr>
                      <a:r>
                        <a:rPr lang="en-US" altLang="zh-CN" sz="1200" kern="100" dirty="0">
                          <a:effectLst/>
                        </a:rPr>
                        <a:t>[1]</a:t>
                      </a:r>
                      <a:r>
                        <a:rPr lang="zh-CN" altLang="en-US" sz="1200" kern="100" dirty="0">
                          <a:effectLst/>
                        </a:rPr>
                        <a:t>数据采集 </a:t>
                      </a:r>
                      <a:r>
                        <a:rPr lang="en-US" altLang="zh-CN" sz="1200" kern="100" dirty="0">
                          <a:effectLst/>
                        </a:rPr>
                        <a:t>[2]</a:t>
                      </a:r>
                      <a:r>
                        <a:rPr lang="zh-CN" altLang="en-US" sz="1200" kern="100" dirty="0">
                          <a:effectLst/>
                        </a:rPr>
                        <a:t>数据集成 </a:t>
                      </a:r>
                      <a:r>
                        <a:rPr lang="en-US" altLang="zh-CN" sz="1200" kern="100" dirty="0">
                          <a:effectLst/>
                        </a:rPr>
                        <a:t>[3]</a:t>
                      </a:r>
                      <a:r>
                        <a:rPr lang="zh-CN" altLang="en-US" sz="1200" kern="100" dirty="0">
                          <a:effectLst/>
                        </a:rPr>
                        <a:t>数据质量监控和清洗转换</a:t>
                      </a:r>
                      <a:endParaRPr lang="zh-CN" sz="12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tc>
              </a:tr>
              <a:tr h="301576">
                <a:tc>
                  <a:txBody>
                    <a:bodyPr/>
                    <a:lstStyle/>
                    <a:p>
                      <a:pPr algn="ctr">
                        <a:lnSpc>
                          <a:spcPct val="115000"/>
                        </a:lnSpc>
                        <a:spcAft>
                          <a:spcPts val="0"/>
                        </a:spcAft>
                        <a:tabLst>
                          <a:tab pos="3371215" algn="l"/>
                        </a:tabLst>
                      </a:pPr>
                      <a:r>
                        <a:rPr lang="en-US" sz="1100" kern="100" dirty="0">
                          <a:effectLst/>
                        </a:rPr>
                        <a:t>3</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ctr">
                        <a:lnSpc>
                          <a:spcPct val="115000"/>
                        </a:lnSpc>
                        <a:spcAft>
                          <a:spcPts val="0"/>
                        </a:spcAft>
                        <a:tabLst>
                          <a:tab pos="3371215" algn="l"/>
                        </a:tabLst>
                      </a:pPr>
                      <a:r>
                        <a:rPr lang="en-US" altLang="zh-CN" sz="1400" kern="100" dirty="0">
                          <a:effectLst/>
                        </a:rPr>
                        <a:t>RDS</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just">
                        <a:lnSpc>
                          <a:spcPct val="100000"/>
                        </a:lnSpc>
                        <a:spcAft>
                          <a:spcPts val="0"/>
                        </a:spcAft>
                        <a:tabLst>
                          <a:tab pos="3371215" algn="l"/>
                        </a:tabLst>
                      </a:pPr>
                      <a:r>
                        <a:rPr lang="zh-CN" altLang="en-US" sz="1200" kern="100" dirty="0">
                          <a:effectLst/>
                        </a:rPr>
                        <a:t>基于</a:t>
                      </a:r>
                      <a:r>
                        <a:rPr lang="en-US" altLang="zh-CN" sz="1200" kern="100" dirty="0">
                          <a:effectLst/>
                        </a:rPr>
                        <a:t>RDB</a:t>
                      </a:r>
                      <a:r>
                        <a:rPr lang="zh-CN" altLang="en-US" sz="1200" kern="100" dirty="0">
                          <a:effectLst/>
                        </a:rPr>
                        <a:t>（关系型数据库）的数据库平台，提供传统数据库能力。</a:t>
                      </a:r>
                      <a:endParaRPr lang="zh-CN" sz="12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tc>
                <a:tc>
                  <a:txBody>
                    <a:bodyPr/>
                    <a:lstStyle/>
                    <a:p>
                      <a:pPr algn="just">
                        <a:lnSpc>
                          <a:spcPct val="150000"/>
                        </a:lnSpc>
                        <a:spcAft>
                          <a:spcPts val="0"/>
                        </a:spcAft>
                        <a:tabLst>
                          <a:tab pos="3371215" algn="l"/>
                        </a:tabLst>
                      </a:pPr>
                      <a:r>
                        <a:rPr lang="en-US" altLang="zh-CN" sz="1200" kern="100" dirty="0">
                          <a:effectLst/>
                        </a:rPr>
                        <a:t>[1]</a:t>
                      </a:r>
                      <a:r>
                        <a:rPr lang="zh-CN" altLang="en-US" sz="1200" kern="100" dirty="0">
                          <a:effectLst/>
                        </a:rPr>
                        <a:t>作为</a:t>
                      </a:r>
                      <a:r>
                        <a:rPr lang="en-US" altLang="zh-CN" sz="1200" kern="100" dirty="0">
                          <a:effectLst/>
                        </a:rPr>
                        <a:t>ODS</a:t>
                      </a:r>
                      <a:r>
                        <a:rPr lang="zh-CN" altLang="en-US" sz="1200" kern="100" dirty="0">
                          <a:effectLst/>
                        </a:rPr>
                        <a:t>容器 </a:t>
                      </a:r>
                      <a:r>
                        <a:rPr lang="en-US" altLang="zh-CN" sz="1200" kern="100" dirty="0">
                          <a:effectLst/>
                        </a:rPr>
                        <a:t>[2]</a:t>
                      </a:r>
                      <a:r>
                        <a:rPr lang="zh-CN" altLang="en-US" sz="1200" kern="100" dirty="0">
                          <a:effectLst/>
                        </a:rPr>
                        <a:t>实现数据共享</a:t>
                      </a:r>
                      <a:endParaRPr lang="zh-CN" sz="12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tc>
              </a:tr>
              <a:tr h="301576">
                <a:tc>
                  <a:txBody>
                    <a:bodyPr/>
                    <a:lstStyle/>
                    <a:p>
                      <a:pPr algn="ctr">
                        <a:lnSpc>
                          <a:spcPct val="115000"/>
                        </a:lnSpc>
                        <a:spcAft>
                          <a:spcPts val="0"/>
                        </a:spcAft>
                        <a:tabLst>
                          <a:tab pos="3371215" algn="l"/>
                        </a:tabLst>
                      </a:pPr>
                      <a:r>
                        <a:rPr lang="en-US" altLang="zh-CN" sz="1100" kern="100" dirty="0">
                          <a:effectLst/>
                        </a:rPr>
                        <a:t>4</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ctr">
                        <a:lnSpc>
                          <a:spcPct val="115000"/>
                        </a:lnSpc>
                        <a:spcAft>
                          <a:spcPts val="0"/>
                        </a:spcAft>
                        <a:tabLst>
                          <a:tab pos="3371215" algn="l"/>
                        </a:tabLst>
                      </a:pPr>
                      <a:r>
                        <a:rPr lang="en-US" altLang="zh-CN" sz="1400" kern="100" dirty="0">
                          <a:effectLst/>
                        </a:rPr>
                        <a:t>DWS</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just">
                        <a:lnSpc>
                          <a:spcPct val="100000"/>
                        </a:lnSpc>
                        <a:spcAft>
                          <a:spcPts val="0"/>
                        </a:spcAft>
                        <a:tabLst>
                          <a:tab pos="3371215" algn="l"/>
                        </a:tabLst>
                      </a:pPr>
                      <a:r>
                        <a:rPr lang="zh-CN" altLang="en-US" sz="1200" kern="100" dirty="0">
                          <a:effectLst/>
                        </a:rPr>
                        <a:t>基于</a:t>
                      </a:r>
                      <a:r>
                        <a:rPr lang="en-US" altLang="zh-CN" sz="1200" kern="100" dirty="0">
                          <a:effectLst/>
                        </a:rPr>
                        <a:t>MPP</a:t>
                      </a:r>
                      <a:r>
                        <a:rPr lang="zh-CN" altLang="en-US" sz="1200" kern="100" dirty="0">
                          <a:effectLst/>
                        </a:rPr>
                        <a:t>架构的数据仓库平台，提供海量结构化数据的存储和计算架构。</a:t>
                      </a:r>
                      <a:endParaRPr lang="zh-CN" sz="12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tc>
                <a:tc>
                  <a:txBody>
                    <a:bodyPr/>
                    <a:lstStyle/>
                    <a:p>
                      <a:pPr algn="just">
                        <a:lnSpc>
                          <a:spcPct val="150000"/>
                        </a:lnSpc>
                        <a:spcAft>
                          <a:spcPts val="0"/>
                        </a:spcAft>
                        <a:tabLst>
                          <a:tab pos="3371215" algn="l"/>
                        </a:tabLst>
                      </a:pPr>
                      <a:r>
                        <a:rPr lang="en-US" altLang="zh-CN" sz="1200" kern="100" dirty="0">
                          <a:effectLst/>
                        </a:rPr>
                        <a:t>[1]</a:t>
                      </a:r>
                      <a:r>
                        <a:rPr lang="zh-CN" altLang="en-US" sz="1200" kern="100" dirty="0">
                          <a:effectLst/>
                        </a:rPr>
                        <a:t>承载治理后形成的成果数据 </a:t>
                      </a:r>
                      <a:r>
                        <a:rPr lang="en-US" altLang="zh-CN" sz="1200" kern="100" dirty="0">
                          <a:effectLst/>
                        </a:rPr>
                        <a:t>[2]</a:t>
                      </a:r>
                      <a:r>
                        <a:rPr lang="zh-CN" altLang="en-US" sz="1200" kern="100" dirty="0">
                          <a:effectLst/>
                        </a:rPr>
                        <a:t>实现自动化的历史数据留存。</a:t>
                      </a:r>
                      <a:endParaRPr lang="zh-CN" sz="12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tc>
              </a:tr>
              <a:tr h="351839">
                <a:tc>
                  <a:txBody>
                    <a:bodyPr/>
                    <a:lstStyle/>
                    <a:p>
                      <a:pPr algn="ctr">
                        <a:lnSpc>
                          <a:spcPct val="115000"/>
                        </a:lnSpc>
                        <a:spcAft>
                          <a:spcPts val="0"/>
                        </a:spcAft>
                        <a:tabLst>
                          <a:tab pos="3371215" algn="l"/>
                        </a:tabLst>
                      </a:pPr>
                      <a:r>
                        <a:rPr lang="en-US" altLang="zh-CN" sz="1100" kern="100" dirty="0">
                          <a:effectLst/>
                        </a:rPr>
                        <a:t>5</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ctr">
                        <a:lnSpc>
                          <a:spcPct val="115000"/>
                        </a:lnSpc>
                        <a:spcAft>
                          <a:spcPts val="0"/>
                        </a:spcAft>
                        <a:tabLst>
                          <a:tab pos="3371215" algn="l"/>
                        </a:tabLst>
                      </a:pPr>
                      <a:r>
                        <a:rPr lang="en-US" altLang="zh-CN" sz="1400" kern="100" dirty="0">
                          <a:effectLst/>
                        </a:rPr>
                        <a:t>MRS</a:t>
                      </a:r>
                      <a:endParaRPr lang="en-US" alt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just">
                        <a:lnSpc>
                          <a:spcPct val="100000"/>
                        </a:lnSpc>
                        <a:spcAft>
                          <a:spcPts val="0"/>
                        </a:spcAft>
                        <a:tabLst>
                          <a:tab pos="3371215" algn="l"/>
                        </a:tabLst>
                      </a:pPr>
                      <a:r>
                        <a:rPr lang="zh-CN" altLang="en-US" sz="1200" kern="100" dirty="0">
                          <a:effectLst/>
                        </a:rPr>
                        <a:t>基于</a:t>
                      </a:r>
                      <a:r>
                        <a:rPr lang="en-US" altLang="zh-CN" sz="1200" kern="100" dirty="0">
                          <a:effectLst/>
                        </a:rPr>
                        <a:t>Hadoop</a:t>
                      </a:r>
                      <a:r>
                        <a:rPr lang="zh-CN" altLang="en-US" sz="1200" kern="100" dirty="0">
                          <a:effectLst/>
                        </a:rPr>
                        <a:t>架构的数据仓库平台，提供海量数据（主要针对日志类数据）的存储和计算架构，及流处理、机器学习、消息订阅等组件。</a:t>
                      </a:r>
                      <a:endParaRPr lang="en-US" altLang="zh-CN" sz="1200" kern="100" dirty="0">
                        <a:solidFill>
                          <a:schemeClr val="tx1"/>
                        </a:solidFill>
                        <a:effectLst/>
                        <a:latin typeface="楷体" panose="02010609060101010101" pitchFamily="49" charset="-122"/>
                        <a:ea typeface="楷体" panose="02010609060101010101" pitchFamily="49" charset="-122"/>
                      </a:endParaRPr>
                    </a:p>
                  </a:txBody>
                  <a:tcPr marL="21541" marR="21541" marT="0" marB="0" anchor="ctr"/>
                </a:tc>
                <a:tc>
                  <a:txBody>
                    <a:bodyPr/>
                    <a:lstStyle/>
                    <a:p>
                      <a:pPr algn="just">
                        <a:lnSpc>
                          <a:spcPct val="150000"/>
                        </a:lnSpc>
                        <a:spcAft>
                          <a:spcPts val="0"/>
                        </a:spcAft>
                        <a:tabLst>
                          <a:tab pos="3371215" algn="l"/>
                        </a:tabLst>
                      </a:pPr>
                      <a:r>
                        <a:rPr lang="en-US" altLang="zh-CN" sz="1200" kern="100" dirty="0">
                          <a:effectLst/>
                        </a:rPr>
                        <a:t>[1]</a:t>
                      </a:r>
                      <a:r>
                        <a:rPr lang="zh-CN" altLang="en-US" sz="1200" kern="100" dirty="0">
                          <a:effectLst/>
                        </a:rPr>
                        <a:t>承载海量日志数据、互联网数据 </a:t>
                      </a:r>
                      <a:r>
                        <a:rPr lang="en-US" altLang="zh-CN" sz="1200" kern="100" dirty="0">
                          <a:effectLst/>
                        </a:rPr>
                        <a:t>[2]</a:t>
                      </a:r>
                      <a:r>
                        <a:rPr lang="zh-CN" altLang="en-US" sz="1200" kern="100" dirty="0">
                          <a:effectLst/>
                        </a:rPr>
                        <a:t>提供并行架构的海量数据处理和机器学习建模计算能力。</a:t>
                      </a:r>
                      <a:endParaRPr lang="en-US" altLang="zh-CN" sz="1200" kern="100" dirty="0">
                        <a:solidFill>
                          <a:schemeClr val="tx1"/>
                        </a:solidFill>
                        <a:effectLst/>
                        <a:latin typeface="楷体" panose="02010609060101010101" pitchFamily="49" charset="-122"/>
                        <a:ea typeface="楷体" panose="02010609060101010101" pitchFamily="49" charset="-122"/>
                      </a:endParaRPr>
                    </a:p>
                  </a:txBody>
                  <a:tcPr marL="21541" marR="21541" marT="0" marB="0" anchor="ctr"/>
                </a:tc>
              </a:tr>
              <a:tr h="351839">
                <a:tc>
                  <a:txBody>
                    <a:bodyPr/>
                    <a:lstStyle/>
                    <a:p>
                      <a:pPr algn="ctr">
                        <a:lnSpc>
                          <a:spcPct val="115000"/>
                        </a:lnSpc>
                        <a:spcAft>
                          <a:spcPts val="0"/>
                        </a:spcAft>
                        <a:tabLst>
                          <a:tab pos="3371215" algn="l"/>
                        </a:tabLst>
                      </a:pPr>
                      <a:r>
                        <a:rPr lang="en-US" altLang="zh-CN" sz="1100" kern="100" dirty="0">
                          <a:effectLst/>
                        </a:rPr>
                        <a:t>6</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ctr">
                        <a:lnSpc>
                          <a:spcPct val="115000"/>
                        </a:lnSpc>
                        <a:spcAft>
                          <a:spcPts val="0"/>
                        </a:spcAft>
                        <a:tabLst>
                          <a:tab pos="3371215" algn="l"/>
                        </a:tabLst>
                      </a:pPr>
                      <a:r>
                        <a:rPr lang="en-US" altLang="zh-CN" sz="1400" kern="100" dirty="0">
                          <a:effectLst/>
                        </a:rPr>
                        <a:t>DLG</a:t>
                      </a:r>
                      <a:endParaRPr lang="en-US" alt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just">
                        <a:lnSpc>
                          <a:spcPct val="100000"/>
                        </a:lnSpc>
                        <a:spcAft>
                          <a:spcPts val="0"/>
                        </a:spcAft>
                        <a:tabLst>
                          <a:tab pos="3371215" algn="l"/>
                        </a:tabLst>
                      </a:pPr>
                      <a:r>
                        <a:rPr lang="zh-CN" altLang="en-US" sz="1200" kern="100" dirty="0">
                          <a:effectLst/>
                        </a:rPr>
                        <a:t>数据湖治理，提供元数据管理、数据质量管理、数据资产管理等功能。</a:t>
                      </a:r>
                      <a:endParaRPr lang="en-US" altLang="zh-CN" sz="1200" kern="100" dirty="0">
                        <a:solidFill>
                          <a:schemeClr val="tx1"/>
                        </a:solidFill>
                        <a:effectLst/>
                        <a:latin typeface="楷体" panose="02010609060101010101" pitchFamily="49" charset="-122"/>
                        <a:ea typeface="楷体" panose="02010609060101010101" pitchFamily="49" charset="-122"/>
                      </a:endParaRPr>
                    </a:p>
                  </a:txBody>
                  <a:tcPr marL="21541" marR="21541" marT="0" marB="0" anchor="ctr"/>
                </a:tc>
                <a:tc>
                  <a:txBody>
                    <a:bodyPr/>
                    <a:lstStyle/>
                    <a:p>
                      <a:pPr algn="just">
                        <a:lnSpc>
                          <a:spcPct val="150000"/>
                        </a:lnSpc>
                        <a:spcAft>
                          <a:spcPts val="0"/>
                        </a:spcAft>
                        <a:tabLst>
                          <a:tab pos="3371215" algn="l"/>
                        </a:tabLst>
                      </a:pPr>
                      <a:r>
                        <a:rPr lang="en-US" altLang="zh-CN" sz="1200" kern="100" dirty="0">
                          <a:effectLst/>
                        </a:rPr>
                        <a:t>[1]</a:t>
                      </a:r>
                      <a:r>
                        <a:rPr lang="zh-CN" altLang="en-US" sz="1200" kern="100" dirty="0">
                          <a:effectLst/>
                        </a:rPr>
                        <a:t>对数据治理进行过程管理，承载数据的结构信息、关系信息、质量信息。</a:t>
                      </a:r>
                      <a:endParaRPr lang="en-US" altLang="zh-CN" sz="1200" kern="100" dirty="0">
                        <a:solidFill>
                          <a:schemeClr val="tx1"/>
                        </a:solidFill>
                        <a:effectLst/>
                        <a:latin typeface="楷体" panose="02010609060101010101" pitchFamily="49" charset="-122"/>
                        <a:ea typeface="楷体" panose="02010609060101010101" pitchFamily="49" charset="-122"/>
                      </a:endParaRPr>
                    </a:p>
                  </a:txBody>
                  <a:tcPr marL="21541" marR="21541" marT="0" marB="0" anchor="ctr"/>
                </a:tc>
              </a:tr>
              <a:tr h="351839">
                <a:tc>
                  <a:txBody>
                    <a:bodyPr/>
                    <a:lstStyle/>
                    <a:p>
                      <a:pPr algn="ctr">
                        <a:lnSpc>
                          <a:spcPct val="115000"/>
                        </a:lnSpc>
                        <a:spcAft>
                          <a:spcPts val="0"/>
                        </a:spcAft>
                        <a:tabLst>
                          <a:tab pos="3371215" algn="l"/>
                        </a:tabLst>
                      </a:pPr>
                      <a:r>
                        <a:rPr lang="en-US" altLang="zh-CN" sz="1100" kern="100" dirty="0">
                          <a:effectLst/>
                        </a:rPr>
                        <a:t>7</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ctr">
                        <a:lnSpc>
                          <a:spcPct val="115000"/>
                        </a:lnSpc>
                        <a:spcAft>
                          <a:spcPts val="0"/>
                        </a:spcAft>
                        <a:tabLst>
                          <a:tab pos="3371215" algn="l"/>
                        </a:tabLst>
                      </a:pPr>
                      <a:r>
                        <a:rPr lang="en-US" altLang="zh-CN" sz="1400" kern="100" dirty="0">
                          <a:effectLst/>
                        </a:rPr>
                        <a:t>ROMA</a:t>
                      </a:r>
                      <a:endParaRPr lang="en-US" alt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tc>
                <a:tc>
                  <a:txBody>
                    <a:bodyPr/>
                    <a:lstStyle/>
                    <a:p>
                      <a:pPr algn="just">
                        <a:lnSpc>
                          <a:spcPct val="100000"/>
                        </a:lnSpc>
                        <a:spcAft>
                          <a:spcPts val="0"/>
                        </a:spcAft>
                        <a:tabLst>
                          <a:tab pos="3371215" algn="l"/>
                        </a:tabLst>
                      </a:pPr>
                      <a:r>
                        <a:rPr lang="zh-CN" altLang="en-US" sz="1200" kern="100" dirty="0">
                          <a:effectLst/>
                        </a:rPr>
                        <a:t>云计算框架下的应用和数据集成。包括服务集成、消息集成、数据集成等全连接，支撑跨“多云”应用、数据、服务、资源等的协同，达到内部互通、内外互通、多云互通。</a:t>
                      </a:r>
                      <a:endParaRPr lang="en-US" altLang="zh-CN" sz="1200" kern="100" dirty="0">
                        <a:effectLst/>
                      </a:endParaRPr>
                    </a:p>
                    <a:p>
                      <a:pPr algn="just">
                        <a:lnSpc>
                          <a:spcPct val="100000"/>
                        </a:lnSpc>
                        <a:spcAft>
                          <a:spcPts val="0"/>
                        </a:spcAft>
                        <a:tabLst>
                          <a:tab pos="3371215" algn="l"/>
                        </a:tabLst>
                      </a:pPr>
                      <a:r>
                        <a:rPr lang="zh-CN" altLang="en-US" sz="1200" kern="100" dirty="0">
                          <a:effectLst/>
                        </a:rPr>
                        <a:t>包含</a:t>
                      </a:r>
                      <a:r>
                        <a:rPr lang="en-US" altLang="zh-CN" sz="1200" kern="100" dirty="0">
                          <a:effectLst/>
                        </a:rPr>
                        <a:t>:</a:t>
                      </a:r>
                      <a:endParaRPr lang="en-US" altLang="zh-CN" sz="1200" kern="100" dirty="0">
                        <a:effectLst/>
                      </a:endParaRPr>
                    </a:p>
                    <a:p>
                      <a:pPr algn="just">
                        <a:lnSpc>
                          <a:spcPct val="100000"/>
                        </a:lnSpc>
                        <a:spcAft>
                          <a:spcPts val="0"/>
                        </a:spcAft>
                        <a:tabLst>
                          <a:tab pos="3371215" algn="l"/>
                        </a:tabLst>
                      </a:pPr>
                      <a:r>
                        <a:rPr lang="en-US" altLang="zh-CN" sz="1200" kern="100" dirty="0">
                          <a:effectLst/>
                        </a:rPr>
                        <a:t>FDI:</a:t>
                      </a:r>
                      <a:r>
                        <a:rPr lang="zh-CN" altLang="en-US" sz="1200" kern="100" dirty="0">
                          <a:effectLst/>
                        </a:rPr>
                        <a:t>类</a:t>
                      </a:r>
                      <a:r>
                        <a:rPr lang="en-US" altLang="zh-CN" sz="1200" kern="100" dirty="0">
                          <a:effectLst/>
                        </a:rPr>
                        <a:t>ETL</a:t>
                      </a:r>
                      <a:r>
                        <a:rPr lang="zh-CN" altLang="en-US" sz="1200" kern="100" dirty="0">
                          <a:effectLst/>
                        </a:rPr>
                        <a:t>，实现数据的抽取、简单转换、加载。支持</a:t>
                      </a:r>
                      <a:r>
                        <a:rPr lang="en-US" altLang="zh-CN" sz="1200" kern="100" dirty="0">
                          <a:effectLst/>
                        </a:rPr>
                        <a:t>RDBMS</a:t>
                      </a:r>
                      <a:r>
                        <a:rPr lang="zh-CN" altLang="en-US" sz="1200" kern="100" dirty="0">
                          <a:effectLst/>
                        </a:rPr>
                        <a:t>、</a:t>
                      </a:r>
                      <a:r>
                        <a:rPr lang="en-US" altLang="zh-CN" sz="1200" kern="100" dirty="0">
                          <a:effectLst/>
                        </a:rPr>
                        <a:t>MSG</a:t>
                      </a:r>
                      <a:r>
                        <a:rPr lang="zh-CN" altLang="en-US" sz="1200" kern="100" dirty="0">
                          <a:effectLst/>
                        </a:rPr>
                        <a:t>、</a:t>
                      </a:r>
                      <a:r>
                        <a:rPr lang="en-US" altLang="zh-CN" sz="1200" kern="100" dirty="0">
                          <a:effectLst/>
                        </a:rPr>
                        <a:t>FILE</a:t>
                      </a:r>
                      <a:r>
                        <a:rPr lang="zh-CN" altLang="en-US" sz="1200" kern="100" dirty="0">
                          <a:effectLst/>
                        </a:rPr>
                        <a:t>等数据转换。</a:t>
                      </a:r>
                      <a:endParaRPr lang="en-US" altLang="zh-CN" sz="1200" kern="100" dirty="0">
                        <a:effectLst/>
                      </a:endParaRPr>
                    </a:p>
                    <a:p>
                      <a:pPr algn="just">
                        <a:lnSpc>
                          <a:spcPct val="100000"/>
                        </a:lnSpc>
                        <a:spcAft>
                          <a:spcPts val="0"/>
                        </a:spcAft>
                        <a:tabLst>
                          <a:tab pos="3371215" algn="l"/>
                        </a:tabLst>
                      </a:pPr>
                      <a:r>
                        <a:rPr lang="en-US" altLang="zh-CN" sz="1200" kern="100" dirty="0">
                          <a:effectLst/>
                        </a:rPr>
                        <a:t>API Connect:</a:t>
                      </a:r>
                      <a:r>
                        <a:rPr lang="zh-CN" altLang="en-US" sz="1200" kern="100" dirty="0">
                          <a:effectLst/>
                        </a:rPr>
                        <a:t>包含</a:t>
                      </a:r>
                      <a:r>
                        <a:rPr lang="en-US" altLang="zh-CN" sz="1200" kern="100" dirty="0">
                          <a:effectLst/>
                        </a:rPr>
                        <a:t>API</a:t>
                      </a:r>
                      <a:r>
                        <a:rPr lang="zh-CN" altLang="en-US" sz="1200" kern="100" dirty="0">
                          <a:effectLst/>
                        </a:rPr>
                        <a:t>网关（服务网关，支持服务注册以及服务管控）、</a:t>
                      </a:r>
                      <a:r>
                        <a:rPr lang="en-US" altLang="zh-CN" sz="1200" kern="100" dirty="0" err="1">
                          <a:effectLst/>
                        </a:rPr>
                        <a:t>LiveData</a:t>
                      </a:r>
                      <a:r>
                        <a:rPr lang="zh-CN" altLang="en-US" sz="1200" kern="100" dirty="0">
                          <a:effectLst/>
                        </a:rPr>
                        <a:t>（服务编排、</a:t>
                      </a:r>
                      <a:r>
                        <a:rPr lang="en-US" altLang="zh-CN" sz="1200" kern="100" dirty="0">
                          <a:effectLst/>
                        </a:rPr>
                        <a:t>DB</a:t>
                      </a:r>
                      <a:r>
                        <a:rPr lang="zh-CN" altLang="en-US" sz="1200" kern="100" dirty="0">
                          <a:effectLst/>
                        </a:rPr>
                        <a:t>数据开放）、</a:t>
                      </a:r>
                      <a:r>
                        <a:rPr lang="en-US" altLang="zh-CN" sz="1200" kern="100" dirty="0">
                          <a:effectLst/>
                        </a:rPr>
                        <a:t>API Market</a:t>
                      </a:r>
                      <a:r>
                        <a:rPr lang="zh-CN" altLang="en-US" sz="1200" kern="100" dirty="0">
                          <a:effectLst/>
                        </a:rPr>
                        <a:t>（公共服务发布、服务订阅）</a:t>
                      </a:r>
                      <a:endParaRPr lang="en-US" altLang="zh-CN" sz="1200" kern="100" dirty="0">
                        <a:effectLst/>
                      </a:endParaRPr>
                    </a:p>
                    <a:p>
                      <a:pPr algn="just">
                        <a:lnSpc>
                          <a:spcPct val="100000"/>
                        </a:lnSpc>
                        <a:spcAft>
                          <a:spcPts val="0"/>
                        </a:spcAft>
                        <a:tabLst>
                          <a:tab pos="3371215" algn="l"/>
                        </a:tabLst>
                      </a:pPr>
                      <a:r>
                        <a:rPr lang="en-US" altLang="zh-CN" sz="1200" kern="100" dirty="0">
                          <a:effectLst/>
                        </a:rPr>
                        <a:t>MQS</a:t>
                      </a:r>
                      <a:r>
                        <a:rPr lang="zh-CN" altLang="en-US" sz="1200" kern="100" dirty="0">
                          <a:effectLst/>
                        </a:rPr>
                        <a:t>：基于</a:t>
                      </a:r>
                      <a:r>
                        <a:rPr lang="en-US" altLang="zh-CN" sz="1200" kern="100" dirty="0" err="1">
                          <a:effectLst/>
                        </a:rPr>
                        <a:t>RocketMQ</a:t>
                      </a:r>
                      <a:r>
                        <a:rPr lang="zh-CN" altLang="en-US" sz="1200" kern="100" dirty="0">
                          <a:effectLst/>
                        </a:rPr>
                        <a:t>内核，增加消息统一接入管控模块（</a:t>
                      </a:r>
                      <a:r>
                        <a:rPr lang="en-US" altLang="zh-CN" sz="1200" kern="100" dirty="0">
                          <a:effectLst/>
                        </a:rPr>
                        <a:t>Connector</a:t>
                      </a:r>
                      <a:r>
                        <a:rPr lang="zh-CN" altLang="en-US" sz="1200" kern="100" dirty="0">
                          <a:effectLst/>
                        </a:rPr>
                        <a:t>）、服务发现模块</a:t>
                      </a:r>
                      <a:r>
                        <a:rPr lang="en-US" altLang="zh-CN" sz="1200" kern="100" dirty="0" err="1">
                          <a:effectLst/>
                        </a:rPr>
                        <a:t>NameServer</a:t>
                      </a:r>
                      <a:r>
                        <a:rPr lang="zh-CN" altLang="en-US" sz="1200" kern="100" dirty="0">
                          <a:effectLst/>
                        </a:rPr>
                        <a:t>、跨中心路由模块</a:t>
                      </a:r>
                      <a:r>
                        <a:rPr lang="en-US" altLang="zh-CN" sz="1200" kern="100" dirty="0">
                          <a:effectLst/>
                        </a:rPr>
                        <a:t>(Router)</a:t>
                      </a:r>
                      <a:r>
                        <a:rPr lang="zh-CN" altLang="en-US" sz="1200" kern="100" dirty="0">
                          <a:effectLst/>
                        </a:rPr>
                        <a:t>，实现消息从发送方到消费方的路由和全链路监控。</a:t>
                      </a:r>
                      <a:endParaRPr lang="zh-CN" altLang="en-US" sz="1200" kern="100" dirty="0">
                        <a:solidFill>
                          <a:schemeClr val="tx1"/>
                        </a:solidFill>
                        <a:effectLst/>
                        <a:latin typeface="楷体" panose="02010609060101010101" pitchFamily="49" charset="-122"/>
                        <a:ea typeface="楷体" panose="02010609060101010101" pitchFamily="49" charset="-122"/>
                        <a:cs typeface="+mn-cs"/>
                      </a:endParaRPr>
                    </a:p>
                  </a:txBody>
                  <a:tcPr marL="21541" marR="21541" marT="0" marB="0" anchor="ctr"/>
                </a:tc>
                <a:tc>
                  <a:txBody>
                    <a:bodyPr/>
                    <a:lstStyle/>
                    <a:p>
                      <a:pPr algn="just">
                        <a:lnSpc>
                          <a:spcPct val="150000"/>
                        </a:lnSpc>
                        <a:spcAft>
                          <a:spcPts val="0"/>
                        </a:spcAft>
                        <a:tabLst>
                          <a:tab pos="3371215" algn="l"/>
                        </a:tabLst>
                      </a:pPr>
                      <a:endParaRPr lang="en-US" altLang="zh-CN" sz="1200" kern="100" dirty="0">
                        <a:effectLst/>
                      </a:endParaRPr>
                    </a:p>
                    <a:p>
                      <a:pPr algn="just">
                        <a:lnSpc>
                          <a:spcPct val="150000"/>
                        </a:lnSpc>
                        <a:spcAft>
                          <a:spcPts val="0"/>
                        </a:spcAft>
                        <a:tabLst>
                          <a:tab pos="3371215" algn="l"/>
                        </a:tabLst>
                      </a:pPr>
                      <a:r>
                        <a:rPr lang="en-US" altLang="zh-CN" sz="1200" kern="100" dirty="0">
                          <a:effectLst/>
                        </a:rPr>
                        <a:t>[1]</a:t>
                      </a:r>
                      <a:r>
                        <a:rPr lang="zh-CN" altLang="en-US" sz="1200" kern="100" dirty="0">
                          <a:effectLst/>
                        </a:rPr>
                        <a:t>实现成果数据的封装发布</a:t>
                      </a:r>
                      <a:endParaRPr lang="en-US" altLang="zh-CN" sz="1200" kern="100" dirty="0">
                        <a:solidFill>
                          <a:schemeClr val="tx1"/>
                        </a:solidFill>
                        <a:effectLst/>
                        <a:latin typeface="楷体" panose="02010609060101010101" pitchFamily="49" charset="-122"/>
                        <a:ea typeface="楷体" panose="02010609060101010101" pitchFamily="49" charset="-122"/>
                      </a:endParaRPr>
                    </a:p>
                  </a:txBody>
                  <a:tcPr marL="21541" marR="21541" marT="0" marB="0" anchor="ctr"/>
                </a:tc>
              </a:tr>
            </a:tbl>
          </a:graphicData>
        </a:graphic>
      </p:graphicFrame>
      <p:sp>
        <p:nvSpPr>
          <p:cNvPr id="7" name="标题 1"/>
          <p:cNvSpPr>
            <a:spLocks noGrp="1"/>
          </p:cNvSpPr>
          <p:nvPr>
            <p:ph type="ctrTitle"/>
          </p:nvPr>
        </p:nvSpPr>
        <p:spPr>
          <a:xfrm>
            <a:off x="517588" y="165139"/>
            <a:ext cx="11160000" cy="888392"/>
          </a:xfrm>
        </p:spPr>
        <p:txBody>
          <a:bodyPr/>
          <a:lstStyle/>
          <a:p>
            <a:r>
              <a:rPr lang="zh-CN" altLang="en-US" dirty="0"/>
              <a:t>数据治理解决方案 </a:t>
            </a:r>
            <a:r>
              <a:rPr lang="en-US" altLang="zh-CN" dirty="0"/>
              <a:t>– </a:t>
            </a:r>
            <a:r>
              <a:rPr lang="zh-CN" altLang="en-US" dirty="0"/>
              <a:t>数据治理软件功能</a:t>
            </a:r>
            <a:endParaRPr lang="zh-CN" altLang="en-US"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517588" y="165139"/>
            <a:ext cx="11160000" cy="888392"/>
          </a:xfrm>
        </p:spPr>
        <p:txBody>
          <a:bodyPr/>
          <a:lstStyle/>
          <a:p>
            <a:r>
              <a:rPr lang="zh-CN" altLang="en-US" dirty="0"/>
              <a:t>数据治理解决方案 </a:t>
            </a:r>
            <a:r>
              <a:rPr lang="en-US" altLang="zh-CN" dirty="0"/>
              <a:t>– </a:t>
            </a:r>
            <a:r>
              <a:rPr lang="zh-CN" altLang="en-US" dirty="0"/>
              <a:t>数据治理软件功能</a:t>
            </a:r>
            <a:endParaRPr lang="zh-CN" altLang="en-US" dirty="0">
              <a:solidFill>
                <a:srgbClr val="FF0000"/>
              </a:solidFill>
            </a:endParaRPr>
          </a:p>
        </p:txBody>
      </p:sp>
      <p:sp>
        <p:nvSpPr>
          <p:cNvPr id="3" name="矩形 2"/>
          <p:cNvSpPr/>
          <p:nvPr/>
        </p:nvSpPr>
        <p:spPr>
          <a:xfrm>
            <a:off x="696987" y="1116339"/>
            <a:ext cx="3096344" cy="4016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云数据迁移</a:t>
            </a:r>
            <a:r>
              <a:rPr lang="en-US" altLang="zh-CN" sz="2000" dirty="0">
                <a:solidFill>
                  <a:schemeClr val="tx1"/>
                </a:solidFill>
              </a:rPr>
              <a:t>CDM</a:t>
            </a:r>
            <a:r>
              <a:rPr lang="zh-CN" altLang="en-US" sz="2000" dirty="0">
                <a:solidFill>
                  <a:schemeClr val="tx1"/>
                </a:solidFill>
              </a:rPr>
              <a:t>功能截图</a:t>
            </a:r>
            <a:endParaRPr lang="zh-CN" altLang="en-US" sz="2000" dirty="0">
              <a:solidFill>
                <a:schemeClr val="tx1"/>
              </a:solidFill>
            </a:endParaRPr>
          </a:p>
        </p:txBody>
      </p:sp>
      <p:sp>
        <p:nvSpPr>
          <p:cNvPr id="4" name="燕尾形 3"/>
          <p:cNvSpPr/>
          <p:nvPr/>
        </p:nvSpPr>
        <p:spPr>
          <a:xfrm>
            <a:off x="696987"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源数据连接</a:t>
            </a:r>
            <a:endParaRPr lang="zh-CN" altLang="en-US" sz="1400" dirty="0">
              <a:solidFill>
                <a:schemeClr val="tx1"/>
              </a:solidFill>
            </a:endParaRPr>
          </a:p>
        </p:txBody>
      </p:sp>
      <p:pic>
        <p:nvPicPr>
          <p:cNvPr id="9" name="图片 8"/>
          <p:cNvPicPr/>
          <p:nvPr/>
        </p:nvPicPr>
        <p:blipFill>
          <a:blip r:embed="rId1">
            <a:extLst>
              <a:ext uri="{28A0092B-C50C-407E-A947-70E740481C1C}">
                <a14:useLocalDpi xmlns:a14="http://schemas.microsoft.com/office/drawing/2010/main" val="0"/>
              </a:ext>
            </a:extLst>
          </a:blip>
          <a:srcRect/>
          <a:stretch>
            <a:fillRect/>
          </a:stretch>
        </p:blipFill>
        <p:spPr bwMode="auto">
          <a:xfrm>
            <a:off x="696987" y="2196745"/>
            <a:ext cx="7202805" cy="3848100"/>
          </a:xfrm>
          <a:prstGeom prst="rect">
            <a:avLst/>
          </a:prstGeom>
          <a:noFill/>
          <a:ln>
            <a:solidFill>
              <a:schemeClr val="tx1"/>
            </a:solidFill>
          </a:ln>
        </p:spPr>
      </p:pic>
      <p:sp>
        <p:nvSpPr>
          <p:cNvPr id="10" name="燕尾形 9"/>
          <p:cNvSpPr/>
          <p:nvPr/>
        </p:nvSpPr>
        <p:spPr>
          <a:xfrm>
            <a:off x="2211983"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增量抽取</a:t>
            </a:r>
            <a:endParaRPr lang="zh-CN" altLang="en-US" sz="1400" dirty="0">
              <a:solidFill>
                <a:schemeClr val="tx1"/>
              </a:solidFill>
            </a:endParaRPr>
          </a:p>
        </p:txBody>
      </p:sp>
      <p:pic>
        <p:nvPicPr>
          <p:cNvPr id="11" name="图片 10"/>
          <p:cNvPicPr/>
          <p:nvPr/>
        </p:nvPicPr>
        <p:blipFill>
          <a:blip r:embed="rId2">
            <a:extLst>
              <a:ext uri="{28A0092B-C50C-407E-A947-70E740481C1C}">
                <a14:useLocalDpi xmlns:a14="http://schemas.microsoft.com/office/drawing/2010/main" val="0"/>
              </a:ext>
            </a:extLst>
          </a:blip>
          <a:srcRect/>
          <a:stretch>
            <a:fillRect/>
          </a:stretch>
        </p:blipFill>
        <p:spPr bwMode="auto">
          <a:xfrm>
            <a:off x="2211983" y="2193092"/>
            <a:ext cx="6768751" cy="3851753"/>
          </a:xfrm>
          <a:prstGeom prst="rect">
            <a:avLst/>
          </a:prstGeom>
          <a:noFill/>
          <a:ln>
            <a:solidFill>
              <a:schemeClr val="tx1"/>
            </a:solidFill>
          </a:ln>
        </p:spPr>
      </p:pic>
      <p:sp>
        <p:nvSpPr>
          <p:cNvPr id="12" name="燕尾形 11"/>
          <p:cNvSpPr/>
          <p:nvPr/>
        </p:nvSpPr>
        <p:spPr>
          <a:xfrm>
            <a:off x="3808267"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字段映射</a:t>
            </a:r>
            <a:endParaRPr lang="zh-CN" altLang="en-US" sz="1400" dirty="0">
              <a:solidFill>
                <a:schemeClr val="tx1"/>
              </a:solidFill>
            </a:endParaRPr>
          </a:p>
        </p:txBody>
      </p:sp>
      <p:pic>
        <p:nvPicPr>
          <p:cNvPr id="13" name="图片 12"/>
          <p:cNvPicPr/>
          <p:nvPr/>
        </p:nvPicPr>
        <p:blipFill>
          <a:blip r:embed="rId3">
            <a:extLst>
              <a:ext uri="{28A0092B-C50C-407E-A947-70E740481C1C}">
                <a14:useLocalDpi xmlns:a14="http://schemas.microsoft.com/office/drawing/2010/main" val="0"/>
              </a:ext>
            </a:extLst>
          </a:blip>
          <a:srcRect/>
          <a:stretch>
            <a:fillRect/>
          </a:stretch>
        </p:blipFill>
        <p:spPr bwMode="auto">
          <a:xfrm>
            <a:off x="3793331" y="2211433"/>
            <a:ext cx="7023735" cy="2052955"/>
          </a:xfrm>
          <a:prstGeom prst="rect">
            <a:avLst/>
          </a:prstGeom>
          <a:noFill/>
          <a:ln>
            <a:solidFill>
              <a:schemeClr val="tx1"/>
            </a:solidFill>
          </a:ln>
        </p:spPr>
      </p:pic>
      <p:sp>
        <p:nvSpPr>
          <p:cNvPr id="14" name="燕尾形 13"/>
          <p:cNvSpPr/>
          <p:nvPr/>
        </p:nvSpPr>
        <p:spPr>
          <a:xfrm>
            <a:off x="5377508" y="1819066"/>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定时任务</a:t>
            </a:r>
            <a:endParaRPr lang="zh-CN" altLang="en-US" sz="1400" dirty="0">
              <a:solidFill>
                <a:schemeClr val="tx1"/>
              </a:solidFill>
            </a:endParaRPr>
          </a:p>
        </p:txBody>
      </p:sp>
      <p:pic>
        <p:nvPicPr>
          <p:cNvPr id="15" name="图片 14"/>
          <p:cNvPicPr/>
          <p:nvPr/>
        </p:nvPicPr>
        <p:blipFill>
          <a:blip r:embed="rId4">
            <a:extLst>
              <a:ext uri="{28A0092B-C50C-407E-A947-70E740481C1C}">
                <a14:useLocalDpi xmlns:a14="http://schemas.microsoft.com/office/drawing/2010/main" val="0"/>
              </a:ext>
            </a:extLst>
          </a:blip>
          <a:srcRect/>
          <a:stretch>
            <a:fillRect/>
          </a:stretch>
        </p:blipFill>
        <p:spPr bwMode="auto">
          <a:xfrm>
            <a:off x="5375802" y="2203425"/>
            <a:ext cx="6819373" cy="3833784"/>
          </a:xfrm>
          <a:prstGeom prst="rect">
            <a:avLst/>
          </a:prstGeom>
          <a:noFill/>
          <a:ln>
            <a:solidFill>
              <a:schemeClr val="tx1"/>
            </a:solid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par>
                                <p:cTn id="13" presetID="22" presetClass="entr" presetSubtype="8"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par>
                                <p:cTn id="37" presetID="22" presetClass="entr" presetSubtype="8"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0" grpId="0" animBg="1"/>
      <p:bldP spid="12"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517588" y="165139"/>
            <a:ext cx="11160000" cy="888392"/>
          </a:xfrm>
        </p:spPr>
        <p:txBody>
          <a:bodyPr/>
          <a:lstStyle/>
          <a:p>
            <a:r>
              <a:rPr lang="zh-CN" altLang="en-US" dirty="0"/>
              <a:t>数据治理解决方案 </a:t>
            </a:r>
            <a:r>
              <a:rPr lang="en-US" altLang="zh-CN" dirty="0"/>
              <a:t>– </a:t>
            </a:r>
            <a:r>
              <a:rPr lang="zh-CN" altLang="en-US" dirty="0"/>
              <a:t>数据治理软件功能</a:t>
            </a:r>
            <a:endParaRPr lang="zh-CN" altLang="en-US" dirty="0">
              <a:solidFill>
                <a:srgbClr val="FF0000"/>
              </a:solidFill>
            </a:endParaRPr>
          </a:p>
        </p:txBody>
      </p:sp>
      <p:sp>
        <p:nvSpPr>
          <p:cNvPr id="3" name="矩形 2"/>
          <p:cNvSpPr/>
          <p:nvPr/>
        </p:nvSpPr>
        <p:spPr>
          <a:xfrm>
            <a:off x="696987" y="1116339"/>
            <a:ext cx="3096344" cy="4016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数据湖工厂</a:t>
            </a:r>
            <a:r>
              <a:rPr lang="en-US" altLang="zh-CN" sz="2000" dirty="0">
                <a:solidFill>
                  <a:schemeClr val="tx1"/>
                </a:solidFill>
              </a:rPr>
              <a:t>DLF</a:t>
            </a:r>
            <a:r>
              <a:rPr lang="zh-CN" altLang="en-US" sz="2000" dirty="0">
                <a:solidFill>
                  <a:schemeClr val="tx1"/>
                </a:solidFill>
              </a:rPr>
              <a:t>功能截图</a:t>
            </a:r>
            <a:endParaRPr lang="zh-CN" altLang="en-US" sz="2000" dirty="0">
              <a:solidFill>
                <a:schemeClr val="tx1"/>
              </a:solidFill>
            </a:endParaRPr>
          </a:p>
        </p:txBody>
      </p:sp>
      <p:sp>
        <p:nvSpPr>
          <p:cNvPr id="4" name="燕尾形 3"/>
          <p:cNvSpPr/>
          <p:nvPr/>
        </p:nvSpPr>
        <p:spPr>
          <a:xfrm>
            <a:off x="696987"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数据管理</a:t>
            </a:r>
            <a:endParaRPr lang="zh-CN" altLang="en-US" sz="1400" dirty="0">
              <a:solidFill>
                <a:schemeClr val="tx1"/>
              </a:solidFill>
            </a:endParaRPr>
          </a:p>
        </p:txBody>
      </p:sp>
      <p:sp>
        <p:nvSpPr>
          <p:cNvPr id="10" name="燕尾形 9"/>
          <p:cNvSpPr/>
          <p:nvPr/>
        </p:nvSpPr>
        <p:spPr>
          <a:xfrm>
            <a:off x="2211983"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脚本开发</a:t>
            </a:r>
            <a:endParaRPr lang="zh-CN" altLang="en-US" sz="1400" dirty="0">
              <a:solidFill>
                <a:schemeClr val="tx1"/>
              </a:solidFill>
            </a:endParaRPr>
          </a:p>
        </p:txBody>
      </p:sp>
      <p:sp>
        <p:nvSpPr>
          <p:cNvPr id="12" name="燕尾形 11"/>
          <p:cNvSpPr/>
          <p:nvPr/>
        </p:nvSpPr>
        <p:spPr>
          <a:xfrm>
            <a:off x="3808267"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作业调度</a:t>
            </a:r>
            <a:endParaRPr lang="zh-CN" altLang="en-US" sz="1400" dirty="0">
              <a:solidFill>
                <a:schemeClr val="tx1"/>
              </a:solidFill>
            </a:endParaRPr>
          </a:p>
        </p:txBody>
      </p:sp>
      <p:sp>
        <p:nvSpPr>
          <p:cNvPr id="14" name="燕尾形 13"/>
          <p:cNvSpPr/>
          <p:nvPr/>
        </p:nvSpPr>
        <p:spPr>
          <a:xfrm>
            <a:off x="5377508" y="1819066"/>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作业监控</a:t>
            </a:r>
            <a:endParaRPr lang="zh-CN" altLang="en-US" sz="1400" dirty="0">
              <a:solidFill>
                <a:schemeClr val="tx1"/>
              </a:solidFill>
            </a:endParaRPr>
          </a:p>
        </p:txBody>
      </p:sp>
      <p:pic>
        <p:nvPicPr>
          <p:cNvPr id="16" name="图片 15"/>
          <p:cNvPicPr/>
          <p:nvPr/>
        </p:nvPicPr>
        <p:blipFill>
          <a:blip r:embed="rId1">
            <a:extLst>
              <a:ext uri="{28A0092B-C50C-407E-A947-70E740481C1C}">
                <a14:useLocalDpi xmlns:a14="http://schemas.microsoft.com/office/drawing/2010/main" val="0"/>
              </a:ext>
            </a:extLst>
          </a:blip>
          <a:srcRect/>
          <a:stretch>
            <a:fillRect/>
          </a:stretch>
        </p:blipFill>
        <p:spPr bwMode="auto">
          <a:xfrm>
            <a:off x="696987" y="2205658"/>
            <a:ext cx="7186295" cy="3410585"/>
          </a:xfrm>
          <a:prstGeom prst="rect">
            <a:avLst/>
          </a:prstGeom>
          <a:noFill/>
          <a:ln>
            <a:solidFill>
              <a:schemeClr val="tx1"/>
            </a:solidFill>
          </a:ln>
        </p:spPr>
      </p:pic>
      <p:pic>
        <p:nvPicPr>
          <p:cNvPr id="17" name="图片 1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9400" y="2215991"/>
            <a:ext cx="7180580" cy="3400252"/>
          </a:xfrm>
          <a:prstGeom prst="rect">
            <a:avLst/>
          </a:prstGeom>
          <a:noFill/>
          <a:ln>
            <a:solidFill>
              <a:schemeClr val="tx1"/>
            </a:solidFill>
          </a:ln>
        </p:spPr>
      </p:pic>
      <p:pic>
        <p:nvPicPr>
          <p:cNvPr id="18" name="图片 17"/>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08267" y="2215991"/>
            <a:ext cx="7174865" cy="3416300"/>
          </a:xfrm>
          <a:prstGeom prst="rect">
            <a:avLst/>
          </a:prstGeom>
          <a:noFill/>
          <a:ln>
            <a:solidFill>
              <a:schemeClr val="tx1"/>
            </a:solidFill>
          </a:ln>
        </p:spPr>
      </p:pic>
      <p:pic>
        <p:nvPicPr>
          <p:cNvPr id="19" name="图片 18"/>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77508" y="2215991"/>
            <a:ext cx="6624735" cy="2093947"/>
          </a:xfrm>
          <a:prstGeom prst="rect">
            <a:avLst/>
          </a:prstGeom>
          <a:noFill/>
          <a:ln>
            <a:solidFill>
              <a:schemeClr val="tx1"/>
            </a:solid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par>
                                <p:cTn id="13" presetID="22" presetClass="entr" presetSubtype="8"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par>
                                <p:cTn id="21" presetID="22" presetClass="entr" presetSubtype="8"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par>
                                <p:cTn id="37" presetID="22" presetClass="entr" presetSubtype="8"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0" grpId="0" animBg="1"/>
      <p:bldP spid="12"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517588" y="165139"/>
            <a:ext cx="11160000" cy="888392"/>
          </a:xfrm>
        </p:spPr>
        <p:txBody>
          <a:bodyPr/>
          <a:lstStyle/>
          <a:p>
            <a:r>
              <a:rPr lang="zh-CN" altLang="en-US" dirty="0"/>
              <a:t>数据治理解决方案 </a:t>
            </a:r>
            <a:r>
              <a:rPr lang="en-US" altLang="zh-CN" dirty="0"/>
              <a:t>– </a:t>
            </a:r>
            <a:r>
              <a:rPr lang="zh-CN" altLang="en-US" dirty="0"/>
              <a:t>数据治理软件功能</a:t>
            </a:r>
            <a:endParaRPr lang="zh-CN" altLang="en-US" dirty="0">
              <a:solidFill>
                <a:srgbClr val="FF0000"/>
              </a:solidFill>
            </a:endParaRPr>
          </a:p>
        </p:txBody>
      </p:sp>
      <p:sp>
        <p:nvSpPr>
          <p:cNvPr id="3" name="矩形 2"/>
          <p:cNvSpPr/>
          <p:nvPr/>
        </p:nvSpPr>
        <p:spPr>
          <a:xfrm>
            <a:off x="696987" y="1116339"/>
            <a:ext cx="3096344" cy="4016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数据湖治理</a:t>
            </a:r>
            <a:r>
              <a:rPr lang="en-US" altLang="zh-CN" sz="2000" dirty="0">
                <a:solidFill>
                  <a:schemeClr val="tx1"/>
                </a:solidFill>
              </a:rPr>
              <a:t>DLG</a:t>
            </a:r>
            <a:r>
              <a:rPr lang="zh-CN" altLang="en-US" sz="2000" dirty="0">
                <a:solidFill>
                  <a:schemeClr val="tx1"/>
                </a:solidFill>
              </a:rPr>
              <a:t>功能截图</a:t>
            </a:r>
            <a:endParaRPr lang="zh-CN" altLang="en-US" sz="2000" dirty="0">
              <a:solidFill>
                <a:schemeClr val="tx1"/>
              </a:solidFill>
            </a:endParaRPr>
          </a:p>
        </p:txBody>
      </p:sp>
      <p:sp>
        <p:nvSpPr>
          <p:cNvPr id="4" name="燕尾形 3"/>
          <p:cNvSpPr/>
          <p:nvPr/>
        </p:nvSpPr>
        <p:spPr>
          <a:xfrm>
            <a:off x="696987"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检测规则</a:t>
            </a:r>
            <a:endParaRPr lang="zh-CN" altLang="en-US" sz="1400" dirty="0">
              <a:solidFill>
                <a:schemeClr val="tx1"/>
              </a:solidFill>
            </a:endParaRPr>
          </a:p>
        </p:txBody>
      </p:sp>
      <p:sp>
        <p:nvSpPr>
          <p:cNvPr id="10" name="燕尾形 9"/>
          <p:cNvSpPr/>
          <p:nvPr/>
        </p:nvSpPr>
        <p:spPr>
          <a:xfrm>
            <a:off x="2211983"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质量检测结果</a:t>
            </a:r>
            <a:endParaRPr lang="zh-CN" altLang="en-US" sz="1400" dirty="0">
              <a:solidFill>
                <a:schemeClr val="tx1"/>
              </a:solidFill>
            </a:endParaRPr>
          </a:p>
        </p:txBody>
      </p:sp>
      <p:sp>
        <p:nvSpPr>
          <p:cNvPr id="12" name="燕尾形 11"/>
          <p:cNvSpPr/>
          <p:nvPr/>
        </p:nvSpPr>
        <p:spPr>
          <a:xfrm>
            <a:off x="3808267"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数据血缘关系</a:t>
            </a:r>
            <a:endParaRPr lang="zh-CN" altLang="en-US" sz="1400" dirty="0">
              <a:solidFill>
                <a:schemeClr val="tx1"/>
              </a:solidFill>
            </a:endParaRPr>
          </a:p>
        </p:txBody>
      </p:sp>
      <p:pic>
        <p:nvPicPr>
          <p:cNvPr id="13" name="图片 12"/>
          <p:cNvPicPr/>
          <p:nvPr/>
        </p:nvPicPr>
        <p:blipFill>
          <a:blip r:embed="rId1">
            <a:extLst>
              <a:ext uri="{28A0092B-C50C-407E-A947-70E740481C1C}">
                <a14:useLocalDpi xmlns:a14="http://schemas.microsoft.com/office/drawing/2010/main" val="0"/>
              </a:ext>
            </a:extLst>
          </a:blip>
          <a:srcRect/>
          <a:stretch>
            <a:fillRect/>
          </a:stretch>
        </p:blipFill>
        <p:spPr bwMode="auto">
          <a:xfrm>
            <a:off x="696987" y="2205658"/>
            <a:ext cx="8381365" cy="3332480"/>
          </a:xfrm>
          <a:prstGeom prst="rect">
            <a:avLst/>
          </a:prstGeom>
          <a:noFill/>
          <a:ln>
            <a:solidFill>
              <a:schemeClr val="tx1"/>
            </a:solidFill>
          </a:ln>
        </p:spPr>
      </p:pic>
      <p:pic>
        <p:nvPicPr>
          <p:cNvPr id="15" name="图片 14"/>
          <p:cNvPicPr/>
          <p:nvPr/>
        </p:nvPicPr>
        <p:blipFill>
          <a:blip r:embed="rId2">
            <a:extLst>
              <a:ext uri="{28A0092B-C50C-407E-A947-70E740481C1C}">
                <a14:useLocalDpi xmlns:a14="http://schemas.microsoft.com/office/drawing/2010/main" val="0"/>
              </a:ext>
            </a:extLst>
          </a:blip>
          <a:srcRect/>
          <a:stretch>
            <a:fillRect/>
          </a:stretch>
        </p:blipFill>
        <p:spPr bwMode="auto">
          <a:xfrm>
            <a:off x="2211983" y="2215991"/>
            <a:ext cx="8566124" cy="1701813"/>
          </a:xfrm>
          <a:prstGeom prst="rect">
            <a:avLst/>
          </a:prstGeom>
          <a:noFill/>
          <a:ln>
            <a:solidFill>
              <a:schemeClr val="tx1"/>
            </a:solidFill>
          </a:ln>
        </p:spPr>
      </p:pic>
      <p:pic>
        <p:nvPicPr>
          <p:cNvPr id="20" name="图片 19"/>
          <p:cNvPicPr/>
          <p:nvPr/>
        </p:nvPicPr>
        <p:blipFill>
          <a:blip r:embed="rId3">
            <a:extLst>
              <a:ext uri="{28A0092B-C50C-407E-A947-70E740481C1C}">
                <a14:useLocalDpi xmlns:a14="http://schemas.microsoft.com/office/drawing/2010/main" val="0"/>
              </a:ext>
            </a:extLst>
          </a:blip>
          <a:srcRect/>
          <a:stretch>
            <a:fillRect/>
          </a:stretch>
        </p:blipFill>
        <p:spPr bwMode="auto">
          <a:xfrm>
            <a:off x="3793331" y="2219945"/>
            <a:ext cx="8358505" cy="3328526"/>
          </a:xfrm>
          <a:prstGeom prst="rect">
            <a:avLst/>
          </a:prstGeom>
          <a:noFill/>
          <a:ln>
            <a:solidFill>
              <a:schemeClr val="tx1"/>
            </a:solid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par>
                                <p:cTn id="21" presetID="22" presetClass="entr" presetSubtype="8"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517588" y="165139"/>
            <a:ext cx="11160000" cy="888392"/>
          </a:xfrm>
        </p:spPr>
        <p:txBody>
          <a:bodyPr/>
          <a:lstStyle/>
          <a:p>
            <a:r>
              <a:rPr lang="zh-CN" altLang="en-US" dirty="0"/>
              <a:t>数据治理解决方案 </a:t>
            </a:r>
            <a:r>
              <a:rPr lang="en-US" altLang="zh-CN" dirty="0"/>
              <a:t>– </a:t>
            </a:r>
            <a:r>
              <a:rPr lang="zh-CN" altLang="en-US" dirty="0"/>
              <a:t>数据治理软件功能</a:t>
            </a:r>
            <a:endParaRPr lang="zh-CN" altLang="en-US" dirty="0">
              <a:solidFill>
                <a:srgbClr val="FF0000"/>
              </a:solidFill>
            </a:endParaRPr>
          </a:p>
        </p:txBody>
      </p:sp>
      <p:sp>
        <p:nvSpPr>
          <p:cNvPr id="3" name="矩形 2"/>
          <p:cNvSpPr/>
          <p:nvPr/>
        </p:nvSpPr>
        <p:spPr>
          <a:xfrm>
            <a:off x="696987" y="1116339"/>
            <a:ext cx="3096344" cy="4016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rPr>
              <a:t>集成平台</a:t>
            </a:r>
            <a:r>
              <a:rPr lang="en-US" altLang="zh-CN" sz="2000" dirty="0">
                <a:solidFill>
                  <a:schemeClr val="tx1"/>
                </a:solidFill>
              </a:rPr>
              <a:t>ROMA</a:t>
            </a:r>
            <a:r>
              <a:rPr lang="zh-CN" altLang="en-US" sz="2000" dirty="0">
                <a:solidFill>
                  <a:schemeClr val="tx1"/>
                </a:solidFill>
              </a:rPr>
              <a:t>功能截图</a:t>
            </a:r>
            <a:endParaRPr lang="zh-CN" altLang="en-US" sz="2000" dirty="0">
              <a:solidFill>
                <a:schemeClr val="tx1"/>
              </a:solidFill>
            </a:endParaRPr>
          </a:p>
        </p:txBody>
      </p:sp>
      <p:sp>
        <p:nvSpPr>
          <p:cNvPr id="4" name="燕尾形 3"/>
          <p:cNvSpPr/>
          <p:nvPr/>
        </p:nvSpPr>
        <p:spPr>
          <a:xfrm>
            <a:off x="696987"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服务集成总览</a:t>
            </a:r>
            <a:endParaRPr lang="zh-CN" altLang="en-US" sz="1400" dirty="0">
              <a:solidFill>
                <a:schemeClr val="tx1"/>
              </a:solidFill>
            </a:endParaRPr>
          </a:p>
        </p:txBody>
      </p:sp>
      <p:sp>
        <p:nvSpPr>
          <p:cNvPr id="10" name="燕尾形 9"/>
          <p:cNvSpPr/>
          <p:nvPr/>
        </p:nvSpPr>
        <p:spPr>
          <a:xfrm>
            <a:off x="2211983"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API</a:t>
            </a:r>
            <a:r>
              <a:rPr lang="zh-CN" altLang="en-US" sz="1400" dirty="0">
                <a:solidFill>
                  <a:schemeClr val="tx1"/>
                </a:solidFill>
              </a:rPr>
              <a:t>封装</a:t>
            </a:r>
            <a:endParaRPr lang="zh-CN" altLang="en-US" sz="1400" dirty="0">
              <a:solidFill>
                <a:schemeClr val="tx1"/>
              </a:solidFill>
            </a:endParaRPr>
          </a:p>
        </p:txBody>
      </p:sp>
      <p:sp>
        <p:nvSpPr>
          <p:cNvPr id="12" name="燕尾形 11"/>
          <p:cNvSpPr/>
          <p:nvPr/>
        </p:nvSpPr>
        <p:spPr>
          <a:xfrm>
            <a:off x="3808267" y="1808733"/>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API</a:t>
            </a:r>
            <a:r>
              <a:rPr lang="zh-CN" altLang="en-US" sz="1400" dirty="0">
                <a:solidFill>
                  <a:schemeClr val="tx1"/>
                </a:solidFill>
              </a:rPr>
              <a:t>分组</a:t>
            </a:r>
            <a:endParaRPr lang="zh-CN" altLang="en-US" sz="1400" dirty="0">
              <a:solidFill>
                <a:schemeClr val="tx1"/>
              </a:solidFill>
            </a:endParaRPr>
          </a:p>
        </p:txBody>
      </p:sp>
      <p:sp>
        <p:nvSpPr>
          <p:cNvPr id="14" name="燕尾形 13"/>
          <p:cNvSpPr/>
          <p:nvPr/>
        </p:nvSpPr>
        <p:spPr>
          <a:xfrm>
            <a:off x="5377508" y="1819066"/>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访问控制</a:t>
            </a:r>
            <a:endParaRPr lang="zh-CN" altLang="en-US" sz="1400" dirty="0">
              <a:solidFill>
                <a:schemeClr val="tx1"/>
              </a:solidFill>
            </a:endParaRPr>
          </a:p>
        </p:txBody>
      </p:sp>
      <p:pic>
        <p:nvPicPr>
          <p:cNvPr id="11" name="图片 10"/>
          <p:cNvPicPr/>
          <p:nvPr/>
        </p:nvPicPr>
        <p:blipFill>
          <a:blip r:embed="rId1">
            <a:extLst>
              <a:ext uri="{28A0092B-C50C-407E-A947-70E740481C1C}">
                <a14:useLocalDpi xmlns:a14="http://schemas.microsoft.com/office/drawing/2010/main" val="0"/>
              </a:ext>
            </a:extLst>
          </a:blip>
          <a:srcRect/>
          <a:stretch>
            <a:fillRect/>
          </a:stretch>
        </p:blipFill>
        <p:spPr bwMode="auto">
          <a:xfrm>
            <a:off x="696987" y="2273153"/>
            <a:ext cx="8280920" cy="3820937"/>
          </a:xfrm>
          <a:prstGeom prst="rect">
            <a:avLst/>
          </a:prstGeom>
          <a:noFill/>
          <a:ln>
            <a:solidFill>
              <a:schemeClr val="tx1"/>
            </a:solidFill>
          </a:ln>
        </p:spPr>
      </p:pic>
      <p:pic>
        <p:nvPicPr>
          <p:cNvPr id="16" name="图片 15"/>
          <p:cNvPicPr/>
          <p:nvPr/>
        </p:nvPicPr>
        <p:blipFill>
          <a:blip r:embed="rId2">
            <a:extLst>
              <a:ext uri="{28A0092B-C50C-407E-A947-70E740481C1C}">
                <a14:useLocalDpi xmlns:a14="http://schemas.microsoft.com/office/drawing/2010/main" val="0"/>
              </a:ext>
            </a:extLst>
          </a:blip>
          <a:srcRect/>
          <a:stretch>
            <a:fillRect/>
          </a:stretch>
        </p:blipFill>
        <p:spPr bwMode="auto">
          <a:xfrm>
            <a:off x="2211983" y="2283486"/>
            <a:ext cx="4677692" cy="3810604"/>
          </a:xfrm>
          <a:prstGeom prst="rect">
            <a:avLst/>
          </a:prstGeom>
          <a:noFill/>
          <a:ln>
            <a:solidFill>
              <a:schemeClr val="tx1"/>
            </a:solidFill>
          </a:ln>
        </p:spPr>
      </p:pic>
      <p:pic>
        <p:nvPicPr>
          <p:cNvPr id="17" name="图片 16"/>
          <p:cNvPicPr/>
          <p:nvPr/>
        </p:nvPicPr>
        <p:blipFill>
          <a:blip r:embed="rId3">
            <a:extLst>
              <a:ext uri="{28A0092B-C50C-407E-A947-70E740481C1C}">
                <a14:useLocalDpi xmlns:a14="http://schemas.microsoft.com/office/drawing/2010/main" val="0"/>
              </a:ext>
            </a:extLst>
          </a:blip>
          <a:srcRect/>
          <a:stretch>
            <a:fillRect/>
          </a:stretch>
        </p:blipFill>
        <p:spPr bwMode="auto">
          <a:xfrm>
            <a:off x="3793331" y="2273152"/>
            <a:ext cx="7056784" cy="2452785"/>
          </a:xfrm>
          <a:prstGeom prst="rect">
            <a:avLst/>
          </a:prstGeom>
          <a:noFill/>
          <a:ln>
            <a:solidFill>
              <a:schemeClr val="tx1"/>
            </a:solidFill>
          </a:ln>
        </p:spPr>
      </p:pic>
      <p:pic>
        <p:nvPicPr>
          <p:cNvPr id="18" name="图片 17"/>
          <p:cNvPicPr/>
          <p:nvPr/>
        </p:nvPicPr>
        <p:blipFill>
          <a:blip r:embed="rId4">
            <a:extLst>
              <a:ext uri="{28A0092B-C50C-407E-A947-70E740481C1C}">
                <a14:useLocalDpi xmlns:a14="http://schemas.microsoft.com/office/drawing/2010/main" val="0"/>
              </a:ext>
            </a:extLst>
          </a:blip>
          <a:srcRect/>
          <a:stretch>
            <a:fillRect/>
          </a:stretch>
        </p:blipFill>
        <p:spPr bwMode="auto">
          <a:xfrm>
            <a:off x="5377508" y="2264888"/>
            <a:ext cx="6696743" cy="3469162"/>
          </a:xfrm>
          <a:prstGeom prst="rect">
            <a:avLst/>
          </a:prstGeom>
          <a:noFill/>
          <a:ln>
            <a:solidFill>
              <a:schemeClr val="tx1"/>
            </a:solid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par>
                                <p:cTn id="13" presetID="22" presetClass="entr" presetSubtype="8"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left)">
                                      <p:cBhvr>
                                        <p:cTn id="20" dur="500"/>
                                        <p:tgtEl>
                                          <p:spTgt spid="16"/>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par>
                                <p:cTn id="37" presetID="22" presetClass="entr" presetSubtype="8"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0" grpId="0" animBg="1"/>
      <p:bldP spid="12"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数据治理解决方案 </a:t>
            </a:r>
            <a:r>
              <a:rPr lang="en-US" altLang="zh-CN" dirty="0"/>
              <a:t>– </a:t>
            </a:r>
            <a:r>
              <a:rPr lang="zh-CN" altLang="en-US" dirty="0"/>
              <a:t>数据治理服务内容</a:t>
            </a:r>
            <a:endParaRPr lang="zh-CN" altLang="en-US" dirty="0"/>
          </a:p>
        </p:txBody>
      </p:sp>
      <p:graphicFrame>
        <p:nvGraphicFramePr>
          <p:cNvPr id="24" name="Table 23"/>
          <p:cNvGraphicFramePr>
            <a:graphicFrameLocks noGrp="1"/>
          </p:cNvGraphicFramePr>
          <p:nvPr/>
        </p:nvGraphicFramePr>
        <p:xfrm>
          <a:off x="264939" y="987982"/>
          <a:ext cx="5616624" cy="5130546"/>
        </p:xfrm>
        <a:graphic>
          <a:graphicData uri="http://schemas.openxmlformats.org/drawingml/2006/table">
            <a:tbl>
              <a:tblPr firstRow="1" firstCol="1" bandRow="1">
                <a:tableStyleId>{8EC20E35-A176-4012-BC5E-935CFFF8708E}</a:tableStyleId>
              </a:tblPr>
              <a:tblGrid>
                <a:gridCol w="424977"/>
                <a:gridCol w="871167"/>
                <a:gridCol w="4320480"/>
              </a:tblGrid>
              <a:tr h="0">
                <a:tc>
                  <a:txBody>
                    <a:bodyPr/>
                    <a:lstStyle/>
                    <a:p>
                      <a:pPr algn="ctr">
                        <a:lnSpc>
                          <a:spcPct val="115000"/>
                        </a:lnSpc>
                        <a:spcAft>
                          <a:spcPts val="0"/>
                        </a:spcAft>
                        <a:tabLst>
                          <a:tab pos="3371215" algn="l"/>
                        </a:tabLst>
                      </a:pPr>
                      <a:r>
                        <a:rPr lang="zh-CN" sz="1100" kern="100" dirty="0">
                          <a:effectLst/>
                        </a:rPr>
                        <a:t>序号</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0"/>
                        </a:spcAft>
                        <a:tabLst>
                          <a:tab pos="3371215" algn="l"/>
                        </a:tabLst>
                      </a:pPr>
                      <a:r>
                        <a:rPr lang="zh-CN" sz="1100" kern="100">
                          <a:effectLst/>
                        </a:rPr>
                        <a:t>工作内容</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0"/>
                        </a:spcAft>
                        <a:tabLst>
                          <a:tab pos="3371215" algn="l"/>
                        </a:tabLst>
                      </a:pPr>
                      <a:r>
                        <a:rPr lang="zh-CN" sz="1100" kern="100" dirty="0">
                          <a:effectLst/>
                        </a:rPr>
                        <a:t>工作内容简述</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51839">
                <a:tc>
                  <a:txBody>
                    <a:bodyPr/>
                    <a:lstStyle/>
                    <a:p>
                      <a:pPr algn="ctr">
                        <a:lnSpc>
                          <a:spcPct val="115000"/>
                        </a:lnSpc>
                        <a:spcAft>
                          <a:spcPts val="0"/>
                        </a:spcAft>
                        <a:tabLst>
                          <a:tab pos="3371215" algn="l"/>
                        </a:tabLst>
                      </a:pPr>
                      <a:r>
                        <a:rPr lang="en-US" sz="1100" kern="100" dirty="0">
                          <a:effectLst/>
                        </a:rPr>
                        <a:t>1</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0"/>
                        </a:spcAft>
                        <a:tabLst>
                          <a:tab pos="3371215" algn="l"/>
                        </a:tabLst>
                      </a:pPr>
                      <a:r>
                        <a:rPr lang="zh-CN" sz="1400" kern="100" dirty="0">
                          <a:effectLst/>
                        </a:rPr>
                        <a:t>校级标准</a:t>
                      </a:r>
                      <a:endParaRPr lang="en-US" altLang="zh-CN" sz="1400" kern="100" dirty="0">
                        <a:effectLst/>
                      </a:endParaRPr>
                    </a:p>
                    <a:p>
                      <a:pPr algn="just">
                        <a:lnSpc>
                          <a:spcPct val="115000"/>
                        </a:lnSpc>
                        <a:spcAft>
                          <a:spcPts val="0"/>
                        </a:spcAft>
                        <a:tabLst>
                          <a:tab pos="3371215" algn="l"/>
                        </a:tabLst>
                      </a:pPr>
                      <a:r>
                        <a:rPr lang="zh-CN" sz="1400" kern="100" dirty="0">
                          <a:effectLst/>
                        </a:rPr>
                        <a:t>制定</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50000"/>
                        </a:lnSpc>
                        <a:spcAft>
                          <a:spcPts val="0"/>
                        </a:spcAft>
                        <a:tabLst>
                          <a:tab pos="3371215" algn="l"/>
                        </a:tabLst>
                      </a:pPr>
                      <a:r>
                        <a:rPr lang="zh-CN" sz="1200" kern="100" dirty="0">
                          <a:effectLst/>
                          <a:latin typeface="楷体" panose="02010609060101010101" pitchFamily="49" charset="-122"/>
                          <a:ea typeface="楷体" panose="02010609060101010101" pitchFamily="49" charset="-122"/>
                        </a:rPr>
                        <a:t>参考教育部推荐标准，引用国家强制标准，引入</a:t>
                      </a:r>
                      <a:r>
                        <a:rPr lang="zh-CN" altLang="en-US" sz="1200" kern="100" dirty="0">
                          <a:effectLst/>
                          <a:latin typeface="楷体" panose="02010609060101010101" pitchFamily="49" charset="-122"/>
                          <a:ea typeface="楷体" panose="02010609060101010101" pitchFamily="49" charset="-122"/>
                        </a:rPr>
                        <a:t>当前事实</a:t>
                      </a:r>
                      <a:r>
                        <a:rPr lang="zh-CN" sz="1200" kern="100" dirty="0">
                          <a:effectLst/>
                          <a:latin typeface="楷体" panose="02010609060101010101" pitchFamily="49" charset="-122"/>
                          <a:ea typeface="楷体" panose="02010609060101010101" pitchFamily="49" charset="-122"/>
                        </a:rPr>
                        <a:t>标准，形成最终的校级数据</a:t>
                      </a:r>
                      <a:r>
                        <a:rPr kumimoji="0" lang="zh-CN" altLang="en-US" sz="1200" b="0" i="0" u="none" strike="noStrike" kern="1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执行</a:t>
                      </a:r>
                      <a:r>
                        <a:rPr lang="zh-CN" sz="1200" kern="100" dirty="0">
                          <a:effectLst/>
                          <a:latin typeface="楷体" panose="02010609060101010101" pitchFamily="49" charset="-122"/>
                          <a:ea typeface="楷体" panose="02010609060101010101" pitchFamily="49" charset="-122"/>
                        </a:rPr>
                        <a:t>标准。</a:t>
                      </a:r>
                      <a:endParaRPr lang="zh-CN" sz="1200" kern="100" dirty="0">
                        <a:effectLst/>
                        <a:latin typeface="楷体" panose="02010609060101010101" pitchFamily="49" charset="-122"/>
                        <a:ea typeface="楷体" panose="02010609060101010101" pitchFamily="49" charset="-122"/>
                      </a:endParaRPr>
                    </a:p>
                    <a:p>
                      <a:pPr algn="just">
                        <a:lnSpc>
                          <a:spcPct val="150000"/>
                        </a:lnSpc>
                        <a:spcAft>
                          <a:spcPts val="0"/>
                        </a:spcAft>
                        <a:tabLst>
                          <a:tab pos="3371215" algn="l"/>
                        </a:tabLst>
                      </a:pPr>
                      <a:r>
                        <a:rPr lang="zh-CN" altLang="en-US" sz="1200" kern="100" dirty="0">
                          <a:effectLst/>
                          <a:latin typeface="楷体" panose="02010609060101010101" pitchFamily="49" charset="-122"/>
                          <a:ea typeface="楷体" panose="02010609060101010101" pitchFamily="49" charset="-122"/>
                        </a:rPr>
                        <a:t>校标包含数据子集分类定义、</a:t>
                      </a:r>
                      <a:r>
                        <a:rPr lang="zh-CN" sz="1200" kern="100" dirty="0">
                          <a:effectLst/>
                          <a:latin typeface="楷体" panose="02010609060101010101" pitchFamily="49" charset="-122"/>
                          <a:ea typeface="楷体" panose="02010609060101010101" pitchFamily="49" charset="-122"/>
                        </a:rPr>
                        <a:t>元数据</a:t>
                      </a:r>
                      <a:r>
                        <a:rPr lang="zh-CN" altLang="en-US" sz="1200" kern="100" dirty="0">
                          <a:effectLst/>
                          <a:latin typeface="楷体" panose="02010609060101010101" pitchFamily="49" charset="-122"/>
                          <a:ea typeface="楷体" panose="02010609060101010101" pitchFamily="49" charset="-122"/>
                        </a:rPr>
                        <a:t>模型</a:t>
                      </a:r>
                      <a:r>
                        <a:rPr lang="zh-CN" sz="1200" kern="100" dirty="0">
                          <a:effectLst/>
                          <a:latin typeface="楷体" panose="02010609060101010101" pitchFamily="49" charset="-122"/>
                          <a:ea typeface="楷体" panose="02010609060101010101" pitchFamily="49" charset="-122"/>
                        </a:rPr>
                        <a:t>标准、</a:t>
                      </a:r>
                      <a:r>
                        <a:rPr lang="zh-CN" altLang="en-US" sz="1200" kern="100" dirty="0">
                          <a:effectLst/>
                          <a:latin typeface="楷体" panose="02010609060101010101" pitchFamily="49" charset="-122"/>
                          <a:ea typeface="楷体" panose="02010609060101010101" pitchFamily="49" charset="-122"/>
                        </a:rPr>
                        <a:t>代码</a:t>
                      </a:r>
                      <a:r>
                        <a:rPr lang="zh-CN" sz="1200" kern="100" dirty="0">
                          <a:effectLst/>
                          <a:latin typeface="楷体" panose="02010609060101010101" pitchFamily="49" charset="-122"/>
                          <a:ea typeface="楷体" panose="02010609060101010101" pitchFamily="49" charset="-122"/>
                        </a:rPr>
                        <a:t>标准</a:t>
                      </a:r>
                      <a:r>
                        <a:rPr lang="zh-CN" altLang="en-US" sz="1200" kern="100" dirty="0">
                          <a:effectLst/>
                          <a:latin typeface="楷体" panose="02010609060101010101" pitchFamily="49" charset="-122"/>
                          <a:ea typeface="楷体" panose="02010609060101010101" pitchFamily="49" charset="-122"/>
                        </a:rPr>
                        <a:t>、编码规则、命名规则、交换规范等。</a:t>
                      </a:r>
                      <a:endParaRPr lang="en-US" altLang="zh-CN" sz="1200" kern="100" dirty="0">
                        <a:effectLst/>
                        <a:latin typeface="楷体" panose="02010609060101010101" pitchFamily="49" charset="-122"/>
                        <a:ea typeface="楷体" panose="02010609060101010101" pitchFamily="49" charset="-122"/>
                      </a:endParaRPr>
                    </a:p>
                    <a:p>
                      <a:pPr algn="just">
                        <a:lnSpc>
                          <a:spcPct val="150000"/>
                        </a:lnSpc>
                        <a:spcAft>
                          <a:spcPts val="0"/>
                        </a:spcAft>
                        <a:tabLst>
                          <a:tab pos="3371215" algn="l"/>
                        </a:tabLst>
                      </a:pPr>
                      <a:r>
                        <a:rPr lang="zh-CN" sz="1200" kern="100" dirty="0">
                          <a:effectLst/>
                          <a:latin typeface="楷体" panose="02010609060101010101" pitchFamily="49" charset="-122"/>
                          <a:ea typeface="楷体" panose="02010609060101010101" pitchFamily="49" charset="-122"/>
                        </a:rPr>
                        <a:t>校标所涵盖的</a:t>
                      </a:r>
                      <a:r>
                        <a:rPr lang="zh-CN" altLang="en-US" sz="1200" kern="100" dirty="0">
                          <a:effectLst/>
                          <a:latin typeface="楷体" panose="02010609060101010101" pitchFamily="49" charset="-122"/>
                          <a:ea typeface="楷体" panose="02010609060101010101" pitchFamily="49" charset="-122"/>
                        </a:rPr>
                        <a:t>数据</a:t>
                      </a:r>
                      <a:r>
                        <a:rPr lang="zh-CN" sz="1200" kern="100" dirty="0">
                          <a:effectLst/>
                          <a:latin typeface="楷体" panose="02010609060101010101" pitchFamily="49" charset="-122"/>
                          <a:ea typeface="楷体" panose="02010609060101010101" pitchFamily="49" charset="-122"/>
                        </a:rPr>
                        <a:t>范围就是数据治理输出</a:t>
                      </a:r>
                      <a:r>
                        <a:rPr lang="zh-CN" altLang="en-US" sz="1200" kern="100" dirty="0">
                          <a:effectLst/>
                          <a:latin typeface="楷体" panose="02010609060101010101" pitchFamily="49" charset="-122"/>
                          <a:ea typeface="楷体" panose="02010609060101010101" pitchFamily="49" charset="-122"/>
                        </a:rPr>
                        <a:t>的成果数据的</a:t>
                      </a:r>
                      <a:r>
                        <a:rPr lang="zh-CN" sz="1200" kern="100" dirty="0">
                          <a:effectLst/>
                          <a:latin typeface="楷体" panose="02010609060101010101" pitchFamily="49" charset="-122"/>
                          <a:ea typeface="楷体" panose="02010609060101010101" pitchFamily="49" charset="-122"/>
                        </a:rPr>
                        <a:t>范围</a:t>
                      </a:r>
                      <a:r>
                        <a:rPr lang="zh-CN" altLang="en-US" sz="1200" kern="100" dirty="0">
                          <a:effectLst/>
                          <a:latin typeface="楷体" panose="02010609060101010101" pitchFamily="49" charset="-122"/>
                          <a:ea typeface="楷体" panose="02010609060101010101" pitchFamily="49" charset="-122"/>
                        </a:rPr>
                        <a:t>目标。</a:t>
                      </a:r>
                      <a:endParaRPr lang="en-US" altLang="zh-CN" sz="1200" kern="100" dirty="0">
                        <a:effectLst/>
                        <a:latin typeface="楷体" panose="02010609060101010101" pitchFamily="49" charset="-122"/>
                        <a:ea typeface="楷体" panose="02010609060101010101" pitchFamily="49" charset="-122"/>
                      </a:endParaRPr>
                    </a:p>
                    <a:p>
                      <a:pPr algn="just">
                        <a:lnSpc>
                          <a:spcPct val="150000"/>
                        </a:lnSpc>
                        <a:spcAft>
                          <a:spcPts val="0"/>
                        </a:spcAft>
                        <a:tabLst>
                          <a:tab pos="3371215" algn="l"/>
                        </a:tabLst>
                      </a:pPr>
                      <a:r>
                        <a:rPr lang="zh-CN" altLang="en-US" sz="1200" kern="100" dirty="0">
                          <a:effectLst/>
                          <a:latin typeface="楷体" panose="02010609060101010101" pitchFamily="49" charset="-122"/>
                          <a:ea typeface="楷体" panose="02010609060101010101" pitchFamily="49" charset="-122"/>
                          <a:cs typeface="Times New Roman" panose="02020603050405020304" pitchFamily="18" charset="0"/>
                        </a:rPr>
                        <a:t>依据</a:t>
                      </a:r>
                      <a:r>
                        <a:rPr lang="zh-CN" altLang="zh-CN" sz="1200" kern="100" dirty="0">
                          <a:effectLst/>
                          <a:latin typeface="楷体" panose="02010609060101010101" pitchFamily="49" charset="-122"/>
                          <a:ea typeface="楷体" panose="02010609060101010101" pitchFamily="49" charset="-122"/>
                        </a:rPr>
                        <a:t>校标</a:t>
                      </a:r>
                      <a:r>
                        <a:rPr lang="zh-CN" altLang="en-US" sz="1200" kern="100" dirty="0">
                          <a:effectLst/>
                          <a:latin typeface="楷体" panose="02010609060101010101" pitchFamily="49" charset="-122"/>
                          <a:ea typeface="楷体" panose="02010609060101010101" pitchFamily="49" charset="-122"/>
                        </a:rPr>
                        <a:t>在华为</a:t>
                      </a:r>
                      <a:r>
                        <a:rPr lang="en-US" altLang="zh-CN" sz="1200" kern="100" dirty="0">
                          <a:effectLst/>
                          <a:latin typeface="楷体" panose="02010609060101010101" pitchFamily="49" charset="-122"/>
                          <a:ea typeface="楷体" panose="02010609060101010101" pitchFamily="49" charset="-122"/>
                        </a:rPr>
                        <a:t>DWS</a:t>
                      </a:r>
                      <a:r>
                        <a:rPr lang="zh-CN" altLang="en-US" sz="1200" kern="100" dirty="0">
                          <a:effectLst/>
                          <a:latin typeface="楷体" panose="02010609060101010101" pitchFamily="49" charset="-122"/>
                          <a:ea typeface="楷体" panose="02010609060101010101" pitchFamily="49" charset="-122"/>
                        </a:rPr>
                        <a:t>中进行建表，形成成果数据的结构框架。</a:t>
                      </a:r>
                      <a:endParaRPr lang="zh-CN" sz="12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01051">
                <a:tc>
                  <a:txBody>
                    <a:bodyPr/>
                    <a:lstStyle/>
                    <a:p>
                      <a:pPr algn="ctr">
                        <a:lnSpc>
                          <a:spcPct val="115000"/>
                        </a:lnSpc>
                        <a:spcAft>
                          <a:spcPts val="0"/>
                        </a:spcAft>
                        <a:tabLst>
                          <a:tab pos="3371215" algn="l"/>
                        </a:tabLst>
                      </a:pPr>
                      <a:r>
                        <a:rPr lang="en-US" sz="1100" kern="100">
                          <a:effectLst/>
                        </a:rPr>
                        <a:t>2</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0"/>
                        </a:spcAft>
                        <a:tabLst>
                          <a:tab pos="3371215" algn="l"/>
                        </a:tabLst>
                      </a:pPr>
                      <a:r>
                        <a:rPr lang="zh-CN" sz="1400" kern="100" dirty="0">
                          <a:effectLst/>
                        </a:rPr>
                        <a:t>数据调研</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50000"/>
                        </a:lnSpc>
                        <a:spcAft>
                          <a:spcPts val="0"/>
                        </a:spcAft>
                        <a:tabLst>
                          <a:tab pos="3371215" algn="l"/>
                        </a:tabLst>
                      </a:pPr>
                      <a:r>
                        <a:rPr lang="zh-CN" sz="1200" kern="100" dirty="0">
                          <a:effectLst/>
                          <a:latin typeface="楷体" panose="02010609060101010101" pitchFamily="49" charset="-122"/>
                          <a:ea typeface="楷体" panose="02010609060101010101" pitchFamily="49" charset="-122"/>
                        </a:rPr>
                        <a:t>对学校</a:t>
                      </a:r>
                      <a:r>
                        <a:rPr lang="zh-CN" altLang="en-US" sz="1200" kern="100" dirty="0">
                          <a:effectLst/>
                          <a:latin typeface="楷体" panose="02010609060101010101" pitchFamily="49" charset="-122"/>
                          <a:ea typeface="楷体" panose="02010609060101010101" pitchFamily="49" charset="-122"/>
                        </a:rPr>
                        <a:t>各部门的业务、</a:t>
                      </a:r>
                      <a:r>
                        <a:rPr lang="zh-CN" sz="1200" kern="100" dirty="0">
                          <a:effectLst/>
                          <a:latin typeface="楷体" panose="02010609060101010101" pitchFamily="49" charset="-122"/>
                          <a:ea typeface="楷体" panose="02010609060101010101" pitchFamily="49" charset="-122"/>
                        </a:rPr>
                        <a:t>组织架构、</a:t>
                      </a:r>
                      <a:r>
                        <a:rPr lang="zh-CN" altLang="en-US" sz="1200" kern="100" dirty="0">
                          <a:effectLst/>
                          <a:latin typeface="楷体" panose="02010609060101010101" pitchFamily="49" charset="-122"/>
                          <a:ea typeface="楷体" panose="02010609060101010101" pitchFamily="49" charset="-122"/>
                        </a:rPr>
                        <a:t>、数据等</a:t>
                      </a:r>
                      <a:r>
                        <a:rPr lang="zh-CN" sz="1200" kern="100" dirty="0">
                          <a:effectLst/>
                          <a:latin typeface="楷体" panose="02010609060101010101" pitchFamily="49" charset="-122"/>
                          <a:ea typeface="楷体" panose="02010609060101010101" pitchFamily="49" charset="-122"/>
                        </a:rPr>
                        <a:t>进行调研了解。</a:t>
                      </a:r>
                      <a:endParaRPr lang="zh-CN" sz="1200" kern="100" dirty="0">
                        <a:effectLst/>
                        <a:latin typeface="楷体" panose="02010609060101010101" pitchFamily="49" charset="-122"/>
                        <a:ea typeface="楷体" panose="02010609060101010101" pitchFamily="49" charset="-122"/>
                      </a:endParaRPr>
                    </a:p>
                    <a:p>
                      <a:pPr algn="just">
                        <a:lnSpc>
                          <a:spcPct val="150000"/>
                        </a:lnSpc>
                        <a:spcAft>
                          <a:spcPts val="0"/>
                        </a:spcAft>
                        <a:tabLst>
                          <a:tab pos="3371215" algn="l"/>
                        </a:tabLst>
                      </a:pPr>
                      <a:r>
                        <a:rPr lang="zh-CN" altLang="en-US" sz="1200" kern="100" dirty="0">
                          <a:effectLst/>
                          <a:latin typeface="楷体" panose="02010609060101010101" pitchFamily="49" charset="-122"/>
                          <a:ea typeface="楷体" panose="02010609060101010101" pitchFamily="49" charset="-122"/>
                        </a:rPr>
                        <a:t>主要包括</a:t>
                      </a:r>
                      <a:r>
                        <a:rPr lang="zh-CN" sz="1200" kern="100" dirty="0">
                          <a:effectLst/>
                          <a:latin typeface="楷体" panose="02010609060101010101" pitchFamily="49" charset="-122"/>
                          <a:ea typeface="楷体" panose="02010609060101010101" pitchFamily="49" charset="-122"/>
                        </a:rPr>
                        <a:t>业务范围、组织机构、工作流程、数据来源、</a:t>
                      </a:r>
                      <a:r>
                        <a:rPr lang="zh-CN" altLang="en-US" sz="1200" kern="100" dirty="0">
                          <a:effectLst/>
                          <a:latin typeface="楷体" panose="02010609060101010101" pitchFamily="49" charset="-122"/>
                          <a:ea typeface="楷体" panose="02010609060101010101" pitchFamily="49" charset="-122"/>
                        </a:rPr>
                        <a:t>数据字典、</a:t>
                      </a:r>
                      <a:r>
                        <a:rPr lang="zh-CN" sz="1200" kern="100" dirty="0">
                          <a:effectLst/>
                          <a:latin typeface="楷体" panose="02010609060101010101" pitchFamily="49" charset="-122"/>
                          <a:ea typeface="楷体" panose="02010609060101010101" pitchFamily="49" charset="-122"/>
                        </a:rPr>
                        <a:t>数据形态、供需关系、交换共享要求、数据质量问题、标准资源、</a:t>
                      </a:r>
                      <a:r>
                        <a:rPr lang="zh-CN" altLang="en-US" sz="1200" kern="100" dirty="0">
                          <a:effectLst/>
                          <a:latin typeface="楷体" panose="02010609060101010101" pitchFamily="49" charset="-122"/>
                          <a:ea typeface="楷体" panose="02010609060101010101" pitchFamily="49" charset="-122"/>
                        </a:rPr>
                        <a:t>数据</a:t>
                      </a:r>
                      <a:r>
                        <a:rPr lang="zh-CN" sz="1200" kern="100" dirty="0">
                          <a:effectLst/>
                          <a:latin typeface="楷体" panose="02010609060101010101" pitchFamily="49" charset="-122"/>
                          <a:ea typeface="楷体" panose="02010609060101010101" pitchFamily="49" charset="-122"/>
                        </a:rPr>
                        <a:t>分析</a:t>
                      </a:r>
                      <a:r>
                        <a:rPr lang="zh-CN" altLang="en-US" sz="1200" kern="100" dirty="0">
                          <a:effectLst/>
                          <a:latin typeface="楷体" panose="02010609060101010101" pitchFamily="49" charset="-122"/>
                          <a:ea typeface="楷体" panose="02010609060101010101" pitchFamily="49" charset="-122"/>
                        </a:rPr>
                        <a:t>需求</a:t>
                      </a:r>
                      <a:r>
                        <a:rPr lang="zh-CN" sz="1200" kern="100" dirty="0">
                          <a:effectLst/>
                          <a:latin typeface="楷体" panose="02010609060101010101" pitchFamily="49" charset="-122"/>
                          <a:ea typeface="楷体" panose="02010609060101010101" pitchFamily="49" charset="-122"/>
                        </a:rPr>
                        <a:t>等进行调研了解。</a:t>
                      </a:r>
                      <a:endParaRPr lang="zh-CN" sz="12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01576">
                <a:tc>
                  <a:txBody>
                    <a:bodyPr/>
                    <a:lstStyle/>
                    <a:p>
                      <a:pPr algn="ctr">
                        <a:lnSpc>
                          <a:spcPct val="115000"/>
                        </a:lnSpc>
                        <a:spcAft>
                          <a:spcPts val="0"/>
                        </a:spcAft>
                        <a:tabLst>
                          <a:tab pos="3371215" algn="l"/>
                        </a:tabLst>
                      </a:pPr>
                      <a:r>
                        <a:rPr lang="en-US" sz="1100" kern="100">
                          <a:effectLst/>
                        </a:rPr>
                        <a:t>3</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0"/>
                        </a:spcAft>
                        <a:tabLst>
                          <a:tab pos="3371215" algn="l"/>
                        </a:tabLst>
                      </a:pPr>
                      <a:r>
                        <a:rPr lang="zh-CN" sz="1400" kern="100">
                          <a:effectLst/>
                        </a:rPr>
                        <a:t>数据识别 </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50000"/>
                        </a:lnSpc>
                        <a:spcAft>
                          <a:spcPts val="0"/>
                        </a:spcAft>
                        <a:tabLst>
                          <a:tab pos="3371215" algn="l"/>
                        </a:tabLst>
                      </a:pPr>
                      <a:r>
                        <a:rPr lang="zh-CN" sz="1200" kern="100" dirty="0">
                          <a:effectLst/>
                          <a:latin typeface="楷体" panose="02010609060101010101" pitchFamily="49" charset="-122"/>
                          <a:ea typeface="楷体" panose="02010609060101010101" pitchFamily="49" charset="-122"/>
                        </a:rPr>
                        <a:t>根据数据调研的结果，</a:t>
                      </a:r>
                      <a:r>
                        <a:rPr lang="zh-CN" altLang="en-US" sz="1200" kern="100" dirty="0">
                          <a:effectLst/>
                          <a:latin typeface="楷体" panose="02010609060101010101" pitchFamily="49" charset="-122"/>
                          <a:ea typeface="楷体" panose="02010609060101010101" pitchFamily="49" charset="-122"/>
                        </a:rPr>
                        <a:t>利用数据字典识别数据含义，与数据标准进行对照，标识数据权威来源，确定采集对象、采集范围和技术参数。</a:t>
                      </a:r>
                      <a:endParaRPr lang="zh-CN" sz="12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51839">
                <a:tc>
                  <a:txBody>
                    <a:bodyPr/>
                    <a:lstStyle/>
                    <a:p>
                      <a:pPr algn="ctr">
                        <a:lnSpc>
                          <a:spcPct val="115000"/>
                        </a:lnSpc>
                        <a:spcAft>
                          <a:spcPts val="0"/>
                        </a:spcAft>
                        <a:tabLst>
                          <a:tab pos="3371215" algn="l"/>
                        </a:tabLst>
                      </a:pPr>
                      <a:r>
                        <a:rPr lang="en-US" sz="1100" kern="100">
                          <a:effectLst/>
                        </a:rPr>
                        <a:t>5</a:t>
                      </a:r>
                      <a:endParaRPr lang="zh-CN" sz="1100" kern="10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0"/>
                        </a:spcAft>
                        <a:tabLst>
                          <a:tab pos="3371215" algn="l"/>
                        </a:tabLst>
                      </a:pPr>
                      <a:r>
                        <a:rPr lang="zh-CN" sz="1400" kern="100" dirty="0">
                          <a:effectLst/>
                        </a:rPr>
                        <a:t>数据采集</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50000"/>
                        </a:lnSpc>
                        <a:spcAft>
                          <a:spcPts val="0"/>
                        </a:spcAft>
                        <a:tabLst>
                          <a:tab pos="3371215" algn="l"/>
                        </a:tabLst>
                      </a:pPr>
                      <a:r>
                        <a:rPr lang="zh-CN" altLang="en-US" sz="1200" kern="100" dirty="0">
                          <a:effectLst/>
                          <a:latin typeface="楷体" panose="02010609060101010101" pitchFamily="49" charset="-122"/>
                          <a:ea typeface="楷体" panose="02010609060101010101" pitchFamily="49" charset="-122"/>
                        </a:rPr>
                        <a:t>对目标数据，</a:t>
                      </a:r>
                      <a:r>
                        <a:rPr lang="zh-CN" sz="1200" kern="100" dirty="0">
                          <a:effectLst/>
                          <a:latin typeface="楷体" panose="02010609060101010101" pitchFamily="49" charset="-122"/>
                          <a:ea typeface="楷体" panose="02010609060101010101" pitchFamily="49" charset="-122"/>
                        </a:rPr>
                        <a:t>利用</a:t>
                      </a:r>
                      <a:r>
                        <a:rPr lang="zh-CN" altLang="en-US" sz="1200" kern="100" dirty="0">
                          <a:effectLst/>
                          <a:latin typeface="楷体" panose="02010609060101010101" pitchFamily="49" charset="-122"/>
                          <a:ea typeface="楷体" panose="02010609060101010101" pitchFamily="49" charset="-122"/>
                        </a:rPr>
                        <a:t>华为</a:t>
                      </a:r>
                      <a:r>
                        <a:rPr lang="en-US" altLang="zh-CN" sz="1200" kern="100" dirty="0">
                          <a:effectLst/>
                          <a:latin typeface="楷体" panose="02010609060101010101" pitchFamily="49" charset="-122"/>
                          <a:ea typeface="楷体" panose="02010609060101010101" pitchFamily="49" charset="-122"/>
                        </a:rPr>
                        <a:t>DLF</a:t>
                      </a:r>
                      <a:r>
                        <a:rPr lang="zh-CN" altLang="en-US" sz="1200" kern="100" dirty="0">
                          <a:effectLst/>
                          <a:latin typeface="楷体" panose="02010609060101010101" pitchFamily="49" charset="-122"/>
                          <a:ea typeface="楷体" panose="02010609060101010101" pitchFamily="49" charset="-122"/>
                        </a:rPr>
                        <a:t>的</a:t>
                      </a:r>
                      <a:r>
                        <a:rPr lang="en-US" altLang="zh-CN" sz="1200" kern="100" dirty="0">
                          <a:effectLst/>
                          <a:latin typeface="楷体" panose="02010609060101010101" pitchFamily="49" charset="-122"/>
                          <a:ea typeface="楷体" panose="02010609060101010101" pitchFamily="49" charset="-122"/>
                        </a:rPr>
                        <a:t>DI</a:t>
                      </a:r>
                      <a:r>
                        <a:rPr lang="zh-CN" altLang="en-US" sz="1200" kern="100" dirty="0">
                          <a:effectLst/>
                          <a:latin typeface="楷体" panose="02010609060101010101" pitchFamily="49" charset="-122"/>
                          <a:ea typeface="楷体" panose="02010609060101010101" pitchFamily="49" charset="-122"/>
                        </a:rPr>
                        <a:t>（数据集成）组件进行采集。</a:t>
                      </a:r>
                      <a:endParaRPr lang="en-US" altLang="zh-CN" sz="1200" kern="100" dirty="0">
                        <a:effectLst/>
                        <a:latin typeface="楷体" panose="02010609060101010101" pitchFamily="49" charset="-122"/>
                        <a:ea typeface="楷体" panose="02010609060101010101" pitchFamily="49" charset="-122"/>
                      </a:endParaRPr>
                    </a:p>
                    <a:p>
                      <a:pPr algn="just">
                        <a:lnSpc>
                          <a:spcPct val="150000"/>
                        </a:lnSpc>
                        <a:spcAft>
                          <a:spcPts val="0"/>
                        </a:spcAft>
                        <a:tabLst>
                          <a:tab pos="3371215" algn="l"/>
                        </a:tabLst>
                      </a:pPr>
                      <a:r>
                        <a:rPr lang="zh-CN" sz="1200" kern="100" dirty="0">
                          <a:effectLst/>
                          <a:latin typeface="楷体" panose="02010609060101010101" pitchFamily="49" charset="-122"/>
                          <a:ea typeface="楷体" panose="02010609060101010101" pitchFamily="49" charset="-122"/>
                        </a:rPr>
                        <a:t>其中数据库和表格数据存储在临时库</a:t>
                      </a:r>
                      <a:r>
                        <a:rPr lang="en-US" sz="1200" kern="100" dirty="0">
                          <a:effectLst/>
                          <a:latin typeface="楷体" panose="02010609060101010101" pitchFamily="49" charset="-122"/>
                          <a:ea typeface="楷体" panose="02010609060101010101" pitchFamily="49" charset="-122"/>
                        </a:rPr>
                        <a:t>ODS</a:t>
                      </a:r>
                      <a:r>
                        <a:rPr lang="zh-CN" sz="1200" kern="100" dirty="0">
                          <a:effectLst/>
                          <a:latin typeface="楷体" panose="02010609060101010101" pitchFamily="49" charset="-122"/>
                          <a:ea typeface="楷体" panose="02010609060101010101" pitchFamily="49" charset="-122"/>
                        </a:rPr>
                        <a:t>中，等待进行清洗治理。</a:t>
                      </a:r>
                      <a:endParaRPr lang="en-US" altLang="zh-CN" sz="1200" kern="100" dirty="0">
                        <a:effectLst/>
                        <a:latin typeface="楷体" panose="02010609060101010101" pitchFamily="49" charset="-122"/>
                        <a:ea typeface="楷体" panose="02010609060101010101" pitchFamily="49" charset="-122"/>
                      </a:endParaRPr>
                    </a:p>
                    <a:p>
                      <a:pPr marL="0" marR="0" lvl="0" indent="0" algn="just" defTabSz="1219200" rtl="0" eaLnBrk="1" fontAlgn="auto" latinLnBrk="0" hangingPunct="1">
                        <a:lnSpc>
                          <a:spcPct val="150000"/>
                        </a:lnSpc>
                        <a:spcBef>
                          <a:spcPts val="0"/>
                        </a:spcBef>
                        <a:spcAft>
                          <a:spcPts val="0"/>
                        </a:spcAft>
                        <a:buClrTx/>
                        <a:buSzTx/>
                        <a:buFontTx/>
                        <a:buNone/>
                        <a:tabLst>
                          <a:tab pos="3371215" algn="l"/>
                        </a:tabLst>
                        <a:defRPr/>
                      </a:pPr>
                      <a:r>
                        <a:rPr lang="en-US" altLang="zh-CN" sz="1200" kern="100" dirty="0">
                          <a:solidFill>
                            <a:srgbClr val="FF0000"/>
                          </a:solidFill>
                          <a:effectLst/>
                          <a:latin typeface="楷体" panose="02010609060101010101" pitchFamily="49" charset="-122"/>
                          <a:ea typeface="楷体" panose="02010609060101010101" pitchFamily="49" charset="-122"/>
                        </a:rPr>
                        <a:t>//?</a:t>
                      </a:r>
                      <a:r>
                        <a:rPr lang="zh-CN" altLang="zh-CN" sz="1200" kern="100" dirty="0">
                          <a:solidFill>
                            <a:srgbClr val="FF0000"/>
                          </a:solidFill>
                          <a:effectLst/>
                          <a:latin typeface="楷体" panose="02010609060101010101" pitchFamily="49" charset="-122"/>
                          <a:ea typeface="楷体" panose="02010609060101010101" pitchFamily="49" charset="-122"/>
                        </a:rPr>
                        <a:t>日志数据</a:t>
                      </a:r>
                      <a:r>
                        <a:rPr lang="zh-CN" altLang="en-US" sz="1200" kern="100" dirty="0">
                          <a:solidFill>
                            <a:srgbClr val="FF0000"/>
                          </a:solidFill>
                          <a:effectLst/>
                          <a:latin typeface="楷体" panose="02010609060101010101" pitchFamily="49" charset="-122"/>
                          <a:ea typeface="楷体" panose="02010609060101010101" pitchFamily="49" charset="-122"/>
                        </a:rPr>
                        <a:t>通过华为</a:t>
                      </a:r>
                      <a:r>
                        <a:rPr lang="en-US" altLang="zh-CN" sz="1200" kern="100" dirty="0" err="1">
                          <a:solidFill>
                            <a:srgbClr val="FF0000"/>
                          </a:solidFill>
                          <a:effectLst/>
                          <a:latin typeface="楷体" panose="02010609060101010101" pitchFamily="49" charset="-122"/>
                          <a:ea typeface="楷体" panose="02010609060101010101" pitchFamily="49" charset="-122"/>
                        </a:rPr>
                        <a:t>Fusioninsight</a:t>
                      </a:r>
                      <a:r>
                        <a:rPr lang="zh-CN" altLang="en-US" sz="1200" kern="100" dirty="0">
                          <a:solidFill>
                            <a:srgbClr val="FF0000"/>
                          </a:solidFill>
                          <a:effectLst/>
                          <a:latin typeface="楷体" panose="02010609060101010101" pitchFamily="49" charset="-122"/>
                          <a:ea typeface="楷体" panose="02010609060101010101" pitchFamily="49" charset="-122"/>
                        </a:rPr>
                        <a:t>的</a:t>
                      </a:r>
                      <a:r>
                        <a:rPr lang="en-US" altLang="zh-CN" sz="1200" kern="100" dirty="0">
                          <a:solidFill>
                            <a:srgbClr val="FF0000"/>
                          </a:solidFill>
                          <a:effectLst/>
                          <a:latin typeface="楷体" panose="02010609060101010101" pitchFamily="49" charset="-122"/>
                          <a:ea typeface="楷体" panose="02010609060101010101" pitchFamily="49" charset="-122"/>
                        </a:rPr>
                        <a:t>Flume</a:t>
                      </a:r>
                      <a:r>
                        <a:rPr lang="zh-CN" altLang="en-US" sz="1200" kern="100" dirty="0">
                          <a:solidFill>
                            <a:srgbClr val="FF0000"/>
                          </a:solidFill>
                          <a:effectLst/>
                          <a:latin typeface="楷体" panose="02010609060101010101" pitchFamily="49" charset="-122"/>
                          <a:ea typeface="楷体" panose="02010609060101010101" pitchFamily="49" charset="-122"/>
                        </a:rPr>
                        <a:t>组件捕获存盘，利用</a:t>
                      </a:r>
                      <a:r>
                        <a:rPr lang="en-US" altLang="zh-CN" sz="1200" kern="100" dirty="0">
                          <a:solidFill>
                            <a:srgbClr val="FF0000"/>
                          </a:solidFill>
                          <a:effectLst/>
                          <a:latin typeface="楷体" panose="02010609060101010101" pitchFamily="49" charset="-122"/>
                          <a:ea typeface="楷体" panose="02010609060101010101" pitchFamily="49" charset="-122"/>
                        </a:rPr>
                        <a:t>DI</a:t>
                      </a:r>
                      <a:r>
                        <a:rPr lang="zh-CN" altLang="en-US" sz="1200" kern="100" dirty="0">
                          <a:solidFill>
                            <a:srgbClr val="FF0000"/>
                          </a:solidFill>
                          <a:effectLst/>
                          <a:latin typeface="楷体" panose="02010609060101010101" pitchFamily="49" charset="-122"/>
                          <a:ea typeface="楷体" panose="02010609060101010101" pitchFamily="49" charset="-122"/>
                        </a:rPr>
                        <a:t>（数据集成）组件进行</a:t>
                      </a:r>
                      <a:r>
                        <a:rPr lang="zh-CN" altLang="zh-CN" sz="1200" kern="100" dirty="0">
                          <a:solidFill>
                            <a:srgbClr val="FF0000"/>
                          </a:solidFill>
                          <a:effectLst/>
                          <a:latin typeface="楷体" panose="02010609060101010101" pitchFamily="49" charset="-122"/>
                          <a:ea typeface="楷体" panose="02010609060101010101" pitchFamily="49" charset="-122"/>
                        </a:rPr>
                        <a:t>采集</a:t>
                      </a:r>
                      <a:r>
                        <a:rPr lang="zh-CN" altLang="en-US" sz="1200" kern="100" dirty="0">
                          <a:solidFill>
                            <a:srgbClr val="FF0000"/>
                          </a:solidFill>
                          <a:effectLst/>
                          <a:latin typeface="楷体" panose="02010609060101010101" pitchFamily="49" charset="-122"/>
                          <a:ea typeface="楷体" panose="02010609060101010101" pitchFamily="49" charset="-122"/>
                        </a:rPr>
                        <a:t>、解析、转换。（通常对</a:t>
                      </a:r>
                      <a:r>
                        <a:rPr lang="zh-CN" altLang="zh-CN" sz="1200" kern="100" dirty="0">
                          <a:solidFill>
                            <a:srgbClr val="FF0000"/>
                          </a:solidFill>
                          <a:effectLst/>
                          <a:latin typeface="楷体" panose="02010609060101010101" pitchFamily="49" charset="-122"/>
                          <a:ea typeface="楷体" panose="02010609060101010101" pitchFamily="49" charset="-122"/>
                        </a:rPr>
                        <a:t>日志数据</a:t>
                      </a:r>
                      <a:r>
                        <a:rPr lang="zh-CN" altLang="en-US" sz="1200" kern="100" dirty="0">
                          <a:solidFill>
                            <a:srgbClr val="FF0000"/>
                          </a:solidFill>
                          <a:effectLst/>
                          <a:latin typeface="楷体" panose="02010609060101010101" pitchFamily="49" charset="-122"/>
                          <a:ea typeface="楷体" panose="02010609060101010101" pitchFamily="49" charset="-122"/>
                        </a:rPr>
                        <a:t>无需质量检测）？</a:t>
                      </a:r>
                      <a:r>
                        <a:rPr lang="en-US" altLang="zh-CN" sz="1200" kern="100" dirty="0">
                          <a:solidFill>
                            <a:srgbClr val="FF0000"/>
                          </a:solidFill>
                          <a:effectLst/>
                          <a:latin typeface="楷体" panose="02010609060101010101" pitchFamily="49" charset="-122"/>
                          <a:ea typeface="楷体" panose="02010609060101010101" pitchFamily="49" charset="-122"/>
                        </a:rPr>
                        <a:t>//</a:t>
                      </a:r>
                      <a:endParaRPr lang="en-US" altLang="zh-CN" sz="1200" kern="100" dirty="0">
                        <a:solidFill>
                          <a:srgbClr val="FF0000"/>
                        </a:solidFill>
                        <a:effectLst/>
                        <a:latin typeface="楷体" panose="02010609060101010101" pitchFamily="49" charset="-122"/>
                        <a:ea typeface="楷体" panose="02010609060101010101" pitchFamily="49" charset="-122"/>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5" name="Table 4"/>
          <p:cNvGraphicFramePr>
            <a:graphicFrameLocks noGrp="1"/>
          </p:cNvGraphicFramePr>
          <p:nvPr/>
        </p:nvGraphicFramePr>
        <p:xfrm>
          <a:off x="6326613" y="987982"/>
          <a:ext cx="5531613" cy="5139045"/>
        </p:xfrm>
        <a:graphic>
          <a:graphicData uri="http://schemas.openxmlformats.org/drawingml/2006/table">
            <a:tbl>
              <a:tblPr firstRow="1" firstCol="1" bandRow="1">
                <a:tableStyleId>{8EC20E35-A176-4012-BC5E-935CFFF8708E}</a:tableStyleId>
              </a:tblPr>
              <a:tblGrid>
                <a:gridCol w="418544"/>
                <a:gridCol w="864598"/>
                <a:gridCol w="4248471"/>
              </a:tblGrid>
              <a:tr h="0">
                <a:tc>
                  <a:txBody>
                    <a:bodyPr/>
                    <a:lstStyle/>
                    <a:p>
                      <a:pPr algn="ctr">
                        <a:lnSpc>
                          <a:spcPct val="115000"/>
                        </a:lnSpc>
                        <a:spcAft>
                          <a:spcPts val="0"/>
                        </a:spcAft>
                        <a:tabLst>
                          <a:tab pos="3371215" algn="l"/>
                        </a:tabLst>
                      </a:pPr>
                      <a:r>
                        <a:rPr lang="zh-CN" sz="1100" kern="100" dirty="0">
                          <a:effectLst/>
                        </a:rPr>
                        <a:t>序号</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tabLst>
                          <a:tab pos="3371215" algn="l"/>
                        </a:tabLst>
                      </a:pPr>
                      <a:r>
                        <a:rPr lang="zh-CN" sz="1100" kern="100" dirty="0">
                          <a:effectLst/>
                        </a:rPr>
                        <a:t>工作内容</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tabLst>
                          <a:tab pos="3371215" algn="l"/>
                        </a:tabLst>
                      </a:pPr>
                      <a:r>
                        <a:rPr lang="zh-CN" sz="1100" kern="100" dirty="0">
                          <a:effectLst/>
                        </a:rPr>
                        <a:t>工作内容简述</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03152">
                <a:tc>
                  <a:txBody>
                    <a:bodyPr/>
                    <a:lstStyle/>
                    <a:p>
                      <a:pPr algn="ctr">
                        <a:lnSpc>
                          <a:spcPct val="115000"/>
                        </a:lnSpc>
                        <a:spcAft>
                          <a:spcPts val="0"/>
                        </a:spcAft>
                        <a:tabLst>
                          <a:tab pos="3371215" algn="l"/>
                        </a:tabLst>
                      </a:pPr>
                      <a:r>
                        <a:rPr lang="en-US" sz="1100" kern="100" dirty="0">
                          <a:effectLst/>
                        </a:rPr>
                        <a:t>6</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15000"/>
                        </a:lnSpc>
                        <a:spcAft>
                          <a:spcPts val="0"/>
                        </a:spcAft>
                        <a:tabLst>
                          <a:tab pos="3371215" algn="l"/>
                        </a:tabLst>
                      </a:pPr>
                      <a:r>
                        <a:rPr lang="zh-CN" sz="1400" kern="100" dirty="0">
                          <a:effectLst/>
                        </a:rPr>
                        <a:t>质量检查</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1219200" rtl="0" eaLnBrk="1" fontAlgn="auto" latinLnBrk="0" hangingPunct="1">
                        <a:lnSpc>
                          <a:spcPct val="150000"/>
                        </a:lnSpc>
                        <a:spcBef>
                          <a:spcPts val="0"/>
                        </a:spcBef>
                        <a:spcAft>
                          <a:spcPts val="0"/>
                        </a:spcAft>
                        <a:buClrTx/>
                        <a:buSzTx/>
                        <a:buFontTx/>
                        <a:buNone/>
                        <a:tabLst>
                          <a:tab pos="3371215" algn="l"/>
                        </a:tabLst>
                        <a:defRPr/>
                      </a:pPr>
                      <a:r>
                        <a:rPr lang="zh-CN" altLang="zh-CN" sz="1200" kern="100" dirty="0">
                          <a:effectLst/>
                          <a:latin typeface="楷体" panose="02010609060101010101" pitchFamily="49" charset="-122"/>
                          <a:ea typeface="楷体" panose="02010609060101010101" pitchFamily="49" charset="-122"/>
                        </a:rPr>
                        <a:t>利用</a:t>
                      </a:r>
                      <a:r>
                        <a:rPr lang="zh-CN" altLang="en-US" sz="1200" kern="100" dirty="0">
                          <a:effectLst/>
                          <a:latin typeface="楷体" panose="02010609060101010101" pitchFamily="49" charset="-122"/>
                          <a:ea typeface="楷体" panose="02010609060101010101" pitchFamily="49" charset="-122"/>
                        </a:rPr>
                        <a:t>华为</a:t>
                      </a:r>
                      <a:r>
                        <a:rPr lang="en-US" altLang="zh-CN" sz="1200" kern="100" dirty="0">
                          <a:effectLst/>
                          <a:latin typeface="楷体" panose="02010609060101010101" pitchFamily="49" charset="-122"/>
                          <a:ea typeface="楷体" panose="02010609060101010101" pitchFamily="49" charset="-122"/>
                        </a:rPr>
                        <a:t>DLF</a:t>
                      </a:r>
                      <a:r>
                        <a:rPr lang="zh-CN" altLang="en-US" sz="1200" kern="100" dirty="0">
                          <a:effectLst/>
                          <a:latin typeface="楷体" panose="02010609060101010101" pitchFamily="49" charset="-122"/>
                          <a:ea typeface="楷体" panose="02010609060101010101" pitchFamily="49" charset="-122"/>
                        </a:rPr>
                        <a:t>的</a:t>
                      </a:r>
                      <a:r>
                        <a:rPr lang="en-US" altLang="zh-CN" sz="1200" kern="100" dirty="0">
                          <a:effectLst/>
                          <a:latin typeface="楷体" panose="02010609060101010101" pitchFamily="49" charset="-122"/>
                          <a:ea typeface="楷体" panose="02010609060101010101" pitchFamily="49" charset="-122"/>
                        </a:rPr>
                        <a:t>DG</a:t>
                      </a:r>
                      <a:r>
                        <a:rPr lang="zh-CN" altLang="en-US" sz="1200" kern="100" dirty="0">
                          <a:effectLst/>
                          <a:latin typeface="楷体" panose="02010609060101010101" pitchFamily="49" charset="-122"/>
                          <a:ea typeface="楷体" panose="02010609060101010101" pitchFamily="49" charset="-122"/>
                        </a:rPr>
                        <a:t>（数据治理）组件</a:t>
                      </a:r>
                      <a:r>
                        <a:rPr lang="zh-CN" sz="1200" kern="100" dirty="0">
                          <a:effectLst/>
                          <a:latin typeface="楷体" panose="02010609060101010101" pitchFamily="49" charset="-122"/>
                          <a:ea typeface="楷体" panose="02010609060101010101" pitchFamily="49" charset="-122"/>
                        </a:rPr>
                        <a:t>对</a:t>
                      </a:r>
                      <a:r>
                        <a:rPr lang="en-US" sz="1200" kern="100" dirty="0">
                          <a:effectLst/>
                          <a:latin typeface="楷体" panose="02010609060101010101" pitchFamily="49" charset="-122"/>
                          <a:ea typeface="楷体" panose="02010609060101010101" pitchFamily="49" charset="-122"/>
                        </a:rPr>
                        <a:t>ODS</a:t>
                      </a:r>
                      <a:r>
                        <a:rPr lang="zh-CN" sz="1200" kern="100" dirty="0">
                          <a:effectLst/>
                          <a:latin typeface="楷体" panose="02010609060101010101" pitchFamily="49" charset="-122"/>
                          <a:ea typeface="楷体" panose="02010609060101010101" pitchFamily="49" charset="-122"/>
                        </a:rPr>
                        <a:t>数据</a:t>
                      </a:r>
                      <a:r>
                        <a:rPr lang="zh-CN" altLang="en-US" sz="1200" kern="100" dirty="0">
                          <a:effectLst/>
                          <a:latin typeface="楷体" panose="02010609060101010101" pitchFamily="49" charset="-122"/>
                          <a:ea typeface="楷体" panose="02010609060101010101" pitchFamily="49" charset="-122"/>
                        </a:rPr>
                        <a:t>执行质量检测</a:t>
                      </a:r>
                      <a:r>
                        <a:rPr lang="zh-CN" sz="1200" kern="100" dirty="0">
                          <a:effectLst/>
                          <a:latin typeface="楷体" panose="02010609060101010101" pitchFamily="49" charset="-122"/>
                          <a:ea typeface="楷体" panose="02010609060101010101" pitchFamily="49" charset="-122"/>
                        </a:rPr>
                        <a:t>。</a:t>
                      </a:r>
                      <a:endParaRPr lang="zh-CN" sz="1200" kern="100" dirty="0">
                        <a:effectLst/>
                        <a:latin typeface="楷体" panose="02010609060101010101" pitchFamily="49" charset="-122"/>
                        <a:ea typeface="楷体" panose="02010609060101010101" pitchFamily="49" charset="-122"/>
                      </a:endParaRPr>
                    </a:p>
                    <a:p>
                      <a:pPr algn="just">
                        <a:lnSpc>
                          <a:spcPct val="150000"/>
                        </a:lnSpc>
                        <a:spcAft>
                          <a:spcPts val="0"/>
                        </a:spcAft>
                        <a:tabLst>
                          <a:tab pos="3371215" algn="l"/>
                        </a:tabLst>
                      </a:pPr>
                      <a:r>
                        <a:rPr lang="zh-CN" sz="1200" kern="100" dirty="0">
                          <a:effectLst/>
                          <a:latin typeface="楷体" panose="02010609060101010101" pitchFamily="49" charset="-122"/>
                          <a:ea typeface="楷体" panose="02010609060101010101" pitchFamily="49" charset="-122"/>
                        </a:rPr>
                        <a:t>制定各种质量规则（如非空</a:t>
                      </a:r>
                      <a:r>
                        <a:rPr lang="zh-CN" altLang="en-US" sz="1200" kern="100" dirty="0">
                          <a:effectLst/>
                          <a:latin typeface="楷体" panose="02010609060101010101" pitchFamily="49" charset="-122"/>
                          <a:ea typeface="楷体" panose="02010609060101010101" pitchFamily="49" charset="-122"/>
                        </a:rPr>
                        <a:t>性</a:t>
                      </a:r>
                      <a:r>
                        <a:rPr lang="zh-CN" sz="1200" kern="100" dirty="0">
                          <a:effectLst/>
                          <a:latin typeface="楷体" panose="02010609060101010101" pitchFamily="49" charset="-122"/>
                          <a:ea typeface="楷体" panose="02010609060101010101" pitchFamily="49" charset="-122"/>
                        </a:rPr>
                        <a:t>、唯一性</a:t>
                      </a:r>
                      <a:r>
                        <a:rPr lang="zh-CN" altLang="en-US" sz="1200" kern="100" dirty="0">
                          <a:effectLst/>
                          <a:latin typeface="楷体" panose="02010609060101010101" pitchFamily="49" charset="-122"/>
                          <a:ea typeface="楷体" panose="02010609060101010101" pitchFamily="49" charset="-122"/>
                        </a:rPr>
                        <a:t>、数值分布、数值波动情况</a:t>
                      </a:r>
                      <a:r>
                        <a:rPr lang="zh-CN" sz="1200" kern="100" dirty="0">
                          <a:effectLst/>
                          <a:latin typeface="楷体" panose="02010609060101010101" pitchFamily="49" charset="-122"/>
                          <a:ea typeface="楷体" panose="02010609060101010101" pitchFamily="49" charset="-122"/>
                        </a:rPr>
                        <a:t>）。</a:t>
                      </a:r>
                      <a:endParaRPr lang="zh-CN" sz="1200" kern="100" dirty="0">
                        <a:effectLst/>
                        <a:latin typeface="楷体" panose="02010609060101010101" pitchFamily="49" charset="-122"/>
                        <a:ea typeface="楷体" panose="02010609060101010101" pitchFamily="49" charset="-122"/>
                      </a:endParaRPr>
                    </a:p>
                    <a:p>
                      <a:pPr algn="just">
                        <a:lnSpc>
                          <a:spcPct val="150000"/>
                        </a:lnSpc>
                        <a:spcAft>
                          <a:spcPts val="0"/>
                        </a:spcAft>
                        <a:tabLst>
                          <a:tab pos="3371215" algn="l"/>
                        </a:tabLst>
                      </a:pPr>
                      <a:r>
                        <a:rPr lang="zh-CN" sz="1200" kern="100" dirty="0">
                          <a:effectLst/>
                          <a:latin typeface="楷体" panose="02010609060101010101" pitchFamily="49" charset="-122"/>
                          <a:ea typeface="楷体" panose="02010609060101010101" pitchFamily="49" charset="-122"/>
                        </a:rPr>
                        <a:t>根据每个字段应有的质量属性将质量规则绑定到字段上。</a:t>
                      </a:r>
                      <a:endParaRPr lang="zh-CN" sz="1200" kern="100" dirty="0">
                        <a:effectLst/>
                        <a:latin typeface="楷体" panose="02010609060101010101" pitchFamily="49" charset="-122"/>
                        <a:ea typeface="楷体" panose="02010609060101010101" pitchFamily="49" charset="-122"/>
                      </a:endParaRPr>
                    </a:p>
                    <a:p>
                      <a:pPr algn="just">
                        <a:lnSpc>
                          <a:spcPct val="150000"/>
                        </a:lnSpc>
                        <a:spcAft>
                          <a:spcPts val="0"/>
                        </a:spcAft>
                        <a:tabLst>
                          <a:tab pos="3371215" algn="l"/>
                        </a:tabLst>
                      </a:pPr>
                      <a:r>
                        <a:rPr lang="zh-CN" sz="1200" kern="100" dirty="0">
                          <a:effectLst/>
                          <a:latin typeface="楷体" panose="02010609060101010101" pitchFamily="49" charset="-122"/>
                          <a:ea typeface="楷体" panose="02010609060101010101" pitchFamily="49" charset="-122"/>
                        </a:rPr>
                        <a:t>执行质量检查，形成数据质量报告，以便评估数据质量状况</a:t>
                      </a:r>
                      <a:endParaRPr lang="zh-CN" sz="120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03152">
                <a:tc>
                  <a:txBody>
                    <a:bodyPr/>
                    <a:lstStyle/>
                    <a:p>
                      <a:pPr algn="ctr">
                        <a:lnSpc>
                          <a:spcPct val="115000"/>
                        </a:lnSpc>
                        <a:spcAft>
                          <a:spcPts val="0"/>
                        </a:spcAft>
                        <a:tabLst>
                          <a:tab pos="3371215" algn="l"/>
                        </a:tabLst>
                      </a:pPr>
                      <a:r>
                        <a:rPr lang="en-US" sz="1000" kern="100" dirty="0">
                          <a:effectLst/>
                        </a:rPr>
                        <a:t>7</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1219200" rtl="0" eaLnBrk="1" latinLnBrk="0" hangingPunct="1">
                        <a:lnSpc>
                          <a:spcPct val="115000"/>
                        </a:lnSpc>
                        <a:spcAft>
                          <a:spcPts val="0"/>
                        </a:spcAft>
                        <a:tabLst>
                          <a:tab pos="3371215" algn="l"/>
                        </a:tabLst>
                      </a:pPr>
                      <a:r>
                        <a:rPr lang="zh-CN" altLang="en-US" sz="1400" kern="100" dirty="0">
                          <a:solidFill>
                            <a:schemeClr val="dk1"/>
                          </a:solidFill>
                          <a:effectLst/>
                          <a:latin typeface="+mn-lt"/>
                          <a:ea typeface="+mn-ea"/>
                          <a:cs typeface="+mn-cs"/>
                        </a:rPr>
                        <a:t>清洗转换</a:t>
                      </a:r>
                      <a:endParaRPr lang="en-US" altLang="zh-CN" sz="1400" kern="100" dirty="0">
                        <a:solidFill>
                          <a:schemeClr val="dk1"/>
                        </a:solidFill>
                        <a:effectLst/>
                        <a:latin typeface="+mn-lt"/>
                        <a:ea typeface="+mn-ea"/>
                        <a:cs typeface="+mn-cs"/>
                      </a:endParaRPr>
                    </a:p>
                    <a:p>
                      <a:pPr marL="0" algn="just" defTabSz="1219200" rtl="0" eaLnBrk="1" latinLnBrk="0" hangingPunct="1">
                        <a:lnSpc>
                          <a:spcPct val="115000"/>
                        </a:lnSpc>
                        <a:spcAft>
                          <a:spcPts val="0"/>
                        </a:spcAft>
                        <a:tabLst>
                          <a:tab pos="3371215" algn="l"/>
                        </a:tabLst>
                      </a:pPr>
                      <a:r>
                        <a:rPr lang="zh-CN" altLang="en-US" sz="1400" kern="100" dirty="0">
                          <a:solidFill>
                            <a:schemeClr val="dk1"/>
                          </a:solidFill>
                          <a:effectLst/>
                          <a:latin typeface="+mn-lt"/>
                          <a:ea typeface="+mn-ea"/>
                          <a:cs typeface="+mn-cs"/>
                        </a:rPr>
                        <a:t>质量提升</a:t>
                      </a:r>
                      <a:endParaRPr lang="zh-CN" altLang="en-US" sz="1400" kern="100" dirty="0">
                        <a:solidFill>
                          <a:schemeClr val="dk1"/>
                        </a:solidFill>
                        <a:effectLst/>
                        <a:latin typeface="+mn-lt"/>
                        <a:ea typeface="+mn-ea"/>
                        <a:cs typeface="+mn-cs"/>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1219200" rtl="0" eaLnBrk="1" latinLnBrk="0" hangingPunct="1">
                        <a:lnSpc>
                          <a:spcPct val="150000"/>
                        </a:lnSpc>
                        <a:spcAft>
                          <a:spcPts val="0"/>
                        </a:spcAft>
                        <a:tabLst>
                          <a:tab pos="3371215" algn="l"/>
                        </a:tabLst>
                      </a:pPr>
                      <a:r>
                        <a:rPr lang="zh-CN" altLang="en-US" sz="1200" kern="100" dirty="0">
                          <a:solidFill>
                            <a:schemeClr val="dk1"/>
                          </a:solidFill>
                          <a:effectLst/>
                          <a:latin typeface="楷体" panose="02010609060101010101" pitchFamily="49" charset="-122"/>
                          <a:ea typeface="楷体" panose="02010609060101010101" pitchFamily="49" charset="-122"/>
                          <a:cs typeface="+mn-cs"/>
                        </a:rPr>
                        <a:t>根据质量报告的内容，评估数据质量问题的内容、程度。</a:t>
                      </a:r>
                      <a:endParaRPr lang="en-US" altLang="zh-CN" sz="1200" kern="100" dirty="0">
                        <a:solidFill>
                          <a:schemeClr val="dk1"/>
                        </a:solidFill>
                        <a:effectLst/>
                        <a:latin typeface="楷体" panose="02010609060101010101" pitchFamily="49" charset="-122"/>
                        <a:ea typeface="楷体" panose="02010609060101010101" pitchFamily="49" charset="-122"/>
                        <a:cs typeface="+mn-cs"/>
                      </a:endParaRPr>
                    </a:p>
                    <a:p>
                      <a:pPr marL="0" algn="just" defTabSz="1219200" rtl="0" eaLnBrk="1" latinLnBrk="0" hangingPunct="1">
                        <a:lnSpc>
                          <a:spcPct val="150000"/>
                        </a:lnSpc>
                        <a:spcAft>
                          <a:spcPts val="0"/>
                        </a:spcAft>
                        <a:tabLst>
                          <a:tab pos="3371215" algn="l"/>
                        </a:tabLst>
                      </a:pPr>
                      <a:r>
                        <a:rPr lang="zh-CN" altLang="en-US" sz="1200" kern="100" dirty="0">
                          <a:solidFill>
                            <a:schemeClr val="dk1"/>
                          </a:solidFill>
                          <a:effectLst/>
                          <a:latin typeface="楷体" panose="02010609060101010101" pitchFamily="49" charset="-122"/>
                          <a:ea typeface="楷体" panose="02010609060101010101" pitchFamily="49" charset="-122"/>
                          <a:cs typeface="+mn-cs"/>
                        </a:rPr>
                        <a:t>对于规则性问题，通过</a:t>
                      </a:r>
                      <a:r>
                        <a:rPr lang="en-US" sz="1200" kern="100" dirty="0">
                          <a:solidFill>
                            <a:schemeClr val="dk1"/>
                          </a:solidFill>
                          <a:effectLst/>
                          <a:latin typeface="楷体" panose="02010609060101010101" pitchFamily="49" charset="-122"/>
                          <a:ea typeface="楷体" panose="02010609060101010101" pitchFamily="49" charset="-122"/>
                          <a:cs typeface="+mn-cs"/>
                        </a:rPr>
                        <a:t>ETL</a:t>
                      </a:r>
                      <a:r>
                        <a:rPr lang="zh-CN" altLang="en-US" sz="1200" kern="100" dirty="0">
                          <a:solidFill>
                            <a:schemeClr val="dk1"/>
                          </a:solidFill>
                          <a:effectLst/>
                          <a:latin typeface="楷体" panose="02010609060101010101" pitchFamily="49" charset="-122"/>
                          <a:ea typeface="楷体" panose="02010609060101010101" pitchFamily="49" charset="-122"/>
                          <a:cs typeface="+mn-cs"/>
                        </a:rPr>
                        <a:t>的转换规则实现质量提升。</a:t>
                      </a:r>
                      <a:endParaRPr lang="en-US" altLang="zh-CN" sz="1200" kern="100" dirty="0">
                        <a:solidFill>
                          <a:schemeClr val="dk1"/>
                        </a:solidFill>
                        <a:effectLst/>
                        <a:latin typeface="楷体" panose="02010609060101010101" pitchFamily="49" charset="-122"/>
                        <a:ea typeface="楷体" panose="02010609060101010101" pitchFamily="49" charset="-122"/>
                        <a:cs typeface="+mn-cs"/>
                      </a:endParaRPr>
                    </a:p>
                    <a:p>
                      <a:pPr marL="0" algn="just" defTabSz="1219200" rtl="0" eaLnBrk="1" latinLnBrk="0" hangingPunct="1">
                        <a:lnSpc>
                          <a:spcPct val="150000"/>
                        </a:lnSpc>
                        <a:spcAft>
                          <a:spcPts val="0"/>
                        </a:spcAft>
                        <a:tabLst>
                          <a:tab pos="3371215" algn="l"/>
                        </a:tabLst>
                      </a:pPr>
                      <a:r>
                        <a:rPr lang="zh-CN" altLang="en-US" sz="1200" kern="100" dirty="0">
                          <a:solidFill>
                            <a:schemeClr val="dk1"/>
                          </a:solidFill>
                          <a:effectLst/>
                          <a:latin typeface="楷体" panose="02010609060101010101" pitchFamily="49" charset="-122"/>
                          <a:ea typeface="楷体" panose="02010609060101010101" pitchFamily="49" charset="-122"/>
                          <a:cs typeface="+mn-cs"/>
                        </a:rPr>
                        <a:t>对于数据缺失、内容错误等问题，将问题数据和质量报告提交到数据对应的负责部门，由部门进行核实、填报。</a:t>
                      </a:r>
                      <a:endParaRPr lang="en-US" altLang="zh-CN" sz="1200" kern="100" dirty="0">
                        <a:solidFill>
                          <a:schemeClr val="dk1"/>
                        </a:solidFill>
                        <a:effectLst/>
                        <a:latin typeface="楷体" panose="02010609060101010101" pitchFamily="49" charset="-122"/>
                        <a:ea typeface="楷体" panose="02010609060101010101" pitchFamily="49" charset="-122"/>
                        <a:cs typeface="+mn-cs"/>
                      </a:endParaRPr>
                    </a:p>
                    <a:p>
                      <a:pPr marL="0" algn="just" defTabSz="1219200" rtl="0" eaLnBrk="1" latinLnBrk="0" hangingPunct="1">
                        <a:lnSpc>
                          <a:spcPct val="150000"/>
                        </a:lnSpc>
                        <a:spcAft>
                          <a:spcPts val="0"/>
                        </a:spcAft>
                        <a:tabLst>
                          <a:tab pos="3371215" algn="l"/>
                        </a:tabLst>
                      </a:pPr>
                      <a:r>
                        <a:rPr lang="zh-CN" altLang="en-US" sz="1200" kern="100" dirty="0">
                          <a:solidFill>
                            <a:schemeClr val="dk1"/>
                          </a:solidFill>
                          <a:effectLst/>
                          <a:latin typeface="楷体" panose="02010609060101010101" pitchFamily="49" charset="-122"/>
                          <a:ea typeface="楷体" panose="02010609060101010101" pitchFamily="49" charset="-122"/>
                          <a:cs typeface="+mn-cs"/>
                        </a:rPr>
                        <a:t>数据修正后录入</a:t>
                      </a:r>
                      <a:r>
                        <a:rPr lang="en-US" altLang="zh-CN" sz="1200" kern="100" dirty="0">
                          <a:solidFill>
                            <a:schemeClr val="dk1"/>
                          </a:solidFill>
                          <a:effectLst/>
                          <a:latin typeface="楷体" panose="02010609060101010101" pitchFamily="49" charset="-122"/>
                          <a:ea typeface="楷体" panose="02010609060101010101" pitchFamily="49" charset="-122"/>
                          <a:cs typeface="+mn-cs"/>
                        </a:rPr>
                        <a:t>MIS</a:t>
                      </a:r>
                      <a:r>
                        <a:rPr lang="zh-CN" altLang="en-US" sz="1200" kern="100" dirty="0">
                          <a:solidFill>
                            <a:schemeClr val="dk1"/>
                          </a:solidFill>
                          <a:effectLst/>
                          <a:latin typeface="楷体" panose="02010609060101010101" pitchFamily="49" charset="-122"/>
                          <a:ea typeface="楷体" panose="02010609060101010101" pitchFamily="49" charset="-122"/>
                          <a:cs typeface="+mn-cs"/>
                        </a:rPr>
                        <a:t>中，通过再次采集、检查直至质量合格。</a:t>
                      </a:r>
                      <a:endParaRPr lang="zh-CN" altLang="en-US" sz="1200" kern="100" dirty="0">
                        <a:solidFill>
                          <a:schemeClr val="dk1"/>
                        </a:solidFill>
                        <a:effectLst/>
                        <a:latin typeface="楷体" panose="02010609060101010101" pitchFamily="49" charset="-122"/>
                        <a:ea typeface="楷体" panose="02010609060101010101" pitchFamily="49" charset="-122"/>
                        <a:cs typeface="+mn-cs"/>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0788">
                <a:tc>
                  <a:txBody>
                    <a:bodyPr/>
                    <a:lstStyle/>
                    <a:p>
                      <a:pPr algn="ctr">
                        <a:lnSpc>
                          <a:spcPct val="115000"/>
                        </a:lnSpc>
                        <a:spcAft>
                          <a:spcPts val="0"/>
                        </a:spcAft>
                        <a:tabLst>
                          <a:tab pos="3371215" algn="l"/>
                        </a:tabLst>
                      </a:pPr>
                      <a:r>
                        <a:rPr lang="en-US" sz="1000" kern="100">
                          <a:effectLst/>
                        </a:rPr>
                        <a:t>8</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1219200" rtl="0" eaLnBrk="1" latinLnBrk="0" hangingPunct="1">
                        <a:lnSpc>
                          <a:spcPct val="115000"/>
                        </a:lnSpc>
                        <a:spcAft>
                          <a:spcPts val="0"/>
                        </a:spcAft>
                        <a:tabLst>
                          <a:tab pos="3371215" algn="l"/>
                        </a:tabLst>
                      </a:pPr>
                      <a:r>
                        <a:rPr lang="zh-CN" altLang="en-US" sz="1400" kern="100" dirty="0">
                          <a:solidFill>
                            <a:schemeClr val="dk1"/>
                          </a:solidFill>
                          <a:effectLst/>
                          <a:latin typeface="+mn-lt"/>
                          <a:ea typeface="+mn-ea"/>
                          <a:cs typeface="+mn-cs"/>
                        </a:rPr>
                        <a:t>成果数据</a:t>
                      </a:r>
                      <a:endParaRPr lang="en-US" altLang="zh-CN" sz="1400" kern="100" dirty="0">
                        <a:solidFill>
                          <a:schemeClr val="dk1"/>
                        </a:solidFill>
                        <a:effectLst/>
                        <a:latin typeface="+mn-lt"/>
                        <a:ea typeface="+mn-ea"/>
                        <a:cs typeface="+mn-cs"/>
                      </a:endParaRPr>
                    </a:p>
                    <a:p>
                      <a:pPr marL="0" algn="just" defTabSz="1219200" rtl="0" eaLnBrk="1" latinLnBrk="0" hangingPunct="1">
                        <a:lnSpc>
                          <a:spcPct val="115000"/>
                        </a:lnSpc>
                        <a:spcAft>
                          <a:spcPts val="0"/>
                        </a:spcAft>
                        <a:tabLst>
                          <a:tab pos="3371215" algn="l"/>
                        </a:tabLst>
                      </a:pPr>
                      <a:r>
                        <a:rPr lang="zh-CN" altLang="en-US" sz="1400" kern="100" dirty="0">
                          <a:solidFill>
                            <a:schemeClr val="dk1"/>
                          </a:solidFill>
                          <a:effectLst/>
                          <a:latin typeface="+mn-lt"/>
                          <a:ea typeface="+mn-ea"/>
                          <a:cs typeface="+mn-cs"/>
                        </a:rPr>
                        <a:t>生成</a:t>
                      </a:r>
                      <a:endParaRPr lang="zh-CN" altLang="en-US" sz="1400" kern="100" dirty="0">
                        <a:solidFill>
                          <a:schemeClr val="dk1"/>
                        </a:solidFill>
                        <a:effectLst/>
                        <a:latin typeface="+mn-lt"/>
                        <a:ea typeface="+mn-ea"/>
                        <a:cs typeface="+mn-cs"/>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1219200" rtl="0" eaLnBrk="1" latinLnBrk="0" hangingPunct="1">
                        <a:lnSpc>
                          <a:spcPct val="150000"/>
                        </a:lnSpc>
                        <a:spcAft>
                          <a:spcPts val="0"/>
                        </a:spcAft>
                        <a:tabLst>
                          <a:tab pos="3371215" algn="l"/>
                        </a:tabLst>
                      </a:pPr>
                      <a:r>
                        <a:rPr lang="zh-CN" altLang="en-US" sz="1200" kern="100" dirty="0">
                          <a:solidFill>
                            <a:schemeClr val="dk1"/>
                          </a:solidFill>
                          <a:effectLst/>
                          <a:latin typeface="楷体" panose="02010609060101010101" pitchFamily="49" charset="-122"/>
                          <a:ea typeface="楷体" panose="02010609060101010101" pitchFamily="49" charset="-122"/>
                          <a:cs typeface="+mn-cs"/>
                        </a:rPr>
                        <a:t>将清洗转换完成、符合质量标准的数据导入至</a:t>
                      </a:r>
                      <a:r>
                        <a:rPr lang="en-US" altLang="zh-CN" sz="1200" kern="100" dirty="0">
                          <a:solidFill>
                            <a:schemeClr val="dk1"/>
                          </a:solidFill>
                          <a:effectLst/>
                          <a:latin typeface="楷体" panose="02010609060101010101" pitchFamily="49" charset="-122"/>
                          <a:ea typeface="楷体" panose="02010609060101010101" pitchFamily="49" charset="-122"/>
                          <a:cs typeface="+mn-cs"/>
                        </a:rPr>
                        <a:t>DWS</a:t>
                      </a:r>
                      <a:r>
                        <a:rPr lang="zh-CN" altLang="en-US" sz="1200" kern="100" dirty="0">
                          <a:solidFill>
                            <a:schemeClr val="dk1"/>
                          </a:solidFill>
                          <a:effectLst/>
                          <a:latin typeface="楷体" panose="02010609060101010101" pitchFamily="49" charset="-122"/>
                          <a:ea typeface="楷体" panose="02010609060101010101" pitchFamily="49" charset="-122"/>
                          <a:cs typeface="+mn-cs"/>
                        </a:rPr>
                        <a:t>中的建模完成的表格中，形成符合校标的、质量达标、内容完整的成果数据。</a:t>
                      </a:r>
                      <a:endParaRPr lang="zh-CN" altLang="en-US" sz="1200" kern="100" dirty="0">
                        <a:solidFill>
                          <a:schemeClr val="dk1"/>
                        </a:solidFill>
                        <a:effectLst/>
                        <a:latin typeface="楷体" panose="02010609060101010101" pitchFamily="49" charset="-122"/>
                        <a:ea typeface="楷体" panose="02010609060101010101" pitchFamily="49" charset="-122"/>
                        <a:cs typeface="+mn-cs"/>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0788">
                <a:tc>
                  <a:txBody>
                    <a:bodyPr/>
                    <a:lstStyle/>
                    <a:p>
                      <a:pPr algn="ctr">
                        <a:lnSpc>
                          <a:spcPct val="115000"/>
                        </a:lnSpc>
                        <a:spcAft>
                          <a:spcPts val="0"/>
                        </a:spcAft>
                        <a:tabLst>
                          <a:tab pos="3371215" algn="l"/>
                        </a:tabLst>
                      </a:pPr>
                      <a:r>
                        <a:rPr lang="en-US" sz="1000" kern="100" dirty="0">
                          <a:effectLst/>
                        </a:rPr>
                        <a:t>9</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1219200" rtl="0" eaLnBrk="1" latinLnBrk="0" hangingPunct="1">
                        <a:lnSpc>
                          <a:spcPct val="115000"/>
                        </a:lnSpc>
                        <a:spcAft>
                          <a:spcPts val="0"/>
                        </a:spcAft>
                        <a:tabLst>
                          <a:tab pos="3371215" algn="l"/>
                        </a:tabLst>
                      </a:pPr>
                      <a:r>
                        <a:rPr lang="zh-CN" altLang="en-US" sz="1400" kern="100" dirty="0">
                          <a:solidFill>
                            <a:schemeClr val="dk1"/>
                          </a:solidFill>
                          <a:effectLst/>
                          <a:latin typeface="+mn-lt"/>
                          <a:ea typeface="+mn-ea"/>
                          <a:cs typeface="+mn-cs"/>
                        </a:rPr>
                        <a:t>数据封装</a:t>
                      </a:r>
                      <a:endParaRPr lang="en-US" altLang="zh-CN" sz="1400" kern="100" dirty="0">
                        <a:solidFill>
                          <a:schemeClr val="dk1"/>
                        </a:solidFill>
                        <a:effectLst/>
                        <a:latin typeface="+mn-lt"/>
                        <a:ea typeface="+mn-ea"/>
                        <a:cs typeface="+mn-cs"/>
                      </a:endParaRPr>
                    </a:p>
                    <a:p>
                      <a:pPr marL="0" algn="just" defTabSz="1219200" rtl="0" eaLnBrk="1" latinLnBrk="0" hangingPunct="1">
                        <a:lnSpc>
                          <a:spcPct val="115000"/>
                        </a:lnSpc>
                        <a:spcAft>
                          <a:spcPts val="0"/>
                        </a:spcAft>
                        <a:tabLst>
                          <a:tab pos="3371215" algn="l"/>
                        </a:tabLst>
                      </a:pPr>
                      <a:r>
                        <a:rPr lang="zh-CN" altLang="en-US" sz="1400" kern="100" dirty="0">
                          <a:solidFill>
                            <a:schemeClr val="dk1"/>
                          </a:solidFill>
                          <a:effectLst/>
                          <a:latin typeface="+mn-lt"/>
                          <a:ea typeface="+mn-ea"/>
                          <a:cs typeface="+mn-cs"/>
                        </a:rPr>
                        <a:t>发布</a:t>
                      </a:r>
                      <a:endParaRPr lang="zh-CN" altLang="en-US" sz="1400" kern="100" dirty="0">
                        <a:solidFill>
                          <a:schemeClr val="dk1"/>
                        </a:solidFill>
                        <a:effectLst/>
                        <a:latin typeface="+mn-lt"/>
                        <a:ea typeface="+mn-ea"/>
                        <a:cs typeface="+mn-cs"/>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1219200" rtl="0" eaLnBrk="1" latinLnBrk="0" hangingPunct="1">
                        <a:lnSpc>
                          <a:spcPct val="150000"/>
                        </a:lnSpc>
                        <a:spcAft>
                          <a:spcPts val="0"/>
                        </a:spcAft>
                        <a:tabLst>
                          <a:tab pos="3371215" algn="l"/>
                        </a:tabLst>
                      </a:pPr>
                      <a:r>
                        <a:rPr lang="en-US" altLang="zh-CN" sz="1200" kern="100" dirty="0">
                          <a:solidFill>
                            <a:schemeClr val="dk1"/>
                          </a:solidFill>
                          <a:effectLst/>
                          <a:latin typeface="楷体" panose="02010609060101010101" pitchFamily="49" charset="-122"/>
                          <a:ea typeface="楷体" panose="02010609060101010101" pitchFamily="49" charset="-122"/>
                          <a:cs typeface="+mn-cs"/>
                        </a:rPr>
                        <a:t>DWS</a:t>
                      </a:r>
                      <a:r>
                        <a:rPr lang="zh-CN" altLang="en-US" sz="1200" kern="100" dirty="0">
                          <a:solidFill>
                            <a:schemeClr val="dk1"/>
                          </a:solidFill>
                          <a:effectLst/>
                          <a:latin typeface="楷体" panose="02010609060101010101" pitchFamily="49" charset="-122"/>
                          <a:ea typeface="楷体" panose="02010609060101010101" pitchFamily="49" charset="-122"/>
                          <a:cs typeface="+mn-cs"/>
                        </a:rPr>
                        <a:t>中的成果数据由华为</a:t>
                      </a:r>
                      <a:r>
                        <a:rPr lang="en-US" altLang="zh-CN" sz="1200" kern="100" dirty="0">
                          <a:solidFill>
                            <a:schemeClr val="dk1"/>
                          </a:solidFill>
                          <a:effectLst/>
                          <a:latin typeface="楷体" panose="02010609060101010101" pitchFamily="49" charset="-122"/>
                          <a:ea typeface="楷体" panose="02010609060101010101" pitchFamily="49" charset="-122"/>
                          <a:cs typeface="+mn-cs"/>
                        </a:rPr>
                        <a:t>ROMA</a:t>
                      </a:r>
                      <a:r>
                        <a:rPr lang="zh-CN" altLang="en-US" sz="1200" kern="100" dirty="0">
                          <a:solidFill>
                            <a:schemeClr val="dk1"/>
                          </a:solidFill>
                          <a:effectLst/>
                          <a:latin typeface="楷体" panose="02010609060101010101" pitchFamily="49" charset="-122"/>
                          <a:ea typeface="楷体" panose="02010609060101010101" pitchFamily="49" charset="-122"/>
                          <a:cs typeface="+mn-cs"/>
                        </a:rPr>
                        <a:t>平台进行封装，以</a:t>
                      </a:r>
                      <a:r>
                        <a:rPr lang="en-US" sz="1200" kern="100" dirty="0">
                          <a:solidFill>
                            <a:schemeClr val="dk1"/>
                          </a:solidFill>
                          <a:effectLst/>
                          <a:latin typeface="楷体" panose="02010609060101010101" pitchFamily="49" charset="-122"/>
                          <a:ea typeface="楷体" panose="02010609060101010101" pitchFamily="49" charset="-122"/>
                          <a:cs typeface="+mn-cs"/>
                        </a:rPr>
                        <a:t>API</a:t>
                      </a:r>
                      <a:r>
                        <a:rPr lang="zh-CN" altLang="en-US" sz="1200" kern="100" dirty="0">
                          <a:solidFill>
                            <a:schemeClr val="dk1"/>
                          </a:solidFill>
                          <a:effectLst/>
                          <a:latin typeface="楷体" panose="02010609060101010101" pitchFamily="49" charset="-122"/>
                          <a:ea typeface="楷体" panose="02010609060101010101" pitchFamily="49" charset="-122"/>
                          <a:cs typeface="+mn-cs"/>
                        </a:rPr>
                        <a:t>接口向各</a:t>
                      </a:r>
                      <a:r>
                        <a:rPr lang="en-US" altLang="zh-CN" sz="1200" kern="100" dirty="0">
                          <a:solidFill>
                            <a:schemeClr val="dk1"/>
                          </a:solidFill>
                          <a:effectLst/>
                          <a:latin typeface="楷体" panose="02010609060101010101" pitchFamily="49" charset="-122"/>
                          <a:ea typeface="楷体" panose="02010609060101010101" pitchFamily="49" charset="-122"/>
                          <a:cs typeface="+mn-cs"/>
                        </a:rPr>
                        <a:t>APP</a:t>
                      </a:r>
                      <a:r>
                        <a:rPr lang="zh-CN" altLang="en-US" sz="1200" kern="100" dirty="0">
                          <a:solidFill>
                            <a:schemeClr val="dk1"/>
                          </a:solidFill>
                          <a:effectLst/>
                          <a:latin typeface="楷体" panose="02010609060101010101" pitchFamily="49" charset="-122"/>
                          <a:ea typeface="楷体" panose="02010609060101010101" pitchFamily="49" charset="-122"/>
                          <a:cs typeface="+mn-cs"/>
                        </a:rPr>
                        <a:t>提供数据服务。</a:t>
                      </a:r>
                      <a:endParaRPr lang="zh-CN" altLang="en-US" sz="1200" kern="100" dirty="0">
                        <a:solidFill>
                          <a:schemeClr val="dk1"/>
                        </a:solidFill>
                        <a:effectLst/>
                        <a:latin typeface="楷体" panose="02010609060101010101" pitchFamily="49" charset="-122"/>
                        <a:ea typeface="楷体" panose="02010609060101010101" pitchFamily="49" charset="-122"/>
                        <a:cs typeface="+mn-cs"/>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05779">
                <a:tc>
                  <a:txBody>
                    <a:bodyPr/>
                    <a:lstStyle/>
                    <a:p>
                      <a:pPr algn="ctr">
                        <a:lnSpc>
                          <a:spcPct val="115000"/>
                        </a:lnSpc>
                        <a:spcAft>
                          <a:spcPts val="0"/>
                        </a:spcAft>
                        <a:tabLst>
                          <a:tab pos="3371215" algn="l"/>
                        </a:tabLst>
                      </a:pPr>
                      <a:r>
                        <a:rPr lang="en-US" sz="1000" kern="100" dirty="0">
                          <a:effectLst/>
                        </a:rPr>
                        <a:t>10</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1219200" rtl="0" eaLnBrk="1" latinLnBrk="0" hangingPunct="1">
                        <a:lnSpc>
                          <a:spcPct val="115000"/>
                        </a:lnSpc>
                        <a:spcAft>
                          <a:spcPts val="0"/>
                        </a:spcAft>
                        <a:tabLst>
                          <a:tab pos="3371215" algn="l"/>
                        </a:tabLst>
                      </a:pPr>
                      <a:r>
                        <a:rPr lang="zh-CN" altLang="en-US" sz="1400" kern="100" dirty="0">
                          <a:solidFill>
                            <a:schemeClr val="dk1"/>
                          </a:solidFill>
                          <a:effectLst/>
                          <a:latin typeface="+mn-lt"/>
                          <a:ea typeface="+mn-ea"/>
                          <a:cs typeface="+mn-cs"/>
                        </a:rPr>
                        <a:t>管理咨询</a:t>
                      </a:r>
                      <a:endParaRPr lang="en-US" altLang="zh-CN" sz="1400" kern="100" dirty="0">
                        <a:solidFill>
                          <a:schemeClr val="dk1"/>
                        </a:solidFill>
                        <a:effectLst/>
                        <a:latin typeface="+mn-lt"/>
                        <a:ea typeface="+mn-ea"/>
                        <a:cs typeface="+mn-cs"/>
                      </a:endParaRPr>
                    </a:p>
                    <a:p>
                      <a:pPr marL="0" algn="just" defTabSz="1219200" rtl="0" eaLnBrk="1" latinLnBrk="0" hangingPunct="1">
                        <a:lnSpc>
                          <a:spcPct val="115000"/>
                        </a:lnSpc>
                        <a:spcAft>
                          <a:spcPts val="0"/>
                        </a:spcAft>
                        <a:tabLst>
                          <a:tab pos="3371215" algn="l"/>
                        </a:tabLst>
                      </a:pPr>
                      <a:r>
                        <a:rPr lang="zh-CN" altLang="en-US" sz="1400" kern="100" dirty="0">
                          <a:solidFill>
                            <a:schemeClr val="dk1"/>
                          </a:solidFill>
                          <a:effectLst/>
                          <a:latin typeface="+mn-lt"/>
                          <a:ea typeface="+mn-ea"/>
                          <a:cs typeface="+mn-cs"/>
                        </a:rPr>
                        <a:t>服务</a:t>
                      </a:r>
                      <a:endParaRPr lang="zh-CN" altLang="en-US" sz="1400" kern="100" dirty="0">
                        <a:solidFill>
                          <a:schemeClr val="dk1"/>
                        </a:solidFill>
                        <a:effectLst/>
                        <a:latin typeface="+mn-lt"/>
                        <a:ea typeface="+mn-ea"/>
                        <a:cs typeface="+mn-cs"/>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just" defTabSz="1219200" rtl="0" eaLnBrk="1" latinLnBrk="0" hangingPunct="1">
                        <a:lnSpc>
                          <a:spcPct val="150000"/>
                        </a:lnSpc>
                        <a:spcAft>
                          <a:spcPts val="0"/>
                        </a:spcAft>
                        <a:tabLst>
                          <a:tab pos="3371215" algn="l"/>
                        </a:tabLst>
                      </a:pPr>
                      <a:r>
                        <a:rPr lang="zh-CN" altLang="en-US" sz="1200" kern="100" dirty="0">
                          <a:solidFill>
                            <a:schemeClr val="dk1"/>
                          </a:solidFill>
                          <a:effectLst/>
                          <a:latin typeface="楷体" panose="02010609060101010101" pitchFamily="49" charset="-122"/>
                          <a:ea typeface="楷体" panose="02010609060101010101" pitchFamily="49" charset="-122"/>
                          <a:cs typeface="+mn-cs"/>
                        </a:rPr>
                        <a:t>通过前述过程分析学校在数据管理方面的薄弱环节、不合理管理模式，与校方一起设计和制定数据管理相关的规范和制度并推广执行，从根本上改变管理漏洞、部门矛盾、不规范操作，使数据治理的成果能够长期持续、不断进步。</a:t>
                      </a:r>
                      <a:endParaRPr lang="zh-CN" altLang="en-US" sz="1200" kern="100" dirty="0">
                        <a:solidFill>
                          <a:schemeClr val="dk1"/>
                        </a:solidFill>
                        <a:effectLst/>
                        <a:latin typeface="楷体" panose="02010609060101010101" pitchFamily="49" charset="-122"/>
                        <a:ea typeface="楷体" panose="02010609060101010101" pitchFamily="49" charset="-122"/>
                        <a:cs typeface="+mn-cs"/>
                      </a:endParaRPr>
                    </a:p>
                  </a:txBody>
                  <a:tcPr marL="21541" marR="2154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7" name="图示 13"/>
          <p:cNvGraphicFramePr/>
          <p:nvPr/>
        </p:nvGraphicFramePr>
        <p:xfrm>
          <a:off x="-527149" y="2096135"/>
          <a:ext cx="5064840" cy="270916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48" name="图示 138"/>
          <p:cNvGraphicFramePr/>
          <p:nvPr/>
        </p:nvGraphicFramePr>
        <p:xfrm>
          <a:off x="3388414" y="2096135"/>
          <a:ext cx="5064840" cy="270917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149" name="图示 139"/>
          <p:cNvGraphicFramePr/>
          <p:nvPr/>
        </p:nvGraphicFramePr>
        <p:xfrm>
          <a:off x="7265579" y="2044778"/>
          <a:ext cx="5064840" cy="270917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pSp>
        <p:nvGrpSpPr>
          <p:cNvPr id="150" name="组合 3"/>
          <p:cNvGrpSpPr/>
          <p:nvPr/>
        </p:nvGrpSpPr>
        <p:grpSpPr>
          <a:xfrm>
            <a:off x="2562409" y="4861542"/>
            <a:ext cx="6811040" cy="786203"/>
            <a:chOff x="6775101" y="11756432"/>
            <a:chExt cx="11443446" cy="1474311"/>
          </a:xfrm>
        </p:grpSpPr>
        <p:sp>
          <p:nvSpPr>
            <p:cNvPr id="151" name="矩形 141"/>
            <p:cNvSpPr/>
            <p:nvPr/>
          </p:nvSpPr>
          <p:spPr>
            <a:xfrm>
              <a:off x="6775101" y="12444689"/>
              <a:ext cx="11443446" cy="786054"/>
            </a:xfrm>
            <a:prstGeom prst="rect">
              <a:avLst/>
            </a:prstGeom>
            <a:solidFill>
              <a:sysClr val="windowText" lastClr="000000">
                <a:lumMod val="65000"/>
                <a:lumOff val="35000"/>
              </a:sysClr>
            </a:solidFill>
            <a:ln>
              <a:noFill/>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prstClr val="white"/>
                  </a:solidFill>
                  <a:effectLst/>
                  <a:uLnTx/>
                  <a:uFillTx/>
                  <a:latin typeface="Lato Light"/>
                  <a:ea typeface="+mn-ea"/>
                  <a:cs typeface="+mn-cs"/>
                </a:rPr>
                <a:t>部署软件工具</a:t>
              </a:r>
              <a:endParaRPr kumimoji="0" lang="en-US" altLang="zh-CN" b="1" i="0" u="none" strike="noStrike" kern="0" cap="none" spc="0" normalizeH="0" baseline="0" noProof="0" dirty="0">
                <a:ln>
                  <a:noFill/>
                </a:ln>
                <a:solidFill>
                  <a:prstClr val="white"/>
                </a:solidFill>
                <a:effectLst/>
                <a:uLnTx/>
                <a:uFillTx/>
                <a:latin typeface="Lato Light"/>
                <a:ea typeface="+mn-ea"/>
                <a:cs typeface="+mn-cs"/>
              </a:endParaRPr>
            </a:p>
          </p:txBody>
        </p:sp>
        <p:sp>
          <p:nvSpPr>
            <p:cNvPr id="152" name="矩形: 圆角 142"/>
            <p:cNvSpPr/>
            <p:nvPr/>
          </p:nvSpPr>
          <p:spPr>
            <a:xfrm>
              <a:off x="9708800" y="11756432"/>
              <a:ext cx="2599764" cy="536818"/>
            </a:xfrm>
            <a:prstGeom prst="roundRect">
              <a:avLst/>
            </a:prstGeom>
            <a:solidFill>
              <a:sysClr val="window" lastClr="FFFFFF"/>
            </a:solidFill>
            <a:ln w="12700" cap="flat" cmpd="sng" algn="ctr">
              <a:solidFill>
                <a:srgbClr val="ED7D31"/>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prstClr val="black"/>
                  </a:solidFill>
                  <a:effectLst/>
                  <a:uLnTx/>
                  <a:uFillTx/>
                  <a:latin typeface="Lato Light"/>
                  <a:ea typeface="+mn-ea"/>
                  <a:cs typeface="+mn-cs"/>
                </a:rPr>
                <a:t>数据治理</a:t>
              </a:r>
              <a:endParaRPr kumimoji="0" lang="zh-CN" altLang="en-US" sz="1600" b="0" i="0" u="none" strike="noStrike" kern="0" cap="none" spc="0" normalizeH="0" baseline="0" noProof="0" dirty="0">
                <a:ln>
                  <a:noFill/>
                </a:ln>
                <a:solidFill>
                  <a:prstClr val="black"/>
                </a:solidFill>
                <a:effectLst/>
                <a:uLnTx/>
                <a:uFillTx/>
                <a:latin typeface="Lato Light"/>
                <a:ea typeface="+mn-ea"/>
                <a:cs typeface="+mn-cs"/>
              </a:endParaRPr>
            </a:p>
          </p:txBody>
        </p:sp>
        <p:sp>
          <p:nvSpPr>
            <p:cNvPr id="153" name="矩形: 圆角 143"/>
            <p:cNvSpPr/>
            <p:nvPr/>
          </p:nvSpPr>
          <p:spPr>
            <a:xfrm>
              <a:off x="15618783" y="11756432"/>
              <a:ext cx="2599764" cy="536818"/>
            </a:xfrm>
            <a:prstGeom prst="roundRect">
              <a:avLst/>
            </a:prstGeom>
            <a:solidFill>
              <a:sysClr val="window" lastClr="FFFFFF"/>
            </a:solidFill>
            <a:ln w="12700" cap="flat" cmpd="sng" algn="ctr">
              <a:solidFill>
                <a:srgbClr val="ED7D31"/>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prstClr val="black"/>
                  </a:solidFill>
                  <a:effectLst/>
                  <a:uLnTx/>
                  <a:uFillTx/>
                  <a:latin typeface="Lato Light"/>
                  <a:ea typeface="+mn-ea"/>
                  <a:cs typeface="+mn-cs"/>
                </a:rPr>
                <a:t>数据平台</a:t>
              </a:r>
              <a:endParaRPr kumimoji="0" lang="zh-CN" altLang="en-US" sz="1600" b="0" i="0" u="none" strike="noStrike" kern="0" cap="none" spc="0" normalizeH="0" baseline="0" noProof="0" dirty="0">
                <a:ln>
                  <a:noFill/>
                </a:ln>
                <a:solidFill>
                  <a:prstClr val="black"/>
                </a:solidFill>
                <a:effectLst/>
                <a:uLnTx/>
                <a:uFillTx/>
                <a:latin typeface="Lato Light"/>
                <a:ea typeface="+mn-ea"/>
                <a:cs typeface="+mn-cs"/>
              </a:endParaRPr>
            </a:p>
          </p:txBody>
        </p:sp>
        <p:sp>
          <p:nvSpPr>
            <p:cNvPr id="154" name="矩形: 圆角 144"/>
            <p:cNvSpPr/>
            <p:nvPr/>
          </p:nvSpPr>
          <p:spPr>
            <a:xfrm>
              <a:off x="6798379" y="11756432"/>
              <a:ext cx="2599764" cy="536818"/>
            </a:xfrm>
            <a:prstGeom prst="roundRect">
              <a:avLst/>
            </a:prstGeom>
            <a:solidFill>
              <a:sysClr val="window" lastClr="FFFFFF"/>
            </a:solidFill>
            <a:ln w="12700" cap="flat" cmpd="sng" algn="ctr">
              <a:solidFill>
                <a:srgbClr val="ED7D31"/>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prstClr val="black"/>
                  </a:solidFill>
                  <a:effectLst/>
                  <a:uLnTx/>
                  <a:uFillTx/>
                  <a:latin typeface="Lato Light"/>
                  <a:ea typeface="+mn-ea"/>
                  <a:cs typeface="+mn-cs"/>
                </a:rPr>
                <a:t>采集建模</a:t>
              </a:r>
              <a:endParaRPr kumimoji="0" lang="zh-CN" altLang="en-US" sz="1600" b="0" i="0" u="none" strike="noStrike" kern="0" cap="none" spc="0" normalizeH="0" baseline="0" noProof="0" dirty="0">
                <a:ln>
                  <a:noFill/>
                </a:ln>
                <a:solidFill>
                  <a:prstClr val="black"/>
                </a:solidFill>
                <a:effectLst/>
                <a:uLnTx/>
                <a:uFillTx/>
                <a:latin typeface="Lato Light"/>
                <a:ea typeface="+mn-ea"/>
                <a:cs typeface="+mn-cs"/>
              </a:endParaRPr>
            </a:p>
          </p:txBody>
        </p:sp>
        <p:sp>
          <p:nvSpPr>
            <p:cNvPr id="155" name="矩形: 圆角 145"/>
            <p:cNvSpPr/>
            <p:nvPr/>
          </p:nvSpPr>
          <p:spPr>
            <a:xfrm>
              <a:off x="12685083" y="11756432"/>
              <a:ext cx="2599764" cy="536818"/>
            </a:xfrm>
            <a:prstGeom prst="roundRect">
              <a:avLst/>
            </a:prstGeom>
            <a:solidFill>
              <a:sysClr val="window" lastClr="FFFFFF"/>
            </a:solidFill>
            <a:ln w="12700" cap="flat" cmpd="sng" algn="ctr">
              <a:solidFill>
                <a:srgbClr val="ED7D31"/>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prstClr val="black"/>
                  </a:solidFill>
                  <a:effectLst/>
                  <a:uLnTx/>
                  <a:uFillTx/>
                  <a:latin typeface="Lato Light"/>
                  <a:ea typeface="+mn-ea"/>
                  <a:cs typeface="+mn-cs"/>
                </a:rPr>
                <a:t>清洗转换</a:t>
              </a:r>
              <a:endParaRPr kumimoji="0" lang="zh-CN" altLang="en-US" sz="1600" b="0" i="0" u="none" strike="noStrike" kern="0" cap="none" spc="0" normalizeH="0" baseline="0" noProof="0" dirty="0">
                <a:ln>
                  <a:noFill/>
                </a:ln>
                <a:solidFill>
                  <a:prstClr val="black"/>
                </a:solidFill>
                <a:effectLst/>
                <a:uLnTx/>
                <a:uFillTx/>
                <a:latin typeface="Lato Light"/>
                <a:ea typeface="+mn-ea"/>
                <a:cs typeface="+mn-cs"/>
              </a:endParaRPr>
            </a:p>
          </p:txBody>
        </p:sp>
      </p:grpSp>
      <p:grpSp>
        <p:nvGrpSpPr>
          <p:cNvPr id="156" name="组合 16"/>
          <p:cNvGrpSpPr/>
          <p:nvPr/>
        </p:nvGrpSpPr>
        <p:grpSpPr>
          <a:xfrm>
            <a:off x="2524354" y="1269554"/>
            <a:ext cx="6754905" cy="786203"/>
            <a:chOff x="4224009" y="2492120"/>
            <a:chExt cx="14411985" cy="1474311"/>
          </a:xfrm>
        </p:grpSpPr>
        <p:sp>
          <p:nvSpPr>
            <p:cNvPr id="157" name="矩形 146"/>
            <p:cNvSpPr/>
            <p:nvPr/>
          </p:nvSpPr>
          <p:spPr>
            <a:xfrm>
              <a:off x="4305202" y="2492120"/>
              <a:ext cx="14330792" cy="786054"/>
            </a:xfrm>
            <a:prstGeom prst="rect">
              <a:avLst/>
            </a:prstGeom>
            <a:solidFill>
              <a:sysClr val="windowText" lastClr="000000">
                <a:lumMod val="65000"/>
                <a:lumOff val="35000"/>
              </a:sysClr>
            </a:solidFill>
            <a:ln>
              <a:noFill/>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prstClr val="white"/>
                  </a:solidFill>
                  <a:effectLst/>
                  <a:uLnTx/>
                  <a:uFillTx/>
                  <a:latin typeface="Lato Light"/>
                  <a:ea typeface="+mn-ea"/>
                  <a:cs typeface="+mn-cs"/>
                </a:rPr>
                <a:t>制度规范建设</a:t>
              </a:r>
              <a:endParaRPr kumimoji="0" lang="en-US" altLang="zh-CN" b="1" i="0" u="none" strike="noStrike" kern="0" cap="none" spc="0" normalizeH="0" baseline="0" noProof="0" dirty="0">
                <a:ln>
                  <a:noFill/>
                </a:ln>
                <a:solidFill>
                  <a:prstClr val="white"/>
                </a:solidFill>
                <a:effectLst/>
                <a:uLnTx/>
                <a:uFillTx/>
                <a:latin typeface="Lato Light"/>
                <a:ea typeface="+mn-ea"/>
                <a:cs typeface="+mn-cs"/>
              </a:endParaRPr>
            </a:p>
          </p:txBody>
        </p:sp>
        <p:sp>
          <p:nvSpPr>
            <p:cNvPr id="158" name="矩形: 圆角 147"/>
            <p:cNvSpPr/>
            <p:nvPr/>
          </p:nvSpPr>
          <p:spPr>
            <a:xfrm>
              <a:off x="7134430" y="3429613"/>
              <a:ext cx="2599764" cy="536818"/>
            </a:xfrm>
            <a:prstGeom prst="roundRect">
              <a:avLst/>
            </a:prstGeom>
            <a:solidFill>
              <a:sysClr val="window" lastClr="FFFFFF"/>
            </a:solidFill>
            <a:ln w="12700" cap="flat" cmpd="sng" algn="ctr">
              <a:solidFill>
                <a:srgbClr val="ED7D31"/>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prstClr val="black"/>
                  </a:solidFill>
                  <a:effectLst/>
                  <a:uLnTx/>
                  <a:uFillTx/>
                  <a:latin typeface="Lato Light"/>
                  <a:ea typeface="+mn-ea"/>
                  <a:cs typeface="+mn-cs"/>
                </a:rPr>
                <a:t>管理办法</a:t>
              </a:r>
              <a:endParaRPr kumimoji="0" lang="zh-CN" altLang="en-US" sz="1600" b="0" i="0" u="none" strike="noStrike" kern="0" cap="none" spc="0" normalizeH="0" baseline="0" noProof="0" dirty="0">
                <a:ln>
                  <a:noFill/>
                </a:ln>
                <a:solidFill>
                  <a:prstClr val="black"/>
                </a:solidFill>
                <a:effectLst/>
                <a:uLnTx/>
                <a:uFillTx/>
                <a:latin typeface="Lato Light"/>
                <a:ea typeface="+mn-ea"/>
                <a:cs typeface="+mn-cs"/>
              </a:endParaRPr>
            </a:p>
          </p:txBody>
        </p:sp>
        <p:sp>
          <p:nvSpPr>
            <p:cNvPr id="159" name="矩形: 圆角 148"/>
            <p:cNvSpPr/>
            <p:nvPr/>
          </p:nvSpPr>
          <p:spPr>
            <a:xfrm>
              <a:off x="16036230" y="3429613"/>
              <a:ext cx="2599764" cy="536818"/>
            </a:xfrm>
            <a:prstGeom prst="roundRect">
              <a:avLst/>
            </a:prstGeom>
            <a:solidFill>
              <a:sysClr val="window" lastClr="FFFFFF"/>
            </a:solidFill>
            <a:ln w="12700" cap="flat" cmpd="sng" algn="ctr">
              <a:solidFill>
                <a:srgbClr val="ED7D31"/>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prstClr val="black"/>
                  </a:solidFill>
                  <a:effectLst/>
                  <a:uLnTx/>
                  <a:uFillTx/>
                  <a:latin typeface="Lato Light"/>
                  <a:ea typeface="+mn-ea"/>
                  <a:cs typeface="+mn-cs"/>
                </a:rPr>
                <a:t>考核评估</a:t>
              </a:r>
              <a:endParaRPr kumimoji="0" lang="zh-CN" altLang="en-US" sz="1600" b="0" i="0" u="none" strike="noStrike" kern="0" cap="none" spc="0" normalizeH="0" baseline="0" noProof="0" dirty="0">
                <a:ln>
                  <a:noFill/>
                </a:ln>
                <a:solidFill>
                  <a:prstClr val="black"/>
                </a:solidFill>
                <a:effectLst/>
                <a:uLnTx/>
                <a:uFillTx/>
                <a:latin typeface="Lato Light"/>
                <a:ea typeface="+mn-ea"/>
                <a:cs typeface="+mn-cs"/>
              </a:endParaRPr>
            </a:p>
          </p:txBody>
        </p:sp>
        <p:sp>
          <p:nvSpPr>
            <p:cNvPr id="160" name="矩形: 圆角 149"/>
            <p:cNvSpPr/>
            <p:nvPr/>
          </p:nvSpPr>
          <p:spPr>
            <a:xfrm>
              <a:off x="4224009" y="3429613"/>
              <a:ext cx="2599764" cy="536818"/>
            </a:xfrm>
            <a:prstGeom prst="roundRect">
              <a:avLst/>
            </a:prstGeom>
            <a:solidFill>
              <a:sysClr val="window" lastClr="FFFFFF"/>
            </a:solidFill>
            <a:ln w="12700" cap="flat" cmpd="sng" algn="ctr">
              <a:solidFill>
                <a:srgbClr val="ED7D31"/>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prstClr val="black"/>
                  </a:solidFill>
                  <a:effectLst/>
                  <a:uLnTx/>
                  <a:uFillTx/>
                  <a:latin typeface="Lato Light"/>
                  <a:ea typeface="+mn-ea"/>
                  <a:cs typeface="+mn-cs"/>
                </a:rPr>
                <a:t>管理机制</a:t>
              </a:r>
              <a:endParaRPr kumimoji="0" lang="zh-CN" altLang="en-US" sz="1600" b="0" i="0" u="none" strike="noStrike" kern="0" cap="none" spc="0" normalizeH="0" baseline="0" noProof="0" dirty="0">
                <a:ln>
                  <a:noFill/>
                </a:ln>
                <a:solidFill>
                  <a:prstClr val="black"/>
                </a:solidFill>
                <a:effectLst/>
                <a:uLnTx/>
                <a:uFillTx/>
                <a:latin typeface="Lato Light"/>
                <a:ea typeface="+mn-ea"/>
                <a:cs typeface="+mn-cs"/>
              </a:endParaRPr>
            </a:p>
          </p:txBody>
        </p:sp>
        <p:sp>
          <p:nvSpPr>
            <p:cNvPr id="161" name="矩形: 圆角 150"/>
            <p:cNvSpPr/>
            <p:nvPr/>
          </p:nvSpPr>
          <p:spPr>
            <a:xfrm>
              <a:off x="10110713" y="3429613"/>
              <a:ext cx="2599764" cy="536818"/>
            </a:xfrm>
            <a:prstGeom prst="roundRect">
              <a:avLst/>
            </a:prstGeom>
            <a:solidFill>
              <a:sysClr val="window" lastClr="FFFFFF"/>
            </a:solidFill>
            <a:ln w="12700" cap="flat" cmpd="sng" algn="ctr">
              <a:solidFill>
                <a:srgbClr val="ED7D31"/>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prstClr val="black"/>
                  </a:solidFill>
                  <a:effectLst/>
                  <a:uLnTx/>
                  <a:uFillTx/>
                  <a:latin typeface="Lato Light"/>
                  <a:ea typeface="+mn-ea"/>
                  <a:cs typeface="+mn-cs"/>
                </a:rPr>
                <a:t>操作规范</a:t>
              </a:r>
              <a:endParaRPr kumimoji="0" lang="zh-CN" altLang="en-US" sz="1600" b="0" i="0" u="none" strike="noStrike" kern="0" cap="none" spc="0" normalizeH="0" baseline="0" noProof="0" dirty="0">
                <a:ln>
                  <a:noFill/>
                </a:ln>
                <a:solidFill>
                  <a:prstClr val="black"/>
                </a:solidFill>
                <a:effectLst/>
                <a:uLnTx/>
                <a:uFillTx/>
                <a:latin typeface="Lato Light"/>
                <a:ea typeface="+mn-ea"/>
                <a:cs typeface="+mn-cs"/>
              </a:endParaRPr>
            </a:p>
          </p:txBody>
        </p:sp>
        <p:sp>
          <p:nvSpPr>
            <p:cNvPr id="163" name="矩形: 圆角 151"/>
            <p:cNvSpPr/>
            <p:nvPr/>
          </p:nvSpPr>
          <p:spPr>
            <a:xfrm>
              <a:off x="13074159" y="3429613"/>
              <a:ext cx="2599764" cy="536818"/>
            </a:xfrm>
            <a:prstGeom prst="roundRect">
              <a:avLst/>
            </a:prstGeom>
            <a:solidFill>
              <a:sysClr val="window" lastClr="FFFFFF"/>
            </a:solidFill>
            <a:ln w="12700" cap="flat" cmpd="sng" algn="ctr">
              <a:solidFill>
                <a:srgbClr val="ED7D31"/>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a:ln>
                    <a:noFill/>
                  </a:ln>
                  <a:solidFill>
                    <a:prstClr val="black"/>
                  </a:solidFill>
                  <a:effectLst/>
                  <a:uLnTx/>
                  <a:uFillTx/>
                  <a:latin typeface="Lato Light"/>
                  <a:ea typeface="+mn-ea"/>
                  <a:cs typeface="+mn-cs"/>
                </a:rPr>
                <a:t>生命周期</a:t>
              </a:r>
              <a:endParaRPr kumimoji="0" lang="zh-CN" altLang="en-US" sz="1600" b="0" i="0" u="none" strike="noStrike" kern="0" cap="none" spc="0" normalizeH="0" baseline="0" noProof="0" dirty="0">
                <a:ln>
                  <a:noFill/>
                </a:ln>
                <a:solidFill>
                  <a:prstClr val="black"/>
                </a:solidFill>
                <a:effectLst/>
                <a:uLnTx/>
                <a:uFillTx/>
                <a:latin typeface="Lato Light"/>
                <a:ea typeface="+mn-ea"/>
                <a:cs typeface="+mn-cs"/>
              </a:endParaRPr>
            </a:p>
          </p:txBody>
        </p:sp>
      </p:grpSp>
      <p:sp>
        <p:nvSpPr>
          <p:cNvPr id="164" name="箭头: 右 1"/>
          <p:cNvSpPr/>
          <p:nvPr/>
        </p:nvSpPr>
        <p:spPr>
          <a:xfrm>
            <a:off x="3698467" y="2928407"/>
            <a:ext cx="479030" cy="1044627"/>
          </a:xfrm>
          <a:prstGeom prs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Lato Light"/>
              <a:ea typeface="+mn-ea"/>
              <a:cs typeface="+mn-cs"/>
            </a:endParaRPr>
          </a:p>
        </p:txBody>
      </p:sp>
      <p:sp>
        <p:nvSpPr>
          <p:cNvPr id="165" name="箭头: 右 29"/>
          <p:cNvSpPr/>
          <p:nvPr/>
        </p:nvSpPr>
        <p:spPr>
          <a:xfrm>
            <a:off x="7637217" y="2928407"/>
            <a:ext cx="457206" cy="1044627"/>
          </a:xfrm>
          <a:prstGeom prs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Lato Light"/>
              <a:ea typeface="+mn-ea"/>
              <a:cs typeface="+mn-cs"/>
            </a:endParaRPr>
          </a:p>
        </p:txBody>
      </p:sp>
      <p:sp>
        <p:nvSpPr>
          <p:cNvPr id="166" name="椭圆 2"/>
          <p:cNvSpPr/>
          <p:nvPr/>
        </p:nvSpPr>
        <p:spPr>
          <a:xfrm>
            <a:off x="1585363" y="3089605"/>
            <a:ext cx="839816" cy="619516"/>
          </a:xfrm>
          <a:prstGeom prst="ellipse">
            <a:avLst/>
          </a:prstGeom>
          <a:solidFill>
            <a:sysClr val="window" lastClr="FFFFFF"/>
          </a:solidFill>
          <a:ln w="12700" cap="flat" cmpd="sng" algn="ctr">
            <a:solidFill>
              <a:srgbClr val="4472C4"/>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rPr>
              <a:t>采集</a:t>
            </a:r>
            <a:endParaRPr kumimoji="0" lang="en-US" altLang="zh-CN"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rPr>
              <a:t>识别</a:t>
            </a:r>
            <a:endParaRPr kumimoji="0" lang="zh-CN" altLang="en-US"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endParaRPr>
          </a:p>
        </p:txBody>
      </p:sp>
      <p:sp>
        <p:nvSpPr>
          <p:cNvPr id="167" name="椭圆 33"/>
          <p:cNvSpPr/>
          <p:nvPr/>
        </p:nvSpPr>
        <p:spPr>
          <a:xfrm>
            <a:off x="5467175" y="3089605"/>
            <a:ext cx="868920" cy="619516"/>
          </a:xfrm>
          <a:prstGeom prst="ellipse">
            <a:avLst/>
          </a:prstGeom>
          <a:solidFill>
            <a:sysClr val="window" lastClr="FFFFFF"/>
          </a:solidFill>
          <a:ln w="12700" cap="flat" cmpd="sng" algn="ctr">
            <a:solidFill>
              <a:srgbClr val="4472C4"/>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rPr>
              <a:t>清洗</a:t>
            </a:r>
            <a:endParaRPr kumimoji="0" lang="en-US" altLang="zh-CN"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rPr>
              <a:t>治理</a:t>
            </a:r>
            <a:endParaRPr kumimoji="0" lang="zh-CN" altLang="en-US"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endParaRPr>
          </a:p>
        </p:txBody>
      </p:sp>
      <p:sp>
        <p:nvSpPr>
          <p:cNvPr id="168" name="椭圆 34"/>
          <p:cNvSpPr/>
          <p:nvPr/>
        </p:nvSpPr>
        <p:spPr>
          <a:xfrm>
            <a:off x="9342977" y="3089605"/>
            <a:ext cx="910044" cy="619516"/>
          </a:xfrm>
          <a:prstGeom prst="ellipse">
            <a:avLst/>
          </a:prstGeom>
          <a:solidFill>
            <a:sysClr val="window" lastClr="FFFFFF"/>
          </a:solidFill>
          <a:ln w="12700" cap="flat" cmpd="sng" algn="ctr">
            <a:solidFill>
              <a:srgbClr val="4472C4"/>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rPr>
              <a:t>成果</a:t>
            </a:r>
            <a:endParaRPr kumimoji="0" lang="en-US" altLang="zh-CN"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rPr>
              <a:t>发布</a:t>
            </a:r>
            <a:endParaRPr kumimoji="0" lang="zh-CN" altLang="en-US" sz="1400" b="0" i="0" u="none" strike="noStrike" kern="0" cap="none" spc="0" normalizeH="0" baseline="0" noProof="0" dirty="0">
              <a:ln w="0"/>
              <a:solidFill>
                <a:srgbClr val="4472C4"/>
              </a:solidFill>
              <a:effectLst>
                <a:outerShdw blurRad="38100" dist="25400" dir="5400000" algn="ctr" rotWithShape="0">
                  <a:srgbClr val="6E747A">
                    <a:alpha val="43000"/>
                  </a:srgbClr>
                </a:outerShdw>
              </a:effectLst>
              <a:uLnTx/>
              <a:uFillTx/>
              <a:latin typeface="Lato Light"/>
              <a:ea typeface="+mn-ea"/>
              <a:cs typeface="+mn-cs"/>
            </a:endParaRPr>
          </a:p>
        </p:txBody>
      </p:sp>
      <p:sp>
        <p:nvSpPr>
          <p:cNvPr id="27" name="标题 1"/>
          <p:cNvSpPr>
            <a:spLocks noGrp="1"/>
          </p:cNvSpPr>
          <p:nvPr>
            <p:ph type="ctrTitle"/>
          </p:nvPr>
        </p:nvSpPr>
        <p:spPr>
          <a:xfrm>
            <a:off x="517588" y="165139"/>
            <a:ext cx="11160000" cy="888392"/>
          </a:xfrm>
        </p:spPr>
        <p:txBody>
          <a:bodyPr/>
          <a:lstStyle/>
          <a:p>
            <a:r>
              <a:rPr lang="zh-CN" altLang="en-US" dirty="0"/>
              <a:t>数据治理解决方案 </a:t>
            </a:r>
            <a:r>
              <a:rPr lang="en-US" altLang="zh-CN" dirty="0"/>
              <a:t>– </a:t>
            </a:r>
            <a:r>
              <a:rPr lang="zh-CN" altLang="en-US" dirty="0"/>
              <a:t>数据治理工作内容</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2" name="Group 161"/>
          <p:cNvGrpSpPr/>
          <p:nvPr/>
        </p:nvGrpSpPr>
        <p:grpSpPr>
          <a:xfrm>
            <a:off x="517588" y="1128304"/>
            <a:ext cx="10777419" cy="5180883"/>
            <a:chOff x="517588" y="1128304"/>
            <a:chExt cx="11201127" cy="5180883"/>
          </a:xfrm>
        </p:grpSpPr>
        <p:pic>
          <p:nvPicPr>
            <p:cNvPr id="6" name="图片 1"/>
            <p:cNvPicPr>
              <a:picLocks noChangeAspect="1"/>
            </p:cNvPicPr>
            <p:nvPr/>
          </p:nvPicPr>
          <p:blipFill>
            <a:blip r:embed="rId1">
              <a:clrChange>
                <a:clrFrom>
                  <a:srgbClr val="FFFFFF"/>
                </a:clrFrom>
                <a:clrTo>
                  <a:srgbClr val="FFFFFF">
                    <a:alpha val="0"/>
                  </a:srgbClr>
                </a:clrTo>
              </a:clrChange>
            </a:blip>
            <a:stretch>
              <a:fillRect/>
            </a:stretch>
          </p:blipFill>
          <p:spPr>
            <a:xfrm>
              <a:off x="1229874" y="1343297"/>
              <a:ext cx="493844" cy="325249"/>
            </a:xfrm>
            <a:prstGeom prst="rect">
              <a:avLst/>
            </a:prstGeom>
          </p:spPr>
        </p:pic>
        <p:sp>
          <p:nvSpPr>
            <p:cNvPr id="7" name="文本框 2"/>
            <p:cNvSpPr txBox="1"/>
            <p:nvPr/>
          </p:nvSpPr>
          <p:spPr>
            <a:xfrm>
              <a:off x="1169831" y="1668547"/>
              <a:ext cx="708493" cy="215444"/>
            </a:xfrm>
            <a:prstGeom prst="rect">
              <a:avLst/>
            </a:prstGeom>
            <a:noFill/>
          </p:spPr>
          <p:txBody>
            <a:bodyPr wrap="square" rtlCol="0">
              <a:spAutoFit/>
            </a:bodyPr>
            <a:lstStyle/>
            <a:p>
              <a:pPr defTabSz="1828165"/>
              <a:r>
                <a:rPr lang="zh-CN" altLang="en-US" sz="800" dirty="0">
                  <a:solidFill>
                    <a:srgbClr val="44546A"/>
                  </a:solidFill>
                  <a:latin typeface="Lato Light"/>
                </a:rPr>
                <a:t>实施团队</a:t>
              </a:r>
              <a:endParaRPr lang="zh-CN" altLang="en-US" sz="800" dirty="0">
                <a:solidFill>
                  <a:srgbClr val="44546A"/>
                </a:solidFill>
                <a:latin typeface="Lato Light"/>
              </a:endParaRPr>
            </a:p>
          </p:txBody>
        </p:sp>
        <p:sp>
          <p:nvSpPr>
            <p:cNvPr id="8" name="箭头: 下 3"/>
            <p:cNvSpPr/>
            <p:nvPr/>
          </p:nvSpPr>
          <p:spPr>
            <a:xfrm>
              <a:off x="1350303" y="1826569"/>
              <a:ext cx="192135" cy="244025"/>
            </a:xfrm>
            <a:prstGeom prst="downArrow">
              <a:avLst/>
            </a:prstGeom>
            <a:solidFill>
              <a:srgbClr val="A5A5A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44546A"/>
                </a:solidFill>
                <a:effectLst/>
                <a:uLnTx/>
                <a:uFillTx/>
                <a:latin typeface="Lato Light"/>
                <a:ea typeface="+mn-ea"/>
                <a:cs typeface="+mn-cs"/>
              </a:endParaRPr>
            </a:p>
          </p:txBody>
        </p:sp>
        <p:sp>
          <p:nvSpPr>
            <p:cNvPr id="9" name="文本框 4"/>
            <p:cNvSpPr txBox="1"/>
            <p:nvPr/>
          </p:nvSpPr>
          <p:spPr>
            <a:xfrm>
              <a:off x="1507652" y="1850909"/>
              <a:ext cx="686309" cy="215444"/>
            </a:xfrm>
            <a:prstGeom prst="rect">
              <a:avLst/>
            </a:prstGeom>
            <a:noFill/>
          </p:spPr>
          <p:txBody>
            <a:bodyPr wrap="square" rtlCol="0">
              <a:spAutoFit/>
            </a:bodyPr>
            <a:lstStyle/>
            <a:p>
              <a:pPr defTabSz="1828165"/>
              <a:r>
                <a:rPr lang="zh-CN" altLang="en-US" sz="800" dirty="0">
                  <a:solidFill>
                    <a:srgbClr val="44546A"/>
                  </a:solidFill>
                  <a:latin typeface="Lato Light"/>
                </a:rPr>
                <a:t>咨询服务</a:t>
              </a:r>
              <a:endParaRPr lang="zh-CN" altLang="en-US" sz="800" dirty="0">
                <a:solidFill>
                  <a:srgbClr val="44546A"/>
                </a:solidFill>
                <a:latin typeface="Lato Light"/>
              </a:endParaRPr>
            </a:p>
          </p:txBody>
        </p:sp>
        <p:sp>
          <p:nvSpPr>
            <p:cNvPr id="10" name="流程图: 过程 5"/>
            <p:cNvSpPr/>
            <p:nvPr/>
          </p:nvSpPr>
          <p:spPr>
            <a:xfrm>
              <a:off x="910072" y="2083614"/>
              <a:ext cx="981663" cy="138779"/>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架构制度设计</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1" name="流程图: 过程 16"/>
            <p:cNvSpPr/>
            <p:nvPr/>
          </p:nvSpPr>
          <p:spPr>
            <a:xfrm>
              <a:off x="983302" y="3608089"/>
              <a:ext cx="949661" cy="170035"/>
            </a:xfrm>
            <a:prstGeom prst="flowChart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数据标准遵从</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2" name="流程图: 过程 17"/>
            <p:cNvSpPr/>
            <p:nvPr/>
          </p:nvSpPr>
          <p:spPr>
            <a:xfrm>
              <a:off x="983302" y="3800409"/>
              <a:ext cx="949661" cy="170035"/>
            </a:xfrm>
            <a:prstGeom prst="flowChart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数据标准管理</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3" name="流程图: 过程 18"/>
            <p:cNvSpPr/>
            <p:nvPr/>
          </p:nvSpPr>
          <p:spPr>
            <a:xfrm>
              <a:off x="983302" y="4000180"/>
              <a:ext cx="949661" cy="170035"/>
            </a:xfrm>
            <a:prstGeom prst="flowChart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数据生产职责</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4" name="流程图: 过程 19"/>
            <p:cNvSpPr/>
            <p:nvPr/>
          </p:nvSpPr>
          <p:spPr>
            <a:xfrm>
              <a:off x="983302" y="4199042"/>
              <a:ext cx="949661" cy="170035"/>
            </a:xfrm>
            <a:prstGeom prst="flowChart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数据质量保障</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5" name="流程图: 过程 20"/>
            <p:cNvSpPr/>
            <p:nvPr/>
          </p:nvSpPr>
          <p:spPr>
            <a:xfrm>
              <a:off x="983302" y="4398813"/>
              <a:ext cx="949661" cy="170035"/>
            </a:xfrm>
            <a:prstGeom prst="flowChart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数据安全职责</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6" name="流程图: 过程 21"/>
            <p:cNvSpPr/>
            <p:nvPr/>
          </p:nvSpPr>
          <p:spPr>
            <a:xfrm>
              <a:off x="985266" y="4613884"/>
              <a:ext cx="949661" cy="170035"/>
            </a:xfrm>
            <a:prstGeom prst="flowChart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应用开发规范</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7" name="流程图: 过程 22"/>
            <p:cNvSpPr/>
            <p:nvPr/>
          </p:nvSpPr>
          <p:spPr>
            <a:xfrm>
              <a:off x="985266" y="4813655"/>
              <a:ext cx="949661" cy="170035"/>
            </a:xfrm>
            <a:prstGeom prst="flowChart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交换共享规范</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8" name="矩形 23"/>
            <p:cNvSpPr/>
            <p:nvPr/>
          </p:nvSpPr>
          <p:spPr>
            <a:xfrm>
              <a:off x="667993" y="3608089"/>
              <a:ext cx="250337" cy="1375602"/>
            </a:xfrm>
            <a:prstGeom prst="rect">
              <a:avLst/>
            </a:prstGeom>
            <a:solidFill>
              <a:srgbClr val="4472C4">
                <a:lumMod val="75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FFFF00"/>
                  </a:solidFill>
                  <a:effectLst/>
                  <a:uLnTx/>
                  <a:uFillTx/>
                  <a:latin typeface="Lato Light"/>
                  <a:ea typeface="+mn-ea"/>
                  <a:cs typeface="+mn-cs"/>
                </a:rPr>
                <a:t>数据管理规范</a:t>
              </a:r>
              <a:endParaRPr kumimoji="0" lang="zh-CN" altLang="en-US" sz="1000" b="0" i="0" u="none" strike="noStrike" kern="0" cap="none" spc="0" normalizeH="0" baseline="0" noProof="0" dirty="0">
                <a:ln>
                  <a:noFill/>
                </a:ln>
                <a:solidFill>
                  <a:srgbClr val="FFFF00"/>
                </a:solidFill>
                <a:effectLst/>
                <a:uLnTx/>
                <a:uFillTx/>
                <a:latin typeface="Lato Light"/>
                <a:ea typeface="+mn-ea"/>
                <a:cs typeface="+mn-cs"/>
              </a:endParaRPr>
            </a:p>
          </p:txBody>
        </p:sp>
        <p:sp>
          <p:nvSpPr>
            <p:cNvPr id="19" name="箭头: 下 24"/>
            <p:cNvSpPr/>
            <p:nvPr/>
          </p:nvSpPr>
          <p:spPr>
            <a:xfrm>
              <a:off x="1383280" y="4994360"/>
              <a:ext cx="192135" cy="181757"/>
            </a:xfrm>
            <a:prstGeom prst="downArrow">
              <a:avLst/>
            </a:prstGeom>
            <a:solidFill>
              <a:srgbClr val="A5A5A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44546A"/>
                </a:solidFill>
                <a:effectLst/>
                <a:uLnTx/>
                <a:uFillTx/>
                <a:latin typeface="Lato Light"/>
                <a:ea typeface="+mn-ea"/>
                <a:cs typeface="+mn-cs"/>
              </a:endParaRPr>
            </a:p>
          </p:txBody>
        </p:sp>
        <p:sp>
          <p:nvSpPr>
            <p:cNvPr id="20" name="流程图: 过程 25"/>
            <p:cNvSpPr/>
            <p:nvPr/>
          </p:nvSpPr>
          <p:spPr>
            <a:xfrm>
              <a:off x="968936" y="5194131"/>
              <a:ext cx="949661" cy="170035"/>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44546A"/>
                  </a:solidFill>
                  <a:effectLst/>
                  <a:uLnTx/>
                  <a:uFillTx/>
                  <a:latin typeface="Lato Light"/>
                  <a:ea typeface="+mn-ea"/>
                  <a:cs typeface="+mn-cs"/>
                </a:rPr>
                <a:t>制度规范实施</a:t>
              </a:r>
              <a:endParaRPr kumimoji="0" lang="zh-CN" altLang="en-US" sz="1000" b="0" i="0" u="none" strike="noStrike" kern="0" cap="none" spc="0" normalizeH="0" baseline="0" noProof="0" dirty="0">
                <a:ln>
                  <a:noFill/>
                </a:ln>
                <a:solidFill>
                  <a:srgbClr val="44546A"/>
                </a:solidFill>
                <a:effectLst/>
                <a:uLnTx/>
                <a:uFillTx/>
                <a:latin typeface="Lato Light"/>
                <a:ea typeface="+mn-ea"/>
                <a:cs typeface="+mn-cs"/>
              </a:endParaRPr>
            </a:p>
          </p:txBody>
        </p:sp>
        <p:pic>
          <p:nvPicPr>
            <p:cNvPr id="21" name="图片 26"/>
            <p:cNvPicPr>
              <a:picLocks noChangeAspect="1"/>
            </p:cNvPicPr>
            <p:nvPr/>
          </p:nvPicPr>
          <p:blipFill>
            <a:blip r:embed="rId1">
              <a:clrChange>
                <a:clrFrom>
                  <a:srgbClr val="FFFFFF"/>
                </a:clrFrom>
                <a:clrTo>
                  <a:srgbClr val="FFFFFF">
                    <a:alpha val="0"/>
                  </a:srgbClr>
                </a:clrTo>
              </a:clrChange>
            </a:blip>
            <a:stretch>
              <a:fillRect/>
            </a:stretch>
          </p:blipFill>
          <p:spPr>
            <a:xfrm>
              <a:off x="1252027" y="5536182"/>
              <a:ext cx="493844" cy="325249"/>
            </a:xfrm>
            <a:prstGeom prst="rect">
              <a:avLst/>
            </a:prstGeom>
          </p:spPr>
        </p:pic>
        <p:sp>
          <p:nvSpPr>
            <p:cNvPr id="22" name="箭头: 上 27"/>
            <p:cNvSpPr/>
            <p:nvPr/>
          </p:nvSpPr>
          <p:spPr>
            <a:xfrm>
              <a:off x="1442403" y="5397908"/>
              <a:ext cx="158945" cy="170676"/>
            </a:xfrm>
            <a:prstGeom prst="upArrow">
              <a:avLst/>
            </a:prstGeom>
            <a:solidFill>
              <a:srgbClr val="A5A5A5">
                <a:lumMod val="40000"/>
                <a:lumOff val="60000"/>
              </a:srgbClr>
            </a:solidFill>
            <a:ln w="12700" cap="flat" cmpd="sng" algn="ctr">
              <a:solidFill>
                <a:srgbClr val="4472C4">
                  <a:shade val="50000"/>
                </a:srgbClr>
              </a:solidFill>
              <a:prstDash val="solid"/>
              <a:miter lim="800000"/>
            </a:ln>
            <a:effectLst/>
          </p:spPr>
          <p:txBody>
            <a:bodyPr rot="0" spcFirstLastPara="0" vertOverflow="overflow" horzOverflow="overflow" vert="horz" wrap="square" lIns="182832" tIns="91416" rIns="182832" bIns="91416" numCol="1" spcCol="0" rtlCol="0" fromWordArt="0" anchor="ctr" anchorCtr="0" forceAA="0" compatLnSpc="1">
              <a:noAutofit/>
            </a:bodyP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44546A"/>
                </a:solidFill>
                <a:effectLst/>
                <a:uLnTx/>
                <a:uFillTx/>
                <a:latin typeface="Lato Light"/>
                <a:ea typeface="+mn-ea"/>
                <a:cs typeface="+mn-cs"/>
              </a:endParaRPr>
            </a:p>
          </p:txBody>
        </p:sp>
        <p:sp>
          <p:nvSpPr>
            <p:cNvPr id="23" name="文本框 29"/>
            <p:cNvSpPr txBox="1"/>
            <p:nvPr/>
          </p:nvSpPr>
          <p:spPr>
            <a:xfrm>
              <a:off x="1179373" y="5826232"/>
              <a:ext cx="941443" cy="215444"/>
            </a:xfrm>
            <a:prstGeom prst="rect">
              <a:avLst/>
            </a:prstGeom>
            <a:noFill/>
          </p:spPr>
          <p:txBody>
            <a:bodyPr wrap="square" rtlCol="0">
              <a:spAutoFit/>
            </a:bodyPr>
            <a:lstStyle/>
            <a:p>
              <a:pPr defTabSz="1828165"/>
              <a:r>
                <a:rPr lang="zh-CN" altLang="en-US" sz="800" dirty="0">
                  <a:solidFill>
                    <a:srgbClr val="44546A"/>
                  </a:solidFill>
                  <a:latin typeface="Lato Light"/>
                </a:rPr>
                <a:t>学校管理机构</a:t>
              </a:r>
              <a:endParaRPr lang="zh-CN" altLang="en-US" sz="800" dirty="0">
                <a:solidFill>
                  <a:srgbClr val="44546A"/>
                </a:solidFill>
                <a:latin typeface="Lato Light"/>
              </a:endParaRPr>
            </a:p>
          </p:txBody>
        </p:sp>
        <p:sp>
          <p:nvSpPr>
            <p:cNvPr id="25" name="流程图: 准备 14"/>
            <p:cNvSpPr/>
            <p:nvPr/>
          </p:nvSpPr>
          <p:spPr>
            <a:xfrm>
              <a:off x="2628901" y="1736995"/>
              <a:ext cx="1208742" cy="337124"/>
            </a:xfrm>
            <a:prstGeom prst="flowChartPreparation">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治理需求和目标确认</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26" name="文本框 28"/>
            <p:cNvSpPr txBox="1"/>
            <p:nvPr/>
          </p:nvSpPr>
          <p:spPr>
            <a:xfrm>
              <a:off x="2905034" y="1568433"/>
              <a:ext cx="771191" cy="246221"/>
            </a:xfrm>
            <a:prstGeom prst="rect">
              <a:avLst/>
            </a:prstGeom>
            <a:noFill/>
          </p:spPr>
          <p:txBody>
            <a:bodyPr wrap="square" rtlCol="0">
              <a:spAutoFit/>
            </a:bodyPr>
            <a:lstStyle/>
            <a:p>
              <a:pPr defTabSz="1828165"/>
              <a:r>
                <a:rPr lang="zh-CN" altLang="en-US" sz="1000" dirty="0">
                  <a:solidFill>
                    <a:srgbClr val="44546A"/>
                  </a:solidFill>
                  <a:latin typeface="Lato Light"/>
                </a:rPr>
                <a:t>项目启动</a:t>
              </a:r>
              <a:endParaRPr lang="zh-CN" altLang="en-US" sz="1000" dirty="0">
                <a:solidFill>
                  <a:srgbClr val="44546A"/>
                </a:solidFill>
                <a:latin typeface="Lato Light"/>
              </a:endParaRPr>
            </a:p>
          </p:txBody>
        </p:sp>
        <p:sp>
          <p:nvSpPr>
            <p:cNvPr id="27" name="箭头: 下 31"/>
            <p:cNvSpPr/>
            <p:nvPr/>
          </p:nvSpPr>
          <p:spPr>
            <a:xfrm>
              <a:off x="3122327" y="2081411"/>
              <a:ext cx="204884" cy="286094"/>
            </a:xfrm>
            <a:prstGeom prst="downArrow">
              <a:avLst/>
            </a:prstGeom>
            <a:solidFill>
              <a:srgbClr val="A5A5A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44546A"/>
                </a:solidFill>
                <a:effectLst/>
                <a:uLnTx/>
                <a:uFillTx/>
                <a:latin typeface="Lato Light"/>
                <a:ea typeface="+mn-ea"/>
                <a:cs typeface="+mn-cs"/>
              </a:endParaRPr>
            </a:p>
          </p:txBody>
        </p:sp>
        <p:sp>
          <p:nvSpPr>
            <p:cNvPr id="28" name="流程图: 过程 36"/>
            <p:cNvSpPr/>
            <p:nvPr/>
          </p:nvSpPr>
          <p:spPr>
            <a:xfrm>
              <a:off x="2787524" y="2367506"/>
              <a:ext cx="913357" cy="98303"/>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部门数据调研</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29" name="流程图: 过程 42"/>
            <p:cNvSpPr/>
            <p:nvPr/>
          </p:nvSpPr>
          <p:spPr>
            <a:xfrm>
              <a:off x="3857386" y="2069495"/>
              <a:ext cx="913357"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数据来源确认</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30" name="流程图: 过程 43"/>
            <p:cNvSpPr/>
            <p:nvPr/>
          </p:nvSpPr>
          <p:spPr>
            <a:xfrm>
              <a:off x="3857386" y="2654322"/>
              <a:ext cx="913357" cy="148479"/>
            </a:xfrm>
            <a:prstGeom prst="flowChartProcess">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校标设计制定</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cxnSp>
          <p:nvCxnSpPr>
            <p:cNvPr id="31" name="直接箭头连接符 48"/>
            <p:cNvCxnSpPr>
              <a:stCxn id="28" idx="3"/>
              <a:endCxn id="29" idx="1"/>
            </p:cNvCxnSpPr>
            <p:nvPr/>
          </p:nvCxnSpPr>
          <p:spPr>
            <a:xfrm flipV="1">
              <a:off x="3700880" y="2138222"/>
              <a:ext cx="156505" cy="278435"/>
            </a:xfrm>
            <a:prstGeom prst="straightConnector1">
              <a:avLst/>
            </a:prstGeom>
            <a:noFill/>
            <a:ln w="38100" cap="flat" cmpd="sng" algn="ctr">
              <a:solidFill>
                <a:srgbClr val="4472C4"/>
              </a:solidFill>
              <a:prstDash val="solid"/>
              <a:miter lim="800000"/>
              <a:tailEnd type="triangle"/>
            </a:ln>
            <a:effectLst/>
          </p:spPr>
        </p:cxnSp>
        <p:cxnSp>
          <p:nvCxnSpPr>
            <p:cNvPr id="32" name="直接箭头连接符 50"/>
            <p:cNvCxnSpPr>
              <a:stCxn id="28" idx="3"/>
              <a:endCxn id="30" idx="1"/>
            </p:cNvCxnSpPr>
            <p:nvPr/>
          </p:nvCxnSpPr>
          <p:spPr>
            <a:xfrm>
              <a:off x="3700880" y="2416657"/>
              <a:ext cx="156505" cy="311904"/>
            </a:xfrm>
            <a:prstGeom prst="straightConnector1">
              <a:avLst/>
            </a:prstGeom>
            <a:noFill/>
            <a:ln w="38100" cap="flat" cmpd="sng" algn="ctr">
              <a:solidFill>
                <a:srgbClr val="4472C4"/>
              </a:solidFill>
              <a:prstDash val="solid"/>
              <a:miter lim="800000"/>
              <a:tailEnd type="triangle"/>
            </a:ln>
            <a:effectLst/>
          </p:spPr>
        </p:cxnSp>
        <p:sp>
          <p:nvSpPr>
            <p:cNvPr id="33" name="流程图: 过程 60"/>
            <p:cNvSpPr/>
            <p:nvPr/>
          </p:nvSpPr>
          <p:spPr>
            <a:xfrm>
              <a:off x="4928485" y="1811128"/>
              <a:ext cx="913357"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字典匹配识别</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34" name="流程图: 过程 61"/>
            <p:cNvSpPr/>
            <p:nvPr/>
          </p:nvSpPr>
          <p:spPr>
            <a:xfrm>
              <a:off x="4928485" y="2347930"/>
              <a:ext cx="913357"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人工内容识别</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35" name="流程图: 过程 62"/>
            <p:cNvSpPr/>
            <p:nvPr/>
          </p:nvSpPr>
          <p:spPr>
            <a:xfrm>
              <a:off x="6658795" y="2075306"/>
              <a:ext cx="913357"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采集对象确定</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cxnSp>
          <p:nvCxnSpPr>
            <p:cNvPr id="36" name="直接箭头连接符 83"/>
            <p:cNvCxnSpPr>
              <a:stCxn id="29" idx="3"/>
              <a:endCxn id="33" idx="1"/>
            </p:cNvCxnSpPr>
            <p:nvPr/>
          </p:nvCxnSpPr>
          <p:spPr>
            <a:xfrm flipV="1">
              <a:off x="4770742" y="1879854"/>
              <a:ext cx="157743" cy="258367"/>
            </a:xfrm>
            <a:prstGeom prst="straightConnector1">
              <a:avLst/>
            </a:prstGeom>
            <a:noFill/>
            <a:ln w="38100" cap="flat" cmpd="sng" algn="ctr">
              <a:solidFill>
                <a:srgbClr val="4472C4"/>
              </a:solidFill>
              <a:prstDash val="solid"/>
              <a:miter lim="800000"/>
              <a:tailEnd type="triangle"/>
            </a:ln>
            <a:effectLst/>
          </p:spPr>
        </p:cxnSp>
        <p:cxnSp>
          <p:nvCxnSpPr>
            <p:cNvPr id="37" name="直接箭头连接符 85"/>
            <p:cNvCxnSpPr>
              <a:stCxn id="29" idx="3"/>
              <a:endCxn id="34" idx="1"/>
            </p:cNvCxnSpPr>
            <p:nvPr/>
          </p:nvCxnSpPr>
          <p:spPr>
            <a:xfrm>
              <a:off x="4770742" y="2138222"/>
              <a:ext cx="157743" cy="278435"/>
            </a:xfrm>
            <a:prstGeom prst="straightConnector1">
              <a:avLst/>
            </a:prstGeom>
            <a:noFill/>
            <a:ln w="38100" cap="flat" cmpd="sng" algn="ctr">
              <a:solidFill>
                <a:srgbClr val="4472C4"/>
              </a:solidFill>
              <a:prstDash val="solid"/>
              <a:miter lim="800000"/>
              <a:tailEnd type="triangle"/>
            </a:ln>
            <a:effectLst/>
          </p:spPr>
        </p:cxnSp>
        <p:cxnSp>
          <p:nvCxnSpPr>
            <p:cNvPr id="38" name="直接箭头连接符 87"/>
            <p:cNvCxnSpPr>
              <a:stCxn id="33" idx="3"/>
              <a:endCxn id="35" idx="1"/>
            </p:cNvCxnSpPr>
            <p:nvPr/>
          </p:nvCxnSpPr>
          <p:spPr>
            <a:xfrm>
              <a:off x="5841842" y="1879854"/>
              <a:ext cx="816953" cy="264178"/>
            </a:xfrm>
            <a:prstGeom prst="straightConnector1">
              <a:avLst/>
            </a:prstGeom>
            <a:noFill/>
            <a:ln w="38100" cap="flat" cmpd="sng" algn="ctr">
              <a:solidFill>
                <a:srgbClr val="4472C4"/>
              </a:solidFill>
              <a:prstDash val="solid"/>
              <a:miter lim="800000"/>
              <a:tailEnd type="triangle"/>
            </a:ln>
            <a:effectLst/>
          </p:spPr>
        </p:cxnSp>
        <p:cxnSp>
          <p:nvCxnSpPr>
            <p:cNvPr id="39" name="直接箭头连接符 89"/>
            <p:cNvCxnSpPr>
              <a:stCxn id="34" idx="3"/>
              <a:endCxn id="35" idx="1"/>
            </p:cNvCxnSpPr>
            <p:nvPr/>
          </p:nvCxnSpPr>
          <p:spPr>
            <a:xfrm flipV="1">
              <a:off x="5841842" y="2144033"/>
              <a:ext cx="816953" cy="272624"/>
            </a:xfrm>
            <a:prstGeom prst="straightConnector1">
              <a:avLst/>
            </a:prstGeom>
            <a:noFill/>
            <a:ln w="38100" cap="flat" cmpd="sng" algn="ctr">
              <a:solidFill>
                <a:srgbClr val="4472C4"/>
              </a:solidFill>
              <a:prstDash val="solid"/>
              <a:miter lim="800000"/>
              <a:tailEnd type="triangle"/>
            </a:ln>
            <a:effectLst/>
          </p:spPr>
        </p:cxnSp>
        <p:sp>
          <p:nvSpPr>
            <p:cNvPr id="40" name="波形 99"/>
            <p:cNvSpPr/>
            <p:nvPr/>
          </p:nvSpPr>
          <p:spPr>
            <a:xfrm>
              <a:off x="4977154" y="1289392"/>
              <a:ext cx="666610" cy="267787"/>
            </a:xfrm>
            <a:prstGeom prst="wave">
              <a:avLst>
                <a:gd name="adj1" fmla="val 12500"/>
                <a:gd name="adj2" fmla="val 1522"/>
              </a:avLst>
            </a:prstGeom>
            <a:solidFill>
              <a:srgbClr val="ED7D31">
                <a:lumMod val="60000"/>
                <a:lumOff val="40000"/>
              </a:srgbClr>
            </a:solidFill>
            <a:ln w="12700" cap="flat" cmpd="sng" algn="ctr">
              <a:solidFill>
                <a:srgbClr val="4472C4">
                  <a:shade val="5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pPr algn="ctr" defTabSz="1828165"/>
              <a:r>
                <a:rPr lang="zh-CN" altLang="en-US" sz="900" kern="0" dirty="0">
                  <a:solidFill>
                    <a:srgbClr val="44546A"/>
                  </a:solidFill>
                  <a:latin typeface="Lato Light"/>
                </a:rPr>
                <a:t>数据字典</a:t>
              </a:r>
              <a:endParaRPr lang="zh-CN" altLang="en-US" sz="900" kern="0" dirty="0">
                <a:solidFill>
                  <a:srgbClr val="44546A"/>
                </a:solidFill>
                <a:latin typeface="Lato Light"/>
              </a:endParaRPr>
            </a:p>
          </p:txBody>
        </p:sp>
        <p:sp>
          <p:nvSpPr>
            <p:cNvPr id="41" name="箭头: 下 100"/>
            <p:cNvSpPr/>
            <p:nvPr/>
          </p:nvSpPr>
          <p:spPr>
            <a:xfrm>
              <a:off x="5232468" y="1592292"/>
              <a:ext cx="204884" cy="215707"/>
            </a:xfrm>
            <a:prstGeom prst="downArrow">
              <a:avLst/>
            </a:prstGeom>
            <a:solidFill>
              <a:srgbClr val="A5A5A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44546A"/>
                </a:solidFill>
                <a:effectLst/>
                <a:uLnTx/>
                <a:uFillTx/>
                <a:latin typeface="Lato Light"/>
                <a:ea typeface="+mn-ea"/>
                <a:cs typeface="+mn-cs"/>
              </a:endParaRPr>
            </a:p>
          </p:txBody>
        </p:sp>
        <p:pic>
          <p:nvPicPr>
            <p:cNvPr id="42" name="图片 101"/>
            <p:cNvPicPr>
              <a:picLocks noChangeAspect="1"/>
            </p:cNvPicPr>
            <p:nvPr/>
          </p:nvPicPr>
          <p:blipFill>
            <a:blip r:embed="rId1">
              <a:clrChange>
                <a:clrFrom>
                  <a:srgbClr val="FFFFFF"/>
                </a:clrFrom>
                <a:clrTo>
                  <a:srgbClr val="FFFFFF">
                    <a:alpha val="0"/>
                  </a:srgbClr>
                </a:clrTo>
              </a:clrChange>
            </a:blip>
            <a:stretch>
              <a:fillRect/>
            </a:stretch>
          </p:blipFill>
          <p:spPr>
            <a:xfrm>
              <a:off x="5160645" y="2623701"/>
              <a:ext cx="526613" cy="337124"/>
            </a:xfrm>
            <a:prstGeom prst="rect">
              <a:avLst/>
            </a:prstGeom>
          </p:spPr>
        </p:pic>
        <p:sp>
          <p:nvSpPr>
            <p:cNvPr id="43" name="文本框 102"/>
            <p:cNvSpPr txBox="1"/>
            <p:nvPr/>
          </p:nvSpPr>
          <p:spPr>
            <a:xfrm>
              <a:off x="5122568" y="2982121"/>
              <a:ext cx="755506" cy="230832"/>
            </a:xfrm>
            <a:prstGeom prst="rect">
              <a:avLst/>
            </a:prstGeom>
            <a:noFill/>
          </p:spPr>
          <p:txBody>
            <a:bodyPr wrap="square" rtlCol="0">
              <a:spAutoFit/>
            </a:bodyPr>
            <a:lstStyle/>
            <a:p>
              <a:pPr defTabSz="1828165"/>
              <a:r>
                <a:rPr lang="zh-CN" altLang="en-US" sz="900" dirty="0">
                  <a:solidFill>
                    <a:srgbClr val="44546A"/>
                  </a:solidFill>
                  <a:latin typeface="Lato Light"/>
                </a:rPr>
                <a:t>技术团队</a:t>
              </a:r>
              <a:endParaRPr lang="zh-CN" altLang="en-US" sz="900" dirty="0">
                <a:solidFill>
                  <a:srgbClr val="44546A"/>
                </a:solidFill>
                <a:latin typeface="Lato Light"/>
              </a:endParaRPr>
            </a:p>
          </p:txBody>
        </p:sp>
        <p:sp>
          <p:nvSpPr>
            <p:cNvPr id="44" name="箭头: 上 103"/>
            <p:cNvSpPr/>
            <p:nvPr/>
          </p:nvSpPr>
          <p:spPr>
            <a:xfrm>
              <a:off x="5310459" y="2480855"/>
              <a:ext cx="190919" cy="176243"/>
            </a:xfrm>
            <a:prstGeom prst="upArrow">
              <a:avLst/>
            </a:prstGeom>
            <a:solidFill>
              <a:srgbClr val="A5A5A5">
                <a:lumMod val="40000"/>
                <a:lumOff val="60000"/>
              </a:srgbClr>
            </a:solidFill>
            <a:ln w="12700" cap="flat" cmpd="sng" algn="ctr">
              <a:solidFill>
                <a:srgbClr val="4472C4">
                  <a:shade val="50000"/>
                </a:srgbClr>
              </a:solidFill>
              <a:prstDash val="solid"/>
              <a:miter lim="800000"/>
            </a:ln>
            <a:effectLst/>
          </p:spPr>
          <p:txBody>
            <a:bodyPr rot="0" spcFirstLastPara="0" vertOverflow="overflow" horzOverflow="overflow" vert="horz" wrap="square" lIns="182832" tIns="91416" rIns="182832" bIns="91416" numCol="1" spcCol="0" rtlCol="0" fromWordArt="0" anchor="ctr" anchorCtr="0" forceAA="0" compatLnSpc="1">
              <a:noAutofit/>
            </a:bodyP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44546A"/>
                </a:solidFill>
                <a:effectLst/>
                <a:uLnTx/>
                <a:uFillTx/>
                <a:latin typeface="Lato Light"/>
                <a:ea typeface="+mn-ea"/>
                <a:cs typeface="+mn-cs"/>
              </a:endParaRPr>
            </a:p>
          </p:txBody>
        </p:sp>
        <p:sp>
          <p:nvSpPr>
            <p:cNvPr id="45" name="波形 104"/>
            <p:cNvSpPr/>
            <p:nvPr/>
          </p:nvSpPr>
          <p:spPr>
            <a:xfrm>
              <a:off x="3642162" y="3305197"/>
              <a:ext cx="757232" cy="294258"/>
            </a:xfrm>
            <a:prstGeom prst="wave">
              <a:avLst/>
            </a:prstGeom>
            <a:solidFill>
              <a:srgbClr val="ED7D31">
                <a:lumMod val="60000"/>
                <a:lumOff val="40000"/>
              </a:srgbClr>
            </a:solidFill>
            <a:ln w="12700" cap="flat" cmpd="sng" algn="ctr">
              <a:solidFill>
                <a:srgbClr val="4472C4">
                  <a:shade val="5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部标、国标</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46" name="箭头: 上 105"/>
            <p:cNvSpPr/>
            <p:nvPr/>
          </p:nvSpPr>
          <p:spPr>
            <a:xfrm>
              <a:off x="3960160" y="2815542"/>
              <a:ext cx="218243" cy="508659"/>
            </a:xfrm>
            <a:prstGeom prst="upArrow">
              <a:avLst/>
            </a:prstGeom>
            <a:solidFill>
              <a:srgbClr val="A5A5A5">
                <a:lumMod val="40000"/>
                <a:lumOff val="60000"/>
              </a:srgbClr>
            </a:solidFill>
            <a:ln w="12700" cap="flat" cmpd="sng" algn="ctr">
              <a:solidFill>
                <a:srgbClr val="4472C4">
                  <a:shade val="50000"/>
                </a:srgbClr>
              </a:solidFill>
              <a:prstDash val="solid"/>
              <a:miter lim="800000"/>
            </a:ln>
            <a:effectLst/>
          </p:spPr>
          <p:txBody>
            <a:bodyPr rot="0" spcFirstLastPara="0" vertOverflow="overflow" horzOverflow="overflow" vert="horz" wrap="square" lIns="182832" tIns="91416" rIns="182832" bIns="91416" numCol="1" spcCol="0" rtlCol="0" fromWordArt="0" anchor="ctr" anchorCtr="0" forceAA="0" compatLnSpc="1">
              <a:noAutofit/>
            </a:bodyP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44546A"/>
                </a:solidFill>
                <a:effectLst/>
                <a:uLnTx/>
                <a:uFillTx/>
                <a:latin typeface="Lato Light"/>
                <a:ea typeface="+mn-ea"/>
                <a:cs typeface="+mn-cs"/>
              </a:endParaRPr>
            </a:p>
          </p:txBody>
        </p:sp>
        <p:sp>
          <p:nvSpPr>
            <p:cNvPr id="47" name="流程图: 过程 109"/>
            <p:cNvSpPr/>
            <p:nvPr/>
          </p:nvSpPr>
          <p:spPr>
            <a:xfrm>
              <a:off x="4513567" y="3357431"/>
              <a:ext cx="1046318" cy="148479"/>
            </a:xfrm>
            <a:prstGeom prst="flowChartProcess">
              <a:avLst/>
            </a:prstGeom>
            <a:solidFill>
              <a:srgbClr val="00B0F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按标准分类建模</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cxnSp>
          <p:nvCxnSpPr>
            <p:cNvPr id="48" name="直接箭头连接符 113"/>
            <p:cNvCxnSpPr>
              <a:stCxn id="30" idx="2"/>
              <a:endCxn id="47" idx="0"/>
            </p:cNvCxnSpPr>
            <p:nvPr/>
          </p:nvCxnSpPr>
          <p:spPr>
            <a:xfrm>
              <a:off x="4314065" y="2802801"/>
              <a:ext cx="722661" cy="554629"/>
            </a:xfrm>
            <a:prstGeom prst="straightConnector1">
              <a:avLst/>
            </a:prstGeom>
            <a:noFill/>
            <a:ln w="38100" cap="flat" cmpd="sng" algn="ctr">
              <a:solidFill>
                <a:srgbClr val="4472C4"/>
              </a:solidFill>
              <a:prstDash val="solid"/>
              <a:miter lim="800000"/>
              <a:tailEnd type="triangle"/>
            </a:ln>
            <a:effectLst/>
          </p:spPr>
        </p:cxnSp>
        <p:sp>
          <p:nvSpPr>
            <p:cNvPr id="49" name="流程图: 过程 117"/>
            <p:cNvSpPr/>
            <p:nvPr/>
          </p:nvSpPr>
          <p:spPr>
            <a:xfrm>
              <a:off x="4022918" y="4209919"/>
              <a:ext cx="913357"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历史数据存档</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50" name="流程图: 过程 118"/>
            <p:cNvSpPr/>
            <p:nvPr/>
          </p:nvSpPr>
          <p:spPr>
            <a:xfrm>
              <a:off x="4028690" y="4734725"/>
              <a:ext cx="913357"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数据建模计算</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51" name="流程图: 过程 119"/>
            <p:cNvSpPr/>
            <p:nvPr/>
          </p:nvSpPr>
          <p:spPr>
            <a:xfrm>
              <a:off x="4022918" y="5508685"/>
              <a:ext cx="913357"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数据交换共享</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52" name="流程图: 过程 120"/>
            <p:cNvSpPr/>
            <p:nvPr/>
          </p:nvSpPr>
          <p:spPr>
            <a:xfrm>
              <a:off x="3342400" y="5133333"/>
              <a:ext cx="913357"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数据封装发布</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53" name="流程图: 过程 121"/>
            <p:cNvSpPr/>
            <p:nvPr/>
          </p:nvSpPr>
          <p:spPr>
            <a:xfrm>
              <a:off x="3405413" y="6039523"/>
              <a:ext cx="1305720" cy="165211"/>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应用程序调用</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54" name="流程图: 过程 145"/>
            <p:cNvSpPr/>
            <p:nvPr/>
          </p:nvSpPr>
          <p:spPr>
            <a:xfrm>
              <a:off x="5321350" y="5130312"/>
              <a:ext cx="913357"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数据生成入库</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cxnSp>
          <p:nvCxnSpPr>
            <p:cNvPr id="55" name="连接符: 肘形 150"/>
            <p:cNvCxnSpPr>
              <a:stCxn id="47" idx="3"/>
              <a:endCxn id="54" idx="0"/>
            </p:cNvCxnSpPr>
            <p:nvPr/>
          </p:nvCxnSpPr>
          <p:spPr>
            <a:xfrm>
              <a:off x="5559886" y="3431670"/>
              <a:ext cx="218143" cy="1698642"/>
            </a:xfrm>
            <a:prstGeom prst="bentConnector2">
              <a:avLst/>
            </a:prstGeom>
            <a:noFill/>
            <a:ln w="38100" cap="flat" cmpd="sng" algn="ctr">
              <a:solidFill>
                <a:srgbClr val="4472C4"/>
              </a:solidFill>
              <a:prstDash val="solid"/>
              <a:miter lim="800000"/>
              <a:tailEnd type="triangle"/>
            </a:ln>
            <a:effectLst/>
          </p:spPr>
        </p:cxnSp>
        <p:cxnSp>
          <p:nvCxnSpPr>
            <p:cNvPr id="56" name="直接箭头连接符 153"/>
            <p:cNvCxnSpPr>
              <a:stCxn id="54" idx="1"/>
              <a:endCxn id="49" idx="3"/>
            </p:cNvCxnSpPr>
            <p:nvPr/>
          </p:nvCxnSpPr>
          <p:spPr>
            <a:xfrm flipH="1" flipV="1">
              <a:off x="4936275" y="4278645"/>
              <a:ext cx="385074" cy="920394"/>
            </a:xfrm>
            <a:prstGeom prst="straightConnector1">
              <a:avLst/>
            </a:prstGeom>
            <a:noFill/>
            <a:ln w="38100" cap="flat" cmpd="sng" algn="ctr">
              <a:solidFill>
                <a:srgbClr val="4472C4"/>
              </a:solidFill>
              <a:prstDash val="solid"/>
              <a:miter lim="800000"/>
              <a:tailEnd type="triangle"/>
            </a:ln>
            <a:effectLst/>
          </p:spPr>
        </p:cxnSp>
        <p:cxnSp>
          <p:nvCxnSpPr>
            <p:cNvPr id="57" name="直接箭头连接符 155"/>
            <p:cNvCxnSpPr>
              <a:stCxn id="54" idx="1"/>
              <a:endCxn id="50" idx="3"/>
            </p:cNvCxnSpPr>
            <p:nvPr/>
          </p:nvCxnSpPr>
          <p:spPr>
            <a:xfrm flipH="1" flipV="1">
              <a:off x="4942046" y="4803452"/>
              <a:ext cx="379303" cy="395588"/>
            </a:xfrm>
            <a:prstGeom prst="straightConnector1">
              <a:avLst/>
            </a:prstGeom>
            <a:noFill/>
            <a:ln w="38100" cap="flat" cmpd="sng" algn="ctr">
              <a:solidFill>
                <a:srgbClr val="4472C4"/>
              </a:solidFill>
              <a:prstDash val="solid"/>
              <a:miter lim="800000"/>
              <a:tailEnd type="triangle"/>
            </a:ln>
            <a:effectLst/>
          </p:spPr>
        </p:cxnSp>
        <p:cxnSp>
          <p:nvCxnSpPr>
            <p:cNvPr id="58" name="直接箭头连接符 157"/>
            <p:cNvCxnSpPr>
              <a:stCxn id="54" idx="1"/>
              <a:endCxn id="52" idx="3"/>
            </p:cNvCxnSpPr>
            <p:nvPr/>
          </p:nvCxnSpPr>
          <p:spPr>
            <a:xfrm flipH="1">
              <a:off x="4255756" y="5199039"/>
              <a:ext cx="1065593" cy="3021"/>
            </a:xfrm>
            <a:prstGeom prst="straightConnector1">
              <a:avLst/>
            </a:prstGeom>
            <a:noFill/>
            <a:ln w="38100" cap="flat" cmpd="sng" algn="ctr">
              <a:solidFill>
                <a:srgbClr val="4472C4"/>
              </a:solidFill>
              <a:prstDash val="solid"/>
              <a:miter lim="800000"/>
              <a:tailEnd type="triangle"/>
            </a:ln>
            <a:effectLst/>
          </p:spPr>
        </p:cxnSp>
        <p:cxnSp>
          <p:nvCxnSpPr>
            <p:cNvPr id="59" name="直接箭头连接符 159"/>
            <p:cNvCxnSpPr>
              <a:stCxn id="54" idx="1"/>
              <a:endCxn id="51" idx="3"/>
            </p:cNvCxnSpPr>
            <p:nvPr/>
          </p:nvCxnSpPr>
          <p:spPr>
            <a:xfrm flipH="1">
              <a:off x="4936276" y="5199039"/>
              <a:ext cx="385074" cy="378372"/>
            </a:xfrm>
            <a:prstGeom prst="straightConnector1">
              <a:avLst/>
            </a:prstGeom>
            <a:noFill/>
            <a:ln w="38100" cap="flat" cmpd="sng" algn="ctr">
              <a:solidFill>
                <a:srgbClr val="4472C4"/>
              </a:solidFill>
              <a:prstDash val="solid"/>
              <a:miter lim="800000"/>
              <a:tailEnd type="triangle"/>
            </a:ln>
            <a:effectLst/>
          </p:spPr>
        </p:cxnSp>
        <p:cxnSp>
          <p:nvCxnSpPr>
            <p:cNvPr id="60" name="直接箭头连接符 161"/>
            <p:cNvCxnSpPr>
              <a:stCxn id="50" idx="1"/>
              <a:endCxn id="52" idx="0"/>
            </p:cNvCxnSpPr>
            <p:nvPr/>
          </p:nvCxnSpPr>
          <p:spPr>
            <a:xfrm flipH="1">
              <a:off x="3799078" y="4803452"/>
              <a:ext cx="229612" cy="329881"/>
            </a:xfrm>
            <a:prstGeom prst="straightConnector1">
              <a:avLst/>
            </a:prstGeom>
            <a:noFill/>
            <a:ln w="38100" cap="flat" cmpd="sng" algn="ctr">
              <a:solidFill>
                <a:srgbClr val="4472C4"/>
              </a:solidFill>
              <a:prstDash val="solid"/>
              <a:miter lim="800000"/>
              <a:tailEnd type="triangle"/>
            </a:ln>
            <a:effectLst/>
          </p:spPr>
        </p:cxnSp>
        <p:cxnSp>
          <p:nvCxnSpPr>
            <p:cNvPr id="61" name="直接箭头连接符 163"/>
            <p:cNvCxnSpPr>
              <a:stCxn id="49" idx="1"/>
              <a:endCxn id="52" idx="0"/>
            </p:cNvCxnSpPr>
            <p:nvPr/>
          </p:nvCxnSpPr>
          <p:spPr>
            <a:xfrm flipH="1">
              <a:off x="3799078" y="4278645"/>
              <a:ext cx="223840" cy="854688"/>
            </a:xfrm>
            <a:prstGeom prst="straightConnector1">
              <a:avLst/>
            </a:prstGeom>
            <a:noFill/>
            <a:ln w="38100" cap="flat" cmpd="sng" algn="ctr">
              <a:solidFill>
                <a:srgbClr val="4472C4"/>
              </a:solidFill>
              <a:prstDash val="solid"/>
              <a:miter lim="800000"/>
              <a:tailEnd type="triangle"/>
            </a:ln>
            <a:effectLst/>
          </p:spPr>
        </p:cxnSp>
        <p:cxnSp>
          <p:nvCxnSpPr>
            <p:cNvPr id="62" name="直接箭头连接符 165"/>
            <p:cNvCxnSpPr/>
            <p:nvPr/>
          </p:nvCxnSpPr>
          <p:spPr>
            <a:xfrm>
              <a:off x="3600401" y="5415428"/>
              <a:ext cx="0" cy="623120"/>
            </a:xfrm>
            <a:prstGeom prst="straightConnector1">
              <a:avLst/>
            </a:prstGeom>
            <a:noFill/>
            <a:ln w="38100" cap="flat" cmpd="sng" algn="ctr">
              <a:solidFill>
                <a:srgbClr val="4472C4"/>
              </a:solidFill>
              <a:prstDash val="solid"/>
              <a:miter lim="800000"/>
              <a:tailEnd type="triangle"/>
            </a:ln>
            <a:effectLst/>
          </p:spPr>
        </p:cxnSp>
        <p:cxnSp>
          <p:nvCxnSpPr>
            <p:cNvPr id="63" name="直接箭头连接符 167"/>
            <p:cNvCxnSpPr>
              <a:stCxn id="51" idx="2"/>
            </p:cNvCxnSpPr>
            <p:nvPr/>
          </p:nvCxnSpPr>
          <p:spPr>
            <a:xfrm>
              <a:off x="4479597" y="5646139"/>
              <a:ext cx="4475" cy="392409"/>
            </a:xfrm>
            <a:prstGeom prst="straightConnector1">
              <a:avLst/>
            </a:prstGeom>
            <a:noFill/>
            <a:ln w="38100" cap="flat" cmpd="sng" algn="ctr">
              <a:solidFill>
                <a:srgbClr val="4472C4"/>
              </a:solidFill>
              <a:prstDash val="solid"/>
              <a:miter lim="800000"/>
              <a:tailEnd type="triangle"/>
            </a:ln>
            <a:effectLst/>
          </p:spPr>
        </p:cxnSp>
        <p:sp>
          <p:nvSpPr>
            <p:cNvPr id="64" name="文本框 169"/>
            <p:cNvSpPr txBox="1"/>
            <p:nvPr/>
          </p:nvSpPr>
          <p:spPr>
            <a:xfrm>
              <a:off x="3470442" y="5273183"/>
              <a:ext cx="385075" cy="200055"/>
            </a:xfrm>
            <a:prstGeom prst="rect">
              <a:avLst/>
            </a:prstGeom>
            <a:noFill/>
          </p:spPr>
          <p:txBody>
            <a:bodyPr wrap="square" rtlCol="0">
              <a:spAutoFit/>
            </a:bodyPr>
            <a:lstStyle/>
            <a:p>
              <a:pPr defTabSz="1828165"/>
              <a:r>
                <a:rPr lang="en-US" altLang="zh-CN" sz="700" dirty="0">
                  <a:solidFill>
                    <a:srgbClr val="44546A"/>
                  </a:solidFill>
                  <a:latin typeface="Lato Light"/>
                </a:rPr>
                <a:t>API</a:t>
              </a:r>
              <a:endParaRPr lang="zh-CN" altLang="en-US" sz="700" dirty="0">
                <a:solidFill>
                  <a:srgbClr val="44546A"/>
                </a:solidFill>
                <a:latin typeface="Lato Light"/>
              </a:endParaRPr>
            </a:p>
          </p:txBody>
        </p:sp>
        <p:sp>
          <p:nvSpPr>
            <p:cNvPr id="65" name="文本框 170"/>
            <p:cNvSpPr txBox="1"/>
            <p:nvPr/>
          </p:nvSpPr>
          <p:spPr>
            <a:xfrm>
              <a:off x="3995450" y="5673279"/>
              <a:ext cx="529874" cy="307777"/>
            </a:xfrm>
            <a:prstGeom prst="rect">
              <a:avLst/>
            </a:prstGeom>
            <a:noFill/>
          </p:spPr>
          <p:txBody>
            <a:bodyPr wrap="square" rtlCol="0">
              <a:spAutoFit/>
            </a:bodyPr>
            <a:lstStyle/>
            <a:p>
              <a:pPr algn="ctr" defTabSz="1828165"/>
              <a:r>
                <a:rPr lang="en-US" altLang="zh-CN" sz="700" dirty="0">
                  <a:solidFill>
                    <a:srgbClr val="44546A"/>
                  </a:solidFill>
                  <a:latin typeface="Lato Light"/>
                </a:rPr>
                <a:t>ETL</a:t>
              </a:r>
              <a:r>
                <a:rPr lang="zh-CN" altLang="en-US" sz="700" dirty="0">
                  <a:solidFill>
                    <a:srgbClr val="44546A"/>
                  </a:solidFill>
                  <a:latin typeface="Lato Light"/>
                </a:rPr>
                <a:t>或</a:t>
              </a:r>
              <a:endParaRPr lang="en-US" altLang="zh-CN" sz="700" dirty="0">
                <a:solidFill>
                  <a:srgbClr val="44546A"/>
                </a:solidFill>
                <a:latin typeface="Lato Light"/>
              </a:endParaRPr>
            </a:p>
            <a:p>
              <a:pPr defTabSz="1828165"/>
              <a:r>
                <a:rPr lang="en-US" altLang="zh-CN" sz="700" dirty="0">
                  <a:solidFill>
                    <a:srgbClr val="44546A"/>
                  </a:solidFill>
                  <a:latin typeface="Lato Light"/>
                </a:rPr>
                <a:t>DB View</a:t>
              </a:r>
              <a:endParaRPr lang="zh-CN" altLang="en-US" sz="700" dirty="0">
                <a:solidFill>
                  <a:srgbClr val="44546A"/>
                </a:solidFill>
                <a:latin typeface="Lato Light"/>
              </a:endParaRPr>
            </a:p>
          </p:txBody>
        </p:sp>
        <p:cxnSp>
          <p:nvCxnSpPr>
            <p:cNvPr id="66" name="连接符: 肘形 173"/>
            <p:cNvCxnSpPr>
              <a:stCxn id="53" idx="1"/>
              <a:endCxn id="28" idx="2"/>
            </p:cNvCxnSpPr>
            <p:nvPr/>
          </p:nvCxnSpPr>
          <p:spPr>
            <a:xfrm rot="10800000">
              <a:off x="3244202" y="2465808"/>
              <a:ext cx="161210" cy="3656321"/>
            </a:xfrm>
            <a:prstGeom prst="bentConnector2">
              <a:avLst/>
            </a:prstGeom>
            <a:noFill/>
            <a:ln w="38100" cap="flat" cmpd="sng" algn="ctr">
              <a:solidFill>
                <a:srgbClr val="4472C4"/>
              </a:solidFill>
              <a:prstDash val="solid"/>
              <a:miter lim="800000"/>
              <a:tailEnd type="triangle"/>
            </a:ln>
            <a:effectLst/>
          </p:spPr>
        </p:cxnSp>
        <p:sp>
          <p:nvSpPr>
            <p:cNvPr id="67" name="流程图: 过程 179"/>
            <p:cNvSpPr/>
            <p:nvPr/>
          </p:nvSpPr>
          <p:spPr>
            <a:xfrm>
              <a:off x="6067898" y="2612108"/>
              <a:ext cx="683406"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日志采集</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68" name="流程图: 过程 180"/>
            <p:cNvSpPr/>
            <p:nvPr/>
          </p:nvSpPr>
          <p:spPr>
            <a:xfrm>
              <a:off x="6783102" y="2610975"/>
              <a:ext cx="683406"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srgbClr val="44546A"/>
                  </a:solidFill>
                  <a:effectLst/>
                  <a:uLnTx/>
                  <a:uFillTx/>
                  <a:latin typeface="Lato Light"/>
                  <a:ea typeface="+mn-ea"/>
                  <a:cs typeface="+mn-cs"/>
                </a:rPr>
                <a:t>XLS</a:t>
              </a: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采集</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69" name="流程图: 过程 181"/>
            <p:cNvSpPr/>
            <p:nvPr/>
          </p:nvSpPr>
          <p:spPr>
            <a:xfrm>
              <a:off x="7509708" y="2610975"/>
              <a:ext cx="683406"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en-US" altLang="zh-CN" sz="900" b="0" i="0" u="none" strike="noStrike" kern="0" cap="none" spc="0" normalizeH="0" baseline="0" noProof="0" dirty="0">
                  <a:ln>
                    <a:noFill/>
                  </a:ln>
                  <a:solidFill>
                    <a:srgbClr val="44546A"/>
                  </a:solidFill>
                  <a:effectLst/>
                  <a:uLnTx/>
                  <a:uFillTx/>
                  <a:latin typeface="Lato Light"/>
                  <a:ea typeface="+mn-ea"/>
                  <a:cs typeface="+mn-cs"/>
                </a:rPr>
                <a:t>DB</a:t>
              </a: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采集</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cxnSp>
          <p:nvCxnSpPr>
            <p:cNvPr id="70" name="直接箭头连接符 201"/>
            <p:cNvCxnSpPr>
              <a:stCxn id="35" idx="2"/>
              <a:endCxn id="68" idx="0"/>
            </p:cNvCxnSpPr>
            <p:nvPr/>
          </p:nvCxnSpPr>
          <p:spPr>
            <a:xfrm>
              <a:off x="7115474" y="2212760"/>
              <a:ext cx="9331" cy="398215"/>
            </a:xfrm>
            <a:prstGeom prst="straightConnector1">
              <a:avLst/>
            </a:prstGeom>
            <a:noFill/>
            <a:ln w="38100" cap="flat" cmpd="sng" algn="ctr">
              <a:solidFill>
                <a:srgbClr val="4472C4"/>
              </a:solidFill>
              <a:prstDash val="solid"/>
              <a:miter lim="800000"/>
              <a:tailEnd type="triangle"/>
            </a:ln>
            <a:effectLst/>
          </p:spPr>
        </p:cxnSp>
        <p:cxnSp>
          <p:nvCxnSpPr>
            <p:cNvPr id="71" name="直接箭头连接符 203"/>
            <p:cNvCxnSpPr>
              <a:stCxn id="35" idx="2"/>
              <a:endCxn id="67" idx="0"/>
            </p:cNvCxnSpPr>
            <p:nvPr/>
          </p:nvCxnSpPr>
          <p:spPr>
            <a:xfrm flipH="1">
              <a:off x="6409601" y="2212760"/>
              <a:ext cx="705873" cy="399348"/>
            </a:xfrm>
            <a:prstGeom prst="straightConnector1">
              <a:avLst/>
            </a:prstGeom>
            <a:noFill/>
            <a:ln w="38100" cap="flat" cmpd="sng" algn="ctr">
              <a:solidFill>
                <a:srgbClr val="4472C4"/>
              </a:solidFill>
              <a:prstDash val="solid"/>
              <a:miter lim="800000"/>
              <a:tailEnd type="triangle"/>
            </a:ln>
            <a:effectLst/>
          </p:spPr>
        </p:cxnSp>
        <p:cxnSp>
          <p:nvCxnSpPr>
            <p:cNvPr id="72" name="直接箭头连接符 206"/>
            <p:cNvCxnSpPr>
              <a:stCxn id="35" idx="2"/>
              <a:endCxn id="69" idx="0"/>
            </p:cNvCxnSpPr>
            <p:nvPr/>
          </p:nvCxnSpPr>
          <p:spPr>
            <a:xfrm>
              <a:off x="7115474" y="2212760"/>
              <a:ext cx="735937" cy="398215"/>
            </a:xfrm>
            <a:prstGeom prst="straightConnector1">
              <a:avLst/>
            </a:prstGeom>
            <a:noFill/>
            <a:ln w="38100" cap="flat" cmpd="sng" algn="ctr">
              <a:solidFill>
                <a:srgbClr val="4472C4"/>
              </a:solidFill>
              <a:prstDash val="solid"/>
              <a:miter lim="800000"/>
              <a:tailEnd type="triangle"/>
            </a:ln>
            <a:effectLst/>
          </p:spPr>
        </p:cxnSp>
        <p:sp>
          <p:nvSpPr>
            <p:cNvPr id="73" name="流程图: 过程 211"/>
            <p:cNvSpPr/>
            <p:nvPr/>
          </p:nvSpPr>
          <p:spPr>
            <a:xfrm>
              <a:off x="6793186" y="3122233"/>
              <a:ext cx="683406"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数据集中</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cxnSp>
          <p:nvCxnSpPr>
            <p:cNvPr id="74" name="直接箭头连接符 223"/>
            <p:cNvCxnSpPr>
              <a:stCxn id="67" idx="2"/>
              <a:endCxn id="73" idx="0"/>
            </p:cNvCxnSpPr>
            <p:nvPr/>
          </p:nvCxnSpPr>
          <p:spPr>
            <a:xfrm>
              <a:off x="6409602" y="2749563"/>
              <a:ext cx="725288" cy="372670"/>
            </a:xfrm>
            <a:prstGeom prst="straightConnector1">
              <a:avLst/>
            </a:prstGeom>
            <a:noFill/>
            <a:ln w="38100" cap="flat" cmpd="sng" algn="ctr">
              <a:solidFill>
                <a:srgbClr val="4472C4"/>
              </a:solidFill>
              <a:prstDash val="solid"/>
              <a:miter lim="800000"/>
              <a:tailEnd type="triangle"/>
            </a:ln>
            <a:effectLst/>
          </p:spPr>
        </p:cxnSp>
        <p:cxnSp>
          <p:nvCxnSpPr>
            <p:cNvPr id="75" name="直接箭头连接符 226"/>
            <p:cNvCxnSpPr>
              <a:stCxn id="68" idx="2"/>
              <a:endCxn id="73" idx="0"/>
            </p:cNvCxnSpPr>
            <p:nvPr/>
          </p:nvCxnSpPr>
          <p:spPr>
            <a:xfrm>
              <a:off x="7124804" y="2748429"/>
              <a:ext cx="10086" cy="373804"/>
            </a:xfrm>
            <a:prstGeom prst="straightConnector1">
              <a:avLst/>
            </a:prstGeom>
            <a:noFill/>
            <a:ln w="38100" cap="flat" cmpd="sng" algn="ctr">
              <a:solidFill>
                <a:srgbClr val="4472C4"/>
              </a:solidFill>
              <a:prstDash val="solid"/>
              <a:miter lim="800000"/>
              <a:tailEnd type="triangle"/>
            </a:ln>
            <a:effectLst/>
          </p:spPr>
        </p:cxnSp>
        <p:cxnSp>
          <p:nvCxnSpPr>
            <p:cNvPr id="76" name="直接箭头连接符 228"/>
            <p:cNvCxnSpPr>
              <a:stCxn id="69" idx="2"/>
              <a:endCxn id="73" idx="0"/>
            </p:cNvCxnSpPr>
            <p:nvPr/>
          </p:nvCxnSpPr>
          <p:spPr>
            <a:xfrm flipH="1">
              <a:off x="7134890" y="2748429"/>
              <a:ext cx="716522" cy="373804"/>
            </a:xfrm>
            <a:prstGeom prst="straightConnector1">
              <a:avLst/>
            </a:prstGeom>
            <a:noFill/>
            <a:ln w="38100" cap="flat" cmpd="sng" algn="ctr">
              <a:solidFill>
                <a:srgbClr val="4472C4"/>
              </a:solidFill>
              <a:prstDash val="solid"/>
              <a:miter lim="800000"/>
              <a:tailEnd type="triangle"/>
            </a:ln>
            <a:effectLst/>
          </p:spPr>
        </p:cxnSp>
        <p:sp>
          <p:nvSpPr>
            <p:cNvPr id="77" name="流程图: 过程 234"/>
            <p:cNvSpPr/>
            <p:nvPr/>
          </p:nvSpPr>
          <p:spPr>
            <a:xfrm>
              <a:off x="6674717" y="3779378"/>
              <a:ext cx="913357"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质量规则绑定</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78" name="流程图: 过程 237"/>
            <p:cNvSpPr/>
            <p:nvPr/>
          </p:nvSpPr>
          <p:spPr>
            <a:xfrm>
              <a:off x="6674717" y="4619412"/>
              <a:ext cx="913357" cy="137454"/>
            </a:xfrm>
            <a:prstGeom prst="flowChartProcess">
              <a:avLst/>
            </a:prstGeom>
            <a:solidFill>
              <a:srgbClr val="FFFF0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质量检核输出</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79" name="流程图: 过程 238"/>
            <p:cNvSpPr/>
            <p:nvPr/>
          </p:nvSpPr>
          <p:spPr>
            <a:xfrm>
              <a:off x="6534871" y="5861661"/>
              <a:ext cx="1182457" cy="156742"/>
            </a:xfrm>
            <a:prstGeom prst="flowChartProcess">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非标数据清洗转换</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80" name="流程图: 决策 239"/>
            <p:cNvSpPr/>
            <p:nvPr/>
          </p:nvSpPr>
          <p:spPr>
            <a:xfrm>
              <a:off x="6666363" y="5028645"/>
              <a:ext cx="921710" cy="325938"/>
            </a:xfrm>
            <a:prstGeom prst="flowChartDecision">
              <a:avLst/>
            </a:prstGeom>
            <a:solidFill>
              <a:srgbClr val="DBDBDB"/>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质量</a:t>
              </a:r>
              <a:endParaRPr kumimoji="0" lang="en-US" altLang="zh-CN" sz="800" b="0" i="0" u="none" strike="noStrike" kern="0" cap="none" spc="0" normalizeH="0" baseline="0" noProof="0" dirty="0">
                <a:ln>
                  <a:noFill/>
                </a:ln>
                <a:solidFill>
                  <a:srgbClr val="44546A"/>
                </a:solidFill>
                <a:effectLst/>
                <a:uLnTx/>
                <a:uFillTx/>
                <a:latin typeface="Lato Light"/>
                <a:ea typeface="+mn-ea"/>
                <a:cs typeface="+mn-cs"/>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问题</a:t>
              </a:r>
              <a:endParaRPr kumimoji="0" lang="en-US" altLang="zh-CN" sz="800" b="0" i="0" u="none" strike="noStrike" kern="0" cap="none" spc="0" normalizeH="0" baseline="0" noProof="0" dirty="0">
                <a:ln>
                  <a:noFill/>
                </a:ln>
                <a:solidFill>
                  <a:srgbClr val="44546A"/>
                </a:solidFill>
                <a:effectLst/>
                <a:uLnTx/>
                <a:uFillTx/>
                <a:latin typeface="Lato Light"/>
                <a:ea typeface="+mn-ea"/>
                <a:cs typeface="+mn-cs"/>
              </a:endParaRPr>
            </a:p>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分类</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cxnSp>
          <p:nvCxnSpPr>
            <p:cNvPr id="81" name="直接箭头连接符 255"/>
            <p:cNvCxnSpPr>
              <a:stCxn id="73" idx="2"/>
              <a:endCxn id="77" idx="0"/>
            </p:cNvCxnSpPr>
            <p:nvPr/>
          </p:nvCxnSpPr>
          <p:spPr>
            <a:xfrm flipH="1">
              <a:off x="7131396" y="3259686"/>
              <a:ext cx="3494" cy="519692"/>
            </a:xfrm>
            <a:prstGeom prst="straightConnector1">
              <a:avLst/>
            </a:prstGeom>
            <a:noFill/>
            <a:ln w="38100" cap="flat" cmpd="sng" algn="ctr">
              <a:solidFill>
                <a:srgbClr val="4472C4"/>
              </a:solidFill>
              <a:prstDash val="solid"/>
              <a:miter lim="800000"/>
              <a:tailEnd type="triangle"/>
            </a:ln>
            <a:effectLst/>
          </p:spPr>
        </p:cxnSp>
        <p:cxnSp>
          <p:nvCxnSpPr>
            <p:cNvPr id="82" name="直接箭头连接符 262"/>
            <p:cNvCxnSpPr>
              <a:stCxn id="77" idx="2"/>
              <a:endCxn id="78" idx="0"/>
            </p:cNvCxnSpPr>
            <p:nvPr/>
          </p:nvCxnSpPr>
          <p:spPr>
            <a:xfrm>
              <a:off x="7131395" y="3916832"/>
              <a:ext cx="0" cy="702580"/>
            </a:xfrm>
            <a:prstGeom prst="straightConnector1">
              <a:avLst/>
            </a:prstGeom>
            <a:noFill/>
            <a:ln w="38100" cap="flat" cmpd="sng" algn="ctr">
              <a:solidFill>
                <a:srgbClr val="4472C4"/>
              </a:solidFill>
              <a:prstDash val="solid"/>
              <a:miter lim="800000"/>
              <a:tailEnd type="triangle"/>
            </a:ln>
            <a:effectLst/>
          </p:spPr>
        </p:cxnSp>
        <p:cxnSp>
          <p:nvCxnSpPr>
            <p:cNvPr id="83" name="直接箭头连接符 263"/>
            <p:cNvCxnSpPr>
              <a:stCxn id="80" idx="2"/>
              <a:endCxn id="79" idx="0"/>
            </p:cNvCxnSpPr>
            <p:nvPr/>
          </p:nvCxnSpPr>
          <p:spPr>
            <a:xfrm flipH="1">
              <a:off x="7126100" y="5354582"/>
              <a:ext cx="1119" cy="507079"/>
            </a:xfrm>
            <a:prstGeom prst="straightConnector1">
              <a:avLst/>
            </a:prstGeom>
            <a:noFill/>
            <a:ln w="38100" cap="flat" cmpd="sng" algn="ctr">
              <a:solidFill>
                <a:srgbClr val="4472C4"/>
              </a:solidFill>
              <a:prstDash val="solid"/>
              <a:miter lim="800000"/>
              <a:tailEnd type="triangle"/>
            </a:ln>
            <a:effectLst/>
          </p:spPr>
        </p:cxnSp>
        <p:cxnSp>
          <p:nvCxnSpPr>
            <p:cNvPr id="84" name="直接箭头连接符 265"/>
            <p:cNvCxnSpPr>
              <a:stCxn id="78" idx="2"/>
              <a:endCxn id="80" idx="0"/>
            </p:cNvCxnSpPr>
            <p:nvPr/>
          </p:nvCxnSpPr>
          <p:spPr>
            <a:xfrm flipH="1">
              <a:off x="7127219" y="4756866"/>
              <a:ext cx="4177" cy="271778"/>
            </a:xfrm>
            <a:prstGeom prst="straightConnector1">
              <a:avLst/>
            </a:prstGeom>
            <a:noFill/>
            <a:ln w="38100" cap="flat" cmpd="sng" algn="ctr">
              <a:solidFill>
                <a:srgbClr val="4472C4"/>
              </a:solidFill>
              <a:prstDash val="solid"/>
              <a:miter lim="800000"/>
              <a:tailEnd type="triangle"/>
            </a:ln>
            <a:effectLst/>
          </p:spPr>
        </p:cxnSp>
        <p:cxnSp>
          <p:nvCxnSpPr>
            <p:cNvPr id="85" name="直接箭头连接符 274"/>
            <p:cNvCxnSpPr>
              <a:stCxn id="80" idx="1"/>
              <a:endCxn id="54" idx="3"/>
            </p:cNvCxnSpPr>
            <p:nvPr/>
          </p:nvCxnSpPr>
          <p:spPr>
            <a:xfrm flipH="1">
              <a:off x="6234707" y="5191614"/>
              <a:ext cx="431656" cy="7426"/>
            </a:xfrm>
            <a:prstGeom prst="straightConnector1">
              <a:avLst/>
            </a:prstGeom>
            <a:noFill/>
            <a:ln w="38100" cap="flat" cmpd="sng" algn="ctr">
              <a:solidFill>
                <a:srgbClr val="4472C4"/>
              </a:solidFill>
              <a:prstDash val="solid"/>
              <a:miter lim="800000"/>
              <a:tailEnd type="triangle"/>
            </a:ln>
            <a:effectLst/>
          </p:spPr>
        </p:cxnSp>
        <p:sp>
          <p:nvSpPr>
            <p:cNvPr id="86" name="文本框 278"/>
            <p:cNvSpPr txBox="1"/>
            <p:nvPr/>
          </p:nvSpPr>
          <p:spPr>
            <a:xfrm>
              <a:off x="6177729" y="5045495"/>
              <a:ext cx="654791" cy="200055"/>
            </a:xfrm>
            <a:prstGeom prst="rect">
              <a:avLst/>
            </a:prstGeom>
            <a:noFill/>
          </p:spPr>
          <p:txBody>
            <a:bodyPr wrap="square" rtlCol="0">
              <a:spAutoFit/>
            </a:bodyPr>
            <a:lstStyle/>
            <a:p>
              <a:pPr algn="ctr" defTabSz="1828165"/>
              <a:r>
                <a:rPr lang="zh-CN" altLang="en-US" sz="700" dirty="0">
                  <a:solidFill>
                    <a:srgbClr val="44546A"/>
                  </a:solidFill>
                  <a:latin typeface="Lato Light"/>
                </a:rPr>
                <a:t>质量合规</a:t>
              </a:r>
              <a:endParaRPr lang="en-US" altLang="zh-CN" sz="700" dirty="0">
                <a:solidFill>
                  <a:srgbClr val="44546A"/>
                </a:solidFill>
                <a:latin typeface="Lato Light"/>
              </a:endParaRPr>
            </a:p>
          </p:txBody>
        </p:sp>
        <p:sp>
          <p:nvSpPr>
            <p:cNvPr id="87" name="文本框 279"/>
            <p:cNvSpPr txBox="1"/>
            <p:nvPr/>
          </p:nvSpPr>
          <p:spPr>
            <a:xfrm>
              <a:off x="5827488" y="5735749"/>
              <a:ext cx="636464" cy="200055"/>
            </a:xfrm>
            <a:prstGeom prst="rect">
              <a:avLst/>
            </a:prstGeom>
            <a:noFill/>
          </p:spPr>
          <p:txBody>
            <a:bodyPr wrap="square" rtlCol="0">
              <a:spAutoFit/>
            </a:bodyPr>
            <a:lstStyle/>
            <a:p>
              <a:pPr algn="ctr" defTabSz="1828165"/>
              <a:r>
                <a:rPr lang="zh-CN" altLang="en-US" sz="700" dirty="0">
                  <a:solidFill>
                    <a:srgbClr val="44546A"/>
                  </a:solidFill>
                  <a:latin typeface="Lato Light"/>
                </a:rPr>
                <a:t>质量合规</a:t>
              </a:r>
              <a:endParaRPr lang="en-US" altLang="zh-CN" sz="700" dirty="0">
                <a:solidFill>
                  <a:srgbClr val="44546A"/>
                </a:solidFill>
                <a:latin typeface="Lato Light"/>
              </a:endParaRPr>
            </a:p>
          </p:txBody>
        </p:sp>
        <p:sp>
          <p:nvSpPr>
            <p:cNvPr id="88" name="文本框 280"/>
            <p:cNvSpPr txBox="1"/>
            <p:nvPr/>
          </p:nvSpPr>
          <p:spPr>
            <a:xfrm>
              <a:off x="7175351" y="5330795"/>
              <a:ext cx="409838" cy="415498"/>
            </a:xfrm>
            <a:prstGeom prst="rect">
              <a:avLst/>
            </a:prstGeom>
            <a:noFill/>
          </p:spPr>
          <p:txBody>
            <a:bodyPr wrap="square" rtlCol="0">
              <a:spAutoFit/>
            </a:bodyPr>
            <a:lstStyle/>
            <a:p>
              <a:pPr algn="ctr" defTabSz="1828165"/>
              <a:r>
                <a:rPr lang="zh-CN" altLang="en-US" sz="700" dirty="0">
                  <a:solidFill>
                    <a:srgbClr val="44546A"/>
                  </a:solidFill>
                  <a:latin typeface="Lato Light"/>
                </a:rPr>
                <a:t>结构</a:t>
              </a:r>
              <a:endParaRPr lang="en-US" altLang="zh-CN" sz="700" dirty="0">
                <a:solidFill>
                  <a:srgbClr val="44546A"/>
                </a:solidFill>
                <a:latin typeface="Lato Light"/>
              </a:endParaRPr>
            </a:p>
            <a:p>
              <a:pPr algn="ctr" defTabSz="1828165"/>
              <a:r>
                <a:rPr lang="zh-CN" altLang="en-US" sz="700" dirty="0">
                  <a:solidFill>
                    <a:srgbClr val="44546A"/>
                  </a:solidFill>
                  <a:latin typeface="Lato Light"/>
                </a:rPr>
                <a:t>质量</a:t>
              </a:r>
              <a:endParaRPr lang="en-US" altLang="zh-CN" sz="700" dirty="0">
                <a:solidFill>
                  <a:srgbClr val="44546A"/>
                </a:solidFill>
                <a:latin typeface="Lato Light"/>
              </a:endParaRPr>
            </a:p>
            <a:p>
              <a:pPr algn="ctr" defTabSz="1828165"/>
              <a:r>
                <a:rPr lang="zh-CN" altLang="en-US" sz="700" dirty="0">
                  <a:solidFill>
                    <a:srgbClr val="44546A"/>
                  </a:solidFill>
                  <a:latin typeface="Lato Light"/>
                </a:rPr>
                <a:t>问题</a:t>
              </a:r>
              <a:endParaRPr lang="en-US" altLang="zh-CN" sz="700" dirty="0">
                <a:solidFill>
                  <a:srgbClr val="44546A"/>
                </a:solidFill>
                <a:latin typeface="Lato Light"/>
              </a:endParaRPr>
            </a:p>
          </p:txBody>
        </p:sp>
        <p:sp>
          <p:nvSpPr>
            <p:cNvPr id="89" name="流程图: 过程 281"/>
            <p:cNvSpPr/>
            <p:nvPr/>
          </p:nvSpPr>
          <p:spPr>
            <a:xfrm>
              <a:off x="7912147" y="3779378"/>
              <a:ext cx="921710" cy="137454"/>
            </a:xfrm>
            <a:prstGeom prst="flowChartProcess">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质量规则设计</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90" name="流程图: 过程 282"/>
            <p:cNvSpPr/>
            <p:nvPr/>
          </p:nvSpPr>
          <p:spPr>
            <a:xfrm>
              <a:off x="8574281" y="4527142"/>
              <a:ext cx="921710" cy="137454"/>
            </a:xfrm>
            <a:prstGeom prst="flowChartProcess">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数据纠错补全</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91" name="流程图: 过程 283"/>
            <p:cNvSpPr/>
            <p:nvPr/>
          </p:nvSpPr>
          <p:spPr>
            <a:xfrm>
              <a:off x="8574281" y="5128584"/>
              <a:ext cx="921710" cy="137454"/>
            </a:xfrm>
            <a:prstGeom prst="flowChartProcess">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反馈质量问题</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92" name="流程图: 过程 284"/>
            <p:cNvSpPr/>
            <p:nvPr/>
          </p:nvSpPr>
          <p:spPr>
            <a:xfrm>
              <a:off x="8522655" y="5870567"/>
              <a:ext cx="1169430" cy="138359"/>
            </a:xfrm>
            <a:prstGeom prst="flowChartProcess">
              <a:avLst/>
            </a:prstGeom>
            <a:solidFill>
              <a:srgbClr val="92D050"/>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设计清洗转换规则</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93" name="箭头: 左 287"/>
            <p:cNvSpPr/>
            <p:nvPr/>
          </p:nvSpPr>
          <p:spPr>
            <a:xfrm>
              <a:off x="7588076" y="3742247"/>
              <a:ext cx="325919" cy="203526"/>
            </a:xfrm>
            <a:prstGeom prst="leftArrow">
              <a:avLst/>
            </a:prstGeom>
            <a:solidFill>
              <a:srgbClr val="DBDBDB"/>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44546A"/>
                </a:solidFill>
                <a:effectLst/>
                <a:uLnTx/>
                <a:uFillTx/>
                <a:latin typeface="Lato Light"/>
                <a:ea typeface="+mn-ea"/>
                <a:cs typeface="+mn-cs"/>
              </a:endParaRPr>
            </a:p>
          </p:txBody>
        </p:sp>
        <p:pic>
          <p:nvPicPr>
            <p:cNvPr id="94" name="图片 308"/>
            <p:cNvPicPr>
              <a:picLocks noChangeAspect="1"/>
            </p:cNvPicPr>
            <p:nvPr/>
          </p:nvPicPr>
          <p:blipFill>
            <a:blip r:embed="rId1">
              <a:clrChange>
                <a:clrFrom>
                  <a:srgbClr val="FFFFFF"/>
                </a:clrFrom>
                <a:clrTo>
                  <a:srgbClr val="FFFFFF">
                    <a:alpha val="0"/>
                  </a:srgbClr>
                </a:clrTo>
              </a:clrChange>
            </a:blip>
            <a:stretch>
              <a:fillRect/>
            </a:stretch>
          </p:blipFill>
          <p:spPr>
            <a:xfrm>
              <a:off x="8083111" y="4411949"/>
              <a:ext cx="526613" cy="337124"/>
            </a:xfrm>
            <a:prstGeom prst="rect">
              <a:avLst/>
            </a:prstGeom>
          </p:spPr>
        </p:pic>
        <p:sp>
          <p:nvSpPr>
            <p:cNvPr id="95" name="文本框 309"/>
            <p:cNvSpPr txBox="1"/>
            <p:nvPr/>
          </p:nvSpPr>
          <p:spPr>
            <a:xfrm>
              <a:off x="8036837" y="4742403"/>
              <a:ext cx="755506" cy="230832"/>
            </a:xfrm>
            <a:prstGeom prst="rect">
              <a:avLst/>
            </a:prstGeom>
            <a:noFill/>
          </p:spPr>
          <p:txBody>
            <a:bodyPr wrap="square" rtlCol="0">
              <a:spAutoFit/>
            </a:bodyPr>
            <a:lstStyle/>
            <a:p>
              <a:pPr defTabSz="1828165"/>
              <a:r>
                <a:rPr lang="zh-CN" altLang="en-US" sz="900" dirty="0">
                  <a:solidFill>
                    <a:srgbClr val="44546A"/>
                  </a:solidFill>
                  <a:latin typeface="Lato Light"/>
                </a:rPr>
                <a:t>业务部门</a:t>
              </a:r>
              <a:endParaRPr lang="zh-CN" altLang="en-US" sz="900" dirty="0">
                <a:solidFill>
                  <a:srgbClr val="44546A"/>
                </a:solidFill>
                <a:latin typeface="Lato Light"/>
              </a:endParaRPr>
            </a:p>
          </p:txBody>
        </p:sp>
        <p:cxnSp>
          <p:nvCxnSpPr>
            <p:cNvPr id="96" name="直接箭头连接符 321"/>
            <p:cNvCxnSpPr>
              <a:stCxn id="92" idx="1"/>
              <a:endCxn id="79" idx="3"/>
            </p:cNvCxnSpPr>
            <p:nvPr/>
          </p:nvCxnSpPr>
          <p:spPr>
            <a:xfrm flipH="1">
              <a:off x="7717328" y="5939746"/>
              <a:ext cx="805328" cy="286"/>
            </a:xfrm>
            <a:prstGeom prst="straightConnector1">
              <a:avLst/>
            </a:prstGeom>
            <a:noFill/>
            <a:ln w="38100" cap="flat" cmpd="sng" algn="ctr">
              <a:solidFill>
                <a:srgbClr val="4472C4"/>
              </a:solidFill>
              <a:prstDash val="solid"/>
              <a:miter lim="800000"/>
              <a:tailEnd type="triangle"/>
            </a:ln>
            <a:effectLst/>
          </p:spPr>
        </p:cxnSp>
        <p:cxnSp>
          <p:nvCxnSpPr>
            <p:cNvPr id="97" name="直接箭头连接符 323"/>
            <p:cNvCxnSpPr>
              <a:stCxn id="80" idx="3"/>
              <a:endCxn id="91" idx="1"/>
            </p:cNvCxnSpPr>
            <p:nvPr/>
          </p:nvCxnSpPr>
          <p:spPr>
            <a:xfrm>
              <a:off x="7588075" y="5191614"/>
              <a:ext cx="986208" cy="5697"/>
            </a:xfrm>
            <a:prstGeom prst="straightConnector1">
              <a:avLst/>
            </a:prstGeom>
            <a:noFill/>
            <a:ln w="38100" cap="flat" cmpd="sng" algn="ctr">
              <a:solidFill>
                <a:srgbClr val="4472C4"/>
              </a:solidFill>
              <a:prstDash val="solid"/>
              <a:miter lim="800000"/>
              <a:tailEnd type="triangle"/>
            </a:ln>
            <a:effectLst/>
          </p:spPr>
        </p:cxnSp>
        <p:sp>
          <p:nvSpPr>
            <p:cNvPr id="98" name="文本框 324"/>
            <p:cNvSpPr txBox="1"/>
            <p:nvPr/>
          </p:nvSpPr>
          <p:spPr>
            <a:xfrm>
              <a:off x="7639697" y="5045495"/>
              <a:ext cx="784656" cy="200055"/>
            </a:xfrm>
            <a:prstGeom prst="rect">
              <a:avLst/>
            </a:prstGeom>
            <a:noFill/>
          </p:spPr>
          <p:txBody>
            <a:bodyPr wrap="square" rtlCol="0">
              <a:spAutoFit/>
            </a:bodyPr>
            <a:lstStyle/>
            <a:p>
              <a:pPr algn="ctr" defTabSz="1828165"/>
              <a:r>
                <a:rPr lang="zh-CN" altLang="en-US" sz="700" dirty="0">
                  <a:solidFill>
                    <a:srgbClr val="44546A"/>
                  </a:solidFill>
                  <a:latin typeface="Lato Light"/>
                </a:rPr>
                <a:t>内容质量问题</a:t>
              </a:r>
              <a:endParaRPr lang="en-US" altLang="zh-CN" sz="700" dirty="0">
                <a:solidFill>
                  <a:srgbClr val="44546A"/>
                </a:solidFill>
                <a:latin typeface="Lato Light"/>
              </a:endParaRPr>
            </a:p>
          </p:txBody>
        </p:sp>
        <p:cxnSp>
          <p:nvCxnSpPr>
            <p:cNvPr id="99" name="直接箭头连接符 326"/>
            <p:cNvCxnSpPr>
              <a:stCxn id="91" idx="0"/>
              <a:endCxn id="90" idx="2"/>
            </p:cNvCxnSpPr>
            <p:nvPr/>
          </p:nvCxnSpPr>
          <p:spPr>
            <a:xfrm flipV="1">
              <a:off x="9035136" y="4664595"/>
              <a:ext cx="0" cy="463988"/>
            </a:xfrm>
            <a:prstGeom prst="straightConnector1">
              <a:avLst/>
            </a:prstGeom>
            <a:noFill/>
            <a:ln w="38100" cap="flat" cmpd="sng" algn="ctr">
              <a:solidFill>
                <a:srgbClr val="4472C4"/>
              </a:solidFill>
              <a:prstDash val="solid"/>
              <a:miter lim="800000"/>
              <a:tailEnd type="triangle"/>
            </a:ln>
            <a:effectLst/>
          </p:spPr>
        </p:cxnSp>
        <p:cxnSp>
          <p:nvCxnSpPr>
            <p:cNvPr id="100" name="连接符: 肘形 332"/>
            <p:cNvCxnSpPr>
              <a:stCxn id="90" idx="0"/>
              <a:endCxn id="69" idx="3"/>
            </p:cNvCxnSpPr>
            <p:nvPr/>
          </p:nvCxnSpPr>
          <p:spPr>
            <a:xfrm rot="16200000" flipV="1">
              <a:off x="7690405" y="3182410"/>
              <a:ext cx="1847440" cy="842023"/>
            </a:xfrm>
            <a:prstGeom prst="bentConnector2">
              <a:avLst/>
            </a:prstGeom>
            <a:noFill/>
            <a:ln w="38100" cap="flat" cmpd="sng" algn="ctr">
              <a:solidFill>
                <a:srgbClr val="4472C4"/>
              </a:solidFill>
              <a:prstDash val="solid"/>
              <a:miter lim="800000"/>
              <a:tailEnd type="triangle"/>
            </a:ln>
            <a:effectLst/>
          </p:spPr>
        </p:cxnSp>
        <p:sp>
          <p:nvSpPr>
            <p:cNvPr id="101" name="流程图: 过程 336"/>
            <p:cNvSpPr/>
            <p:nvPr/>
          </p:nvSpPr>
          <p:spPr>
            <a:xfrm>
              <a:off x="10339558" y="2343956"/>
              <a:ext cx="261364" cy="1166560"/>
            </a:xfrm>
            <a:prstGeom prst="flowChartProcess">
              <a:avLst/>
            </a:prstGeom>
            <a:solidFill>
              <a:srgbClr val="4472C4">
                <a:lumMod val="75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FFFF00"/>
                  </a:solidFill>
                  <a:effectLst/>
                  <a:uLnTx/>
                  <a:uFillTx/>
                  <a:latin typeface="Lato Light"/>
                  <a:ea typeface="+mn-ea"/>
                  <a:cs typeface="+mn-cs"/>
                </a:rPr>
                <a:t>校级数据标准</a:t>
              </a:r>
              <a:endParaRPr kumimoji="0" lang="zh-CN" altLang="en-US" sz="900" b="0" i="0" u="none" strike="noStrike" kern="0" cap="none" spc="0" normalizeH="0" baseline="0" noProof="0" dirty="0">
                <a:ln>
                  <a:noFill/>
                </a:ln>
                <a:solidFill>
                  <a:srgbClr val="FFFF00"/>
                </a:solidFill>
                <a:effectLst/>
                <a:uLnTx/>
                <a:uFillTx/>
                <a:latin typeface="Lato Light"/>
                <a:ea typeface="+mn-ea"/>
                <a:cs typeface="+mn-cs"/>
              </a:endParaRPr>
            </a:p>
          </p:txBody>
        </p:sp>
        <p:sp>
          <p:nvSpPr>
            <p:cNvPr id="102" name="流程图: 过程 344"/>
            <p:cNvSpPr/>
            <p:nvPr/>
          </p:nvSpPr>
          <p:spPr>
            <a:xfrm>
              <a:off x="10686959" y="2343216"/>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数仓主题分类</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03" name="流程图: 过程 351"/>
            <p:cNvSpPr/>
            <p:nvPr/>
          </p:nvSpPr>
          <p:spPr>
            <a:xfrm>
              <a:off x="10339558" y="3873367"/>
              <a:ext cx="271003" cy="1147972"/>
            </a:xfrm>
            <a:prstGeom prst="flowChartProcess">
              <a:avLst/>
            </a:prstGeom>
            <a:solidFill>
              <a:srgbClr val="4472C4">
                <a:lumMod val="75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FFFF00"/>
                  </a:solidFill>
                  <a:effectLst/>
                  <a:uLnTx/>
                  <a:uFillTx/>
                  <a:latin typeface="Lato Light"/>
                  <a:ea typeface="+mn-ea"/>
                  <a:cs typeface="+mn-cs"/>
                </a:rPr>
                <a:t>数据管理知识库</a:t>
              </a:r>
              <a:endParaRPr kumimoji="0" lang="zh-CN" altLang="en-US" sz="900" b="0" i="0" u="none" strike="noStrike" kern="0" cap="none" spc="0" normalizeH="0" baseline="0" noProof="0" dirty="0">
                <a:ln>
                  <a:noFill/>
                </a:ln>
                <a:solidFill>
                  <a:srgbClr val="FFFF00"/>
                </a:solidFill>
                <a:effectLst/>
                <a:uLnTx/>
                <a:uFillTx/>
                <a:latin typeface="Lato Light"/>
                <a:ea typeface="+mn-ea"/>
                <a:cs typeface="+mn-cs"/>
              </a:endParaRPr>
            </a:p>
          </p:txBody>
        </p:sp>
        <p:sp>
          <p:nvSpPr>
            <p:cNvPr id="104" name="流程图: 过程 359"/>
            <p:cNvSpPr/>
            <p:nvPr/>
          </p:nvSpPr>
          <p:spPr>
            <a:xfrm>
              <a:off x="10686959" y="2522522"/>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元数据模型</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05" name="流程图: 过程 360"/>
            <p:cNvSpPr/>
            <p:nvPr/>
          </p:nvSpPr>
          <p:spPr>
            <a:xfrm>
              <a:off x="10686959" y="2696435"/>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标准代码集</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06" name="流程图: 过程 361"/>
            <p:cNvSpPr/>
            <p:nvPr/>
          </p:nvSpPr>
          <p:spPr>
            <a:xfrm>
              <a:off x="10686959" y="2875911"/>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编码规范</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07" name="流程图: 过程 362"/>
            <p:cNvSpPr/>
            <p:nvPr/>
          </p:nvSpPr>
          <p:spPr>
            <a:xfrm>
              <a:off x="10680406" y="3056890"/>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对象命名规范</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08" name="流程图: 过程 363"/>
            <p:cNvSpPr/>
            <p:nvPr/>
          </p:nvSpPr>
          <p:spPr>
            <a:xfrm>
              <a:off x="10686959" y="3223037"/>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接口交换标准</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09" name="流程图: 过程 364"/>
            <p:cNvSpPr/>
            <p:nvPr/>
          </p:nvSpPr>
          <p:spPr>
            <a:xfrm>
              <a:off x="10680633" y="3397319"/>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数据质量标准</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10" name="流程图: 过程 365"/>
            <p:cNvSpPr/>
            <p:nvPr/>
          </p:nvSpPr>
          <p:spPr>
            <a:xfrm>
              <a:off x="10680406" y="3873367"/>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数据资产目录</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11" name="流程图: 过程 366"/>
            <p:cNvSpPr/>
            <p:nvPr/>
          </p:nvSpPr>
          <p:spPr>
            <a:xfrm>
              <a:off x="10680406" y="4045158"/>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元数据库</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12" name="流程图: 过程 367"/>
            <p:cNvSpPr/>
            <p:nvPr/>
          </p:nvSpPr>
          <p:spPr>
            <a:xfrm>
              <a:off x="10686959" y="4218903"/>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数据</a:t>
              </a:r>
              <a:r>
                <a:rPr kumimoji="0" lang="en-US" altLang="zh-CN" sz="800" b="0" i="0" u="none" strike="noStrike" kern="0" cap="none" spc="0" normalizeH="0" baseline="0" noProof="0" dirty="0">
                  <a:ln>
                    <a:noFill/>
                  </a:ln>
                  <a:solidFill>
                    <a:srgbClr val="44546A"/>
                  </a:solidFill>
                  <a:effectLst/>
                  <a:uLnTx/>
                  <a:uFillTx/>
                  <a:latin typeface="Lato Light"/>
                  <a:ea typeface="+mn-ea"/>
                  <a:cs typeface="+mn-cs"/>
                </a:rPr>
                <a:t>U/C</a:t>
              </a: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矩阵</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13" name="流程图: 过程 368"/>
            <p:cNvSpPr/>
            <p:nvPr/>
          </p:nvSpPr>
          <p:spPr>
            <a:xfrm>
              <a:off x="10680406" y="4387264"/>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编码规范</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14" name="流程图: 过程 369"/>
            <p:cNvSpPr/>
            <p:nvPr/>
          </p:nvSpPr>
          <p:spPr>
            <a:xfrm>
              <a:off x="10691462" y="4555625"/>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数据血缘关系</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15" name="流程图: 过程 370"/>
            <p:cNvSpPr/>
            <p:nvPr/>
          </p:nvSpPr>
          <p:spPr>
            <a:xfrm>
              <a:off x="10680406" y="4729981"/>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质量规则库</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16" name="流程图: 过程 371"/>
            <p:cNvSpPr/>
            <p:nvPr/>
          </p:nvSpPr>
          <p:spPr>
            <a:xfrm>
              <a:off x="10686959" y="4909047"/>
              <a:ext cx="862069" cy="102440"/>
            </a:xfrm>
            <a:prstGeom prst="flowChartProcess">
              <a:avLst/>
            </a:prstGeom>
            <a:solidFill>
              <a:srgbClr val="FFFFFF"/>
            </a:solidFill>
            <a:ln w="12700" cap="flat" cmpd="sng" algn="ctr">
              <a:solidFill>
                <a:srgbClr val="00B0F0"/>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数据质量报告</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cxnSp>
          <p:nvCxnSpPr>
            <p:cNvPr id="117" name="直接连接符 384"/>
            <p:cNvCxnSpPr/>
            <p:nvPr/>
          </p:nvCxnSpPr>
          <p:spPr>
            <a:xfrm>
              <a:off x="517588" y="1128304"/>
              <a:ext cx="11201127" cy="12619"/>
            </a:xfrm>
            <a:prstGeom prst="line">
              <a:avLst/>
            </a:prstGeom>
            <a:noFill/>
            <a:ln w="28575" cap="flat" cmpd="sng" algn="ctr">
              <a:solidFill>
                <a:srgbClr val="E7E6E6">
                  <a:lumMod val="50000"/>
                </a:srgbClr>
              </a:solidFill>
              <a:prstDash val="solid"/>
              <a:miter lim="800000"/>
            </a:ln>
            <a:effectLst/>
          </p:spPr>
        </p:cxnSp>
        <p:cxnSp>
          <p:nvCxnSpPr>
            <p:cNvPr id="118" name="直接连接符 386"/>
            <p:cNvCxnSpPr/>
            <p:nvPr/>
          </p:nvCxnSpPr>
          <p:spPr>
            <a:xfrm>
              <a:off x="517588" y="1128304"/>
              <a:ext cx="0" cy="5169102"/>
            </a:xfrm>
            <a:prstGeom prst="line">
              <a:avLst/>
            </a:prstGeom>
            <a:noFill/>
            <a:ln w="28575" cap="flat" cmpd="sng" algn="ctr">
              <a:solidFill>
                <a:srgbClr val="E7E6E6">
                  <a:lumMod val="50000"/>
                </a:srgbClr>
              </a:solidFill>
              <a:prstDash val="solid"/>
              <a:miter lim="800000"/>
            </a:ln>
            <a:effectLst/>
          </p:spPr>
        </p:cxnSp>
        <p:cxnSp>
          <p:nvCxnSpPr>
            <p:cNvPr id="119" name="直接连接符 388"/>
            <p:cNvCxnSpPr/>
            <p:nvPr/>
          </p:nvCxnSpPr>
          <p:spPr>
            <a:xfrm>
              <a:off x="517588" y="6297407"/>
              <a:ext cx="11201127" cy="0"/>
            </a:xfrm>
            <a:prstGeom prst="line">
              <a:avLst/>
            </a:prstGeom>
            <a:noFill/>
            <a:ln w="28575" cap="flat" cmpd="sng" algn="ctr">
              <a:solidFill>
                <a:srgbClr val="E7E6E6">
                  <a:lumMod val="50000"/>
                </a:srgbClr>
              </a:solidFill>
              <a:prstDash val="solid"/>
              <a:miter lim="800000"/>
            </a:ln>
            <a:effectLst/>
          </p:spPr>
        </p:cxnSp>
        <p:cxnSp>
          <p:nvCxnSpPr>
            <p:cNvPr id="120" name="直接连接符 390"/>
            <p:cNvCxnSpPr/>
            <p:nvPr/>
          </p:nvCxnSpPr>
          <p:spPr>
            <a:xfrm>
              <a:off x="11718715" y="1140923"/>
              <a:ext cx="0" cy="5156484"/>
            </a:xfrm>
            <a:prstGeom prst="line">
              <a:avLst/>
            </a:prstGeom>
            <a:noFill/>
            <a:ln w="28575" cap="flat" cmpd="sng" algn="ctr">
              <a:solidFill>
                <a:srgbClr val="E7E6E6">
                  <a:lumMod val="50000"/>
                </a:srgbClr>
              </a:solidFill>
              <a:prstDash val="solid"/>
              <a:miter lim="800000"/>
            </a:ln>
            <a:effectLst/>
          </p:spPr>
        </p:cxnSp>
        <p:cxnSp>
          <p:nvCxnSpPr>
            <p:cNvPr id="121" name="直接连接符 404"/>
            <p:cNvCxnSpPr/>
            <p:nvPr/>
          </p:nvCxnSpPr>
          <p:spPr>
            <a:xfrm>
              <a:off x="2270808" y="1128304"/>
              <a:ext cx="0" cy="5169102"/>
            </a:xfrm>
            <a:prstGeom prst="line">
              <a:avLst/>
            </a:prstGeom>
            <a:noFill/>
            <a:ln w="28575" cap="flat" cmpd="sng" algn="ctr">
              <a:solidFill>
                <a:srgbClr val="E7E6E6">
                  <a:lumMod val="50000"/>
                </a:srgbClr>
              </a:solidFill>
              <a:prstDash val="solid"/>
              <a:miter lim="800000"/>
            </a:ln>
            <a:effectLst/>
          </p:spPr>
        </p:cxnSp>
        <p:cxnSp>
          <p:nvCxnSpPr>
            <p:cNvPr id="122" name="直接连接符 406"/>
            <p:cNvCxnSpPr/>
            <p:nvPr/>
          </p:nvCxnSpPr>
          <p:spPr>
            <a:xfrm>
              <a:off x="9904619" y="1140923"/>
              <a:ext cx="0" cy="5156484"/>
            </a:xfrm>
            <a:prstGeom prst="line">
              <a:avLst/>
            </a:prstGeom>
            <a:noFill/>
            <a:ln w="28575" cap="flat" cmpd="sng" algn="ctr">
              <a:solidFill>
                <a:srgbClr val="E7E6E6">
                  <a:lumMod val="50000"/>
                </a:srgbClr>
              </a:solidFill>
              <a:prstDash val="solid"/>
              <a:miter lim="800000"/>
            </a:ln>
            <a:effectLst/>
          </p:spPr>
        </p:cxnSp>
        <p:cxnSp>
          <p:nvCxnSpPr>
            <p:cNvPr id="123" name="连接符: 肘形 162"/>
            <p:cNvCxnSpPr>
              <a:stCxn id="79" idx="1"/>
              <a:endCxn id="54" idx="2"/>
            </p:cNvCxnSpPr>
            <p:nvPr/>
          </p:nvCxnSpPr>
          <p:spPr>
            <a:xfrm rot="10800000">
              <a:off x="5778028" y="5267766"/>
              <a:ext cx="756843" cy="672266"/>
            </a:xfrm>
            <a:prstGeom prst="bentConnector2">
              <a:avLst/>
            </a:prstGeom>
            <a:noFill/>
            <a:ln w="38100" cap="flat" cmpd="sng" algn="ctr">
              <a:solidFill>
                <a:srgbClr val="4472C4"/>
              </a:solidFill>
              <a:prstDash val="solid"/>
              <a:miter lim="800000"/>
              <a:tailEnd type="triangle"/>
            </a:ln>
            <a:effectLst/>
          </p:spPr>
        </p:cxnSp>
        <p:sp>
          <p:nvSpPr>
            <p:cNvPr id="124" name="矩形 202"/>
            <p:cNvSpPr/>
            <p:nvPr/>
          </p:nvSpPr>
          <p:spPr>
            <a:xfrm>
              <a:off x="5310459" y="6055889"/>
              <a:ext cx="832026" cy="217171"/>
            </a:xfrm>
            <a:prstGeom prst="rect">
              <a:avLst/>
            </a:prstGeom>
            <a:solidFill>
              <a:srgbClr val="FFFF00"/>
            </a:solidFill>
            <a:ln w="12700" cap="flat" cmpd="sng" algn="ctr">
              <a:solidFill>
                <a:sysClr val="window" lastClr="FFFFFF"/>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FF0000"/>
                  </a:solidFill>
                  <a:effectLst/>
                  <a:uLnTx/>
                  <a:uFillTx/>
                  <a:latin typeface="Lato Light"/>
                  <a:ea typeface="+mn-ea"/>
                  <a:cs typeface="+mn-cs"/>
                </a:rPr>
                <a:t>数据域</a:t>
              </a:r>
              <a:endParaRPr kumimoji="0" lang="zh-CN" altLang="en-US" sz="1100" b="0" i="0" u="none" strike="noStrike" kern="0" cap="none" spc="0" normalizeH="0" baseline="0" noProof="0" dirty="0">
                <a:ln>
                  <a:noFill/>
                </a:ln>
                <a:solidFill>
                  <a:srgbClr val="FF0000"/>
                </a:solidFill>
                <a:effectLst/>
                <a:uLnTx/>
                <a:uFillTx/>
                <a:latin typeface="Lato Light"/>
                <a:ea typeface="+mn-ea"/>
                <a:cs typeface="+mn-cs"/>
              </a:endParaRPr>
            </a:p>
          </p:txBody>
        </p:sp>
        <p:sp>
          <p:nvSpPr>
            <p:cNvPr id="125" name="矩形 325"/>
            <p:cNvSpPr/>
            <p:nvPr/>
          </p:nvSpPr>
          <p:spPr>
            <a:xfrm>
              <a:off x="10462981" y="6051117"/>
              <a:ext cx="832026" cy="217171"/>
            </a:xfrm>
            <a:prstGeom prst="rect">
              <a:avLst/>
            </a:prstGeom>
            <a:solidFill>
              <a:srgbClr val="FFFF00"/>
            </a:solidFill>
            <a:ln w="12700" cap="flat" cmpd="sng" algn="ctr">
              <a:solidFill>
                <a:sysClr val="window" lastClr="FFFFFF"/>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FF0000"/>
                  </a:solidFill>
                  <a:effectLst/>
                  <a:uLnTx/>
                  <a:uFillTx/>
                  <a:latin typeface="Lato Light"/>
                  <a:ea typeface="+mn-ea"/>
                  <a:cs typeface="+mn-cs"/>
                </a:rPr>
                <a:t>知识域</a:t>
              </a:r>
              <a:endParaRPr kumimoji="0" lang="zh-CN" altLang="en-US" sz="1100" b="0" i="0" u="none" strike="noStrike" kern="0" cap="none" spc="0" normalizeH="0" baseline="0" noProof="0" dirty="0">
                <a:ln>
                  <a:noFill/>
                </a:ln>
                <a:solidFill>
                  <a:srgbClr val="FF0000"/>
                </a:solidFill>
                <a:effectLst/>
                <a:uLnTx/>
                <a:uFillTx/>
                <a:latin typeface="Lato Light"/>
                <a:ea typeface="+mn-ea"/>
                <a:cs typeface="+mn-cs"/>
              </a:endParaRPr>
            </a:p>
          </p:txBody>
        </p:sp>
        <p:sp>
          <p:nvSpPr>
            <p:cNvPr id="126" name="矩形 327"/>
            <p:cNvSpPr/>
            <p:nvPr/>
          </p:nvSpPr>
          <p:spPr>
            <a:xfrm>
              <a:off x="906338" y="6055889"/>
              <a:ext cx="832026" cy="217171"/>
            </a:xfrm>
            <a:prstGeom prst="rect">
              <a:avLst/>
            </a:prstGeom>
            <a:solidFill>
              <a:srgbClr val="FFFF00"/>
            </a:solidFill>
            <a:ln w="12700" cap="flat" cmpd="sng" algn="ctr">
              <a:solidFill>
                <a:sysClr val="window" lastClr="FFFFFF"/>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FF0000"/>
                  </a:solidFill>
                  <a:effectLst/>
                  <a:uLnTx/>
                  <a:uFillTx/>
                  <a:latin typeface="Lato Light"/>
                  <a:ea typeface="+mn-ea"/>
                  <a:cs typeface="+mn-cs"/>
                </a:rPr>
                <a:t>管理域</a:t>
              </a:r>
              <a:endParaRPr kumimoji="0" lang="zh-CN" altLang="en-US" sz="1100" b="0" i="0" u="none" strike="noStrike" kern="0" cap="none" spc="0" normalizeH="0" baseline="0" noProof="0" dirty="0">
                <a:ln>
                  <a:noFill/>
                </a:ln>
                <a:solidFill>
                  <a:srgbClr val="FF0000"/>
                </a:solidFill>
                <a:effectLst/>
                <a:uLnTx/>
                <a:uFillTx/>
                <a:latin typeface="Lato Light"/>
                <a:ea typeface="+mn-ea"/>
                <a:cs typeface="+mn-cs"/>
              </a:endParaRPr>
            </a:p>
          </p:txBody>
        </p:sp>
        <p:sp>
          <p:nvSpPr>
            <p:cNvPr id="127" name="箭头: 右 240"/>
            <p:cNvSpPr/>
            <p:nvPr/>
          </p:nvSpPr>
          <p:spPr>
            <a:xfrm>
              <a:off x="1952947" y="5125663"/>
              <a:ext cx="1011967" cy="306970"/>
            </a:xfrm>
            <a:prstGeom prst="rightArrow">
              <a:avLst/>
            </a:prstGeom>
            <a:solidFill>
              <a:srgbClr val="FFC000">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制度实施执行</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28" name="流程图: 过程 130"/>
            <p:cNvSpPr/>
            <p:nvPr/>
          </p:nvSpPr>
          <p:spPr>
            <a:xfrm>
              <a:off x="983302" y="2417165"/>
              <a:ext cx="949661" cy="170035"/>
            </a:xfrm>
            <a:prstGeom prst="flowChart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44546A"/>
                  </a:solidFill>
                  <a:effectLst/>
                  <a:uLnTx/>
                  <a:uFillTx/>
                  <a:latin typeface="Lato Light"/>
                  <a:ea typeface="+mn-ea"/>
                  <a:cs typeface="+mn-cs"/>
                </a:rPr>
                <a:t>数据管理机构</a:t>
              </a:r>
              <a:endParaRPr kumimoji="0" lang="zh-CN" altLang="en-US" sz="9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29" name="流程图: 过程 131"/>
            <p:cNvSpPr/>
            <p:nvPr/>
          </p:nvSpPr>
          <p:spPr>
            <a:xfrm>
              <a:off x="983302" y="2609485"/>
              <a:ext cx="949661" cy="788164"/>
            </a:xfrm>
            <a:prstGeom prst="flowChart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数据分类、命名、技术架构、逻辑架构、物理架构、管理架构、开发架构、整合流程和架构</a:t>
              </a:r>
              <a:r>
                <a:rPr kumimoji="0" lang="en-US" altLang="zh-CN" sz="800" b="0" i="0" u="none" strike="noStrike" kern="0" cap="none" spc="0" normalizeH="0" baseline="0" noProof="0" dirty="0">
                  <a:ln>
                    <a:noFill/>
                  </a:ln>
                  <a:solidFill>
                    <a:srgbClr val="44546A"/>
                  </a:solidFill>
                  <a:effectLst/>
                  <a:uLnTx/>
                  <a:uFillTx/>
                  <a:latin typeface="Lato Light"/>
                  <a:ea typeface="+mn-ea"/>
                  <a:cs typeface="+mn-cs"/>
                </a:rPr>
                <a:t>…</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30" name="矩形 137"/>
            <p:cNvSpPr/>
            <p:nvPr/>
          </p:nvSpPr>
          <p:spPr>
            <a:xfrm>
              <a:off x="667993" y="2417166"/>
              <a:ext cx="250337" cy="980483"/>
            </a:xfrm>
            <a:prstGeom prst="rect">
              <a:avLst/>
            </a:prstGeom>
            <a:solidFill>
              <a:srgbClr val="4472C4">
                <a:lumMod val="75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FFFF00"/>
                  </a:solidFill>
                  <a:effectLst/>
                  <a:uLnTx/>
                  <a:uFillTx/>
                  <a:latin typeface="Lato Light"/>
                  <a:ea typeface="+mn-ea"/>
                  <a:cs typeface="+mn-cs"/>
                </a:rPr>
                <a:t>数据顶层设计</a:t>
              </a:r>
              <a:endParaRPr kumimoji="0" lang="zh-CN" altLang="en-US" sz="1000" b="0" i="0" u="none" strike="noStrike" kern="0" cap="none" spc="0" normalizeH="0" baseline="0" noProof="0" dirty="0">
                <a:ln>
                  <a:noFill/>
                </a:ln>
                <a:solidFill>
                  <a:srgbClr val="FFFF00"/>
                </a:solidFill>
                <a:effectLst/>
                <a:uLnTx/>
                <a:uFillTx/>
                <a:latin typeface="Lato Light"/>
                <a:ea typeface="+mn-ea"/>
                <a:cs typeface="+mn-cs"/>
              </a:endParaRPr>
            </a:p>
          </p:txBody>
        </p:sp>
        <p:sp>
          <p:nvSpPr>
            <p:cNvPr id="131" name="箭头: 下 141"/>
            <p:cNvSpPr/>
            <p:nvPr/>
          </p:nvSpPr>
          <p:spPr>
            <a:xfrm>
              <a:off x="1383280" y="3421277"/>
              <a:ext cx="192135" cy="176676"/>
            </a:xfrm>
            <a:prstGeom prst="downArrow">
              <a:avLst/>
            </a:prstGeom>
            <a:solidFill>
              <a:srgbClr val="A5A5A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44546A"/>
                </a:solidFill>
                <a:effectLst/>
                <a:uLnTx/>
                <a:uFillTx/>
                <a:latin typeface="Lato Light"/>
                <a:ea typeface="+mn-ea"/>
                <a:cs typeface="+mn-cs"/>
              </a:endParaRPr>
            </a:p>
          </p:txBody>
        </p:sp>
        <p:sp>
          <p:nvSpPr>
            <p:cNvPr id="132" name="箭头: 下 142"/>
            <p:cNvSpPr/>
            <p:nvPr/>
          </p:nvSpPr>
          <p:spPr>
            <a:xfrm>
              <a:off x="1363241" y="2250612"/>
              <a:ext cx="192135" cy="156953"/>
            </a:xfrm>
            <a:prstGeom prst="downArrow">
              <a:avLst/>
            </a:prstGeom>
            <a:solidFill>
              <a:srgbClr val="A5A5A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44546A"/>
                </a:solidFill>
                <a:effectLst/>
                <a:uLnTx/>
                <a:uFillTx/>
                <a:latin typeface="Lato Light"/>
                <a:ea typeface="+mn-ea"/>
                <a:cs typeface="+mn-cs"/>
              </a:endParaRPr>
            </a:p>
          </p:txBody>
        </p:sp>
        <p:sp>
          <p:nvSpPr>
            <p:cNvPr id="133" name="箭头: 右 381"/>
            <p:cNvSpPr/>
            <p:nvPr/>
          </p:nvSpPr>
          <p:spPr>
            <a:xfrm>
              <a:off x="9495991" y="2902628"/>
              <a:ext cx="807082" cy="306970"/>
            </a:xfrm>
            <a:prstGeom prst="rightArrow">
              <a:avLst/>
            </a:prstGeom>
            <a:solidFill>
              <a:srgbClr val="FFC000">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标准定稿</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34" name="箭头: 右 382"/>
            <p:cNvSpPr/>
            <p:nvPr/>
          </p:nvSpPr>
          <p:spPr>
            <a:xfrm>
              <a:off x="9561440" y="4563934"/>
              <a:ext cx="737502" cy="306970"/>
            </a:xfrm>
            <a:prstGeom prst="rightArrow">
              <a:avLst/>
            </a:prstGeom>
            <a:solidFill>
              <a:srgbClr val="FFC000">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800" b="0" i="0" u="none" strike="noStrike" kern="0" cap="none" spc="0" normalizeH="0" baseline="0" noProof="0" dirty="0">
                  <a:ln>
                    <a:noFill/>
                  </a:ln>
                  <a:solidFill>
                    <a:srgbClr val="44546A"/>
                  </a:solidFill>
                  <a:effectLst/>
                  <a:uLnTx/>
                  <a:uFillTx/>
                  <a:latin typeface="Lato Light"/>
                  <a:ea typeface="+mn-ea"/>
                  <a:cs typeface="+mn-cs"/>
                </a:rPr>
                <a:t>成果输出</a:t>
              </a:r>
              <a:endParaRPr kumimoji="0" lang="zh-CN" altLang="en-US" sz="800" b="0" i="0" u="none" strike="noStrike" kern="0" cap="none" spc="0" normalizeH="0" baseline="0" noProof="0" dirty="0">
                <a:ln>
                  <a:noFill/>
                </a:ln>
                <a:solidFill>
                  <a:srgbClr val="44546A"/>
                </a:solidFill>
                <a:effectLst/>
                <a:uLnTx/>
                <a:uFillTx/>
                <a:latin typeface="Lato Light"/>
                <a:ea typeface="+mn-ea"/>
                <a:cs typeface="+mn-cs"/>
              </a:endParaRPr>
            </a:p>
          </p:txBody>
        </p:sp>
        <p:sp>
          <p:nvSpPr>
            <p:cNvPr id="135" name="箭头: 虚尾 8"/>
            <p:cNvSpPr/>
            <p:nvPr/>
          </p:nvSpPr>
          <p:spPr>
            <a:xfrm rot="3844114">
              <a:off x="3778131" y="3640974"/>
              <a:ext cx="2622211" cy="604014"/>
            </a:xfrm>
            <a:prstGeom prst="stripedRightArrow">
              <a:avLst/>
            </a:prstGeom>
            <a:solidFill>
              <a:srgbClr val="FF6600">
                <a:alpha val="34118"/>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mn-ea"/>
                  <a:cs typeface="+mn-cs"/>
                </a:rPr>
                <a:t>标           准          流  </a:t>
              </a:r>
              <a:endPar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mn-ea"/>
                <a:cs typeface="+mn-cs"/>
              </a:endParaRPr>
            </a:p>
          </p:txBody>
        </p:sp>
        <p:grpSp>
          <p:nvGrpSpPr>
            <p:cNvPr id="136" name="组合 12"/>
            <p:cNvGrpSpPr/>
            <p:nvPr/>
          </p:nvGrpSpPr>
          <p:grpSpPr>
            <a:xfrm>
              <a:off x="2789411" y="1644456"/>
              <a:ext cx="4273242" cy="4664731"/>
              <a:chOff x="11216002" y="-1946754"/>
              <a:chExt cx="8124815" cy="10450908"/>
            </a:xfrm>
          </p:grpSpPr>
          <p:sp>
            <p:nvSpPr>
              <p:cNvPr id="137" name="矩形 10"/>
              <p:cNvSpPr/>
              <p:nvPr/>
            </p:nvSpPr>
            <p:spPr>
              <a:xfrm rot="2713523">
                <a:off x="17860076" y="-216152"/>
                <a:ext cx="896410" cy="526665"/>
              </a:xfrm>
              <a:prstGeom prst="rect">
                <a:avLst/>
              </a:prstGeom>
            </p:spPr>
            <p:txBody>
              <a:bodyPr wrap="none">
                <a:spAutoFit/>
              </a:bodyP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zh-CN" sz="1200" b="0" i="0" u="none" strike="noStrike" kern="100" cap="none" spc="480" normalizeH="0" baseline="0" noProof="0" dirty="0">
                    <a:ln>
                      <a:noFill/>
                    </a:ln>
                    <a:solidFill>
                      <a:srgbClr val="FF0000"/>
                    </a:solidFill>
                    <a:effectLst/>
                    <a:uLnTx/>
                    <a:uFillTx/>
                    <a:latin typeface="微软雅黑" panose="020B0503020204020204" pitchFamily="34" charset="-122"/>
                    <a:cs typeface="Times New Roman" panose="02020603050405020304" pitchFamily="18" charset="0"/>
                  </a:rPr>
                  <a:t>据</a:t>
                </a:r>
                <a:endParaRPr kumimoji="0" lang="zh-CN" altLang="en-US" sz="1200" b="0" i="0" u="none" strike="noStrike" kern="0" cap="none" spc="480" normalizeH="0" baseline="0" noProof="0" dirty="0">
                  <a:ln>
                    <a:noFill/>
                  </a:ln>
                  <a:solidFill>
                    <a:srgbClr val="FF0000"/>
                  </a:solidFill>
                  <a:effectLst/>
                  <a:uLnTx/>
                  <a:uFillTx/>
                  <a:latin typeface="微软雅黑" panose="020B0503020204020204" pitchFamily="34" charset="-122"/>
                </a:endParaRPr>
              </a:p>
            </p:txBody>
          </p:sp>
          <p:sp>
            <p:nvSpPr>
              <p:cNvPr id="138" name="矩形 138"/>
              <p:cNvSpPr/>
              <p:nvPr/>
            </p:nvSpPr>
            <p:spPr>
              <a:xfrm rot="19149773">
                <a:off x="12695121" y="-899127"/>
                <a:ext cx="709490" cy="620591"/>
              </a:xfrm>
              <a:prstGeom prst="rect">
                <a:avLst/>
              </a:prstGeom>
            </p:spPr>
            <p:txBody>
              <a:bodyPr wrap="square">
                <a:spAutoFit/>
              </a:bodyP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zh-CN" sz="1200" b="0" i="0" u="none" strike="noStrike" kern="100" cap="none" spc="480" normalizeH="0" baseline="0" noProof="0" dirty="0">
                    <a:ln>
                      <a:noFill/>
                    </a:ln>
                    <a:solidFill>
                      <a:srgbClr val="FF0000"/>
                    </a:solidFill>
                    <a:effectLst/>
                    <a:uLnTx/>
                    <a:uFillTx/>
                    <a:latin typeface="微软雅黑" panose="020B0503020204020204" pitchFamily="34" charset="-122"/>
                    <a:cs typeface="Times New Roman" panose="02020603050405020304" pitchFamily="18" charset="0"/>
                  </a:rPr>
                  <a:t>数</a:t>
                </a:r>
                <a:endParaRPr kumimoji="0" lang="zh-CN" altLang="en-US" sz="1200" b="0" i="0" u="none" strike="noStrike" kern="0" cap="none" spc="480" normalizeH="0" baseline="0" noProof="0" dirty="0">
                  <a:ln>
                    <a:noFill/>
                  </a:ln>
                  <a:solidFill>
                    <a:srgbClr val="FF0000"/>
                  </a:solidFill>
                  <a:effectLst/>
                  <a:uLnTx/>
                  <a:uFillTx/>
                  <a:latin typeface="微软雅黑" panose="020B0503020204020204" pitchFamily="34" charset="-122"/>
                </a:endParaRPr>
              </a:p>
            </p:txBody>
          </p:sp>
          <p:grpSp>
            <p:nvGrpSpPr>
              <p:cNvPr id="139" name="组合 11"/>
              <p:cNvGrpSpPr/>
              <p:nvPr/>
            </p:nvGrpSpPr>
            <p:grpSpPr>
              <a:xfrm>
                <a:off x="11216002" y="-1946754"/>
                <a:ext cx="8124815" cy="10450908"/>
                <a:chOff x="12015313" y="-2834293"/>
                <a:chExt cx="8124815" cy="10450908"/>
              </a:xfrm>
            </p:grpSpPr>
            <p:sp>
              <p:nvSpPr>
                <p:cNvPr id="140" name="箭头: 环形 7"/>
                <p:cNvSpPr/>
                <p:nvPr/>
              </p:nvSpPr>
              <p:spPr>
                <a:xfrm rot="10098179">
                  <a:off x="12015313" y="-2834293"/>
                  <a:ext cx="8124815" cy="10450908"/>
                </a:xfrm>
                <a:prstGeom prst="circularArrow">
                  <a:avLst>
                    <a:gd name="adj1" fmla="val 7125"/>
                    <a:gd name="adj2" fmla="val 1142319"/>
                    <a:gd name="adj3" fmla="val 20638188"/>
                    <a:gd name="adj4" fmla="val 3581497"/>
                    <a:gd name="adj5" fmla="val 7806"/>
                  </a:avLst>
                </a:prstGeom>
                <a:solidFill>
                  <a:srgbClr val="FF6600">
                    <a:alpha val="34118"/>
                  </a:srgbClr>
                </a:solidFill>
                <a:ln w="12700" cap="flat" cmpd="sng" algn="ctr">
                  <a:no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srgbClr val="FF0000"/>
                    </a:solidFill>
                    <a:effectLst/>
                    <a:uLnTx/>
                    <a:uFillTx/>
                    <a:latin typeface="微软雅黑" panose="020B0503020204020204" pitchFamily="34" charset="-122"/>
                    <a:ea typeface="+mn-ea"/>
                    <a:cs typeface="+mn-cs"/>
                  </a:endParaRPr>
                </a:p>
              </p:txBody>
            </p:sp>
            <p:sp>
              <p:nvSpPr>
                <p:cNvPr id="141" name="矩形 139"/>
                <p:cNvSpPr/>
                <p:nvPr/>
              </p:nvSpPr>
              <p:spPr>
                <a:xfrm rot="10800000">
                  <a:off x="16242399" y="6139594"/>
                  <a:ext cx="760738" cy="620591"/>
                </a:xfrm>
                <a:prstGeom prst="rect">
                  <a:avLst/>
                </a:prstGeom>
              </p:spPr>
              <p:txBody>
                <a:bodyPr wrap="none">
                  <a:spAutoFit/>
                </a:bodyP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100" cap="none" spc="480" normalizeH="0" baseline="0" noProof="0" dirty="0">
                      <a:ln>
                        <a:noFill/>
                      </a:ln>
                      <a:solidFill>
                        <a:srgbClr val="FF0000"/>
                      </a:solidFill>
                      <a:effectLst/>
                      <a:uLnTx/>
                      <a:uFillTx/>
                      <a:latin typeface="微软雅黑" panose="020B0503020204020204" pitchFamily="34" charset="-122"/>
                      <a:cs typeface="Times New Roman" panose="02020603050405020304" pitchFamily="18" charset="0"/>
                    </a:rPr>
                    <a:t>流</a:t>
                  </a:r>
                  <a:endParaRPr kumimoji="0" lang="zh-CN" altLang="en-US" sz="1200" b="0" i="0" u="none" strike="noStrike" kern="0" cap="none" spc="480" normalizeH="0" baseline="0" noProof="0" dirty="0">
                    <a:ln>
                      <a:noFill/>
                    </a:ln>
                    <a:solidFill>
                      <a:srgbClr val="FF0000"/>
                    </a:solidFill>
                    <a:effectLst/>
                    <a:uLnTx/>
                    <a:uFillTx/>
                    <a:latin typeface="微软雅黑" panose="020B0503020204020204" pitchFamily="34" charset="-122"/>
                  </a:endParaRPr>
                </a:p>
              </p:txBody>
            </p:sp>
          </p:grpSp>
        </p:grpSp>
        <p:grpSp>
          <p:nvGrpSpPr>
            <p:cNvPr id="142" name="组合 13"/>
            <p:cNvGrpSpPr/>
            <p:nvPr/>
          </p:nvGrpSpPr>
          <p:grpSpPr>
            <a:xfrm rot="10800000" flipH="1">
              <a:off x="6850821" y="2393109"/>
              <a:ext cx="2655470" cy="3833337"/>
              <a:chOff x="13608098" y="4550146"/>
              <a:chExt cx="4228757" cy="7206561"/>
            </a:xfrm>
          </p:grpSpPr>
          <p:sp>
            <p:nvSpPr>
              <p:cNvPr id="143" name="箭头: 环形 135"/>
              <p:cNvSpPr/>
              <p:nvPr/>
            </p:nvSpPr>
            <p:spPr>
              <a:xfrm rot="10800000" flipH="1" flipV="1">
                <a:off x="13608098" y="4550146"/>
                <a:ext cx="4228757" cy="7206561"/>
              </a:xfrm>
              <a:prstGeom prst="circularArrow">
                <a:avLst>
                  <a:gd name="adj1" fmla="val 12077"/>
                  <a:gd name="adj2" fmla="val 1142319"/>
                  <a:gd name="adj3" fmla="val 20626358"/>
                  <a:gd name="adj4" fmla="val 2487645"/>
                  <a:gd name="adj5" fmla="val 13765"/>
                </a:avLst>
              </a:prstGeom>
              <a:solidFill>
                <a:srgbClr val="FF6600">
                  <a:alpha val="34118"/>
                </a:srgbClr>
              </a:solidFill>
              <a:ln w="12700" cap="flat" cmpd="sng" algn="ctr">
                <a:noFill/>
                <a:prstDash val="solid"/>
                <a:miter lim="800000"/>
              </a:ln>
              <a:effectLst/>
            </p:spPr>
            <p:txBody>
              <a:bodyPr rtlCol="0" anchor="ctr"/>
              <a:lstStyle/>
              <a:p>
                <a:pPr marL="0" marR="0" lvl="0" indent="0" algn="ctr" defTabSz="1828165"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rgbClr val="FF0000"/>
                  </a:solidFill>
                  <a:effectLst/>
                  <a:uLnTx/>
                  <a:uFillTx/>
                  <a:latin typeface="微软雅黑" panose="020B0503020204020204" pitchFamily="34" charset="-122"/>
                  <a:ea typeface="+mn-ea"/>
                  <a:cs typeface="+mn-cs"/>
                </a:endParaRPr>
              </a:p>
            </p:txBody>
          </p:sp>
          <p:sp>
            <p:nvSpPr>
              <p:cNvPr id="144" name="矩形 143"/>
              <p:cNvSpPr/>
              <p:nvPr/>
            </p:nvSpPr>
            <p:spPr>
              <a:xfrm rot="10800000">
                <a:off x="16928207" y="6897953"/>
                <a:ext cx="637163" cy="520750"/>
              </a:xfrm>
              <a:prstGeom prst="rect">
                <a:avLst/>
              </a:prstGeom>
            </p:spPr>
            <p:txBody>
              <a:bodyPr wrap="none">
                <a:spAutoFit/>
              </a:bodyP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100" cap="none" spc="480" normalizeH="0" baseline="0" noProof="0" dirty="0">
                    <a:ln>
                      <a:noFill/>
                    </a:ln>
                    <a:solidFill>
                      <a:srgbClr val="FF0000"/>
                    </a:solidFill>
                    <a:effectLst/>
                    <a:uLnTx/>
                    <a:uFillTx/>
                    <a:latin typeface="微软雅黑" panose="020B0503020204020204" pitchFamily="34" charset="-122"/>
                    <a:cs typeface="Times New Roman" panose="02020603050405020304" pitchFamily="18" charset="0"/>
                  </a:rPr>
                  <a:t>流</a:t>
                </a:r>
                <a:endParaRPr kumimoji="0" lang="zh-CN" altLang="en-US" sz="1200" b="0" i="0" u="none" strike="noStrike" kern="0" cap="none" spc="480" normalizeH="0" baseline="0" noProof="0" dirty="0">
                  <a:ln>
                    <a:noFill/>
                  </a:ln>
                  <a:solidFill>
                    <a:srgbClr val="FF0000"/>
                  </a:solidFill>
                  <a:effectLst/>
                  <a:uLnTx/>
                  <a:uFillTx/>
                  <a:latin typeface="微软雅黑" panose="020B0503020204020204" pitchFamily="34" charset="-122"/>
                </a:endParaRPr>
              </a:p>
            </p:txBody>
          </p:sp>
          <p:sp>
            <p:nvSpPr>
              <p:cNvPr id="145" name="矩形 144"/>
              <p:cNvSpPr/>
              <p:nvPr/>
            </p:nvSpPr>
            <p:spPr>
              <a:xfrm rot="10800000">
                <a:off x="14563134" y="5426590"/>
                <a:ext cx="637163" cy="520750"/>
              </a:xfrm>
              <a:prstGeom prst="rect">
                <a:avLst/>
              </a:prstGeom>
            </p:spPr>
            <p:txBody>
              <a:bodyPr wrap="none">
                <a:spAutoFit/>
              </a:bodyP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100" cap="none" spc="480" normalizeH="0" baseline="0" noProof="0" dirty="0">
                    <a:ln>
                      <a:noFill/>
                    </a:ln>
                    <a:solidFill>
                      <a:srgbClr val="FF0000"/>
                    </a:solidFill>
                    <a:effectLst/>
                    <a:uLnTx/>
                    <a:uFillTx/>
                    <a:latin typeface="微软雅黑" panose="020B0503020204020204" pitchFamily="34" charset="-122"/>
                    <a:cs typeface="Times New Roman" panose="02020603050405020304" pitchFamily="18" charset="0"/>
                  </a:rPr>
                  <a:t>量</a:t>
                </a:r>
                <a:endParaRPr kumimoji="0" lang="zh-CN" altLang="en-US" sz="1200" b="0" i="0" u="none" strike="noStrike" kern="0" cap="none" spc="480" normalizeH="0" baseline="0" noProof="0" dirty="0">
                  <a:ln>
                    <a:noFill/>
                  </a:ln>
                  <a:solidFill>
                    <a:srgbClr val="FF0000"/>
                  </a:solidFill>
                  <a:effectLst/>
                  <a:uLnTx/>
                  <a:uFillTx/>
                  <a:latin typeface="微软雅黑" panose="020B0503020204020204" pitchFamily="34" charset="-122"/>
                </a:endParaRPr>
              </a:p>
            </p:txBody>
          </p:sp>
          <p:sp>
            <p:nvSpPr>
              <p:cNvPr id="146" name="矩形 146"/>
              <p:cNvSpPr/>
              <p:nvPr/>
            </p:nvSpPr>
            <p:spPr>
              <a:xfrm rot="10800000">
                <a:off x="14484552" y="10289082"/>
                <a:ext cx="637163" cy="520750"/>
              </a:xfrm>
              <a:prstGeom prst="rect">
                <a:avLst/>
              </a:prstGeom>
            </p:spPr>
            <p:txBody>
              <a:bodyPr wrap="none">
                <a:spAutoFit/>
              </a:bodyPr>
              <a:lstStyle/>
              <a:p>
                <a:pPr marL="0" marR="0" lvl="0" indent="0" defTabSz="1828165" eaLnBrk="1" fontAlgn="auto" latinLnBrk="0" hangingPunct="1">
                  <a:lnSpc>
                    <a:spcPct val="100000"/>
                  </a:lnSpc>
                  <a:spcBef>
                    <a:spcPts val="0"/>
                  </a:spcBef>
                  <a:spcAft>
                    <a:spcPts val="0"/>
                  </a:spcAft>
                  <a:buClrTx/>
                  <a:buSzTx/>
                  <a:buFontTx/>
                  <a:buNone/>
                  <a:defRPr/>
                </a:pPr>
                <a:r>
                  <a:rPr kumimoji="0" lang="zh-CN" altLang="en-US" sz="1200" b="0" i="0" u="none" strike="noStrike" kern="100" cap="none" spc="480" normalizeH="0" baseline="0" noProof="0" dirty="0">
                    <a:ln>
                      <a:noFill/>
                    </a:ln>
                    <a:solidFill>
                      <a:srgbClr val="FF0000"/>
                    </a:solidFill>
                    <a:effectLst/>
                    <a:uLnTx/>
                    <a:uFillTx/>
                    <a:latin typeface="微软雅黑" panose="020B0503020204020204" pitchFamily="34" charset="-122"/>
                    <a:cs typeface="Times New Roman" panose="02020603050405020304" pitchFamily="18" charset="0"/>
                  </a:rPr>
                  <a:t>质</a:t>
                </a:r>
                <a:endParaRPr kumimoji="0" lang="zh-CN" altLang="en-US" sz="1200" b="0" i="0" u="none" strike="noStrike" kern="100" cap="none" spc="480" normalizeH="0" baseline="0" noProof="0" dirty="0">
                  <a:ln>
                    <a:noFill/>
                  </a:ln>
                  <a:solidFill>
                    <a:srgbClr val="FF0000"/>
                  </a:solidFill>
                  <a:effectLst/>
                  <a:uLnTx/>
                  <a:uFillTx/>
                  <a:latin typeface="微软雅黑" panose="020B0503020204020204" pitchFamily="34" charset="-122"/>
                  <a:cs typeface="Times New Roman" panose="02020603050405020304" pitchFamily="18" charset="0"/>
                </a:endParaRPr>
              </a:p>
            </p:txBody>
          </p:sp>
        </p:grpSp>
      </p:grpSp>
      <p:sp>
        <p:nvSpPr>
          <p:cNvPr id="148" name="标题 1"/>
          <p:cNvSpPr>
            <a:spLocks noGrp="1"/>
          </p:cNvSpPr>
          <p:nvPr>
            <p:ph type="ctrTitle"/>
          </p:nvPr>
        </p:nvSpPr>
        <p:spPr>
          <a:xfrm>
            <a:off x="517588" y="165139"/>
            <a:ext cx="11160000" cy="888392"/>
          </a:xfrm>
        </p:spPr>
        <p:txBody>
          <a:bodyPr/>
          <a:lstStyle/>
          <a:p>
            <a:r>
              <a:rPr lang="zh-CN" altLang="en-US" dirty="0"/>
              <a:t>数据治理解决方案 </a:t>
            </a:r>
            <a:r>
              <a:rPr lang="en-US" altLang="zh-CN" dirty="0"/>
              <a:t>– </a:t>
            </a:r>
            <a:r>
              <a:rPr lang="zh-CN" altLang="en-US" dirty="0"/>
              <a:t>数据治理工作流程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标题 1"/>
          <p:cNvSpPr>
            <a:spLocks noGrp="1"/>
          </p:cNvSpPr>
          <p:nvPr>
            <p:ph type="ctrTitle"/>
          </p:nvPr>
        </p:nvSpPr>
        <p:spPr>
          <a:xfrm>
            <a:off x="517588" y="165139"/>
            <a:ext cx="11160000" cy="888392"/>
          </a:xfrm>
        </p:spPr>
        <p:txBody>
          <a:bodyPr/>
          <a:lstStyle/>
          <a:p>
            <a:r>
              <a:rPr lang="zh-CN" altLang="en-US" dirty="0"/>
              <a:t>数据治理解决方案 </a:t>
            </a:r>
            <a:r>
              <a:rPr lang="en-US" altLang="zh-CN" dirty="0"/>
              <a:t>– </a:t>
            </a:r>
            <a:r>
              <a:rPr lang="zh-CN" altLang="en-US" dirty="0"/>
              <a:t>数据治理交付成果</a:t>
            </a:r>
            <a:endParaRPr lang="zh-CN" altLang="en-US" dirty="0"/>
          </a:p>
        </p:txBody>
      </p:sp>
      <p:graphicFrame>
        <p:nvGraphicFramePr>
          <p:cNvPr id="147" name="表格 22"/>
          <p:cNvGraphicFramePr>
            <a:graphicFrameLocks noGrp="1"/>
          </p:cNvGraphicFramePr>
          <p:nvPr/>
        </p:nvGraphicFramePr>
        <p:xfrm>
          <a:off x="737915" y="1053531"/>
          <a:ext cx="10719343" cy="5923807"/>
        </p:xfrm>
        <a:graphic>
          <a:graphicData uri="http://schemas.openxmlformats.org/drawingml/2006/table">
            <a:tbl>
              <a:tblPr/>
              <a:tblGrid>
                <a:gridCol w="2079391"/>
                <a:gridCol w="3208273"/>
                <a:gridCol w="576064"/>
                <a:gridCol w="1440160"/>
                <a:gridCol w="3415455"/>
              </a:tblGrid>
              <a:tr h="274868">
                <a:tc rowSpan="2">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en-US" altLang="zh-CN" sz="1800" b="1" u="none" strike="noStrike" dirty="0">
                          <a:solidFill>
                            <a:srgbClr val="0033CC"/>
                          </a:solidFill>
                          <a:effectLst/>
                          <a:latin typeface="微软雅黑" panose="020B0503020204020204" pitchFamily="34" charset="-122"/>
                          <a:ea typeface="微软雅黑" panose="020B0503020204020204" pitchFamily="34" charset="-122"/>
                        </a:rPr>
                        <a:t>【1】</a:t>
                      </a:r>
                      <a:endParaRPr lang="en-US" altLang="zh-CN" sz="1800" b="1" u="none" strike="noStrike" dirty="0">
                        <a:solidFill>
                          <a:srgbClr val="0033CC"/>
                        </a:solidFill>
                        <a:effectLst/>
                        <a:latin typeface="微软雅黑" panose="020B0503020204020204" pitchFamily="34" charset="-122"/>
                        <a:ea typeface="微软雅黑" panose="020B0503020204020204" pitchFamily="34" charset="-122"/>
                      </a:endParaRPr>
                    </a:p>
                    <a:p>
                      <a:pPr algn="ctr" fontAlgn="ctr">
                        <a:lnSpc>
                          <a:spcPct val="110000"/>
                        </a:lnSpc>
                      </a:pPr>
                      <a:r>
                        <a:rPr lang="zh-CN" altLang="en-US" sz="1800" b="1" u="none" strike="noStrike" dirty="0">
                          <a:solidFill>
                            <a:srgbClr val="0033CC"/>
                          </a:solidFill>
                          <a:effectLst/>
                          <a:latin typeface="微软雅黑" panose="020B0503020204020204" pitchFamily="34" charset="-122"/>
                          <a:ea typeface="微软雅黑" panose="020B0503020204020204" pitchFamily="34" charset="-122"/>
                        </a:rPr>
                        <a:t>校级数据标准</a:t>
                      </a:r>
                      <a:endParaRPr lang="zh-CN" altLang="en-US" sz="1800" b="1" i="0" u="none" strike="noStrike" dirty="0">
                        <a:solidFill>
                          <a:srgbClr val="0033CC"/>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12700" cmpd="sng">
                      <a:solidFill>
                        <a:srgbClr val="CC9900"/>
                      </a:solidFill>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数据子集和元数据模型</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8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mpd="sng">
                      <a:solidFill>
                        <a:srgbClr val="CC9900"/>
                      </a:solidFill>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rowSpan="10">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marL="0" algn="ctr" defTabSz="914400" rtl="0" eaLnBrk="1" fontAlgn="ctr" latinLnBrk="0" hangingPunct="1">
                        <a:lnSpc>
                          <a:spcPct val="110000"/>
                        </a:lnSpc>
                      </a:pPr>
                      <a:r>
                        <a:rPr lang="en-US" altLang="zh-CN" sz="1800" b="1" u="none" strike="noStrike" kern="1200" dirty="0">
                          <a:solidFill>
                            <a:srgbClr val="0033CC"/>
                          </a:solidFill>
                          <a:effectLst/>
                          <a:latin typeface="微软雅黑" panose="020B0503020204020204" pitchFamily="34" charset="-122"/>
                          <a:ea typeface="微软雅黑" panose="020B0503020204020204" pitchFamily="34" charset="-122"/>
                          <a:cs typeface="+mn-cs"/>
                        </a:rPr>
                        <a:t>【4】</a:t>
                      </a:r>
                      <a:endParaRPr lang="en-US" altLang="zh-CN" sz="1800" b="1" u="none" strike="noStrike" kern="1200" dirty="0">
                        <a:solidFill>
                          <a:srgbClr val="0033CC"/>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10000"/>
                        </a:lnSpc>
                      </a:pPr>
                      <a:r>
                        <a:rPr lang="zh-CN" altLang="en-US" sz="1800" b="1" u="none" strike="noStrike" kern="1200" dirty="0">
                          <a:solidFill>
                            <a:srgbClr val="0033CC"/>
                          </a:solidFill>
                          <a:effectLst/>
                          <a:latin typeface="微软雅黑" panose="020B0503020204020204" pitchFamily="34" charset="-122"/>
                          <a:ea typeface="微软雅黑" panose="020B0503020204020204" pitchFamily="34" charset="-122"/>
                          <a:cs typeface="+mn-cs"/>
                        </a:rPr>
                        <a:t>管理知识库</a:t>
                      </a:r>
                      <a:endParaRPr lang="zh-CN" altLang="en-US" sz="1800" b="1" u="none" strike="noStrike" kern="1200" dirty="0">
                        <a:solidFill>
                          <a:srgbClr val="0033CC"/>
                        </a:solidFill>
                        <a:effectLst/>
                        <a:latin typeface="微软雅黑" panose="020B0503020204020204" pitchFamily="34" charset="-122"/>
                        <a:ea typeface="微软雅黑" panose="020B0503020204020204" pitchFamily="34" charset="-122"/>
                        <a:cs typeface="+mn-cs"/>
                      </a:endParaRPr>
                    </a:p>
                  </a:txBody>
                  <a:tcPr marL="9525" marR="9525" marT="9526" marB="0" anchor="ctr">
                    <a:lnL w="28575" cap="flat" cmpd="sng" algn="ctr">
                      <a:solidFill>
                        <a:srgbClr val="FF0000"/>
                      </a:solidFill>
                      <a:prstDash val="solid"/>
                      <a:round/>
                      <a:headEnd type="none" w="med" len="med"/>
                      <a:tailEnd type="none" w="med" len="med"/>
                    </a:lnL>
                    <a:lnR w="12700" cmpd="sng">
                      <a:solidFill>
                        <a:srgbClr val="CC9900"/>
                      </a:solidFill>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algn="ctr" defTabSz="914400" rtl="0" eaLnBrk="1" fontAlgn="ctr" latinLnBrk="0" hangingPunct="1">
                        <a:lnSpc>
                          <a:spcPct val="110000"/>
                        </a:lnSpc>
                      </a:pPr>
                      <a:r>
                        <a:rPr lang="zh-CN" altLang="en-US" sz="1600" u="none" strike="noStrike" kern="1200" dirty="0">
                          <a:solidFill>
                            <a:schemeClr val="tx2"/>
                          </a:solidFill>
                          <a:effectLst/>
                          <a:latin typeface="微软雅黑" panose="020B0503020204020204" pitchFamily="34" charset="-122"/>
                          <a:ea typeface="微软雅黑" panose="020B0503020204020204" pitchFamily="34" charset="-122"/>
                          <a:cs typeface="+mn-cs"/>
                        </a:rPr>
                        <a:t>数据现状报告</a:t>
                      </a:r>
                      <a:endParaRPr lang="zh-CN" altLang="en-US" sz="1600" u="none" strike="noStrike" kern="1200" dirty="0">
                        <a:solidFill>
                          <a:schemeClr val="tx2"/>
                        </a:solidFill>
                        <a:effectLst/>
                        <a:latin typeface="微软雅黑" panose="020B0503020204020204" pitchFamily="34" charset="-122"/>
                        <a:ea typeface="微软雅黑" panose="020B0503020204020204" pitchFamily="34" charset="-122"/>
                        <a:cs typeface="+mn-cs"/>
                      </a:endParaRPr>
                    </a:p>
                  </a:txBody>
                  <a:tcPr marL="9525" marR="9525" marT="9526" marB="0" anchor="ctr">
                    <a:lnL w="12700" cap="flat" cmpd="sng" algn="ctr">
                      <a:solidFill>
                        <a:srgbClr val="CC99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标准代码集</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lnSpc>
                          <a:spcPct val="110000"/>
                        </a:lnSpc>
                      </a:pP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algn="ctr" fontAlgn="ctr">
                        <a:lnSpc>
                          <a:spcPct val="110000"/>
                        </a:lnSpc>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数据</a:t>
                      </a:r>
                      <a:r>
                        <a:rPr lang="en-US" sz="1600" u="none" strike="noStrike" dirty="0">
                          <a:solidFill>
                            <a:schemeClr val="tx2"/>
                          </a:solidFill>
                          <a:effectLst/>
                          <a:latin typeface="微软雅黑" panose="020B0503020204020204" pitchFamily="34" charset="-122"/>
                          <a:ea typeface="微软雅黑" panose="020B0503020204020204" pitchFamily="34" charset="-122"/>
                        </a:rPr>
                        <a:t>U/C</a:t>
                      </a: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矩阵</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rowSpan="2" gridSpan="3">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rowSpan="2" hMerge="1">
                  <a:tcPr marL="9525" marR="9525" marT="9525" marB="0" anchor="ctr"/>
                </a:tc>
                <a:tc rowSpan="2" hMerge="1">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数据资产目录</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gridSpan="3">
                  <a:tcPr marL="9525" marR="9525" marT="9525" marB="0" anchor="ctr"/>
                </a:tc>
                <a:tc vMerge="1" hMerge="1">
                  <a:tcPr marL="9525" marR="9525" marT="9525" marB="0" anchor="ctr"/>
                </a:tc>
                <a:tc vMerge="1" hMerge="1">
                  <a:tcPr/>
                </a:tc>
                <a:tc vMerge="1">
                  <a:tcPr/>
                </a:tc>
                <a:tc>
                  <a:txBody>
                    <a:body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元数据库</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rowSpan="9">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en-US" altLang="zh-CN" sz="1800" b="1" u="none" strike="noStrike" dirty="0">
                          <a:solidFill>
                            <a:srgbClr val="0033CC"/>
                          </a:solidFill>
                          <a:effectLst/>
                          <a:latin typeface="微软雅黑" panose="020B0503020204020204" pitchFamily="34" charset="-122"/>
                          <a:ea typeface="微软雅黑" panose="020B0503020204020204" pitchFamily="34" charset="-122"/>
                        </a:rPr>
                        <a:t>【2】</a:t>
                      </a:r>
                      <a:endParaRPr lang="en-US" altLang="zh-CN" sz="1800" b="1" u="none" strike="noStrike" dirty="0">
                        <a:solidFill>
                          <a:srgbClr val="0033CC"/>
                        </a:solidFill>
                        <a:effectLst/>
                        <a:latin typeface="微软雅黑" panose="020B0503020204020204" pitchFamily="34" charset="-122"/>
                        <a:ea typeface="微软雅黑" panose="020B0503020204020204" pitchFamily="34" charset="-122"/>
                      </a:endParaRPr>
                    </a:p>
                    <a:p>
                      <a:pPr algn="ctr" fontAlgn="ctr">
                        <a:lnSpc>
                          <a:spcPct val="110000"/>
                        </a:lnSpc>
                      </a:pPr>
                      <a:r>
                        <a:rPr lang="zh-CN" altLang="en-US" sz="1800" b="1" u="none" strike="noStrike" dirty="0">
                          <a:solidFill>
                            <a:srgbClr val="0033CC"/>
                          </a:solidFill>
                          <a:effectLst/>
                          <a:latin typeface="微软雅黑" panose="020B0503020204020204" pitchFamily="34" charset="-122"/>
                          <a:ea typeface="微软雅黑" panose="020B0503020204020204" pitchFamily="34" charset="-122"/>
                        </a:rPr>
                        <a:t>成果数据</a:t>
                      </a:r>
                      <a:br>
                        <a:rPr lang="zh-CN" altLang="en-US" sz="1800" u="none" strike="noStrike" dirty="0">
                          <a:solidFill>
                            <a:srgbClr val="0033CC"/>
                          </a:solidFill>
                          <a:effectLst/>
                          <a:latin typeface="微软雅黑" panose="020B0503020204020204" pitchFamily="34" charset="-122"/>
                          <a:ea typeface="微软雅黑" panose="020B0503020204020204" pitchFamily="34" charset="-122"/>
                        </a:rPr>
                      </a:br>
                      <a:r>
                        <a:rPr lang="zh-CN" altLang="en-US" sz="1800" u="none" strike="noStrike" dirty="0">
                          <a:solidFill>
                            <a:srgbClr val="0033CC"/>
                          </a:solidFill>
                          <a:effectLst/>
                          <a:latin typeface="微软雅黑" panose="020B0503020204020204" pitchFamily="34" charset="-122"/>
                          <a:ea typeface="微软雅黑" panose="020B0503020204020204" pitchFamily="34" charset="-122"/>
                        </a:rPr>
                        <a:t>全量、高质量、标准化</a:t>
                      </a:r>
                      <a:endParaRPr lang="zh-CN" altLang="en-US" sz="1800" b="0" i="0" u="none" strike="noStrike" dirty="0">
                        <a:solidFill>
                          <a:srgbClr val="0033CC"/>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12700" cmpd="sng">
                      <a:solidFill>
                        <a:srgbClr val="CC9900"/>
                      </a:solidFill>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algn="ctr" defTabSz="1219200" rtl="0" eaLnBrk="1" fontAlgn="ctr" latinLnBrk="0" hangingPunct="1">
                        <a:lnSpc>
                          <a:spcPct val="110000"/>
                        </a:lnSpc>
                      </a:pPr>
                      <a:r>
                        <a:rPr lang="zh-CN" altLang="en-US" sz="1600" u="none" strike="noStrike" kern="1200" dirty="0">
                          <a:solidFill>
                            <a:schemeClr val="tx2"/>
                          </a:solidFill>
                          <a:effectLst/>
                          <a:latin typeface="微软雅黑" panose="020B0503020204020204" pitchFamily="34" charset="-122"/>
                          <a:ea typeface="微软雅黑" panose="020B0503020204020204" pitchFamily="34" charset="-122"/>
                        </a:rPr>
                        <a:t>学校基础数据集</a:t>
                      </a:r>
                      <a:endParaRPr lang="zh-CN" altLang="en-US" sz="1600" u="none" strike="noStrike" kern="1200"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lnSpc>
                          <a:spcPct val="110000"/>
                        </a:lnSpc>
                      </a:pP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数据流向关系</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学生管理</a:t>
                      </a:r>
                      <a:r>
                        <a:rPr lang="zh-CN" altLang="en-US" sz="1600" u="none" strike="noStrike" kern="1200" dirty="0">
                          <a:solidFill>
                            <a:schemeClr val="tx2"/>
                          </a:solidFill>
                          <a:effectLst/>
                          <a:latin typeface="微软雅黑" panose="020B0503020204020204" pitchFamily="34" charset="-122"/>
                          <a:ea typeface="微软雅黑" panose="020B0503020204020204" pitchFamily="34" charset="-122"/>
                        </a:rPr>
                        <a:t>数据集</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数据质量规则库</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教职工管理</a:t>
                      </a:r>
                      <a:r>
                        <a:rPr lang="zh-CN" altLang="en-US" sz="1600" u="none" strike="noStrike" kern="1200" dirty="0">
                          <a:solidFill>
                            <a:schemeClr val="tx2"/>
                          </a:solidFill>
                          <a:effectLst/>
                          <a:latin typeface="微软雅黑" panose="020B0503020204020204" pitchFamily="34" charset="-122"/>
                          <a:ea typeface="微软雅黑" panose="020B0503020204020204" pitchFamily="34" charset="-122"/>
                        </a:rPr>
                        <a:t>数据集</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数据质量绑定关系</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教学管理</a:t>
                      </a:r>
                      <a:r>
                        <a:rPr lang="zh-CN" altLang="en-US" sz="1600" u="none" strike="noStrike" kern="1200" dirty="0">
                          <a:solidFill>
                            <a:schemeClr val="tx2"/>
                          </a:solidFill>
                          <a:effectLst/>
                          <a:latin typeface="微软雅黑" panose="020B0503020204020204" pitchFamily="34" charset="-122"/>
                          <a:ea typeface="微软雅黑" panose="020B0503020204020204" pitchFamily="34" charset="-122"/>
                        </a:rPr>
                        <a:t>数据集</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数据质量报告</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资产管理</a:t>
                      </a:r>
                      <a:r>
                        <a:rPr lang="zh-CN" altLang="en-US" sz="1600" u="none" strike="noStrike" kern="1200" dirty="0">
                          <a:solidFill>
                            <a:schemeClr val="tx2"/>
                          </a:solidFill>
                          <a:effectLst/>
                          <a:latin typeface="微软雅黑" panose="020B0503020204020204" pitchFamily="34" charset="-122"/>
                          <a:ea typeface="微软雅黑" panose="020B0503020204020204" pitchFamily="34" charset="-122"/>
                        </a:rPr>
                        <a:t>数据集</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8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algn="ctr" fontAlgn="ctr">
                        <a:lnSpc>
                          <a:spcPct val="110000"/>
                        </a:lnSpc>
                      </a:pPr>
                      <a:r>
                        <a:rPr lang="en-US" altLang="zh-CN" sz="1600" b="0" i="0" u="none" strike="noStrike" dirty="0">
                          <a:solidFill>
                            <a:schemeClr val="tx2"/>
                          </a:solidFill>
                          <a:effectLst/>
                          <a:latin typeface="微软雅黑" panose="020B0503020204020204" pitchFamily="34" charset="-122"/>
                          <a:ea typeface="微软雅黑" panose="020B0503020204020204" pitchFamily="34" charset="-122"/>
                        </a:rPr>
                        <a:t>ETL</a:t>
                      </a: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接口映射</a:t>
                      </a:r>
                      <a:r>
                        <a:rPr lang="en-US" altLang="zh-CN" sz="1600" b="0" i="0" u="none" strike="noStrike" dirty="0">
                          <a:solidFill>
                            <a:schemeClr val="tx2"/>
                          </a:solidFill>
                          <a:effectLst/>
                          <a:latin typeface="微软雅黑" panose="020B0503020204020204" pitchFamily="34" charset="-122"/>
                          <a:ea typeface="微软雅黑" panose="020B0503020204020204" pitchFamily="34" charset="-122"/>
                        </a:rPr>
                        <a:t>/</a:t>
                      </a: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转换信息</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科研管理</a:t>
                      </a:r>
                      <a:r>
                        <a:rPr lang="zh-CN" altLang="en-US" sz="1600" u="none" strike="noStrike" kern="1200" dirty="0">
                          <a:solidFill>
                            <a:schemeClr val="tx2"/>
                          </a:solidFill>
                          <a:effectLst/>
                          <a:latin typeface="微软雅黑" panose="020B0503020204020204" pitchFamily="34" charset="-122"/>
                          <a:ea typeface="微软雅黑" panose="020B0503020204020204" pitchFamily="34" charset="-122"/>
                        </a:rPr>
                        <a:t>数据集</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algn="ctr" fontAlgn="ctr">
                        <a:lnSpc>
                          <a:spcPct val="110000"/>
                        </a:lnSpc>
                      </a:pPr>
                      <a:r>
                        <a:rPr lang="en-US" altLang="zh-CN" sz="1600" b="0" i="0" u="none" strike="noStrike" dirty="0">
                          <a:solidFill>
                            <a:schemeClr val="tx2"/>
                          </a:solidFill>
                          <a:effectLst/>
                          <a:latin typeface="微软雅黑" panose="020B0503020204020204" pitchFamily="34" charset="-122"/>
                          <a:ea typeface="微软雅黑" panose="020B0503020204020204" pitchFamily="34" charset="-122"/>
                        </a:rPr>
                        <a:t>……</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lnT w="28575" cap="flat" cmpd="sng" algn="ctr">
                      <a:solidFill>
                        <a:srgbClr val="FF0000"/>
                      </a:solidFill>
                      <a:prstDash val="solid"/>
                      <a:round/>
                      <a:headEnd type="none" w="med" len="med"/>
                      <a:tailEnd type="none" w="med" len="med"/>
                    </a:lnT>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财务管理</a:t>
                      </a:r>
                      <a:r>
                        <a:rPr lang="zh-CN" altLang="en-US" sz="1600" u="none" strike="noStrike" kern="1200" dirty="0">
                          <a:solidFill>
                            <a:schemeClr val="tx2"/>
                          </a:solidFill>
                          <a:effectLst/>
                          <a:latin typeface="微软雅黑" panose="020B0503020204020204" pitchFamily="34" charset="-122"/>
                          <a:ea typeface="微软雅黑" panose="020B0503020204020204" pitchFamily="34" charset="-122"/>
                        </a:rPr>
                        <a:t>数据集</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8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12700" cmpd="sng">
                      <a:solidFill>
                        <a:srgbClr val="CC9900"/>
                      </a:solidFill>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l" fontAlgn="ctr">
                        <a:lnSpc>
                          <a:spcPct val="110000"/>
                        </a:lnSpc>
                      </a:pP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12700" cap="flat" cmpd="sng" algn="ctr">
                      <a:solidFill>
                        <a:srgbClr val="CC99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hMerge="1">
                  <a:tcPr marL="9525" marR="9525" marT="9526" marB="0" anchor="ctr">
                    <a:lnL w="12700" cap="flat" cmpd="sng" algn="ctr">
                      <a:solidFill>
                        <a:srgbClr val="CC9900"/>
                      </a:solidFill>
                      <a:prstDash val="solid"/>
                      <a:round/>
                      <a:headEnd type="none" w="med" len="med"/>
                      <a:tailEnd type="none" w="med" len="med"/>
                    </a:lnL>
                    <a:lnR w="12700" cmpd="sng">
                      <a:solidFill>
                        <a:srgbClr val="CC9900"/>
                      </a:solidFill>
                    </a:lnR>
                    <a:lnT w="12700" cap="flat" cmpd="sng" algn="ctr">
                      <a:solidFill>
                        <a:srgbClr val="CC99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日志数据集</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8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rowSpan="9">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en-US" altLang="zh-CN" sz="1800" b="1" u="none" strike="noStrike" dirty="0">
                          <a:solidFill>
                            <a:srgbClr val="0033CC"/>
                          </a:solidFill>
                          <a:effectLst/>
                          <a:latin typeface="微软雅黑" panose="020B0503020204020204" pitchFamily="34" charset="-122"/>
                          <a:ea typeface="微软雅黑" panose="020B0503020204020204" pitchFamily="34" charset="-122"/>
                        </a:rPr>
                        <a:t>【5】</a:t>
                      </a:r>
                      <a:endParaRPr lang="en-US" altLang="zh-CN" sz="1800" b="1" u="none" strike="noStrike" dirty="0">
                        <a:solidFill>
                          <a:srgbClr val="0033CC"/>
                        </a:solidFill>
                        <a:effectLst/>
                        <a:latin typeface="微软雅黑" panose="020B0503020204020204" pitchFamily="34" charset="-122"/>
                        <a:ea typeface="微软雅黑" panose="020B0503020204020204" pitchFamily="34" charset="-122"/>
                      </a:endParaRPr>
                    </a:p>
                    <a:p>
                      <a:pPr algn="ctr" fontAlgn="ctr">
                        <a:lnSpc>
                          <a:spcPct val="110000"/>
                        </a:lnSpc>
                      </a:pPr>
                      <a:r>
                        <a:rPr lang="zh-CN" altLang="en-US" sz="1800" b="1" u="none" strike="noStrike" dirty="0">
                          <a:solidFill>
                            <a:srgbClr val="0033CC"/>
                          </a:solidFill>
                          <a:effectLst/>
                          <a:latin typeface="微软雅黑" panose="020B0503020204020204" pitchFamily="34" charset="-122"/>
                          <a:ea typeface="微软雅黑" panose="020B0503020204020204" pitchFamily="34" charset="-122"/>
                        </a:rPr>
                        <a:t>制度规范</a:t>
                      </a:r>
                      <a:endParaRPr lang="zh-CN" altLang="en-US" sz="1800" b="1" i="0" u="none" strike="noStrike" dirty="0">
                        <a:solidFill>
                          <a:srgbClr val="0033CC"/>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12700" cmpd="sng">
                      <a:solidFill>
                        <a:srgbClr val="CC9900"/>
                      </a:solidFill>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fontAlgn="ctr">
                        <a:lnSpc>
                          <a:spcPct val="110000"/>
                        </a:lnSpc>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数据标准更新发布规范</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ap="flat" cmpd="sng" algn="ctr">
                      <a:solidFill>
                        <a:srgbClr val="CC9900"/>
                      </a:solidFill>
                      <a:prstDash val="solid"/>
                      <a:round/>
                      <a:headEnd type="none" w="med" len="med"/>
                      <a:tailEnd type="none" w="med" len="med"/>
                    </a:lnL>
                    <a:lnR w="12700" cap="flat" cmpd="sng" algn="ctr">
                      <a:solidFill>
                        <a:srgbClr val="CC9900"/>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en-US" altLang="zh-CN" sz="1600" u="none" strike="noStrike" dirty="0">
                          <a:solidFill>
                            <a:schemeClr val="tx2"/>
                          </a:solidFill>
                          <a:effectLst/>
                          <a:latin typeface="微软雅黑" panose="020B0503020204020204" pitchFamily="34" charset="-122"/>
                          <a:ea typeface="微软雅黑" panose="020B0503020204020204" pitchFamily="34" charset="-122"/>
                        </a:rPr>
                        <a:t>……</a:t>
                      </a:r>
                      <a:endParaRPr lang="en-US" altLang="zh-CN"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lnSpc>
                          <a:spcPct val="110000"/>
                        </a:lnSpc>
                      </a:pP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algn="ctr" fontAlgn="ctr">
                        <a:lnSpc>
                          <a:spcPct val="110000"/>
                        </a:lnSpc>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数据标准遵从规范</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12700" cap="flat" cmpd="sng" algn="ctr">
                      <a:solidFill>
                        <a:srgbClr val="CC99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gridSpan="3">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hMerge="1">
                  <a:tcPr marL="9525" marR="9525" marT="9525" marB="0" anchor="ctr"/>
                </a:tc>
                <a:tc hMerge="1">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marL="0" marR="0" lvl="0" indent="0" algn="ctr" defTabSz="914400" rtl="0" eaLnBrk="1" fontAlgn="ctr" latinLnBrk="0" hangingPunct="1">
                        <a:lnSpc>
                          <a:spcPct val="110000"/>
                        </a:lnSpc>
                        <a:spcBef>
                          <a:spcPts val="0"/>
                        </a:spcBef>
                        <a:spcAft>
                          <a:spcPts val="0"/>
                        </a:spcAft>
                        <a:buClrTx/>
                        <a:buSzTx/>
                        <a:buFontTx/>
                        <a:buNone/>
                        <a:defRPr/>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权威数据管理责任</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12700" cap="flat" cmpd="sng" algn="ctr">
                      <a:solidFill>
                        <a:srgbClr val="CC99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rowSpan="6">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en-US" altLang="zh-CN" sz="1800" b="1" u="none" strike="noStrike" dirty="0">
                          <a:solidFill>
                            <a:srgbClr val="0033CC"/>
                          </a:solidFill>
                          <a:effectLst/>
                          <a:latin typeface="微软雅黑" panose="020B0503020204020204" pitchFamily="34" charset="-122"/>
                          <a:ea typeface="微软雅黑" panose="020B0503020204020204" pitchFamily="34" charset="-122"/>
                        </a:rPr>
                        <a:t>【3】</a:t>
                      </a:r>
                      <a:endParaRPr lang="en-US" altLang="zh-CN" sz="1800" b="1" u="none" strike="noStrike" dirty="0">
                        <a:solidFill>
                          <a:srgbClr val="0033CC"/>
                        </a:solidFill>
                        <a:effectLst/>
                        <a:latin typeface="微软雅黑" panose="020B0503020204020204" pitchFamily="34" charset="-122"/>
                        <a:ea typeface="微软雅黑" panose="020B0503020204020204" pitchFamily="34" charset="-122"/>
                      </a:endParaRPr>
                    </a:p>
                    <a:p>
                      <a:pPr algn="ctr" fontAlgn="ctr">
                        <a:lnSpc>
                          <a:spcPct val="110000"/>
                        </a:lnSpc>
                      </a:pPr>
                      <a:r>
                        <a:rPr lang="zh-CN" altLang="en-US" sz="1800" b="1" u="none" strike="noStrike" dirty="0">
                          <a:solidFill>
                            <a:srgbClr val="0033CC"/>
                          </a:solidFill>
                          <a:effectLst/>
                          <a:latin typeface="微软雅黑" panose="020B0503020204020204" pitchFamily="34" charset="-122"/>
                          <a:ea typeface="微软雅黑" panose="020B0503020204020204" pitchFamily="34" charset="-122"/>
                        </a:rPr>
                        <a:t>软件体系</a:t>
                      </a:r>
                      <a:endParaRPr lang="zh-CN" altLang="en-US" sz="1800" b="1" i="0" u="none" strike="noStrike" dirty="0">
                        <a:solidFill>
                          <a:srgbClr val="0033CC"/>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12700" cmpd="sng">
                      <a:solidFill>
                        <a:srgbClr val="CC9900"/>
                      </a:solidFill>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marL="0" marR="0" lvl="0" indent="0" algn="ctr" defTabSz="1219200" rtl="0" eaLnBrk="1" fontAlgn="ctr" latinLnBrk="0" hangingPunct="1">
                        <a:lnSpc>
                          <a:spcPct val="110000"/>
                        </a:lnSpc>
                        <a:spcBef>
                          <a:spcPts val="0"/>
                        </a:spcBef>
                        <a:spcAft>
                          <a:spcPts val="0"/>
                        </a:spcAft>
                        <a:buClrTx/>
                        <a:buSzTx/>
                        <a:buFontTx/>
                        <a:buNone/>
                        <a:defRPr/>
                      </a:pPr>
                      <a:r>
                        <a:rPr lang="en-US" altLang="zh-CN" sz="1600" u="none" strike="noStrike" dirty="0" err="1">
                          <a:solidFill>
                            <a:schemeClr val="tx2"/>
                          </a:solidFill>
                          <a:effectLst/>
                          <a:latin typeface="微软雅黑" panose="020B0503020204020204" pitchFamily="34" charset="-122"/>
                          <a:ea typeface="微软雅黑" panose="020B0503020204020204" pitchFamily="34" charset="-122"/>
                        </a:rPr>
                        <a:t>PowerDesigner</a:t>
                      </a: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：数据模型管理</a:t>
                      </a:r>
                      <a:endParaRPr lang="en-US" altLang="zh-CN"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marL="0" marR="0" lvl="0" indent="0" algn="ctr" defTabSz="914400" rtl="0" eaLnBrk="1" fontAlgn="ctr" latinLnBrk="0" hangingPunct="1">
                        <a:lnSpc>
                          <a:spcPct val="110000"/>
                        </a:lnSpc>
                        <a:spcBef>
                          <a:spcPts val="0"/>
                        </a:spcBef>
                        <a:spcAft>
                          <a:spcPts val="0"/>
                        </a:spcAft>
                        <a:buClrTx/>
                        <a:buSzTx/>
                        <a:buFontTx/>
                        <a:buNone/>
                        <a:defRPr/>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数据质量保障职责</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12700" cap="flat" cmpd="sng" algn="ctr">
                      <a:solidFill>
                        <a:srgbClr val="CC99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华为</a:t>
                      </a:r>
                      <a:r>
                        <a:rPr lang="en-US" altLang="zh-CN" sz="1600" b="0" i="0" u="none" strike="noStrike" dirty="0">
                          <a:solidFill>
                            <a:schemeClr val="tx2"/>
                          </a:solidFill>
                          <a:effectLst/>
                          <a:latin typeface="微软雅黑" panose="020B0503020204020204" pitchFamily="34" charset="-122"/>
                          <a:ea typeface="微软雅黑" panose="020B0503020204020204" pitchFamily="34" charset="-122"/>
                        </a:rPr>
                        <a:t>RDS</a:t>
                      </a: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：结构化数据容器</a:t>
                      </a:r>
                      <a:endParaRPr 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marL="0" marR="0" lvl="0" indent="0" algn="ctr" defTabSz="914400" rtl="0" eaLnBrk="1" fontAlgn="ctr" latinLnBrk="0" hangingPunct="1">
                        <a:lnSpc>
                          <a:spcPct val="110000"/>
                        </a:lnSpc>
                        <a:spcBef>
                          <a:spcPts val="0"/>
                        </a:spcBef>
                        <a:spcAft>
                          <a:spcPts val="0"/>
                        </a:spcAft>
                        <a:buClrTx/>
                        <a:buSzTx/>
                        <a:buFontTx/>
                        <a:buNone/>
                        <a:defRPr/>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数据安全保障职责</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12700" cap="flat" cmpd="sng" algn="ctr">
                      <a:solidFill>
                        <a:srgbClr val="CC99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华为</a:t>
                      </a:r>
                      <a:r>
                        <a:rPr lang="en-US" altLang="zh-CN" sz="1600" b="0" i="0" u="none" strike="noStrike" dirty="0">
                          <a:solidFill>
                            <a:schemeClr val="tx2"/>
                          </a:solidFill>
                          <a:effectLst/>
                          <a:latin typeface="微软雅黑" panose="020B0503020204020204" pitchFamily="34" charset="-122"/>
                          <a:ea typeface="微软雅黑" panose="020B0503020204020204" pitchFamily="34" charset="-122"/>
                        </a:rPr>
                        <a:t>DLI</a:t>
                      </a: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a:t>
                      </a:r>
                      <a:r>
                        <a:rPr lang="en-US" altLang="zh-CN" sz="1600" b="0" i="0" u="none" strike="noStrike" dirty="0">
                          <a:solidFill>
                            <a:schemeClr val="tx2"/>
                          </a:solidFill>
                          <a:effectLst/>
                          <a:latin typeface="微软雅黑" panose="020B0503020204020204" pitchFamily="34" charset="-122"/>
                          <a:ea typeface="微软雅黑" panose="020B0503020204020204" pitchFamily="34" charset="-122"/>
                        </a:rPr>
                        <a:t>CDM</a:t>
                      </a: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：数据集成迁移</a:t>
                      </a:r>
                      <a:endParaRPr 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数据开发调用规范</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12700" cap="flat" cmpd="sng" algn="ctr">
                      <a:solidFill>
                        <a:srgbClr val="CC99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华为</a:t>
                      </a:r>
                      <a:r>
                        <a:rPr lang="en-US" altLang="zh-CN" sz="1600" b="0" i="0" u="none" strike="noStrike" dirty="0">
                          <a:solidFill>
                            <a:schemeClr val="tx2"/>
                          </a:solidFill>
                          <a:effectLst/>
                          <a:latin typeface="微软雅黑" panose="020B0503020204020204" pitchFamily="34" charset="-122"/>
                          <a:ea typeface="微软雅黑" panose="020B0503020204020204" pitchFamily="34" charset="-122"/>
                        </a:rPr>
                        <a:t>DWS</a:t>
                      </a: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：数据仓库存储计算</a:t>
                      </a:r>
                      <a:endParaRPr 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marL="0" marR="0" lvl="0" indent="0" algn="ctr" defTabSz="914400" rtl="0" eaLnBrk="1" fontAlgn="ctr" latinLnBrk="0" hangingPunct="1">
                        <a:lnSpc>
                          <a:spcPct val="110000"/>
                        </a:lnSpc>
                        <a:spcBef>
                          <a:spcPts val="0"/>
                        </a:spcBef>
                        <a:spcAft>
                          <a:spcPts val="0"/>
                        </a:spcAft>
                        <a:buClrTx/>
                        <a:buSzTx/>
                        <a:buFontTx/>
                        <a:buNone/>
                        <a:defRPr/>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数据共享交换规范</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12700" cap="flat" cmpd="sng" algn="ctr">
                      <a:solidFill>
                        <a:srgbClr val="CC99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华为</a:t>
                      </a:r>
                      <a:r>
                        <a:rPr lang="en-US" altLang="zh-CN" sz="1600" b="0" i="0" u="none" strike="noStrike" dirty="0">
                          <a:solidFill>
                            <a:schemeClr val="tx2"/>
                          </a:solidFill>
                          <a:effectLst/>
                          <a:latin typeface="微软雅黑" panose="020B0503020204020204" pitchFamily="34" charset="-122"/>
                          <a:ea typeface="微软雅黑" panose="020B0503020204020204" pitchFamily="34" charset="-122"/>
                        </a:rPr>
                        <a:t>DLG</a:t>
                      </a: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：元数据、质量等</a:t>
                      </a:r>
                      <a:endParaRPr 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12700" cmpd="sng">
                      <a:solidFill>
                        <a:srgbClr val="CC9900"/>
                      </a:solidFill>
                    </a:lnB>
                    <a:lnTlToBr w="12700" cmpd="sng">
                      <a:noFill/>
                      <a:prstDash val="solid"/>
                    </a:lnTlToBr>
                    <a:lnBlToTr w="12700" cmpd="sng">
                      <a:noFill/>
                      <a:prstDash val="solid"/>
                    </a:lnBlToTr>
                    <a:noFill/>
                  </a:tcPr>
                </a:tc>
                <a:tc>
                  <a:txBody>
                    <a:bodyPr/>
                    <a:lstStyle/>
                    <a:p>
                      <a:pPr algn="l" fontAlgn="ctr">
                        <a:lnSpc>
                          <a:spcPct val="110000"/>
                        </a:lnSpc>
                      </a:pP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c vMerge="1">
                  <a:tcPr/>
                </a:tc>
                <a:tc>
                  <a:txBody>
                    <a:bodyPr/>
                    <a:lstStyle/>
                    <a:p>
                      <a:pPr marL="0" marR="0" lvl="0" indent="0" algn="ctr" defTabSz="914400" rtl="0" eaLnBrk="1" fontAlgn="ctr" latinLnBrk="0" hangingPunct="1">
                        <a:lnSpc>
                          <a:spcPct val="110000"/>
                        </a:lnSpc>
                        <a:spcBef>
                          <a:spcPts val="0"/>
                        </a:spcBef>
                        <a:spcAft>
                          <a:spcPts val="0"/>
                        </a:spcAft>
                        <a:buClrTx/>
                        <a:buSzTx/>
                        <a:buFontTx/>
                        <a:buNone/>
                        <a:defRPr/>
                      </a:pPr>
                      <a:r>
                        <a:rPr lang="zh-CN" altLang="en-US" sz="1600" u="none" strike="noStrike" dirty="0">
                          <a:solidFill>
                            <a:schemeClr val="tx2"/>
                          </a:solidFill>
                          <a:effectLst/>
                          <a:latin typeface="微软雅黑" panose="020B0503020204020204" pitchFamily="34" charset="-122"/>
                          <a:ea typeface="微软雅黑" panose="020B0503020204020204" pitchFamily="34" charset="-122"/>
                        </a:rPr>
                        <a:t>数据管理考核体系</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12700" cap="flat" cmpd="sng" algn="ctr">
                      <a:solidFill>
                        <a:srgbClr val="CC99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ap="flat" cmpd="sng" algn="ctr">
                      <a:solidFill>
                        <a:srgbClr val="CC9900"/>
                      </a:solidFill>
                      <a:prstDash val="solid"/>
                      <a:round/>
                      <a:headEnd type="none" w="med" len="med"/>
                      <a:tailEnd type="none" w="med" len="med"/>
                    </a:lnB>
                    <a:lnTlToBr w="12700" cmpd="sng">
                      <a:noFill/>
                      <a:prstDash val="solid"/>
                    </a:lnTlToBr>
                    <a:lnBlToTr w="12700" cmpd="sng">
                      <a:noFill/>
                      <a:prstDash val="solid"/>
                    </a:lnBlToTr>
                    <a:noFill/>
                  </a:tcPr>
                </a:tc>
              </a:tr>
              <a:tr h="274868">
                <a:tc vMerge="1">
                  <a:tcPr/>
                </a:tc>
                <a:tc>
                  <a:txBody>
                    <a:bodyPr/>
                    <a:lstStyle>
                      <a:lvl1pPr marL="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1pPr>
                      <a:lvl2pPr marL="6096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2pPr>
                      <a:lvl3pPr marL="121920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3pPr>
                      <a:lvl4pPr marL="18294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4pPr>
                      <a:lvl5pPr marL="24390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5pPr>
                      <a:lvl6pPr marL="30486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6pPr>
                      <a:lvl7pPr marL="36582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7pPr>
                      <a:lvl8pPr marL="4267835"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8pPr>
                      <a:lvl9pPr marL="4878070" algn="l" defTabSz="1219200" rtl="0" eaLnBrk="1" latinLnBrk="0" hangingPunct="1">
                        <a:defRPr sz="2400" kern="1200">
                          <a:solidFill>
                            <a:schemeClr val="tx1"/>
                          </a:solidFill>
                          <a:latin typeface="Malgun Gothic" panose="020B0503020000020004" charset="-127"/>
                          <a:ea typeface="Malgun Gothic" panose="020B0503020000020004" charset="-127"/>
                          <a:cs typeface="Malgun Gothic" panose="020B0503020000020004" charset="-127"/>
                        </a:defRPr>
                      </a:lvl9pPr>
                    </a:lstStyle>
                    <a:p>
                      <a:pPr algn="ctr" fontAlgn="ctr">
                        <a:lnSpc>
                          <a:spcPct val="110000"/>
                        </a:lnSpc>
                      </a:pP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华为</a:t>
                      </a:r>
                      <a:r>
                        <a:rPr lang="en-US" altLang="zh-CN" sz="1600" b="0" i="0" u="none" strike="noStrike" dirty="0">
                          <a:solidFill>
                            <a:schemeClr val="tx2"/>
                          </a:solidFill>
                          <a:effectLst/>
                          <a:latin typeface="微软雅黑" panose="020B0503020204020204" pitchFamily="34" charset="-122"/>
                          <a:ea typeface="微软雅黑" panose="020B0503020204020204" pitchFamily="34" charset="-122"/>
                        </a:rPr>
                        <a:t>ROMA</a:t>
                      </a:r>
                      <a:r>
                        <a:rPr lang="zh-CN" altLang="en-US" sz="1600" b="0" i="0" u="none" strike="noStrike" dirty="0">
                          <a:solidFill>
                            <a:schemeClr val="tx2"/>
                          </a:solidFill>
                          <a:effectLst/>
                          <a:latin typeface="微软雅黑" panose="020B0503020204020204" pitchFamily="34" charset="-122"/>
                          <a:ea typeface="微软雅黑" panose="020B0503020204020204" pitchFamily="34" charset="-122"/>
                        </a:rPr>
                        <a:t>：数据封装发布</a:t>
                      </a:r>
                      <a:endParaRPr 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28575" cap="flat" cmpd="sng" algn="ctr">
                      <a:solidFill>
                        <a:srgbClr val="FF0000"/>
                      </a:solidFill>
                      <a:prstDash val="solid"/>
                      <a:round/>
                      <a:headEnd type="none" w="med" len="med"/>
                      <a:tailEnd type="none" w="med" len="med"/>
                    </a:lnR>
                    <a:lnT w="12700" cmpd="sng">
                      <a:solidFill>
                        <a:srgbClr val="CC9900"/>
                      </a:solidFill>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lnSpc>
                          <a:spcPct val="110000"/>
                        </a:lnSpc>
                      </a:pP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6" marB="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CC9900"/>
                      </a:solidFill>
                      <a:prstDash val="solid"/>
                      <a:round/>
                      <a:headEnd type="none" w="med" len="med"/>
                      <a:tailEnd type="none" w="med" len="med"/>
                    </a:lnT>
                    <a:lnB w="12700" cmpd="sng">
                      <a:solidFill>
                        <a:srgbClr val="CC9900"/>
                      </a:solidFill>
                    </a:lnB>
                    <a:lnTlToBr w="12700" cmpd="sng">
                      <a:noFill/>
                      <a:prstDash val="solid"/>
                    </a:lnTlToBr>
                    <a:lnBlToTr w="12700" cmpd="sng">
                      <a:noFill/>
                      <a:prstDash val="solid"/>
                    </a:lnBlToTr>
                    <a:noFill/>
                  </a:tcPr>
                </a:tc>
                <a:tc vMerge="1">
                  <a:tcPr/>
                </a:tc>
                <a:tc>
                  <a:txBody>
                    <a:bodyPr/>
                    <a:lstStyle/>
                    <a:p>
                      <a:pPr algn="ctr" fontAlgn="ctr">
                        <a:lnSpc>
                          <a:spcPct val="110000"/>
                        </a:lnSpc>
                      </a:pPr>
                      <a:r>
                        <a:rPr lang="en-US" altLang="zh-CN" sz="1600" b="0" i="0" u="none" strike="noStrike" dirty="0">
                          <a:solidFill>
                            <a:schemeClr val="tx2"/>
                          </a:solidFill>
                          <a:effectLst/>
                          <a:latin typeface="微软雅黑" panose="020B0503020204020204" pitchFamily="34" charset="-122"/>
                          <a:ea typeface="微软雅黑" panose="020B0503020204020204" pitchFamily="34" charset="-122"/>
                        </a:rPr>
                        <a:t>……</a:t>
                      </a:r>
                      <a:endParaRPr lang="zh-CN" altLang="en-US" sz="1600" b="0" i="0" u="none" strike="noStrike" dirty="0">
                        <a:solidFill>
                          <a:schemeClr val="tx2"/>
                        </a:solidFill>
                        <a:effectLst/>
                        <a:latin typeface="微软雅黑" panose="020B0503020204020204" pitchFamily="34" charset="-122"/>
                        <a:ea typeface="微软雅黑" panose="020B0503020204020204" pitchFamily="34" charset="-122"/>
                      </a:endParaRPr>
                    </a:p>
                  </a:txBody>
                  <a:tcPr marL="9525" marR="9525" marT="9526" marB="0" anchor="ctr">
                    <a:lnL w="12700" cmpd="sng">
                      <a:solidFill>
                        <a:srgbClr val="CC9900"/>
                      </a:solidFill>
                    </a:lnL>
                    <a:lnR w="12700" cap="flat" cmpd="sng" algn="ctr">
                      <a:solidFill>
                        <a:srgbClr val="CC9900"/>
                      </a:solidFill>
                      <a:prstDash val="solid"/>
                      <a:round/>
                      <a:headEnd type="none" w="med" len="med"/>
                      <a:tailEnd type="none" w="med" len="med"/>
                    </a:lnR>
                    <a:lnT w="12700" cap="flat" cmpd="sng" algn="ctr">
                      <a:solidFill>
                        <a:srgbClr val="CC99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ctrTitle"/>
          </p:nvPr>
        </p:nvSpPr>
        <p:spPr>
          <a:xfrm>
            <a:off x="517588" y="165139"/>
            <a:ext cx="11160000" cy="888392"/>
          </a:xfrm>
        </p:spPr>
        <p:txBody>
          <a:bodyPr/>
          <a:lstStyle/>
          <a:p>
            <a:r>
              <a:rPr lang="zh-CN" altLang="en-US" dirty="0"/>
              <a:t>数据治理解决方案 </a:t>
            </a:r>
            <a:r>
              <a:rPr lang="en-US" altLang="zh-CN" dirty="0"/>
              <a:t>– </a:t>
            </a:r>
            <a:r>
              <a:rPr lang="zh-CN" altLang="en-US" dirty="0"/>
              <a:t>数据治理软件功能</a:t>
            </a:r>
            <a:endParaRPr lang="zh-CN" altLang="en-US" dirty="0">
              <a:solidFill>
                <a:srgbClr val="FF0000"/>
              </a:solidFill>
            </a:endParaRPr>
          </a:p>
        </p:txBody>
      </p:sp>
      <p:sp>
        <p:nvSpPr>
          <p:cNvPr id="5" name="燕尾形 4"/>
          <p:cNvSpPr/>
          <p:nvPr/>
        </p:nvSpPr>
        <p:spPr>
          <a:xfrm>
            <a:off x="696987" y="1099565"/>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数据标准</a:t>
            </a:r>
            <a:endParaRPr lang="zh-CN" altLang="en-US" sz="1400" dirty="0">
              <a:solidFill>
                <a:schemeClr val="tx1"/>
              </a:solidFill>
            </a:endParaRPr>
          </a:p>
        </p:txBody>
      </p:sp>
      <p:pic>
        <p:nvPicPr>
          <p:cNvPr id="3" name="图片 2"/>
          <p:cNvPicPr>
            <a:picLocks noChangeAspect="1"/>
          </p:cNvPicPr>
          <p:nvPr/>
        </p:nvPicPr>
        <p:blipFill>
          <a:blip r:embed="rId1"/>
          <a:stretch>
            <a:fillRect/>
          </a:stretch>
        </p:blipFill>
        <p:spPr>
          <a:xfrm>
            <a:off x="674113" y="1500107"/>
            <a:ext cx="8856984" cy="5026031"/>
          </a:xfrm>
          <a:prstGeom prst="rect">
            <a:avLst/>
          </a:prstGeom>
          <a:ln>
            <a:solidFill>
              <a:schemeClr val="bg2"/>
            </a:solidFill>
          </a:ln>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113" y="1511360"/>
            <a:ext cx="10005418" cy="5014778"/>
          </a:xfrm>
          <a:prstGeom prst="rect">
            <a:avLst/>
          </a:prstGeom>
          <a:ln>
            <a:solidFill>
              <a:schemeClr val="tx1"/>
            </a:solidFill>
          </a:ln>
        </p:spPr>
      </p:pic>
      <p:sp>
        <p:nvSpPr>
          <p:cNvPr id="10" name="燕尾形 9"/>
          <p:cNvSpPr/>
          <p:nvPr/>
        </p:nvSpPr>
        <p:spPr>
          <a:xfrm>
            <a:off x="2289547" y="1104047"/>
            <a:ext cx="1440160"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UC</a:t>
            </a:r>
            <a:r>
              <a:rPr lang="zh-CN" altLang="en-US" sz="1400" dirty="0">
                <a:solidFill>
                  <a:schemeClr val="tx1"/>
                </a:solidFill>
              </a:rPr>
              <a:t>矩阵表</a:t>
            </a:r>
            <a:endParaRPr lang="zh-CN" altLang="en-US" sz="1400" dirty="0">
              <a:solidFill>
                <a:schemeClr val="tx1"/>
              </a:solidFill>
            </a:endParaRPr>
          </a:p>
        </p:txBody>
      </p:sp>
      <p:pic>
        <p:nvPicPr>
          <p:cNvPr id="11" name="图片 10"/>
          <p:cNvPicPr>
            <a:picLocks noChangeAspect="1"/>
          </p:cNvPicPr>
          <p:nvPr/>
        </p:nvPicPr>
        <p:blipFill>
          <a:blip r:embed="rId3"/>
          <a:stretch>
            <a:fillRect/>
          </a:stretch>
        </p:blipFill>
        <p:spPr>
          <a:xfrm>
            <a:off x="2289547" y="1511360"/>
            <a:ext cx="7552456" cy="4990631"/>
          </a:xfrm>
          <a:prstGeom prst="rect">
            <a:avLst/>
          </a:prstGeom>
          <a:ln>
            <a:noFill/>
          </a:ln>
          <a:effectLst>
            <a:outerShdw blurRad="292100" dist="139700" dir="2700000" algn="tl" rotWithShape="0">
              <a:srgbClr val="333333">
                <a:alpha val="65000"/>
              </a:srgbClr>
            </a:outerShdw>
          </a:effectLst>
        </p:spPr>
      </p:pic>
      <p:sp>
        <p:nvSpPr>
          <p:cNvPr id="12" name="燕尾形 11"/>
          <p:cNvSpPr/>
          <p:nvPr/>
        </p:nvSpPr>
        <p:spPr>
          <a:xfrm>
            <a:off x="4009355" y="1104047"/>
            <a:ext cx="1656184"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数据质量报告</a:t>
            </a:r>
            <a:endParaRPr lang="zh-CN" altLang="en-US" sz="1400" dirty="0">
              <a:solidFill>
                <a:schemeClr val="tx1"/>
              </a:solidFill>
            </a:endParaRPr>
          </a:p>
        </p:txBody>
      </p:sp>
      <p:pic>
        <p:nvPicPr>
          <p:cNvPr id="4" name="图片 3"/>
          <p:cNvPicPr>
            <a:picLocks noChangeAspect="1"/>
          </p:cNvPicPr>
          <p:nvPr/>
        </p:nvPicPr>
        <p:blipFill>
          <a:blip r:embed="rId4"/>
          <a:stretch>
            <a:fillRect/>
          </a:stretch>
        </p:blipFill>
        <p:spPr>
          <a:xfrm>
            <a:off x="4009355" y="1495710"/>
            <a:ext cx="6670176" cy="5020904"/>
          </a:xfrm>
          <a:prstGeom prst="rect">
            <a:avLst/>
          </a:prstGeom>
          <a:ln>
            <a:solidFill>
              <a:schemeClr val="tx1"/>
            </a:solidFill>
          </a:ln>
        </p:spPr>
      </p:pic>
      <p:sp>
        <p:nvSpPr>
          <p:cNvPr id="14" name="燕尾形 13"/>
          <p:cNvSpPr/>
          <p:nvPr/>
        </p:nvSpPr>
        <p:spPr>
          <a:xfrm>
            <a:off x="5935203" y="1104047"/>
            <a:ext cx="1656184" cy="360040"/>
          </a:xfrm>
          <a:prstGeom prst="chevr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数据流向关系</a:t>
            </a:r>
            <a:endParaRPr lang="zh-CN" altLang="en-US" sz="1400" dirty="0">
              <a:solidFill>
                <a:schemeClr val="tx1"/>
              </a:solidFill>
            </a:endParaRPr>
          </a:p>
        </p:txBody>
      </p:sp>
      <p:pic>
        <p:nvPicPr>
          <p:cNvPr id="13" name="图片 12"/>
          <p:cNvPicPr>
            <a:picLocks noChangeAspect="1"/>
          </p:cNvPicPr>
          <p:nvPr/>
        </p:nvPicPr>
        <p:blipFill>
          <a:blip r:embed="rId5"/>
          <a:stretch>
            <a:fillRect/>
          </a:stretch>
        </p:blipFill>
        <p:spPr>
          <a:xfrm>
            <a:off x="5809555" y="1505235"/>
            <a:ext cx="6184855" cy="4996756"/>
          </a:xfrm>
          <a:prstGeom prst="rect">
            <a:avLst/>
          </a:prstGeom>
          <a:ln>
            <a:solidFill>
              <a:schemeClr val="tx1"/>
            </a:solid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2"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49851" y="3052170"/>
            <a:ext cx="5112568" cy="432048"/>
          </a:xfrm>
          <a:prstGeom prst="rect">
            <a:avLst/>
          </a:prstGeom>
          <a:solidFill>
            <a:schemeClr val="bg2"/>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sp>
        <p:nvSpPr>
          <p:cNvPr id="4" name="标题 3"/>
          <p:cNvSpPr>
            <a:spLocks noGrp="1"/>
          </p:cNvSpPr>
          <p:nvPr>
            <p:ph type="ctrTitle"/>
          </p:nvPr>
        </p:nvSpPr>
        <p:spPr/>
        <p:txBody>
          <a:bodyPr/>
          <a:lstStyle/>
          <a:p>
            <a:r>
              <a:rPr lang="zh-CN" altLang="en-US" dirty="0"/>
              <a:t>目录</a:t>
            </a:r>
            <a:endParaRPr lang="zh-CN" altLang="en-US" dirty="0"/>
          </a:p>
        </p:txBody>
      </p:sp>
      <p:sp>
        <p:nvSpPr>
          <p:cNvPr id="5" name="副标题 4"/>
          <p:cNvSpPr>
            <a:spLocks noGrp="1"/>
          </p:cNvSpPr>
          <p:nvPr>
            <p:ph type="subTitle" idx="1"/>
          </p:nvPr>
        </p:nvSpPr>
        <p:spPr/>
        <p:txBody>
          <a:bodyPr/>
          <a:lstStyle/>
          <a:p>
            <a:r>
              <a:rPr lang="zh-CN" altLang="en-US" dirty="0"/>
              <a:t>行业现状与挑战</a:t>
            </a:r>
            <a:endParaRPr lang="en-US" altLang="zh-CN" dirty="0"/>
          </a:p>
          <a:p>
            <a:r>
              <a:rPr lang="zh-CN" altLang="en-US" dirty="0"/>
              <a:t>华为：云端数据治理解决方案</a:t>
            </a:r>
            <a:endParaRPr lang="en-US" altLang="zh-CN" dirty="0"/>
          </a:p>
          <a:p>
            <a:r>
              <a:rPr lang="zh-CN" altLang="en-US" dirty="0"/>
              <a:t>云端数据治理解决方案价值分析</a:t>
            </a:r>
            <a:endParaRPr lang="en-US" altLang="zh-CN" dirty="0"/>
          </a:p>
          <a:p>
            <a:r>
              <a:rPr lang="zh-CN" altLang="en-US" dirty="0"/>
              <a:t>成功案例介绍</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17587" y="165139"/>
            <a:ext cx="11412647" cy="888392"/>
          </a:xfrm>
        </p:spPr>
        <p:txBody>
          <a:bodyPr/>
          <a:lstStyle/>
          <a:p>
            <a:r>
              <a:rPr lang="zh-CN" altLang="en-US" dirty="0"/>
              <a:t>方案价值：</a:t>
            </a:r>
            <a:endParaRPr lang="zh-CN" altLang="en-US" dirty="0"/>
          </a:p>
        </p:txBody>
      </p:sp>
      <p:graphicFrame>
        <p:nvGraphicFramePr>
          <p:cNvPr id="3" name="表格 2"/>
          <p:cNvGraphicFramePr>
            <a:graphicFrameLocks noGrp="1"/>
          </p:cNvGraphicFramePr>
          <p:nvPr>
            <p:custDataLst>
              <p:tags r:id="rId1"/>
            </p:custDataLst>
          </p:nvPr>
        </p:nvGraphicFramePr>
        <p:xfrm>
          <a:off x="768995" y="981523"/>
          <a:ext cx="10153128" cy="5086043"/>
        </p:xfrm>
        <a:graphic>
          <a:graphicData uri="http://schemas.openxmlformats.org/drawingml/2006/table">
            <a:tbl>
              <a:tblPr>
                <a:tableStyleId>{5C22544A-7EE6-4342-B048-85BDC9FD1C3A}</a:tableStyleId>
              </a:tblPr>
              <a:tblGrid>
                <a:gridCol w="792088"/>
                <a:gridCol w="2113878"/>
                <a:gridCol w="2638650"/>
                <a:gridCol w="4608512"/>
              </a:tblGrid>
              <a:tr h="207882">
                <a:tc>
                  <a:txBody>
                    <a:bodyPr/>
                    <a:lstStyle/>
                    <a:p>
                      <a:pPr algn="ctr" fontAlgn="b"/>
                      <a:r>
                        <a:rPr lang="zh-CN" altLang="en-US" sz="1600" b="1" u="none" strike="noStrike" dirty="0">
                          <a:solidFill>
                            <a:schemeClr val="tx1"/>
                          </a:solidFill>
                          <a:effectLst/>
                        </a:rPr>
                        <a:t>序号</a:t>
                      </a:r>
                      <a:endParaRPr lang="zh-CN" altLang="en-US" sz="1600" b="1" i="0" u="none" strike="noStrike" dirty="0">
                        <a:solidFill>
                          <a:schemeClr val="tx1"/>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zh-CN" altLang="en-US" sz="1600" b="1" u="none" strike="noStrike">
                          <a:solidFill>
                            <a:schemeClr val="tx1"/>
                          </a:solidFill>
                          <a:effectLst/>
                        </a:rPr>
                        <a:t>　</a:t>
                      </a:r>
                      <a:endParaRPr lang="zh-CN" altLang="en-US" sz="1600" b="1" i="0" u="none" strike="noStrike">
                        <a:solidFill>
                          <a:schemeClr val="tx1"/>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zh-CN" altLang="en-US" sz="1600" b="1" u="none" strike="noStrike" dirty="0">
                          <a:solidFill>
                            <a:schemeClr val="tx1"/>
                          </a:solidFill>
                          <a:effectLst/>
                        </a:rPr>
                        <a:t>价值总结</a:t>
                      </a:r>
                      <a:endParaRPr lang="zh-CN" altLang="en-US" sz="1600" b="1" i="0" u="none" strike="noStrike" dirty="0">
                        <a:solidFill>
                          <a:schemeClr val="tx1"/>
                        </a:solidFill>
                        <a:effectLst/>
                        <a:latin typeface="宋体" panose="02010600030101010101" pitchFamily="2" charset="-122"/>
                        <a:ea typeface="宋体" panose="02010600030101010101" pitchFamily="2" charset="-122"/>
                      </a:endParaRPr>
                    </a:p>
                  </a:txBody>
                  <a:tcPr marL="9525" marR="9525" marT="9525" marB="0" anchor="b"/>
                </a:tc>
                <a:tc>
                  <a:txBody>
                    <a:bodyPr/>
                    <a:lstStyle/>
                    <a:p>
                      <a:pPr algn="ctr" fontAlgn="b"/>
                      <a:r>
                        <a:rPr lang="zh-CN" altLang="en-US" sz="1600" b="1" u="none" strike="noStrike" dirty="0">
                          <a:solidFill>
                            <a:schemeClr val="tx1"/>
                          </a:solidFill>
                          <a:effectLst/>
                        </a:rPr>
                        <a:t>价值阐述</a:t>
                      </a:r>
                      <a:endParaRPr lang="zh-CN" altLang="en-US" sz="1600" b="1" i="0" u="none" strike="noStrike" dirty="0">
                        <a:solidFill>
                          <a:schemeClr val="tx1"/>
                        </a:solidFill>
                        <a:effectLst/>
                        <a:latin typeface="宋体" panose="02010600030101010101" pitchFamily="2" charset="-122"/>
                        <a:ea typeface="宋体" panose="02010600030101010101" pitchFamily="2" charset="-122"/>
                      </a:endParaRPr>
                    </a:p>
                  </a:txBody>
                  <a:tcPr marL="9525" marR="9525" marT="9525" marB="0" anchor="b"/>
                </a:tc>
              </a:tr>
              <a:tr h="603526">
                <a:tc>
                  <a:txBody>
                    <a:bodyPr/>
                    <a:lstStyle/>
                    <a:p>
                      <a:pPr algn="ctr" fontAlgn="ctr"/>
                      <a:r>
                        <a:rPr lang="en-US" altLang="zh-CN" sz="1100" u="none" strike="noStrike">
                          <a:effectLst/>
                        </a:rPr>
                        <a:t>1</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rowSpan="4">
                  <a:txBody>
                    <a:bodyPr/>
                    <a:lstStyle/>
                    <a:p>
                      <a:pPr algn="ctr" fontAlgn="ctr"/>
                      <a:r>
                        <a:rPr lang="zh-CN" altLang="en-US" sz="1100" u="none" strike="noStrike" dirty="0">
                          <a:effectLst/>
                        </a:rPr>
                        <a:t>云服务</a:t>
                      </a: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100" u="none" strike="noStrike" dirty="0">
                          <a:effectLst/>
                        </a:rPr>
                        <a:t>大大降低信息中心运营成本</a:t>
                      </a: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b"/>
                      <a:r>
                        <a:rPr lang="zh-CN" altLang="en-US" sz="1100" u="none" strike="noStrike" dirty="0">
                          <a:effectLst/>
                        </a:rPr>
                        <a:t>云服务可以让所有资源得到充分利用，其中包括价格昂贵的服务器以及各种网络设备，工作人员的共享使成本降低。</a:t>
                      </a: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b"/>
                </a:tc>
              </a:tr>
              <a:tr h="603526">
                <a:tc>
                  <a:txBody>
                    <a:bodyPr/>
                    <a:lstStyle/>
                    <a:p>
                      <a:pPr algn="ctr" fontAlgn="b"/>
                      <a:r>
                        <a:rPr lang="en-US" altLang="zh-CN" sz="1100" u="none" strike="noStrike" dirty="0">
                          <a:effectLst/>
                        </a:rPr>
                        <a:t>2</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b"/>
                </a:tc>
                <a:tc vMerge="1">
                  <a:tcPr/>
                </a:tc>
                <a:tc>
                  <a:txBody>
                    <a:bodyPr/>
                    <a:lstStyle/>
                    <a:p>
                      <a:pPr algn="l" fontAlgn="ctr"/>
                      <a:r>
                        <a:rPr lang="zh-CN" altLang="en-US" sz="1100" u="none" strike="noStrike">
                          <a:effectLst/>
                        </a:rPr>
                        <a:t>可以应对一些特殊的场景</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b"/>
                      <a:r>
                        <a:rPr lang="zh-CN" altLang="en-US" sz="1100" u="none" strike="noStrike">
                          <a:effectLst/>
                        </a:rPr>
                        <a:t>比如选课高峰期等应用场景，云服务可以根据业务场景灵活的进行资源的弹性伸缩，保障业务运行稳定。</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r>
              <a:tr h="804701">
                <a:tc>
                  <a:txBody>
                    <a:bodyPr/>
                    <a:lstStyle/>
                    <a:p>
                      <a:pPr algn="ctr" fontAlgn="b"/>
                      <a:r>
                        <a:rPr lang="en-US" altLang="zh-CN" sz="1100" u="none" strike="noStrike">
                          <a:effectLst/>
                        </a:rPr>
                        <a:t>3</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vMerge="1">
                  <a:tcPr/>
                </a:tc>
                <a:tc>
                  <a:txBody>
                    <a:bodyPr/>
                    <a:lstStyle/>
                    <a:p>
                      <a:pPr algn="l" fontAlgn="ctr"/>
                      <a:r>
                        <a:rPr lang="zh-CN" altLang="en-US" sz="1100" u="none" strike="noStrike">
                          <a:effectLst/>
                        </a:rPr>
                        <a:t>动态可扩展性强</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b"/>
                      <a:r>
                        <a:rPr lang="zh-CN" altLang="en-US" sz="1100" u="none" strike="noStrike">
                          <a:effectLst/>
                        </a:rPr>
                        <a:t>由于“云”的规模可以动态伸缩，这样就可以不用加大投资硬件设备的力度来满足应用和用户规模增长的需要，同时也无形起到了降低成本的作用。</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r>
              <a:tr h="603526">
                <a:tc>
                  <a:txBody>
                    <a:bodyPr/>
                    <a:lstStyle/>
                    <a:p>
                      <a:pPr algn="ctr" fontAlgn="b"/>
                      <a:r>
                        <a:rPr lang="en-US" altLang="zh-CN" sz="1100" u="none" strike="noStrike">
                          <a:effectLst/>
                        </a:rPr>
                        <a:t>4</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vMerge="1">
                  <a:tcPr/>
                </a:tc>
                <a:tc>
                  <a:txBody>
                    <a:bodyPr/>
                    <a:lstStyle/>
                    <a:p>
                      <a:pPr algn="l" fontAlgn="ctr"/>
                      <a:r>
                        <a:rPr lang="zh-CN" altLang="en-US" sz="1100" u="none" strike="noStrike">
                          <a:effectLst/>
                        </a:rPr>
                        <a:t>能快速搭建应用</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b"/>
                      <a:r>
                        <a:rPr lang="zh-CN" altLang="en-US" sz="1100" u="none" strike="noStrike">
                          <a:effectLst/>
                        </a:rPr>
                        <a:t>云服务能够快速搭建学校应用，比如现在要开发一个网站，就不必担心是否需要花巨资购买硬件来集群</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r>
              <a:tr h="404586">
                <a:tc>
                  <a:txBody>
                    <a:bodyPr/>
                    <a:lstStyle/>
                    <a:p>
                      <a:pPr algn="ctr" fontAlgn="b"/>
                      <a:r>
                        <a:rPr lang="en-US" altLang="zh-CN" sz="1100" u="none" strike="noStrike">
                          <a:effectLst/>
                        </a:rPr>
                        <a:t>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rowSpan="4">
                  <a:txBody>
                    <a:bodyPr/>
                    <a:lstStyle/>
                    <a:p>
                      <a:pPr algn="ctr" fontAlgn="ctr"/>
                      <a:r>
                        <a:rPr lang="zh-CN" altLang="en-US" sz="1100" u="none" strike="noStrike">
                          <a:effectLst/>
                        </a:rPr>
                        <a:t>数据治理</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ctr"/>
                      <a:r>
                        <a:rPr lang="zh-CN" altLang="en-US" sz="1100" u="none" strike="noStrike">
                          <a:effectLst/>
                        </a:rPr>
                        <a:t>统一数据标准和管理规范</a:t>
                      </a:r>
                      <a:br>
                        <a:rPr lang="zh-CN" altLang="en-US" sz="1100" u="none" strike="noStrike">
                          <a:effectLst/>
                        </a:rPr>
                      </a:b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b"/>
                      <a:r>
                        <a:rPr lang="zh-CN" altLang="en-US" sz="1100" u="none" strike="noStrike">
                          <a:effectLst/>
                        </a:rPr>
                        <a:t>确定校级数据标准，统一部门代码、专业代码、数据含义和统计口径</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r>
              <a:tr h="804701">
                <a:tc>
                  <a:txBody>
                    <a:bodyPr/>
                    <a:lstStyle/>
                    <a:p>
                      <a:pPr algn="ctr" fontAlgn="b"/>
                      <a:r>
                        <a:rPr lang="en-US" altLang="zh-CN" sz="1100" u="none" strike="noStrike">
                          <a:effectLst/>
                        </a:rPr>
                        <a:t>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vMerge="1">
                  <a:tcPr/>
                </a:tc>
                <a:tc>
                  <a:txBody>
                    <a:bodyPr/>
                    <a:lstStyle/>
                    <a:p>
                      <a:pPr algn="l" fontAlgn="ctr"/>
                      <a:r>
                        <a:rPr lang="zh-CN" altLang="en-US" sz="1100" u="none" strike="noStrike">
                          <a:effectLst/>
                        </a:rPr>
                        <a:t>数据整合，构建全量数据仓库</a:t>
                      </a:r>
                      <a:br>
                        <a:rPr lang="zh-CN" altLang="en-US" sz="1100" u="none" strike="noStrike">
                          <a:effectLst/>
                        </a:rPr>
                      </a:b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b"/>
                      <a:r>
                        <a:rPr lang="zh-CN" altLang="en-US" sz="1100" u="none" strike="noStrike">
                          <a:effectLst/>
                        </a:rPr>
                        <a:t>整合各部门业务系统的数据、各岗位使用的表格数据、各项报表中记录的数据、教学平台、课件资源，构建分类主题库。</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r>
              <a:tr h="404586">
                <a:tc>
                  <a:txBody>
                    <a:bodyPr/>
                    <a:lstStyle/>
                    <a:p>
                      <a:pPr algn="ctr" fontAlgn="b"/>
                      <a:r>
                        <a:rPr lang="en-US" altLang="zh-CN" sz="1100" u="none" strike="noStrike">
                          <a:effectLst/>
                        </a:rPr>
                        <a:t>7</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vMerge="1">
                  <a:tcPr/>
                </a:tc>
                <a:tc>
                  <a:txBody>
                    <a:bodyPr/>
                    <a:lstStyle/>
                    <a:p>
                      <a:pPr algn="l" fontAlgn="ctr"/>
                      <a:r>
                        <a:rPr lang="zh-CN" altLang="en-US" sz="1100" u="none" strike="noStrike">
                          <a:effectLst/>
                        </a:rPr>
                        <a:t>明确数据归属，提升质量</a:t>
                      </a:r>
                      <a:br>
                        <a:rPr lang="zh-CN" altLang="en-US" sz="1100" u="none" strike="noStrike">
                          <a:effectLst/>
                        </a:rPr>
                      </a:b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b"/>
                      <a:r>
                        <a:rPr lang="zh-CN" altLang="en-US" sz="1100" u="none" strike="noStrike">
                          <a:effectLst/>
                        </a:rPr>
                        <a:t>消除多头管理，一数一源；梳理业务流程，使数据与业务对应</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r>
              <a:tr h="603526">
                <a:tc>
                  <a:txBody>
                    <a:bodyPr/>
                    <a:lstStyle/>
                    <a:p>
                      <a:pPr algn="ctr" fontAlgn="b"/>
                      <a:r>
                        <a:rPr lang="en-US" altLang="zh-CN" sz="1100" u="none" strike="noStrike">
                          <a:effectLst/>
                        </a:rPr>
                        <a:t>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b"/>
                </a:tc>
                <a:tc vMerge="1">
                  <a:tcPr/>
                </a:tc>
                <a:tc>
                  <a:txBody>
                    <a:bodyPr/>
                    <a:lstStyle/>
                    <a:p>
                      <a:pPr algn="l" fontAlgn="ctr"/>
                      <a:r>
                        <a:rPr lang="zh-CN" altLang="en-US" sz="1100" u="none" strike="noStrike">
                          <a:effectLst/>
                        </a:rPr>
                        <a:t>共享交换，查阅检索，应用支持</a:t>
                      </a:r>
                      <a:br>
                        <a:rPr lang="zh-CN" altLang="en-US" sz="1100" u="none" strike="noStrike">
                          <a:effectLst/>
                        </a:rPr>
                      </a:b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tc>
                <a:tc>
                  <a:txBody>
                    <a:bodyPr/>
                    <a:lstStyle/>
                    <a:p>
                      <a:pPr algn="l" fontAlgn="t"/>
                      <a:r>
                        <a:rPr lang="zh-CN" altLang="en-US" sz="1100" u="none" strike="noStrike" dirty="0">
                          <a:effectLst/>
                        </a:rPr>
                        <a:t>实现各部门数据互联互通，消除数据孤岛；为管理、教学、服务提供支持。</a:t>
                      </a: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标题 1"/>
          <p:cNvSpPr>
            <a:spLocks noGrp="1"/>
          </p:cNvSpPr>
          <p:nvPr>
            <p:ph type="ctrTitle"/>
          </p:nvPr>
        </p:nvSpPr>
        <p:spPr>
          <a:xfrm>
            <a:off x="517588" y="165139"/>
            <a:ext cx="11160000" cy="888392"/>
          </a:xfrm>
        </p:spPr>
        <p:txBody>
          <a:bodyPr/>
          <a:lstStyle/>
          <a:p>
            <a:r>
              <a:rPr lang="zh-CN" altLang="en-US" dirty="0"/>
              <a:t>云端数据治理解决方案 </a:t>
            </a:r>
            <a:r>
              <a:rPr lang="en-US" altLang="zh-CN" dirty="0"/>
              <a:t>– </a:t>
            </a:r>
            <a:r>
              <a:rPr lang="zh-CN" altLang="en-US" dirty="0"/>
              <a:t>数据治理方案特色</a:t>
            </a:r>
            <a:endParaRPr lang="zh-CN" altLang="en-US" dirty="0"/>
          </a:p>
        </p:txBody>
      </p:sp>
      <p:sp>
        <p:nvSpPr>
          <p:cNvPr id="4" name="流程图: 文档 7"/>
          <p:cNvSpPr/>
          <p:nvPr/>
        </p:nvSpPr>
        <p:spPr>
          <a:xfrm>
            <a:off x="730838" y="1063238"/>
            <a:ext cx="4681326" cy="6039519"/>
          </a:xfrm>
          <a:prstGeom prst="flowChartDocumen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a:lstStyle/>
          <a:p>
            <a:pPr marL="571500" indent="-571500" defTabSz="914400" eaLnBrk="1" fontAlgn="auto" hangingPunct="1">
              <a:spcBef>
                <a:spcPts val="0"/>
              </a:spcBef>
              <a:spcAft>
                <a:spcPts val="0"/>
              </a:spcAft>
              <a:buFont typeface="Wingdings" panose="05000000000000000000" pitchFamily="2" charset="2"/>
              <a:buChar char="l"/>
              <a:defRPr/>
            </a:pPr>
            <a:r>
              <a:rPr lang="zh-CN" altLang="en-US" sz="1800" dirty="0">
                <a:solidFill>
                  <a:srgbClr val="0070C0"/>
                </a:solidFill>
                <a:latin typeface="微软雅黑" panose="020B0503020204020204" pitchFamily="34" charset="-122"/>
                <a:ea typeface="微软雅黑" panose="020B0503020204020204" pitchFamily="34" charset="-122"/>
              </a:rPr>
              <a:t>目标：综合数据应用</a:t>
            </a:r>
            <a:endParaRPr lang="en-US" altLang="zh-CN" sz="1800" dirty="0">
              <a:solidFill>
                <a:srgbClr val="0070C0"/>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defRPr/>
            </a:pPr>
            <a:r>
              <a:rPr lang="zh-CN" altLang="en-US" sz="1400" dirty="0">
                <a:solidFill>
                  <a:srgbClr val="931587"/>
                </a:solidFill>
                <a:latin typeface="微软雅黑" panose="020B0503020204020204" pitchFamily="34" charset="-122"/>
                <a:ea typeface="微软雅黑" panose="020B0503020204020204" pitchFamily="34" charset="-122"/>
              </a:rPr>
              <a:t>为决策辅助、跨部门流程运行、数据分析挖掘等综合数据应用提供资源</a:t>
            </a:r>
            <a:endParaRPr lang="en-US" altLang="zh-CN" sz="1400" dirty="0">
              <a:solidFill>
                <a:srgbClr val="931587"/>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defRPr/>
            </a:pPr>
            <a:r>
              <a:rPr lang="zh-CN" altLang="en-US" sz="1400" dirty="0">
                <a:solidFill>
                  <a:srgbClr val="931587"/>
                </a:solidFill>
                <a:latin typeface="微软雅黑" panose="020B0503020204020204" pitchFamily="34" charset="-122"/>
                <a:ea typeface="微软雅黑" panose="020B0503020204020204" pitchFamily="34" charset="-122"/>
              </a:rPr>
              <a:t> 将数据作为价值资产进行管理和运营</a:t>
            </a:r>
            <a:endParaRPr lang="zh-CN" altLang="en-US" sz="1400" dirty="0">
              <a:solidFill>
                <a:srgbClr val="931587"/>
              </a:solidFill>
              <a:latin typeface="微软雅黑" panose="020B0503020204020204" pitchFamily="34" charset="-122"/>
              <a:ea typeface="微软雅黑" panose="020B0503020204020204" pitchFamily="34" charset="-122"/>
            </a:endParaRPr>
          </a:p>
          <a:p>
            <a:pPr marL="571500" indent="-571500" defTabSz="914400" eaLnBrk="1" fontAlgn="auto" hangingPunct="1">
              <a:spcBef>
                <a:spcPts val="0"/>
              </a:spcBef>
              <a:spcAft>
                <a:spcPts val="0"/>
              </a:spcAft>
              <a:buFont typeface="Wingdings" panose="05000000000000000000" pitchFamily="2" charset="2"/>
              <a:buChar char="l"/>
              <a:defRPr/>
            </a:pPr>
            <a:r>
              <a:rPr lang="zh-CN" altLang="en-US" sz="1800" dirty="0">
                <a:solidFill>
                  <a:srgbClr val="0070C0"/>
                </a:solidFill>
                <a:latin typeface="微软雅黑" panose="020B0503020204020204" pitchFamily="34" charset="-122"/>
                <a:ea typeface="微软雅黑" panose="020B0503020204020204" pitchFamily="34" charset="-122"/>
              </a:rPr>
              <a:t>全量数据治理</a:t>
            </a:r>
            <a:endParaRPr lang="en-US" altLang="zh-CN" sz="1800" dirty="0">
              <a:solidFill>
                <a:srgbClr val="0070C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931587"/>
                </a:solidFill>
                <a:latin typeface="微软雅黑" panose="020B0503020204020204" pitchFamily="34" charset="-122"/>
                <a:ea typeface="微软雅黑" panose="020B0503020204020204" pitchFamily="34" charset="-122"/>
              </a:rPr>
              <a:t>管理信息系统</a:t>
            </a:r>
            <a:r>
              <a:rPr lang="en-US" altLang="zh-CN" sz="1400" b="0" dirty="0">
                <a:solidFill>
                  <a:srgbClr val="931587"/>
                </a:solidFill>
                <a:latin typeface="微软雅黑" panose="020B0503020204020204" pitchFamily="34" charset="-122"/>
                <a:ea typeface="微软雅黑" panose="020B0503020204020204" pitchFamily="34" charset="-122"/>
              </a:rPr>
              <a:t>——</a:t>
            </a:r>
            <a:r>
              <a:rPr lang="zh-CN" altLang="en-US" sz="1400" b="0" dirty="0">
                <a:solidFill>
                  <a:srgbClr val="931587"/>
                </a:solidFill>
                <a:latin typeface="微软雅黑" panose="020B0503020204020204" pitchFamily="34" charset="-122"/>
                <a:ea typeface="微软雅黑" panose="020B0503020204020204" pitchFamily="34" charset="-122"/>
              </a:rPr>
              <a:t>数据库 </a:t>
            </a:r>
            <a:endParaRPr lang="zh-CN" altLang="en-US"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931587"/>
                </a:solidFill>
                <a:latin typeface="微软雅黑" panose="020B0503020204020204" pitchFamily="34" charset="-122"/>
                <a:ea typeface="微软雅黑" panose="020B0503020204020204" pitchFamily="34" charset="-122"/>
              </a:rPr>
              <a:t>线下文档数据</a:t>
            </a:r>
            <a:r>
              <a:rPr lang="en-US" altLang="zh-CN" sz="1400" b="0" dirty="0">
                <a:solidFill>
                  <a:srgbClr val="931587"/>
                </a:solidFill>
                <a:latin typeface="微软雅黑" panose="020B0503020204020204" pitchFamily="34" charset="-122"/>
                <a:ea typeface="微软雅黑" panose="020B0503020204020204" pitchFamily="34" charset="-122"/>
              </a:rPr>
              <a:t>——</a:t>
            </a:r>
            <a:r>
              <a:rPr lang="zh-CN" altLang="en-US" sz="1400" b="0" dirty="0">
                <a:solidFill>
                  <a:srgbClr val="931587"/>
                </a:solidFill>
                <a:latin typeface="微软雅黑" panose="020B0503020204020204" pitchFamily="34" charset="-122"/>
                <a:ea typeface="微软雅黑" panose="020B0503020204020204" pitchFamily="34" charset="-122"/>
              </a:rPr>
              <a:t>电子表格</a:t>
            </a:r>
            <a:endParaRPr lang="en-US" altLang="zh-CN"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931587"/>
                </a:solidFill>
                <a:latin typeface="微软雅黑" panose="020B0503020204020204" pitchFamily="34" charset="-122"/>
                <a:ea typeface="微软雅黑" panose="020B0503020204020204" pitchFamily="34" charset="-122"/>
              </a:rPr>
              <a:t>机器设备数据</a:t>
            </a:r>
            <a:r>
              <a:rPr lang="en-US" altLang="zh-CN" sz="1400" b="0" dirty="0">
                <a:solidFill>
                  <a:srgbClr val="931587"/>
                </a:solidFill>
                <a:latin typeface="微软雅黑" panose="020B0503020204020204" pitchFamily="34" charset="-122"/>
                <a:ea typeface="微软雅黑" panose="020B0503020204020204" pitchFamily="34" charset="-122"/>
              </a:rPr>
              <a:t>——</a:t>
            </a:r>
            <a:r>
              <a:rPr lang="zh-CN" altLang="en-US" sz="1400" b="0" dirty="0">
                <a:solidFill>
                  <a:srgbClr val="931587"/>
                </a:solidFill>
                <a:latin typeface="微软雅黑" panose="020B0503020204020204" pitchFamily="34" charset="-122"/>
                <a:ea typeface="微软雅黑" panose="020B0503020204020204" pitchFamily="34" charset="-122"/>
              </a:rPr>
              <a:t>日志</a:t>
            </a:r>
            <a:endParaRPr lang="en-US" altLang="zh-CN" sz="1400" b="0" dirty="0">
              <a:solidFill>
                <a:srgbClr val="931587"/>
              </a:solidFill>
              <a:latin typeface="微软雅黑" panose="020B0503020204020204" pitchFamily="34" charset="-122"/>
              <a:ea typeface="微软雅黑" panose="020B0503020204020204" pitchFamily="34" charset="-122"/>
            </a:endParaRPr>
          </a:p>
          <a:p>
            <a:pPr marL="571500" indent="-571500" defTabSz="914400" eaLnBrk="1" fontAlgn="auto" hangingPunct="1">
              <a:spcBef>
                <a:spcPts val="0"/>
              </a:spcBef>
              <a:spcAft>
                <a:spcPts val="0"/>
              </a:spcAft>
              <a:buFont typeface="Wingdings" panose="05000000000000000000" pitchFamily="2" charset="2"/>
              <a:buChar char="l"/>
              <a:defRPr/>
            </a:pPr>
            <a:endParaRPr lang="en-US" altLang="zh-CN" sz="1800" dirty="0">
              <a:solidFill>
                <a:srgbClr val="0070C0"/>
              </a:solidFill>
              <a:latin typeface="微软雅黑" panose="020B0503020204020204" pitchFamily="34" charset="-122"/>
              <a:ea typeface="微软雅黑" panose="020B0503020204020204" pitchFamily="34" charset="-122"/>
            </a:endParaRPr>
          </a:p>
          <a:p>
            <a:pPr marL="571500" indent="-571500" defTabSz="914400" eaLnBrk="1" fontAlgn="auto" hangingPunct="1">
              <a:spcBef>
                <a:spcPts val="0"/>
              </a:spcBef>
              <a:spcAft>
                <a:spcPts val="0"/>
              </a:spcAft>
              <a:buFont typeface="Wingdings" panose="05000000000000000000" pitchFamily="2" charset="2"/>
              <a:buChar char="l"/>
              <a:defRPr/>
            </a:pPr>
            <a:r>
              <a:rPr lang="zh-CN" altLang="en-US" sz="1800" dirty="0">
                <a:solidFill>
                  <a:srgbClr val="0070C0"/>
                </a:solidFill>
                <a:latin typeface="微软雅黑" panose="020B0503020204020204" pitchFamily="34" charset="-122"/>
                <a:ea typeface="微软雅黑" panose="020B0503020204020204" pitchFamily="34" charset="-122"/>
              </a:rPr>
              <a:t>高质量</a:t>
            </a:r>
            <a:endParaRPr lang="en-US" altLang="zh-CN" sz="1800" dirty="0">
              <a:solidFill>
                <a:srgbClr val="0070C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931587"/>
                </a:solidFill>
                <a:latin typeface="微软雅黑" panose="020B0503020204020204" pitchFamily="34" charset="-122"/>
                <a:ea typeface="微软雅黑" panose="020B0503020204020204" pitchFamily="34" charset="-122"/>
              </a:rPr>
              <a:t>标准先行</a:t>
            </a:r>
            <a:r>
              <a:rPr lang="en-US" altLang="zh-CN" sz="1400" b="0" dirty="0">
                <a:solidFill>
                  <a:srgbClr val="931587"/>
                </a:solidFill>
                <a:latin typeface="微软雅黑" panose="020B0503020204020204" pitchFamily="34" charset="-122"/>
                <a:ea typeface="微软雅黑" panose="020B0503020204020204" pitchFamily="34" charset="-122"/>
              </a:rPr>
              <a:t>——</a:t>
            </a:r>
            <a:r>
              <a:rPr lang="zh-CN" altLang="en-US" sz="1400" b="0" dirty="0">
                <a:solidFill>
                  <a:srgbClr val="931587"/>
                </a:solidFill>
                <a:latin typeface="微软雅黑" panose="020B0503020204020204" pitchFamily="34" charset="-122"/>
                <a:ea typeface="微软雅黑" panose="020B0503020204020204" pitchFamily="34" charset="-122"/>
              </a:rPr>
              <a:t>统一数据表达规范</a:t>
            </a:r>
            <a:endParaRPr lang="en-US" altLang="zh-CN"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defRPr/>
            </a:pPr>
            <a:r>
              <a:rPr lang="zh-CN" altLang="en-US" sz="1400" dirty="0">
                <a:solidFill>
                  <a:srgbClr val="931587"/>
                </a:solidFill>
                <a:latin typeface="微软雅黑" panose="020B0503020204020204" pitchFamily="34" charset="-122"/>
                <a:ea typeface="微软雅黑" panose="020B0503020204020204" pitchFamily="34" charset="-122"/>
              </a:rPr>
              <a:t>质量检查</a:t>
            </a:r>
            <a:r>
              <a:rPr lang="en-US" altLang="zh-CN" sz="1400" dirty="0">
                <a:solidFill>
                  <a:srgbClr val="931587"/>
                </a:solidFill>
                <a:latin typeface="微软雅黑" panose="020B0503020204020204" pitchFamily="34" charset="-122"/>
                <a:ea typeface="微软雅黑" panose="020B0503020204020204" pitchFamily="34" charset="-122"/>
              </a:rPr>
              <a:t>——</a:t>
            </a:r>
            <a:r>
              <a:rPr lang="zh-CN" altLang="en-US" sz="1400" dirty="0">
                <a:solidFill>
                  <a:srgbClr val="931587"/>
                </a:solidFill>
                <a:latin typeface="微软雅黑" panose="020B0503020204020204" pitchFamily="34" charset="-122"/>
                <a:ea typeface="微软雅黑" panose="020B0503020204020204" pitchFamily="34" charset="-122"/>
              </a:rPr>
              <a:t>发现数据问题</a:t>
            </a:r>
            <a:endParaRPr lang="en-US" altLang="zh-CN" sz="1400" dirty="0">
              <a:solidFill>
                <a:srgbClr val="931587"/>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defRPr/>
            </a:pPr>
            <a:r>
              <a:rPr lang="zh-CN" altLang="en-US" sz="1400" dirty="0">
                <a:solidFill>
                  <a:srgbClr val="931587"/>
                </a:solidFill>
                <a:latin typeface="微软雅黑" panose="020B0503020204020204" pitchFamily="34" charset="-122"/>
                <a:ea typeface="微软雅黑" panose="020B0503020204020204" pitchFamily="34" charset="-122"/>
              </a:rPr>
              <a:t>数据纠错</a:t>
            </a:r>
            <a:r>
              <a:rPr lang="en-US" altLang="zh-CN" sz="1400" dirty="0">
                <a:solidFill>
                  <a:srgbClr val="931587"/>
                </a:solidFill>
                <a:latin typeface="微软雅黑" panose="020B0503020204020204" pitchFamily="34" charset="-122"/>
                <a:ea typeface="微软雅黑" panose="020B0503020204020204" pitchFamily="34" charset="-122"/>
              </a:rPr>
              <a:t>——</a:t>
            </a:r>
            <a:r>
              <a:rPr lang="zh-CN" altLang="en-US" sz="1400" dirty="0">
                <a:solidFill>
                  <a:srgbClr val="931587"/>
                </a:solidFill>
                <a:latin typeface="微软雅黑" panose="020B0503020204020204" pitchFamily="34" charset="-122"/>
                <a:ea typeface="微软雅黑" panose="020B0503020204020204" pitchFamily="34" charset="-122"/>
              </a:rPr>
              <a:t>解决数据问题</a:t>
            </a:r>
            <a:endParaRPr lang="en-US" altLang="zh-CN" sz="1400" b="0" dirty="0">
              <a:solidFill>
                <a:srgbClr val="931587"/>
              </a:solidFill>
              <a:latin typeface="微软雅黑" panose="020B0503020204020204" pitchFamily="34" charset="-122"/>
              <a:ea typeface="微软雅黑" panose="020B0503020204020204" pitchFamily="34" charset="-122"/>
            </a:endParaRPr>
          </a:p>
          <a:p>
            <a:pPr marL="571500" indent="-571500" defTabSz="914400" eaLnBrk="1" fontAlgn="auto" hangingPunct="1">
              <a:spcBef>
                <a:spcPts val="0"/>
              </a:spcBef>
              <a:spcAft>
                <a:spcPts val="0"/>
              </a:spcAft>
              <a:buFont typeface="Wingdings" panose="05000000000000000000" pitchFamily="2" charset="2"/>
              <a:buChar char="l"/>
              <a:defRPr/>
            </a:pPr>
            <a:r>
              <a:rPr lang="zh-CN" altLang="en-US" sz="1800" dirty="0">
                <a:solidFill>
                  <a:srgbClr val="0070C0"/>
                </a:solidFill>
                <a:latin typeface="微软雅黑" panose="020B0503020204020204" pitchFamily="34" charset="-122"/>
                <a:ea typeface="微软雅黑" panose="020B0503020204020204" pitchFamily="34" charset="-122"/>
              </a:rPr>
              <a:t>工具化交付</a:t>
            </a:r>
            <a:r>
              <a:rPr lang="en-US" altLang="zh-CN" sz="1800" dirty="0">
                <a:solidFill>
                  <a:srgbClr val="0070C0"/>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能力赋予用户</a:t>
            </a:r>
            <a:endParaRPr lang="en-US" altLang="zh-CN" sz="1800" dirty="0">
              <a:solidFill>
                <a:srgbClr val="0070C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en-US" altLang="zh-CN" sz="1400" b="0" dirty="0">
                <a:solidFill>
                  <a:srgbClr val="931587"/>
                </a:solidFill>
                <a:latin typeface="微软雅黑" panose="020B0503020204020204" pitchFamily="34" charset="-122"/>
                <a:ea typeface="微软雅黑" panose="020B0503020204020204" pitchFamily="34" charset="-122"/>
              </a:rPr>
              <a:t>Archon	——</a:t>
            </a:r>
            <a:r>
              <a:rPr lang="zh-CN" altLang="en-US" sz="1400" b="0" dirty="0">
                <a:solidFill>
                  <a:srgbClr val="931587"/>
                </a:solidFill>
                <a:latin typeface="微软雅黑" panose="020B0503020204020204" pitchFamily="34" charset="-122"/>
                <a:ea typeface="微软雅黑" panose="020B0503020204020204" pitchFamily="34" charset="-122"/>
              </a:rPr>
              <a:t>数据库数据 </a:t>
            </a:r>
            <a:endParaRPr lang="en-US" altLang="zh-CN"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en-US" altLang="zh-CN" sz="1400" b="0" dirty="0" err="1">
                <a:solidFill>
                  <a:srgbClr val="931587"/>
                </a:solidFill>
                <a:latin typeface="微软雅黑" panose="020B0503020204020204" pitchFamily="34" charset="-122"/>
                <a:ea typeface="微软雅黑" panose="020B0503020204020204" pitchFamily="34" charset="-122"/>
              </a:rPr>
              <a:t>Exdata</a:t>
            </a:r>
            <a:r>
              <a:rPr lang="en-US" altLang="zh-CN" sz="1400" b="0" dirty="0">
                <a:solidFill>
                  <a:srgbClr val="931587"/>
                </a:solidFill>
                <a:latin typeface="微软雅黑" panose="020B0503020204020204" pitchFamily="34" charset="-122"/>
                <a:ea typeface="微软雅黑" panose="020B0503020204020204" pitchFamily="34" charset="-122"/>
              </a:rPr>
              <a:t>	——</a:t>
            </a:r>
            <a:r>
              <a:rPr lang="zh-CN" altLang="en-US" sz="1400" b="0" dirty="0">
                <a:solidFill>
                  <a:srgbClr val="931587"/>
                </a:solidFill>
                <a:latin typeface="微软雅黑" panose="020B0503020204020204" pitchFamily="34" charset="-122"/>
                <a:ea typeface="微软雅黑" panose="020B0503020204020204" pitchFamily="34" charset="-122"/>
              </a:rPr>
              <a:t>电子表格</a:t>
            </a:r>
            <a:endParaRPr lang="en-US" altLang="zh-CN"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en-US" altLang="zh-CN" sz="1400" b="0" dirty="0">
                <a:solidFill>
                  <a:srgbClr val="931587"/>
                </a:solidFill>
                <a:latin typeface="微软雅黑" panose="020B0503020204020204" pitchFamily="34" charset="-122"/>
                <a:ea typeface="微软雅黑" panose="020B0503020204020204" pitchFamily="34" charset="-122"/>
              </a:rPr>
              <a:t>Immortal	——</a:t>
            </a:r>
            <a:r>
              <a:rPr lang="zh-CN" altLang="en-US" sz="1400" b="0" dirty="0">
                <a:solidFill>
                  <a:srgbClr val="931587"/>
                </a:solidFill>
                <a:latin typeface="微软雅黑" panose="020B0503020204020204" pitchFamily="34" charset="-122"/>
                <a:ea typeface="微软雅黑" panose="020B0503020204020204" pitchFamily="34" charset="-122"/>
              </a:rPr>
              <a:t>日志数据</a:t>
            </a:r>
            <a:endParaRPr lang="en-US" altLang="zh-CN"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931587"/>
                </a:solidFill>
                <a:latin typeface="微软雅黑" panose="020B0503020204020204" pitchFamily="34" charset="-122"/>
                <a:ea typeface="微软雅黑" panose="020B0503020204020204" pitchFamily="34" charset="-122"/>
              </a:rPr>
              <a:t>爬虫工具</a:t>
            </a:r>
            <a:r>
              <a:rPr lang="en-US" altLang="zh-CN" sz="1400" b="0" dirty="0">
                <a:solidFill>
                  <a:srgbClr val="931587"/>
                </a:solidFill>
                <a:latin typeface="微软雅黑" panose="020B0503020204020204" pitchFamily="34" charset="-122"/>
                <a:ea typeface="微软雅黑" panose="020B0503020204020204" pitchFamily="34" charset="-122"/>
              </a:rPr>
              <a:t>	——</a:t>
            </a:r>
            <a:r>
              <a:rPr lang="zh-CN" altLang="en-US" sz="1400" b="0" dirty="0">
                <a:solidFill>
                  <a:srgbClr val="931587"/>
                </a:solidFill>
                <a:latin typeface="微软雅黑" panose="020B0503020204020204" pitchFamily="34" charset="-122"/>
                <a:ea typeface="微软雅黑" panose="020B0503020204020204" pitchFamily="34" charset="-122"/>
              </a:rPr>
              <a:t>互联网数据</a:t>
            </a:r>
            <a:endParaRPr lang="en-US" altLang="zh-CN" sz="1400" b="0" dirty="0">
              <a:solidFill>
                <a:srgbClr val="931587"/>
              </a:solidFill>
              <a:latin typeface="微软雅黑" panose="020B0503020204020204" pitchFamily="34" charset="-122"/>
              <a:ea typeface="微软雅黑" panose="020B0503020204020204" pitchFamily="34" charset="-122"/>
            </a:endParaRPr>
          </a:p>
          <a:p>
            <a:pPr marL="571500" indent="-571500" defTabSz="914400" eaLnBrk="1" fontAlgn="auto" hangingPunct="1">
              <a:spcBef>
                <a:spcPts val="0"/>
              </a:spcBef>
              <a:spcAft>
                <a:spcPts val="0"/>
              </a:spcAft>
              <a:buFont typeface="Wingdings" panose="05000000000000000000" pitchFamily="2" charset="2"/>
              <a:buChar char="l"/>
              <a:defRPr/>
            </a:pPr>
            <a:r>
              <a:rPr lang="zh-CN" altLang="en-US" sz="1800" dirty="0">
                <a:solidFill>
                  <a:srgbClr val="0070C0"/>
                </a:solidFill>
                <a:latin typeface="微软雅黑" panose="020B0503020204020204" pitchFamily="34" charset="-122"/>
                <a:ea typeface="微软雅黑" panose="020B0503020204020204" pitchFamily="34" charset="-122"/>
              </a:rPr>
              <a:t>体系化的交付成果</a:t>
            </a:r>
            <a:r>
              <a:rPr lang="en-US" altLang="zh-CN" sz="1800" dirty="0">
                <a:solidFill>
                  <a:srgbClr val="0070C0"/>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持续管理</a:t>
            </a:r>
            <a:endParaRPr lang="en-US" altLang="zh-CN" sz="1800" dirty="0">
              <a:solidFill>
                <a:srgbClr val="0070C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931587"/>
                </a:solidFill>
                <a:latin typeface="微软雅黑" panose="020B0503020204020204" pitchFamily="34" charset="-122"/>
                <a:ea typeface="微软雅黑" panose="020B0503020204020204" pitchFamily="34" charset="-122"/>
              </a:rPr>
              <a:t>校级数据标准</a:t>
            </a:r>
            <a:endParaRPr lang="en-US" altLang="zh-CN"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931587"/>
                </a:solidFill>
                <a:latin typeface="微软雅黑" panose="020B0503020204020204" pitchFamily="34" charset="-122"/>
                <a:ea typeface="微软雅黑" panose="020B0503020204020204" pitchFamily="34" charset="-122"/>
              </a:rPr>
              <a:t>全量数据体系</a:t>
            </a:r>
            <a:endParaRPr lang="en-US" altLang="zh-CN"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931587"/>
                </a:solidFill>
                <a:latin typeface="微软雅黑" panose="020B0503020204020204" pitchFamily="34" charset="-122"/>
                <a:ea typeface="微软雅黑" panose="020B0503020204020204" pitchFamily="34" charset="-122"/>
              </a:rPr>
              <a:t>数据管理知识库</a:t>
            </a:r>
            <a:endParaRPr lang="en-US" altLang="zh-CN"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931587"/>
                </a:solidFill>
                <a:latin typeface="微软雅黑" panose="020B0503020204020204" pitchFamily="34" charset="-122"/>
                <a:ea typeface="微软雅黑" panose="020B0503020204020204" pitchFamily="34" charset="-122"/>
              </a:rPr>
              <a:t>数据管理制度规范</a:t>
            </a:r>
            <a:endParaRPr lang="en-US" altLang="zh-CN" sz="1400" b="0" dirty="0">
              <a:solidFill>
                <a:srgbClr val="931587"/>
              </a:solidFill>
              <a:latin typeface="微软雅黑" panose="020B0503020204020204" pitchFamily="34" charset="-122"/>
              <a:ea typeface="微软雅黑" panose="020B0503020204020204" pitchFamily="34" charset="-122"/>
            </a:endParaRPr>
          </a:p>
        </p:txBody>
      </p:sp>
      <p:sp>
        <p:nvSpPr>
          <p:cNvPr id="5" name="流程图: 文档 7"/>
          <p:cNvSpPr/>
          <p:nvPr/>
        </p:nvSpPr>
        <p:spPr>
          <a:xfrm>
            <a:off x="5864351" y="1105379"/>
            <a:ext cx="4682087" cy="6039519"/>
          </a:xfrm>
          <a:prstGeom prst="flowChartDocumen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6" rIns="91432" bIns="45716"/>
          <a:lstStyle/>
          <a:p>
            <a:pPr marL="571500" indent="-571500" defTabSz="914400">
              <a:buFont typeface="Wingdings" panose="05000000000000000000" pitchFamily="2" charset="2"/>
              <a:buChar char="l"/>
              <a:defRPr/>
            </a:pPr>
            <a:r>
              <a:rPr lang="zh-CN" altLang="en-US" sz="1800" dirty="0">
                <a:solidFill>
                  <a:srgbClr val="4B5050"/>
                </a:solidFill>
                <a:latin typeface="微软雅黑" panose="020B0503020204020204" pitchFamily="34" charset="-122"/>
                <a:ea typeface="微软雅黑" panose="020B0503020204020204" pitchFamily="34" charset="-122"/>
              </a:rPr>
              <a:t>目标：实现共享交换</a:t>
            </a:r>
            <a:endParaRPr lang="en-US" altLang="zh-CN" sz="1800" dirty="0">
              <a:solidFill>
                <a:srgbClr val="4B5050"/>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defRPr/>
            </a:pPr>
            <a:r>
              <a:rPr lang="zh-CN" altLang="en-US" sz="1400" dirty="0">
                <a:solidFill>
                  <a:srgbClr val="002060"/>
                </a:solidFill>
                <a:latin typeface="微软雅黑" panose="020B0503020204020204" pitchFamily="34" charset="-122"/>
                <a:ea typeface="微软雅黑" panose="020B0503020204020204" pitchFamily="34" charset="-122"/>
              </a:rPr>
              <a:t>实现各业务之间的数据共享交换 </a:t>
            </a:r>
            <a:endParaRPr lang="en-US" altLang="zh-CN" sz="1400" dirty="0">
              <a:solidFill>
                <a:srgbClr val="002060"/>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defRPr/>
            </a:pPr>
            <a:r>
              <a:rPr lang="zh-CN" altLang="en-US" sz="1400" dirty="0">
                <a:solidFill>
                  <a:srgbClr val="002060"/>
                </a:solidFill>
                <a:latin typeface="微软雅黑" panose="020B0503020204020204" pitchFamily="34" charset="-122"/>
                <a:ea typeface="微软雅黑" panose="020B0503020204020204" pitchFamily="34" charset="-122"/>
              </a:rPr>
              <a:t>数据视为应用运行的副产品</a:t>
            </a:r>
            <a:endParaRPr lang="en-US" altLang="zh-CN" sz="1400" dirty="0">
              <a:solidFill>
                <a:srgbClr val="002060"/>
              </a:solidFill>
              <a:latin typeface="微软雅黑" panose="020B0503020204020204" pitchFamily="34" charset="-122"/>
              <a:ea typeface="微软雅黑" panose="020B0503020204020204" pitchFamily="34" charset="-122"/>
            </a:endParaRPr>
          </a:p>
          <a:p>
            <a:pPr marL="1485900" lvl="1" indent="-571500" defTabSz="914400">
              <a:buFont typeface="Wingdings" panose="05000000000000000000" pitchFamily="2" charset="2"/>
              <a:buChar char="l"/>
              <a:defRPr/>
            </a:pPr>
            <a:endParaRPr lang="en-US" altLang="zh-CN" sz="1400" dirty="0">
              <a:solidFill>
                <a:srgbClr val="002060"/>
              </a:solidFill>
              <a:latin typeface="微软雅黑" panose="020B0503020204020204" pitchFamily="34" charset="-122"/>
              <a:ea typeface="微软雅黑" panose="020B0503020204020204" pitchFamily="34" charset="-122"/>
            </a:endParaRPr>
          </a:p>
          <a:p>
            <a:pPr marL="571500" indent="-571500" defTabSz="914400" eaLnBrk="1" fontAlgn="auto" hangingPunct="1">
              <a:spcBef>
                <a:spcPts val="0"/>
              </a:spcBef>
              <a:spcAft>
                <a:spcPts val="0"/>
              </a:spcAft>
              <a:buFont typeface="Wingdings" panose="05000000000000000000" pitchFamily="2" charset="2"/>
              <a:buChar char="l"/>
              <a:defRPr/>
            </a:pPr>
            <a:r>
              <a:rPr lang="zh-CN" altLang="en-US" sz="1800" dirty="0">
                <a:solidFill>
                  <a:srgbClr val="4B5050"/>
                </a:solidFill>
                <a:latin typeface="微软雅黑" panose="020B0503020204020204" pitchFamily="34" charset="-122"/>
                <a:ea typeface="微软雅黑" panose="020B0503020204020204" pitchFamily="34" charset="-122"/>
              </a:rPr>
              <a:t>仅包含用于共享的主数据</a:t>
            </a:r>
            <a:endParaRPr lang="en-US" altLang="zh-CN" sz="1800" dirty="0">
              <a:solidFill>
                <a:srgbClr val="4B505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002060"/>
                </a:solidFill>
                <a:latin typeface="微软雅黑" panose="020B0503020204020204" pitchFamily="34" charset="-122"/>
                <a:ea typeface="微软雅黑" panose="020B0503020204020204" pitchFamily="34" charset="-122"/>
              </a:rPr>
              <a:t>管理信息系统</a:t>
            </a:r>
            <a:r>
              <a:rPr lang="en-US" altLang="zh-CN" sz="1400" b="0" dirty="0">
                <a:solidFill>
                  <a:srgbClr val="002060"/>
                </a:solidFill>
                <a:latin typeface="微软雅黑" panose="020B0503020204020204" pitchFamily="34" charset="-122"/>
                <a:ea typeface="微软雅黑" panose="020B0503020204020204" pitchFamily="34" charset="-122"/>
              </a:rPr>
              <a:t>——</a:t>
            </a:r>
            <a:r>
              <a:rPr lang="zh-CN" altLang="en-US" sz="1400" b="0" dirty="0">
                <a:solidFill>
                  <a:srgbClr val="002060"/>
                </a:solidFill>
                <a:latin typeface="微软雅黑" panose="020B0503020204020204" pitchFamily="34" charset="-122"/>
                <a:ea typeface="微软雅黑" panose="020B0503020204020204" pitchFamily="34" charset="-122"/>
              </a:rPr>
              <a:t>数据库 </a:t>
            </a:r>
            <a:endParaRPr lang="zh-CN" altLang="en-US" sz="1400" b="0" dirty="0">
              <a:solidFill>
                <a:srgbClr val="00206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CE3337"/>
                </a:solidFill>
                <a:latin typeface="微软雅黑" panose="020B0503020204020204" pitchFamily="34" charset="-122"/>
                <a:ea typeface="微软雅黑" panose="020B0503020204020204" pitchFamily="34" charset="-122"/>
              </a:rPr>
              <a:t>线下文档数据</a:t>
            </a:r>
            <a:endParaRPr lang="en-US" altLang="zh-CN" sz="1400" b="0" dirty="0">
              <a:solidFill>
                <a:srgbClr val="CE333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CE3337"/>
                </a:solidFill>
                <a:latin typeface="微软雅黑" panose="020B0503020204020204" pitchFamily="34" charset="-122"/>
                <a:ea typeface="微软雅黑" panose="020B0503020204020204" pitchFamily="34" charset="-122"/>
              </a:rPr>
              <a:t>机器设备数据</a:t>
            </a:r>
            <a:endParaRPr lang="en-US" altLang="zh-CN" sz="1400" b="0" dirty="0">
              <a:solidFill>
                <a:srgbClr val="CE333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CE3337"/>
                </a:solidFill>
                <a:latin typeface="微软雅黑" panose="020B0503020204020204" pitchFamily="34" charset="-122"/>
                <a:ea typeface="微软雅黑" panose="020B0503020204020204" pitchFamily="34" charset="-122"/>
              </a:rPr>
              <a:t>外部引入数据</a:t>
            </a:r>
            <a:endParaRPr lang="en-US" altLang="zh-CN" sz="1400" b="0" dirty="0">
              <a:solidFill>
                <a:srgbClr val="CE3337"/>
              </a:solidFill>
              <a:latin typeface="微软雅黑" panose="020B0503020204020204" pitchFamily="34" charset="-122"/>
              <a:ea typeface="微软雅黑" panose="020B0503020204020204" pitchFamily="34" charset="-122"/>
            </a:endParaRPr>
          </a:p>
          <a:p>
            <a:pPr marL="571500" indent="-571500" defTabSz="914400" eaLnBrk="1" fontAlgn="auto" hangingPunct="1">
              <a:spcBef>
                <a:spcPts val="0"/>
              </a:spcBef>
              <a:spcAft>
                <a:spcPts val="0"/>
              </a:spcAft>
              <a:buFont typeface="Wingdings" panose="05000000000000000000" pitchFamily="2" charset="2"/>
              <a:buChar char="l"/>
              <a:defRPr/>
            </a:pPr>
            <a:r>
              <a:rPr lang="zh-CN" altLang="en-US" sz="1800" dirty="0">
                <a:solidFill>
                  <a:srgbClr val="4B5050"/>
                </a:solidFill>
                <a:latin typeface="微软雅黑" panose="020B0503020204020204" pitchFamily="34" charset="-122"/>
                <a:ea typeface="微软雅黑" panose="020B0503020204020204" pitchFamily="34" charset="-122"/>
              </a:rPr>
              <a:t>数据质量并未重点</a:t>
            </a:r>
            <a:endParaRPr lang="en-US" altLang="zh-CN" sz="1800" dirty="0">
              <a:solidFill>
                <a:srgbClr val="4B505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002060"/>
                </a:solidFill>
                <a:latin typeface="微软雅黑" panose="020B0503020204020204" pitchFamily="34" charset="-122"/>
                <a:ea typeface="微软雅黑" panose="020B0503020204020204" pitchFamily="34" charset="-122"/>
              </a:rPr>
              <a:t>数据标准未制定，或未认真执行</a:t>
            </a:r>
            <a:endParaRPr lang="en-US" altLang="zh-CN" sz="1400" b="0" dirty="0">
              <a:solidFill>
                <a:srgbClr val="00206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dirty="0">
                <a:solidFill>
                  <a:srgbClr val="002060"/>
                </a:solidFill>
                <a:latin typeface="微软雅黑" panose="020B0503020204020204" pitchFamily="34" charset="-122"/>
                <a:ea typeface="微软雅黑" panose="020B0503020204020204" pitchFamily="34" charset="-122"/>
              </a:rPr>
              <a:t>数据质量并未看做实施方的责任</a:t>
            </a:r>
            <a:endParaRPr lang="en-US" altLang="zh-CN" sz="1400" b="0" dirty="0">
              <a:solidFill>
                <a:srgbClr val="00206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002060"/>
                </a:solidFill>
                <a:latin typeface="微软雅黑" panose="020B0503020204020204" pitchFamily="34" charset="-122"/>
                <a:ea typeface="微软雅黑" panose="020B0503020204020204" pitchFamily="34" charset="-122"/>
              </a:rPr>
              <a:t>质量问题对共享交换不构成严重影响</a:t>
            </a:r>
            <a:endParaRPr lang="en-US" altLang="zh-CN" sz="1400" b="0" dirty="0">
              <a:solidFill>
                <a:srgbClr val="002060"/>
              </a:solidFill>
              <a:latin typeface="微软雅黑" panose="020B0503020204020204" pitchFamily="34" charset="-122"/>
              <a:ea typeface="微软雅黑" panose="020B0503020204020204" pitchFamily="34" charset="-122"/>
            </a:endParaRPr>
          </a:p>
          <a:p>
            <a:pPr marL="571500" indent="-571500" defTabSz="914400">
              <a:buFont typeface="Wingdings" panose="05000000000000000000" pitchFamily="2" charset="2"/>
              <a:buChar char="l"/>
              <a:defRPr/>
            </a:pPr>
            <a:r>
              <a:rPr lang="zh-CN" altLang="en-US" sz="1800" dirty="0">
                <a:solidFill>
                  <a:srgbClr val="4B5050"/>
                </a:solidFill>
                <a:latin typeface="微软雅黑" panose="020B0503020204020204" pitchFamily="34" charset="-122"/>
                <a:ea typeface="微软雅黑" panose="020B0503020204020204" pitchFamily="34" charset="-122"/>
              </a:rPr>
              <a:t>难以继承维护的黑盒式交付</a:t>
            </a:r>
            <a:endParaRPr lang="en-US" altLang="zh-CN" sz="1800" dirty="0">
              <a:solidFill>
                <a:srgbClr val="4B505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002060"/>
                </a:solidFill>
                <a:latin typeface="微软雅黑" panose="020B0503020204020204" pitchFamily="34" charset="-122"/>
                <a:ea typeface="微软雅黑" panose="020B0503020204020204" pitchFamily="34" charset="-122"/>
              </a:rPr>
              <a:t>手工操作 </a:t>
            </a:r>
            <a:r>
              <a:rPr lang="en-US" altLang="zh-CN" sz="1400" b="0" dirty="0">
                <a:solidFill>
                  <a:srgbClr val="002060"/>
                </a:solidFill>
                <a:latin typeface="微软雅黑" panose="020B0503020204020204" pitchFamily="34" charset="-122"/>
                <a:ea typeface="微软雅黑" panose="020B0503020204020204" pitchFamily="34" charset="-122"/>
              </a:rPr>
              <a:t>——</a:t>
            </a:r>
            <a:r>
              <a:rPr lang="zh-CN" altLang="en-US" sz="1400" b="0" dirty="0">
                <a:solidFill>
                  <a:srgbClr val="002060"/>
                </a:solidFill>
                <a:latin typeface="微软雅黑" panose="020B0503020204020204" pitchFamily="34" charset="-122"/>
                <a:ea typeface="微软雅黑" panose="020B0503020204020204" pitchFamily="34" charset="-122"/>
              </a:rPr>
              <a:t>难以维护</a:t>
            </a:r>
            <a:endParaRPr lang="en-US" altLang="zh-CN" sz="1400" b="0" dirty="0">
              <a:solidFill>
                <a:srgbClr val="00206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002060"/>
                </a:solidFill>
                <a:latin typeface="微软雅黑" panose="020B0503020204020204" pitchFamily="34" charset="-122"/>
                <a:ea typeface="微软雅黑" panose="020B0503020204020204" pitchFamily="34" charset="-122"/>
              </a:rPr>
              <a:t>脚本、代码</a:t>
            </a:r>
            <a:r>
              <a:rPr lang="en-US" altLang="zh-CN" sz="1400" b="0" dirty="0">
                <a:solidFill>
                  <a:srgbClr val="002060"/>
                </a:solidFill>
                <a:latin typeface="微软雅黑" panose="020B0503020204020204" pitchFamily="34" charset="-122"/>
                <a:ea typeface="微软雅黑" panose="020B0503020204020204" pitchFamily="34" charset="-122"/>
              </a:rPr>
              <a:t>——</a:t>
            </a:r>
            <a:r>
              <a:rPr lang="zh-CN" altLang="en-US" sz="1400" b="0" dirty="0">
                <a:solidFill>
                  <a:srgbClr val="002060"/>
                </a:solidFill>
                <a:latin typeface="微软雅黑" panose="020B0503020204020204" pitchFamily="34" charset="-122"/>
                <a:ea typeface="微软雅黑" panose="020B0503020204020204" pitchFamily="34" charset="-122"/>
              </a:rPr>
              <a:t>难以理解</a:t>
            </a:r>
            <a:endParaRPr lang="en-US" altLang="zh-CN" sz="1400" b="0" dirty="0">
              <a:solidFill>
                <a:srgbClr val="00206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002060"/>
                </a:solidFill>
                <a:latin typeface="微软雅黑" panose="020B0503020204020204" pitchFamily="34" charset="-122"/>
                <a:ea typeface="微软雅黑" panose="020B0503020204020204" pitchFamily="34" charset="-122"/>
              </a:rPr>
              <a:t>编程实现</a:t>
            </a:r>
            <a:r>
              <a:rPr lang="en-US" altLang="zh-CN" sz="1400" b="0" dirty="0">
                <a:solidFill>
                  <a:srgbClr val="002060"/>
                </a:solidFill>
                <a:latin typeface="微软雅黑" panose="020B0503020204020204" pitchFamily="34" charset="-122"/>
                <a:ea typeface="微软雅黑" panose="020B0503020204020204" pitchFamily="34" charset="-122"/>
              </a:rPr>
              <a:t>——</a:t>
            </a:r>
            <a:r>
              <a:rPr lang="zh-CN" altLang="en-US" sz="1400" b="0" dirty="0">
                <a:solidFill>
                  <a:srgbClr val="002060"/>
                </a:solidFill>
                <a:latin typeface="微软雅黑" panose="020B0503020204020204" pitchFamily="34" charset="-122"/>
                <a:ea typeface="微软雅黑" panose="020B0503020204020204" pitchFamily="34" charset="-122"/>
              </a:rPr>
              <a:t>难以更新</a:t>
            </a:r>
            <a:endParaRPr lang="en-US" altLang="zh-CN" sz="1400" b="0" dirty="0">
              <a:solidFill>
                <a:srgbClr val="00206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002060"/>
                </a:solidFill>
                <a:latin typeface="微软雅黑" panose="020B0503020204020204" pitchFamily="34" charset="-122"/>
                <a:ea typeface="微软雅黑" panose="020B0503020204020204" pitchFamily="34" charset="-122"/>
              </a:rPr>
              <a:t>鱼</a:t>
            </a:r>
            <a:r>
              <a:rPr lang="en-US" altLang="zh-CN" sz="1400" b="0" dirty="0">
                <a:solidFill>
                  <a:srgbClr val="002060"/>
                </a:solidFill>
                <a:latin typeface="微软雅黑" panose="020B0503020204020204" pitchFamily="34" charset="-122"/>
                <a:ea typeface="微软雅黑" panose="020B0503020204020204" pitchFamily="34" charset="-122"/>
              </a:rPr>
              <a:t>,</a:t>
            </a:r>
            <a:r>
              <a:rPr lang="zh-CN" altLang="en-US" sz="1400" b="0" dirty="0">
                <a:solidFill>
                  <a:srgbClr val="002060"/>
                </a:solidFill>
                <a:latin typeface="微软雅黑" panose="020B0503020204020204" pitchFamily="34" charset="-122"/>
                <a:ea typeface="微软雅黑" panose="020B0503020204020204" pitchFamily="34" charset="-122"/>
              </a:rPr>
              <a:t>非渔 </a:t>
            </a:r>
            <a:r>
              <a:rPr lang="en-US" altLang="zh-CN" sz="1400" b="0" dirty="0">
                <a:solidFill>
                  <a:srgbClr val="002060"/>
                </a:solidFill>
                <a:latin typeface="微软雅黑" panose="020B0503020204020204" pitchFamily="34" charset="-122"/>
                <a:ea typeface="微软雅黑" panose="020B0503020204020204" pitchFamily="34" charset="-122"/>
              </a:rPr>
              <a:t>——</a:t>
            </a:r>
            <a:r>
              <a:rPr lang="zh-CN" altLang="en-US" sz="1400" b="0" dirty="0">
                <a:solidFill>
                  <a:srgbClr val="002060"/>
                </a:solidFill>
                <a:latin typeface="微软雅黑" panose="020B0503020204020204" pitchFamily="34" charset="-122"/>
                <a:ea typeface="微软雅黑" panose="020B0503020204020204" pitchFamily="34" charset="-122"/>
              </a:rPr>
              <a:t>难以持续</a:t>
            </a:r>
            <a:endParaRPr lang="en-US" altLang="zh-CN" sz="1400" b="0" dirty="0">
              <a:solidFill>
                <a:srgbClr val="002060"/>
              </a:solidFill>
              <a:latin typeface="微软雅黑" panose="020B0503020204020204" pitchFamily="34" charset="-122"/>
              <a:ea typeface="微软雅黑" panose="020B0503020204020204" pitchFamily="34" charset="-122"/>
            </a:endParaRPr>
          </a:p>
          <a:p>
            <a:pPr marL="571500" indent="-571500" defTabSz="914400" eaLnBrk="1" fontAlgn="auto" hangingPunct="1">
              <a:spcBef>
                <a:spcPts val="0"/>
              </a:spcBef>
              <a:spcAft>
                <a:spcPts val="0"/>
              </a:spcAft>
              <a:buFont typeface="Wingdings" panose="05000000000000000000" pitchFamily="2" charset="2"/>
              <a:buChar char="l"/>
              <a:defRPr/>
            </a:pPr>
            <a:r>
              <a:rPr lang="zh-CN" altLang="en-US" sz="1800" dirty="0">
                <a:solidFill>
                  <a:srgbClr val="4B5050"/>
                </a:solidFill>
                <a:latin typeface="微软雅黑" panose="020B0503020204020204" pitchFamily="34" charset="-122"/>
                <a:ea typeface="微软雅黑" panose="020B0503020204020204" pitchFamily="34" charset="-122"/>
              </a:rPr>
              <a:t>一次性的、有限的交付成果</a:t>
            </a:r>
            <a:endParaRPr lang="en-US" altLang="zh-CN" sz="1800" dirty="0">
              <a:solidFill>
                <a:srgbClr val="4B505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002060"/>
                </a:solidFill>
                <a:latin typeface="微软雅黑" panose="020B0503020204020204" pitchFamily="34" charset="-122"/>
                <a:ea typeface="微软雅黑" panose="020B0503020204020204" pitchFamily="34" charset="-122"/>
              </a:rPr>
              <a:t>共享交换库</a:t>
            </a:r>
            <a:endParaRPr lang="en-US" altLang="zh-CN" sz="1400" b="0" dirty="0">
              <a:solidFill>
                <a:srgbClr val="002060"/>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CE3337"/>
                </a:solidFill>
                <a:latin typeface="微软雅黑" panose="020B0503020204020204" pitchFamily="34" charset="-122"/>
                <a:ea typeface="微软雅黑" panose="020B0503020204020204" pitchFamily="34" charset="-122"/>
              </a:rPr>
              <a:t>数据标准、全量数据体系</a:t>
            </a:r>
            <a:endParaRPr lang="en-US" altLang="zh-CN" sz="1400" b="0" dirty="0">
              <a:solidFill>
                <a:srgbClr val="CE333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r>
              <a:rPr lang="zh-CN" altLang="en-US" sz="1400" b="0" dirty="0">
                <a:solidFill>
                  <a:srgbClr val="CE3337"/>
                </a:solidFill>
                <a:latin typeface="微软雅黑" panose="020B0503020204020204" pitchFamily="34" charset="-122"/>
                <a:ea typeface="微软雅黑" panose="020B0503020204020204" pitchFamily="34" charset="-122"/>
              </a:rPr>
              <a:t>知识库、管理规范</a:t>
            </a:r>
            <a:endParaRPr lang="en-US" altLang="zh-CN" sz="1400" b="0" dirty="0">
              <a:solidFill>
                <a:srgbClr val="CE333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endParaRPr lang="en-US" altLang="zh-CN"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endParaRPr lang="en-US" altLang="zh-CN"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endParaRPr lang="en-US" altLang="zh-CN" sz="1400" b="0" dirty="0">
              <a:solidFill>
                <a:srgbClr val="931587"/>
              </a:solidFill>
              <a:latin typeface="微软雅黑" panose="020B0503020204020204" pitchFamily="34" charset="-122"/>
              <a:ea typeface="微软雅黑" panose="020B0503020204020204" pitchFamily="34" charset="-122"/>
            </a:endParaRPr>
          </a:p>
          <a:p>
            <a:pPr marL="1485900" lvl="1" indent="-571500" defTabSz="914400" eaLnBrk="1" fontAlgn="auto" hangingPunct="1">
              <a:spcBef>
                <a:spcPts val="0"/>
              </a:spcBef>
              <a:spcAft>
                <a:spcPts val="0"/>
              </a:spcAft>
              <a:buFont typeface="Wingdings" panose="05000000000000000000" pitchFamily="2" charset="2"/>
              <a:buChar char="l"/>
              <a:defRPr/>
            </a:pPr>
            <a:endParaRPr lang="zh-CN" altLang="en-US" sz="1400" b="0" dirty="0">
              <a:solidFill>
                <a:srgbClr val="931587"/>
              </a:solidFill>
              <a:latin typeface="微软雅黑" panose="020B0503020204020204" pitchFamily="34" charset="-122"/>
              <a:ea typeface="微软雅黑" panose="020B0503020204020204" pitchFamily="34" charset="-122"/>
            </a:endParaRPr>
          </a:p>
        </p:txBody>
      </p:sp>
      <p:sp>
        <p:nvSpPr>
          <p:cNvPr id="6" name="禁止符 5"/>
          <p:cNvSpPr/>
          <p:nvPr/>
        </p:nvSpPr>
        <p:spPr>
          <a:xfrm>
            <a:off x="8250940" y="2299954"/>
            <a:ext cx="565521" cy="576604"/>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828165" eaLnBrk="1" fontAlgn="auto" hangingPunct="1">
              <a:spcBef>
                <a:spcPts val="0"/>
              </a:spcBef>
              <a:spcAft>
                <a:spcPts val="0"/>
              </a:spcAft>
              <a:defRPr/>
            </a:pPr>
            <a:endParaRPr lang="zh-CN" altLang="en-US" sz="1400" b="0">
              <a:solidFill>
                <a:srgbClr val="7F7F7F"/>
              </a:solidFill>
            </a:endParaRPr>
          </a:p>
        </p:txBody>
      </p:sp>
      <p:sp>
        <p:nvSpPr>
          <p:cNvPr id="12" name="矩形 11"/>
          <p:cNvSpPr/>
          <p:nvPr/>
        </p:nvSpPr>
        <p:spPr>
          <a:xfrm>
            <a:off x="278651" y="1105041"/>
            <a:ext cx="477873" cy="4573915"/>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828165" eaLnBrk="1" fontAlgn="auto" hangingPunct="1">
              <a:spcBef>
                <a:spcPts val="0"/>
              </a:spcBef>
              <a:spcAft>
                <a:spcPts val="0"/>
              </a:spcAft>
              <a:defRPr/>
            </a:pPr>
            <a:r>
              <a:rPr lang="zh-CN" altLang="en-US" sz="2000" b="0" dirty="0">
                <a:solidFill>
                  <a:srgbClr val="FFFFFF"/>
                </a:solidFill>
              </a:rPr>
              <a:t>希嘉数据治理体系</a:t>
            </a:r>
            <a:endParaRPr lang="zh-CN" altLang="en-US" sz="2000" b="0" dirty="0">
              <a:solidFill>
                <a:srgbClr val="FFFFFF"/>
              </a:solidFill>
            </a:endParaRPr>
          </a:p>
        </p:txBody>
      </p:sp>
      <p:sp>
        <p:nvSpPr>
          <p:cNvPr id="13" name="矩形 12"/>
          <p:cNvSpPr/>
          <p:nvPr/>
        </p:nvSpPr>
        <p:spPr>
          <a:xfrm>
            <a:off x="11094893" y="1105041"/>
            <a:ext cx="477112" cy="457391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defTabSz="1828165" eaLnBrk="1" fontAlgn="auto" hangingPunct="1">
              <a:spcBef>
                <a:spcPts val="0"/>
              </a:spcBef>
              <a:spcAft>
                <a:spcPts val="0"/>
              </a:spcAft>
              <a:defRPr/>
            </a:pPr>
            <a:r>
              <a:rPr lang="zh-CN" altLang="en-US" sz="2000" b="0" dirty="0">
                <a:solidFill>
                  <a:srgbClr val="FFFFFF"/>
                </a:solidFill>
              </a:rPr>
              <a:t>传统数据治理体系</a:t>
            </a:r>
            <a:endParaRPr lang="zh-CN" altLang="en-US" sz="2000" b="0" dirty="0">
              <a:solidFill>
                <a:srgbClr val="FFFFFF"/>
              </a:solidFill>
            </a:endParaRPr>
          </a:p>
        </p:txBody>
      </p:sp>
      <p:sp>
        <p:nvSpPr>
          <p:cNvPr id="15" name="禁止符 5"/>
          <p:cNvSpPr/>
          <p:nvPr/>
        </p:nvSpPr>
        <p:spPr>
          <a:xfrm>
            <a:off x="8617867" y="5470271"/>
            <a:ext cx="409348" cy="417370"/>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828165" eaLnBrk="1" fontAlgn="auto" hangingPunct="1">
              <a:spcBef>
                <a:spcPts val="0"/>
              </a:spcBef>
              <a:spcAft>
                <a:spcPts val="0"/>
              </a:spcAft>
              <a:defRPr/>
            </a:pPr>
            <a:endParaRPr lang="zh-CN" altLang="en-US" sz="1400" b="0">
              <a:solidFill>
                <a:srgbClr val="7F7F7F"/>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49851" y="3484218"/>
            <a:ext cx="5112568" cy="432048"/>
          </a:xfrm>
          <a:prstGeom prst="rect">
            <a:avLst/>
          </a:prstGeom>
          <a:solidFill>
            <a:schemeClr val="bg2"/>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sp>
        <p:nvSpPr>
          <p:cNvPr id="4" name="标题 3"/>
          <p:cNvSpPr>
            <a:spLocks noGrp="1"/>
          </p:cNvSpPr>
          <p:nvPr>
            <p:ph type="ctrTitle"/>
          </p:nvPr>
        </p:nvSpPr>
        <p:spPr/>
        <p:txBody>
          <a:bodyPr/>
          <a:lstStyle/>
          <a:p>
            <a:r>
              <a:rPr lang="zh-CN" altLang="en-US" dirty="0"/>
              <a:t>目录</a:t>
            </a:r>
            <a:endParaRPr lang="zh-CN" altLang="en-US" dirty="0"/>
          </a:p>
        </p:txBody>
      </p:sp>
      <p:sp>
        <p:nvSpPr>
          <p:cNvPr id="5" name="副标题 4"/>
          <p:cNvSpPr>
            <a:spLocks noGrp="1"/>
          </p:cNvSpPr>
          <p:nvPr>
            <p:ph type="subTitle" idx="1"/>
          </p:nvPr>
        </p:nvSpPr>
        <p:spPr/>
        <p:txBody>
          <a:bodyPr/>
          <a:lstStyle/>
          <a:p>
            <a:r>
              <a:rPr lang="zh-CN" altLang="en-US" dirty="0"/>
              <a:t>行业现状与挑战</a:t>
            </a:r>
            <a:endParaRPr lang="en-US" altLang="zh-CN" dirty="0"/>
          </a:p>
          <a:p>
            <a:r>
              <a:rPr lang="zh-CN" altLang="en-US" dirty="0"/>
              <a:t>华为智慧环境监测解决方案</a:t>
            </a:r>
            <a:endParaRPr lang="en-US" altLang="zh-CN" dirty="0"/>
          </a:p>
          <a:p>
            <a:r>
              <a:rPr lang="zh-CN" altLang="en-US" dirty="0"/>
              <a:t>华为解决方案价值分析</a:t>
            </a:r>
            <a:endParaRPr lang="en-US" altLang="zh-CN" dirty="0"/>
          </a:p>
          <a:p>
            <a:r>
              <a:rPr lang="zh-CN" altLang="en-US" dirty="0"/>
              <a:t>成功案例介绍</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a:t>
            </a:r>
            <a:r>
              <a:rPr lang="zh-CN" altLang="en-US" dirty="0"/>
              <a:t>xx</a:t>
            </a:r>
            <a:r>
              <a:rPr lang="zh-CN" altLang="en-US" dirty="0"/>
              <a:t>师范大学</a:t>
            </a:r>
            <a:r>
              <a:rPr lang="en-US" altLang="zh-CN" dirty="0"/>
              <a:t> </a:t>
            </a:r>
            <a:endParaRPr lang="zh-CN" altLang="en-US" dirty="0"/>
          </a:p>
        </p:txBody>
      </p:sp>
      <p:graphicFrame>
        <p:nvGraphicFramePr>
          <p:cNvPr id="3" name="图示 2"/>
          <p:cNvGraphicFramePr/>
          <p:nvPr/>
        </p:nvGraphicFramePr>
        <p:xfrm>
          <a:off x="3217267" y="1063299"/>
          <a:ext cx="7233410" cy="508630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平行四边形 3"/>
          <p:cNvSpPr/>
          <p:nvPr/>
        </p:nvSpPr>
        <p:spPr>
          <a:xfrm>
            <a:off x="517588" y="1053531"/>
            <a:ext cx="2847144" cy="5184576"/>
          </a:xfrm>
          <a:prstGeom prst="parallelogram">
            <a:avLst/>
          </a:prstGeom>
          <a:solidFill>
            <a:schemeClr val="tx2">
              <a:lumMod val="20000"/>
              <a:lumOff val="80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GungsuhChe" panose="02030609000101010101" pitchFamily="49" charset="-127"/>
                <a:ea typeface="GungsuhChe" panose="02030609000101010101" pitchFamily="49" charset="-127"/>
              </a:rPr>
              <a:t> </a:t>
            </a:r>
            <a:endParaRPr lang="zh-CN" altLang="en-US" dirty="0">
              <a:solidFill>
                <a:schemeClr val="tx1"/>
              </a:solidFill>
              <a:latin typeface="GungsuhChe" panose="02030609000101010101" pitchFamily="49" charset="-127"/>
              <a:ea typeface="GungsuhChe" panose="02030609000101010101" pitchFamily="49" charset="-127"/>
            </a:endParaRPr>
          </a:p>
        </p:txBody>
      </p:sp>
      <p:sp>
        <p:nvSpPr>
          <p:cNvPr id="6" name="矩形 5"/>
          <p:cNvSpPr/>
          <p:nvPr/>
        </p:nvSpPr>
        <p:spPr>
          <a:xfrm>
            <a:off x="1174764" y="3144785"/>
            <a:ext cx="1532792" cy="584775"/>
          </a:xfrm>
          <a:prstGeom prst="rect">
            <a:avLst/>
          </a:prstGeom>
        </p:spPr>
        <p:txBody>
          <a:bodyPr wrap="none">
            <a:spAutoFit/>
          </a:bodyPr>
          <a:lstStyle/>
          <a:p>
            <a:pPr algn="ctr"/>
            <a:r>
              <a:rPr lang="en-US" altLang="zh-CN" sz="3200" dirty="0">
                <a:latin typeface="Old English Text MT" panose="03040902040508030806" pitchFamily="66" charset="0"/>
                <a:ea typeface="GungsuhChe" panose="02030609000101010101" pitchFamily="49" charset="-127"/>
              </a:rPr>
              <a:t>example</a:t>
            </a:r>
            <a:endParaRPr lang="zh-CN" altLang="en-US" sz="3200" dirty="0">
              <a:latin typeface="Old English Text MT" panose="03040902040508030806" pitchFamily="66" charset="0"/>
              <a:ea typeface="GungsuhChe" panose="02030609000101010101" pitchFamily="49" charset="-127"/>
            </a:endParaRPr>
          </a:p>
        </p:txBody>
      </p:sp>
      <p:sp>
        <p:nvSpPr>
          <p:cNvPr id="7" name="右箭头 6"/>
          <p:cNvSpPr/>
          <p:nvPr/>
        </p:nvSpPr>
        <p:spPr>
          <a:xfrm>
            <a:off x="1099928" y="3645819"/>
            <a:ext cx="1682463" cy="1322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a:t>
            </a:r>
            <a:r>
              <a:rPr lang="zh-CN" altLang="en-US" dirty="0"/>
              <a:t>xx</a:t>
            </a:r>
            <a:r>
              <a:rPr lang="zh-CN" altLang="en-US" dirty="0"/>
              <a:t>师范大学</a:t>
            </a:r>
            <a:r>
              <a:rPr lang="en-US" altLang="zh-CN" dirty="0"/>
              <a:t> </a:t>
            </a:r>
            <a:endParaRPr lang="zh-CN" altLang="en-US" dirty="0"/>
          </a:p>
        </p:txBody>
      </p:sp>
      <p:sp>
        <p:nvSpPr>
          <p:cNvPr id="8" name="灯片编号占位符 3"/>
          <p:cNvSpPr txBox="1"/>
          <p:nvPr/>
        </p:nvSpPr>
        <p:spPr>
          <a:xfrm>
            <a:off x="8608365" y="6193761"/>
            <a:ext cx="2909888" cy="206381"/>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pitchFamily="34" charset="-122"/>
                <a:cs typeface="+mn-cs"/>
              </a:rPr>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pitchFamily="34" charset="-122"/>
              <a:cs typeface="+mn-cs"/>
            </a:endParaRPr>
          </a:p>
        </p:txBody>
      </p:sp>
      <p:sp>
        <p:nvSpPr>
          <p:cNvPr id="9" name="文本框 17"/>
          <p:cNvSpPr txBox="1"/>
          <p:nvPr/>
        </p:nvSpPr>
        <p:spPr>
          <a:xfrm>
            <a:off x="2970369" y="1112830"/>
            <a:ext cx="1011815"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23</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4000" b="0" i="0" u="none" strike="noStrike" kern="0" cap="none" spc="0" normalizeH="0" baseline="0" noProof="0" dirty="0">
              <a:ln>
                <a:noFill/>
              </a:ln>
              <a:solidFill>
                <a:srgbClr val="92D050"/>
              </a:solidFill>
              <a:effectLst/>
              <a:uLnTx/>
              <a:uFillTx/>
            </a:endParaRPr>
          </a:p>
        </p:txBody>
      </p:sp>
      <p:sp>
        <p:nvSpPr>
          <p:cNvPr id="10" name="矩形 18"/>
          <p:cNvSpPr/>
          <p:nvPr/>
        </p:nvSpPr>
        <p:spPr>
          <a:xfrm>
            <a:off x="2676244" y="1820716"/>
            <a:ext cx="1569660"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数据来源单位</a:t>
            </a:r>
            <a:endParaRPr kumimoji="0" lang="zh-CN" altLang="en-US" sz="1800" b="0" i="0" u="none" strike="noStrike" kern="0" cap="none" spc="0" normalizeH="0" baseline="0" noProof="0" dirty="0">
              <a:ln>
                <a:noFill/>
              </a:ln>
              <a:solidFill>
                <a:srgbClr val="000000"/>
              </a:solidFill>
              <a:effectLst/>
              <a:uLnTx/>
              <a:uFillTx/>
            </a:endParaRPr>
          </a:p>
        </p:txBody>
      </p:sp>
      <p:sp>
        <p:nvSpPr>
          <p:cNvPr id="11" name="文本框 19"/>
          <p:cNvSpPr txBox="1"/>
          <p:nvPr/>
        </p:nvSpPr>
        <p:spPr>
          <a:xfrm>
            <a:off x="4646507" y="1112830"/>
            <a:ext cx="700833"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8</a:t>
            </a:r>
            <a:r>
              <a:rPr kumimoji="0" lang="zh-CN" altLang="en-US" sz="1800" b="0" i="0" u="none" strike="noStrike" kern="0" cap="none" spc="0" normalizeH="0" baseline="0" noProof="0" dirty="0">
                <a:ln>
                  <a:noFill/>
                </a:ln>
                <a:solidFill>
                  <a:srgbClr val="92D050"/>
                </a:solidFill>
                <a:effectLst/>
                <a:uLnTx/>
                <a:uFillTx/>
              </a:rPr>
              <a:t>类</a:t>
            </a:r>
            <a:endParaRPr kumimoji="0" lang="zh-CN" altLang="en-US" sz="1800" b="0" i="0" u="none" strike="noStrike" kern="0" cap="none" spc="0" normalizeH="0" baseline="0" noProof="0" dirty="0">
              <a:ln>
                <a:noFill/>
              </a:ln>
              <a:solidFill>
                <a:srgbClr val="92D050"/>
              </a:solidFill>
              <a:effectLst/>
              <a:uLnTx/>
              <a:uFillTx/>
            </a:endParaRPr>
          </a:p>
        </p:txBody>
      </p:sp>
      <p:sp>
        <p:nvSpPr>
          <p:cNvPr id="12" name="矩形 20"/>
          <p:cNvSpPr/>
          <p:nvPr/>
        </p:nvSpPr>
        <p:spPr>
          <a:xfrm>
            <a:off x="4337724" y="1820716"/>
            <a:ext cx="1338828"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数据集分类</a:t>
            </a:r>
            <a:endParaRPr kumimoji="0" lang="zh-CN" altLang="en-US" sz="1800" b="0" i="0" u="none" strike="noStrike" kern="0" cap="none" spc="0" normalizeH="0" baseline="0" noProof="0" dirty="0">
              <a:ln>
                <a:noFill/>
              </a:ln>
              <a:solidFill>
                <a:srgbClr val="000000"/>
              </a:solidFill>
              <a:effectLst/>
              <a:uLnTx/>
              <a:uFillTx/>
            </a:endParaRPr>
          </a:p>
        </p:txBody>
      </p:sp>
      <p:sp>
        <p:nvSpPr>
          <p:cNvPr id="13" name="文本框 21"/>
          <p:cNvSpPr txBox="1"/>
          <p:nvPr/>
        </p:nvSpPr>
        <p:spPr>
          <a:xfrm>
            <a:off x="5750414" y="1112830"/>
            <a:ext cx="986167"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55</a:t>
            </a:r>
            <a:r>
              <a:rPr kumimoji="0" lang="zh-CN" altLang="en-US" sz="1800" b="0" i="0" u="none" strike="noStrike" kern="0" cap="none" spc="0" normalizeH="0" baseline="0" noProof="0" dirty="0">
                <a:ln>
                  <a:noFill/>
                </a:ln>
                <a:solidFill>
                  <a:srgbClr val="92D050"/>
                </a:solidFill>
                <a:effectLst/>
                <a:uLnTx/>
                <a:uFillTx/>
              </a:rPr>
              <a:t>类</a:t>
            </a:r>
            <a:endParaRPr kumimoji="0" lang="zh-CN" altLang="en-US" sz="1800" b="0" i="0" u="none" strike="noStrike" kern="0" cap="none" spc="0" normalizeH="0" baseline="0" noProof="0" dirty="0">
              <a:ln>
                <a:noFill/>
              </a:ln>
              <a:solidFill>
                <a:srgbClr val="92D050"/>
              </a:solidFill>
              <a:effectLst/>
              <a:uLnTx/>
              <a:uFillTx/>
            </a:endParaRPr>
          </a:p>
        </p:txBody>
      </p:sp>
      <p:sp>
        <p:nvSpPr>
          <p:cNvPr id="14" name="矩形 22"/>
          <p:cNvSpPr/>
          <p:nvPr/>
        </p:nvSpPr>
        <p:spPr>
          <a:xfrm>
            <a:off x="5840244" y="1820716"/>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数据类</a:t>
            </a:r>
            <a:endParaRPr kumimoji="0" lang="zh-CN" altLang="en-US" sz="1800" b="0" i="0" u="none" strike="noStrike" kern="0" cap="none" spc="0" normalizeH="0" baseline="0" noProof="0" dirty="0">
              <a:ln>
                <a:noFill/>
              </a:ln>
              <a:solidFill>
                <a:srgbClr val="000000"/>
              </a:solidFill>
              <a:effectLst/>
              <a:uLnTx/>
              <a:uFillTx/>
            </a:endParaRPr>
          </a:p>
        </p:txBody>
      </p:sp>
      <p:sp>
        <p:nvSpPr>
          <p:cNvPr id="15" name="文本框 23"/>
          <p:cNvSpPr txBox="1"/>
          <p:nvPr/>
        </p:nvSpPr>
        <p:spPr>
          <a:xfrm>
            <a:off x="6900273" y="1112830"/>
            <a:ext cx="127150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296</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6" name="矩形 24"/>
          <p:cNvSpPr/>
          <p:nvPr/>
        </p:nvSpPr>
        <p:spPr>
          <a:xfrm>
            <a:off x="6986537" y="1820716"/>
            <a:ext cx="1107996"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数据子类</a:t>
            </a:r>
            <a:endParaRPr kumimoji="0" lang="zh-CN" altLang="en-US" sz="1800" b="0" i="0" u="none" strike="noStrike" kern="0" cap="none" spc="0" normalizeH="0" baseline="0" noProof="0" dirty="0">
              <a:ln>
                <a:noFill/>
              </a:ln>
              <a:solidFill>
                <a:srgbClr val="000000"/>
              </a:solidFill>
              <a:effectLst/>
              <a:uLnTx/>
              <a:uFillTx/>
            </a:endParaRPr>
          </a:p>
        </p:txBody>
      </p:sp>
      <p:sp>
        <p:nvSpPr>
          <p:cNvPr id="17" name="矩形 25"/>
          <p:cNvSpPr/>
          <p:nvPr/>
        </p:nvSpPr>
        <p:spPr>
          <a:xfrm>
            <a:off x="245322" y="1420069"/>
            <a:ext cx="2339102" cy="523220"/>
          </a:xfrm>
          <a:prstGeom prst="rect">
            <a:avLst/>
          </a:prstGeom>
          <a:solidFill>
            <a:srgbClr val="0070C0"/>
          </a:solidFill>
          <a:ln w="6350" cap="flat" cmpd="sng" algn="ctr">
            <a:solidFill>
              <a:srgbClr val="FAAF3F"/>
            </a:solidFill>
            <a:prstDash val="solid"/>
            <a:miter lim="800000"/>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数据资产成果</a:t>
            </a:r>
            <a:endParaRPr kumimoji="0" lang="zh-CN" altLang="en-US" sz="2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8" name="文本框 26"/>
          <p:cNvSpPr txBox="1"/>
          <p:nvPr/>
        </p:nvSpPr>
        <p:spPr>
          <a:xfrm>
            <a:off x="8421731" y="1112830"/>
            <a:ext cx="1556836"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4931</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9" name="矩形 27"/>
          <p:cNvSpPr/>
          <p:nvPr/>
        </p:nvSpPr>
        <p:spPr>
          <a:xfrm>
            <a:off x="8633594" y="1820716"/>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数据项</a:t>
            </a:r>
            <a:endParaRPr kumimoji="0" lang="zh-CN" altLang="en-US" sz="1800" b="0" i="0" u="none" strike="noStrike" kern="0" cap="none" spc="0" normalizeH="0" baseline="0" noProof="0" dirty="0">
              <a:ln>
                <a:noFill/>
              </a:ln>
              <a:solidFill>
                <a:srgbClr val="000000"/>
              </a:solidFill>
              <a:effectLst/>
              <a:uLnTx/>
              <a:uFillTx/>
            </a:endParaRPr>
          </a:p>
        </p:txBody>
      </p:sp>
      <p:pic>
        <p:nvPicPr>
          <p:cNvPr id="20" name="图片 10"/>
          <p:cNvPicPr>
            <a:picLocks noChangeAspect="1"/>
          </p:cNvPicPr>
          <p:nvPr/>
        </p:nvPicPr>
        <p:blipFill>
          <a:blip r:embed="rId1">
            <a:clrChange>
              <a:clrFrom>
                <a:srgbClr val="FFFFFF"/>
              </a:clrFrom>
              <a:clrTo>
                <a:srgbClr val="FFFFFF">
                  <a:alpha val="0"/>
                </a:srgbClr>
              </a:clrTo>
            </a:clrChange>
          </a:blip>
          <a:stretch>
            <a:fillRect/>
          </a:stretch>
        </p:blipFill>
        <p:spPr>
          <a:xfrm>
            <a:off x="340705" y="2190048"/>
            <a:ext cx="2568173" cy="1271956"/>
          </a:xfrm>
          <a:prstGeom prst="rect">
            <a:avLst/>
          </a:prstGeom>
        </p:spPr>
      </p:pic>
      <p:pic>
        <p:nvPicPr>
          <p:cNvPr id="21" name="图片 28"/>
          <p:cNvPicPr>
            <a:picLocks noChangeAspect="1"/>
          </p:cNvPicPr>
          <p:nvPr/>
        </p:nvPicPr>
        <p:blipFill>
          <a:blip r:embed="rId2">
            <a:clrChange>
              <a:clrFrom>
                <a:srgbClr val="FFFFFF"/>
              </a:clrFrom>
              <a:clrTo>
                <a:srgbClr val="FFFFFF">
                  <a:alpha val="0"/>
                </a:srgbClr>
              </a:clrTo>
            </a:clrChange>
          </a:blip>
          <a:stretch>
            <a:fillRect/>
          </a:stretch>
        </p:blipFill>
        <p:spPr>
          <a:xfrm>
            <a:off x="406125" y="4583479"/>
            <a:ext cx="2437331" cy="1864683"/>
          </a:xfrm>
          <a:prstGeom prst="rect">
            <a:avLst/>
          </a:prstGeom>
        </p:spPr>
      </p:pic>
      <p:pic>
        <p:nvPicPr>
          <p:cNvPr id="22" name="图片 29"/>
          <p:cNvPicPr>
            <a:picLocks noChangeAspect="1"/>
          </p:cNvPicPr>
          <p:nvPr/>
        </p:nvPicPr>
        <p:blipFill>
          <a:blip r:embed="rId3">
            <a:clrChange>
              <a:clrFrom>
                <a:srgbClr val="FFFFFF"/>
              </a:clrFrom>
              <a:clrTo>
                <a:srgbClr val="FFFFFF">
                  <a:alpha val="0"/>
                </a:srgbClr>
              </a:clrTo>
            </a:clrChange>
          </a:blip>
          <a:stretch>
            <a:fillRect/>
          </a:stretch>
        </p:blipFill>
        <p:spPr>
          <a:xfrm>
            <a:off x="2832024" y="2190048"/>
            <a:ext cx="2790965" cy="2311814"/>
          </a:xfrm>
          <a:prstGeom prst="rect">
            <a:avLst/>
          </a:prstGeom>
        </p:spPr>
      </p:pic>
      <p:pic>
        <p:nvPicPr>
          <p:cNvPr id="23" name="图片 30"/>
          <p:cNvPicPr>
            <a:picLocks noChangeAspect="1"/>
          </p:cNvPicPr>
          <p:nvPr/>
        </p:nvPicPr>
        <p:blipFill>
          <a:blip r:embed="rId4">
            <a:clrChange>
              <a:clrFrom>
                <a:srgbClr val="FFFFFF"/>
              </a:clrFrom>
              <a:clrTo>
                <a:srgbClr val="FFFFFF">
                  <a:alpha val="0"/>
                </a:srgbClr>
              </a:clrTo>
            </a:clrChange>
          </a:blip>
          <a:stretch>
            <a:fillRect/>
          </a:stretch>
        </p:blipFill>
        <p:spPr>
          <a:xfrm>
            <a:off x="5569255" y="2190048"/>
            <a:ext cx="3015106" cy="2837106"/>
          </a:xfrm>
          <a:prstGeom prst="rect">
            <a:avLst/>
          </a:prstGeom>
        </p:spPr>
      </p:pic>
      <p:pic>
        <p:nvPicPr>
          <p:cNvPr id="24" name="图片 33"/>
          <p:cNvPicPr>
            <a:picLocks noChangeAspect="1"/>
          </p:cNvPicPr>
          <p:nvPr/>
        </p:nvPicPr>
        <p:blipFill rotWithShape="1">
          <a:blip r:embed="rId5">
            <a:clrChange>
              <a:clrFrom>
                <a:srgbClr val="FFFFFF"/>
              </a:clrFrom>
              <a:clrTo>
                <a:srgbClr val="FFFFFF">
                  <a:alpha val="0"/>
                </a:srgbClr>
              </a:clrTo>
            </a:clrChange>
          </a:blip>
          <a:srcRect b="15485"/>
          <a:stretch>
            <a:fillRect/>
          </a:stretch>
        </p:blipFill>
        <p:spPr>
          <a:xfrm>
            <a:off x="8421731" y="2190048"/>
            <a:ext cx="3118509" cy="2781707"/>
          </a:xfrm>
          <a:prstGeom prst="rect">
            <a:avLst/>
          </a:prstGeom>
        </p:spPr>
      </p:pic>
      <p:sp>
        <p:nvSpPr>
          <p:cNvPr id="25" name="文本框 34"/>
          <p:cNvSpPr txBox="1"/>
          <p:nvPr/>
        </p:nvSpPr>
        <p:spPr>
          <a:xfrm>
            <a:off x="10063309" y="1112830"/>
            <a:ext cx="177324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2.47</a:t>
            </a:r>
            <a:r>
              <a:rPr kumimoji="0" lang="zh-CN" altLang="en-US" sz="2800" b="0" i="0" u="none" strike="noStrike" kern="0" cap="none" spc="0" normalizeH="0" baseline="0" noProof="0" dirty="0">
                <a:ln>
                  <a:noFill/>
                </a:ln>
                <a:solidFill>
                  <a:srgbClr val="FF0000"/>
                </a:solidFill>
                <a:effectLst/>
                <a:uLnTx/>
                <a:uFillTx/>
              </a:rPr>
              <a:t>亿</a:t>
            </a:r>
            <a:r>
              <a:rPr kumimoji="0" lang="zh-CN" altLang="en-US" sz="1800" b="0" i="0" u="none" strike="noStrike" kern="0" cap="none" spc="0" normalizeH="0" baseline="0" noProof="0" dirty="0">
                <a:ln>
                  <a:noFill/>
                </a:ln>
                <a:solidFill>
                  <a:srgbClr val="92D050"/>
                </a:solidFill>
                <a:effectLst/>
                <a:uLnTx/>
                <a:uFillTx/>
              </a:rPr>
              <a:t>条</a:t>
            </a:r>
            <a:endParaRPr kumimoji="0" lang="zh-CN" altLang="en-US" sz="1800" b="0" i="0" u="none" strike="noStrike" kern="0" cap="none" spc="0" normalizeH="0" baseline="0" noProof="0" dirty="0">
              <a:ln>
                <a:noFill/>
              </a:ln>
              <a:solidFill>
                <a:srgbClr val="92D050"/>
              </a:solidFill>
              <a:effectLst/>
              <a:uLnTx/>
              <a:uFillTx/>
            </a:endParaRPr>
          </a:p>
        </p:txBody>
      </p:sp>
      <p:sp>
        <p:nvSpPr>
          <p:cNvPr id="26" name="矩形 35"/>
          <p:cNvSpPr/>
          <p:nvPr/>
        </p:nvSpPr>
        <p:spPr>
          <a:xfrm>
            <a:off x="10302357" y="1820716"/>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记录数</a:t>
            </a:r>
            <a:endParaRPr kumimoji="0" lang="zh-CN" altLang="en-US" sz="1800" b="0" i="0" u="none" strike="noStrike" kern="0" cap="none" spc="0" normalizeH="0" baseline="0" noProof="0" dirty="0">
              <a:ln>
                <a:noFill/>
              </a:ln>
              <a:solidFill>
                <a:srgbClr val="000000"/>
              </a:solidFill>
              <a:effectLst/>
              <a:uLnTx/>
              <a:uFillTx/>
            </a:endParaRPr>
          </a:p>
        </p:txBody>
      </p:sp>
      <p:pic>
        <p:nvPicPr>
          <p:cNvPr id="27" name="图片 2"/>
          <p:cNvPicPr>
            <a:picLocks noChangeAspect="1"/>
          </p:cNvPicPr>
          <p:nvPr/>
        </p:nvPicPr>
        <p:blipFill>
          <a:blip r:embed="rId6">
            <a:clrChange>
              <a:clrFrom>
                <a:srgbClr val="FFFFFF"/>
              </a:clrFrom>
              <a:clrTo>
                <a:srgbClr val="FFFFFF">
                  <a:alpha val="0"/>
                </a:srgbClr>
              </a:clrTo>
            </a:clrChange>
          </a:blip>
          <a:stretch>
            <a:fillRect/>
          </a:stretch>
        </p:blipFill>
        <p:spPr>
          <a:xfrm>
            <a:off x="3555594" y="5343224"/>
            <a:ext cx="2882658" cy="526141"/>
          </a:xfrm>
          <a:prstGeom prst="rect">
            <a:avLst/>
          </a:prstGeom>
        </p:spPr>
      </p:pic>
      <p:pic>
        <p:nvPicPr>
          <p:cNvPr id="28" name="图片 5"/>
          <p:cNvPicPr>
            <a:picLocks noChangeAspect="1"/>
          </p:cNvPicPr>
          <p:nvPr/>
        </p:nvPicPr>
        <p:blipFill>
          <a:blip r:embed="rId7">
            <a:clrChange>
              <a:clrFrom>
                <a:srgbClr val="FFFFFF"/>
              </a:clrFrom>
              <a:clrTo>
                <a:srgbClr val="FFFFFF">
                  <a:alpha val="0"/>
                </a:srgbClr>
              </a:clrTo>
            </a:clrChange>
          </a:blip>
          <a:stretch>
            <a:fillRect/>
          </a:stretch>
        </p:blipFill>
        <p:spPr>
          <a:xfrm>
            <a:off x="7232494" y="5083505"/>
            <a:ext cx="3015105" cy="113651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a:t>
            </a:r>
            <a:r>
              <a:rPr lang="zh-CN" altLang="en-US" dirty="0"/>
              <a:t>xx</a:t>
            </a:r>
            <a:r>
              <a:rPr lang="zh-CN" altLang="en-US" dirty="0"/>
              <a:t>师范大学</a:t>
            </a:r>
            <a:r>
              <a:rPr lang="en-US" altLang="zh-CN" dirty="0"/>
              <a:t> </a:t>
            </a:r>
            <a:endParaRPr lang="zh-CN" altLang="en-US" dirty="0"/>
          </a:p>
        </p:txBody>
      </p:sp>
      <p:graphicFrame>
        <p:nvGraphicFramePr>
          <p:cNvPr id="3" name="图表 5"/>
          <p:cNvGraphicFramePr/>
          <p:nvPr/>
        </p:nvGraphicFramePr>
        <p:xfrm>
          <a:off x="301625" y="844550"/>
          <a:ext cx="11426825" cy="6015038"/>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a:t>
            </a:r>
            <a:r>
              <a:rPr lang="zh-CN" altLang="en-US" dirty="0"/>
              <a:t>xx</a:t>
            </a:r>
            <a:r>
              <a:rPr lang="zh-CN" altLang="en-US" dirty="0"/>
              <a:t>师范大学</a:t>
            </a:r>
            <a:r>
              <a:rPr lang="en-US" altLang="zh-CN" dirty="0"/>
              <a:t> </a:t>
            </a:r>
            <a:endParaRPr lang="zh-CN" altLang="en-US" dirty="0"/>
          </a:p>
        </p:txBody>
      </p:sp>
      <p:sp>
        <p:nvSpPr>
          <p:cNvPr id="3" name="灯片编号占位符 3"/>
          <p:cNvSpPr txBox="1"/>
          <p:nvPr/>
        </p:nvSpPr>
        <p:spPr>
          <a:xfrm>
            <a:off x="8610599" y="6240465"/>
            <a:ext cx="2909888" cy="206381"/>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5DD3DB80-B894-403A-B48E-6FDC1A72010E}" type="slidenum">
              <a:rPr kumimoji="0" lang="zh-CN" altLang="en-US"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pitchFamily="34" charset="-122"/>
                <a:cs typeface="+mn-cs"/>
              </a:rPr>
            </a:fld>
            <a:endParaRPr kumimoji="0" lang="zh-CN" altLang="en-US"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pitchFamily="34" charset="-122"/>
              <a:cs typeface="+mn-cs"/>
            </a:endParaRPr>
          </a:p>
        </p:txBody>
      </p:sp>
      <p:pic>
        <p:nvPicPr>
          <p:cNvPr id="4" name="图片 11"/>
          <p:cNvPicPr>
            <a:picLocks noChangeAspect="1"/>
          </p:cNvPicPr>
          <p:nvPr/>
        </p:nvPicPr>
        <p:blipFill>
          <a:blip r:embed="rId1"/>
          <a:stretch>
            <a:fillRect/>
          </a:stretch>
        </p:blipFill>
        <p:spPr>
          <a:xfrm>
            <a:off x="6986835" y="343530"/>
            <a:ext cx="3247528" cy="6309287"/>
          </a:xfrm>
          <a:prstGeom prst="rect">
            <a:avLst/>
          </a:prstGeom>
        </p:spPr>
      </p:pic>
      <p:sp>
        <p:nvSpPr>
          <p:cNvPr id="5" name="矩形 13"/>
          <p:cNvSpPr/>
          <p:nvPr/>
        </p:nvSpPr>
        <p:spPr>
          <a:xfrm>
            <a:off x="1259043" y="1034366"/>
            <a:ext cx="2339102" cy="523220"/>
          </a:xfrm>
          <a:prstGeom prst="rect">
            <a:avLst/>
          </a:prstGeom>
          <a:solidFill>
            <a:srgbClr val="0070C0"/>
          </a:solidFill>
          <a:ln w="6350" cap="flat" cmpd="sng" algn="ctr">
            <a:solidFill>
              <a:srgbClr val="FAAF3F"/>
            </a:solidFill>
            <a:prstDash val="solid"/>
            <a:miter lim="800000"/>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数据缺失情况</a:t>
            </a:r>
            <a:endParaRPr kumimoji="0" lang="zh-CN" altLang="en-US" sz="2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aphicFrame>
        <p:nvGraphicFramePr>
          <p:cNvPr id="6" name="表格 9"/>
          <p:cNvGraphicFramePr>
            <a:graphicFrameLocks noGrp="1"/>
          </p:cNvGraphicFramePr>
          <p:nvPr>
            <p:custDataLst>
              <p:tags r:id="rId2"/>
            </p:custDataLst>
          </p:nvPr>
        </p:nvGraphicFramePr>
        <p:xfrm>
          <a:off x="1259043" y="1557586"/>
          <a:ext cx="4826000" cy="1628775"/>
        </p:xfrm>
        <a:graphic>
          <a:graphicData uri="http://schemas.openxmlformats.org/drawingml/2006/table">
            <a:tbl>
              <a:tblPr firstRow="1" lastRow="1"/>
              <a:tblGrid>
                <a:gridCol w="1320800"/>
                <a:gridCol w="990600"/>
                <a:gridCol w="990600"/>
                <a:gridCol w="838200"/>
                <a:gridCol w="685800"/>
              </a:tblGrid>
              <a:tr h="180975">
                <a:tc>
                  <a:txBody>
                    <a:bodyPr/>
                    <a:lstStyle>
                      <a:lvl1pPr marL="0" algn="l" defTabSz="1219200" rtl="0" eaLnBrk="1" latinLnBrk="0" hangingPunct="1">
                        <a:defRPr sz="2400" b="1" kern="1200">
                          <a:solidFill>
                            <a:schemeClr val="lt1"/>
                          </a:solidFill>
                          <a:latin typeface="Arial" panose="020B0604020202020204"/>
                          <a:ea typeface="微软雅黑" panose="020B0503020204020204" pitchFamily="34" charset="-122"/>
                        </a:defRPr>
                      </a:lvl1pPr>
                      <a:lvl2pPr marL="609600" algn="l" defTabSz="1219200" rtl="0" eaLnBrk="1" latinLnBrk="0" hangingPunct="1">
                        <a:defRPr sz="2400" b="1" kern="1200">
                          <a:solidFill>
                            <a:schemeClr val="lt1"/>
                          </a:solidFill>
                          <a:latin typeface="Arial" panose="020B0604020202020204"/>
                          <a:ea typeface="微软雅黑" panose="020B0503020204020204" pitchFamily="34" charset="-122"/>
                        </a:defRPr>
                      </a:lvl2pPr>
                      <a:lvl3pPr marL="1219200" algn="l" defTabSz="1219200" rtl="0" eaLnBrk="1" latinLnBrk="0" hangingPunct="1">
                        <a:defRPr sz="2400" b="1" kern="1200">
                          <a:solidFill>
                            <a:schemeClr val="lt1"/>
                          </a:solidFill>
                          <a:latin typeface="Arial" panose="020B0604020202020204"/>
                          <a:ea typeface="微软雅黑" panose="020B0503020204020204" pitchFamily="34" charset="-122"/>
                        </a:defRPr>
                      </a:lvl3pPr>
                      <a:lvl4pPr marL="1829435" algn="l" defTabSz="1219200" rtl="0" eaLnBrk="1" latinLnBrk="0" hangingPunct="1">
                        <a:defRPr sz="2400" b="1" kern="1200">
                          <a:solidFill>
                            <a:schemeClr val="lt1"/>
                          </a:solidFill>
                          <a:latin typeface="Arial" panose="020B0604020202020204"/>
                          <a:ea typeface="微软雅黑" panose="020B0503020204020204" pitchFamily="34" charset="-122"/>
                        </a:defRPr>
                      </a:lvl4pPr>
                      <a:lvl5pPr marL="2439035" algn="l" defTabSz="1219200" rtl="0" eaLnBrk="1" latinLnBrk="0" hangingPunct="1">
                        <a:defRPr sz="2400" b="1" kern="1200">
                          <a:solidFill>
                            <a:schemeClr val="lt1"/>
                          </a:solidFill>
                          <a:latin typeface="Arial" panose="020B0604020202020204"/>
                          <a:ea typeface="微软雅黑" panose="020B0503020204020204" pitchFamily="34" charset="-122"/>
                        </a:defRPr>
                      </a:lvl5pPr>
                      <a:lvl6pPr marL="3048635" algn="l" defTabSz="1219200" rtl="0" eaLnBrk="1" latinLnBrk="0" hangingPunct="1">
                        <a:defRPr sz="2400" b="1" kern="1200">
                          <a:solidFill>
                            <a:schemeClr val="lt1"/>
                          </a:solidFill>
                          <a:latin typeface="Arial" panose="020B0604020202020204"/>
                          <a:ea typeface="微软雅黑" panose="020B0503020204020204" pitchFamily="34" charset="-122"/>
                        </a:defRPr>
                      </a:lvl6pPr>
                      <a:lvl7pPr marL="3658235" algn="l" defTabSz="1219200" rtl="0" eaLnBrk="1" latinLnBrk="0" hangingPunct="1">
                        <a:defRPr sz="2400" b="1" kern="1200">
                          <a:solidFill>
                            <a:schemeClr val="lt1"/>
                          </a:solidFill>
                          <a:latin typeface="Arial" panose="020B0604020202020204"/>
                          <a:ea typeface="微软雅黑" panose="020B0503020204020204" pitchFamily="34" charset="-122"/>
                        </a:defRPr>
                      </a:lvl7pPr>
                      <a:lvl8pPr marL="4267835" algn="l" defTabSz="1219200" rtl="0" eaLnBrk="1" latinLnBrk="0" hangingPunct="1">
                        <a:defRPr sz="2400" b="1" kern="1200">
                          <a:solidFill>
                            <a:schemeClr val="lt1"/>
                          </a:solidFill>
                          <a:latin typeface="Arial" panose="020B0604020202020204"/>
                          <a:ea typeface="微软雅黑" panose="020B0503020204020204" pitchFamily="34" charset="-122"/>
                        </a:defRPr>
                      </a:lvl8pPr>
                      <a:lvl9pPr marL="4878070" algn="l" defTabSz="1219200" rtl="0" eaLnBrk="1" latinLnBrk="0" hangingPunct="1">
                        <a:defRPr sz="2400" b="1" kern="1200">
                          <a:solidFill>
                            <a:schemeClr val="lt1"/>
                          </a:solidFill>
                          <a:latin typeface="Arial" panose="020B0604020202020204"/>
                          <a:ea typeface="微软雅黑" panose="020B0503020204020204" pitchFamily="34" charset="-122"/>
                        </a:defRPr>
                      </a:lvl9pPr>
                    </a:lstStyle>
                    <a:p>
                      <a:pPr algn="l" fontAlgn="b"/>
                      <a:r>
                        <a:rPr lang="zh-CN" altLang="en-US" sz="1100" u="none" strike="noStrike" dirty="0">
                          <a:effectLst/>
                        </a:rPr>
                        <a:t>　</a:t>
                      </a:r>
                      <a:endParaRPr lang="zh-CN" altLang="en-US"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BF00"/>
                    </a:solidFill>
                  </a:tcPr>
                </a:tc>
                <a:tc>
                  <a:txBody>
                    <a:bodyPr/>
                    <a:lstStyle>
                      <a:lvl1pPr marL="0" algn="l" defTabSz="1219200" rtl="0" eaLnBrk="1" latinLnBrk="0" hangingPunct="1">
                        <a:defRPr sz="2400" b="1" kern="1200">
                          <a:solidFill>
                            <a:schemeClr val="lt1"/>
                          </a:solidFill>
                          <a:latin typeface="Arial" panose="020B0604020202020204"/>
                          <a:ea typeface="微软雅黑" panose="020B0503020204020204" pitchFamily="34" charset="-122"/>
                        </a:defRPr>
                      </a:lvl1pPr>
                      <a:lvl2pPr marL="609600" algn="l" defTabSz="1219200" rtl="0" eaLnBrk="1" latinLnBrk="0" hangingPunct="1">
                        <a:defRPr sz="2400" b="1" kern="1200">
                          <a:solidFill>
                            <a:schemeClr val="lt1"/>
                          </a:solidFill>
                          <a:latin typeface="Arial" panose="020B0604020202020204"/>
                          <a:ea typeface="微软雅黑" panose="020B0503020204020204" pitchFamily="34" charset="-122"/>
                        </a:defRPr>
                      </a:lvl2pPr>
                      <a:lvl3pPr marL="1219200" algn="l" defTabSz="1219200" rtl="0" eaLnBrk="1" latinLnBrk="0" hangingPunct="1">
                        <a:defRPr sz="2400" b="1" kern="1200">
                          <a:solidFill>
                            <a:schemeClr val="lt1"/>
                          </a:solidFill>
                          <a:latin typeface="Arial" panose="020B0604020202020204"/>
                          <a:ea typeface="微软雅黑" panose="020B0503020204020204" pitchFamily="34" charset="-122"/>
                        </a:defRPr>
                      </a:lvl3pPr>
                      <a:lvl4pPr marL="1829435" algn="l" defTabSz="1219200" rtl="0" eaLnBrk="1" latinLnBrk="0" hangingPunct="1">
                        <a:defRPr sz="2400" b="1" kern="1200">
                          <a:solidFill>
                            <a:schemeClr val="lt1"/>
                          </a:solidFill>
                          <a:latin typeface="Arial" panose="020B0604020202020204"/>
                          <a:ea typeface="微软雅黑" panose="020B0503020204020204" pitchFamily="34" charset="-122"/>
                        </a:defRPr>
                      </a:lvl4pPr>
                      <a:lvl5pPr marL="2439035" algn="l" defTabSz="1219200" rtl="0" eaLnBrk="1" latinLnBrk="0" hangingPunct="1">
                        <a:defRPr sz="2400" b="1" kern="1200">
                          <a:solidFill>
                            <a:schemeClr val="lt1"/>
                          </a:solidFill>
                          <a:latin typeface="Arial" panose="020B0604020202020204"/>
                          <a:ea typeface="微软雅黑" panose="020B0503020204020204" pitchFamily="34" charset="-122"/>
                        </a:defRPr>
                      </a:lvl5pPr>
                      <a:lvl6pPr marL="3048635" algn="l" defTabSz="1219200" rtl="0" eaLnBrk="1" latinLnBrk="0" hangingPunct="1">
                        <a:defRPr sz="2400" b="1" kern="1200">
                          <a:solidFill>
                            <a:schemeClr val="lt1"/>
                          </a:solidFill>
                          <a:latin typeface="Arial" panose="020B0604020202020204"/>
                          <a:ea typeface="微软雅黑" panose="020B0503020204020204" pitchFamily="34" charset="-122"/>
                        </a:defRPr>
                      </a:lvl6pPr>
                      <a:lvl7pPr marL="3658235" algn="l" defTabSz="1219200" rtl="0" eaLnBrk="1" latinLnBrk="0" hangingPunct="1">
                        <a:defRPr sz="2400" b="1" kern="1200">
                          <a:solidFill>
                            <a:schemeClr val="lt1"/>
                          </a:solidFill>
                          <a:latin typeface="Arial" panose="020B0604020202020204"/>
                          <a:ea typeface="微软雅黑" panose="020B0503020204020204" pitchFamily="34" charset="-122"/>
                        </a:defRPr>
                      </a:lvl7pPr>
                      <a:lvl8pPr marL="4267835" algn="l" defTabSz="1219200" rtl="0" eaLnBrk="1" latinLnBrk="0" hangingPunct="1">
                        <a:defRPr sz="2400" b="1" kern="1200">
                          <a:solidFill>
                            <a:schemeClr val="lt1"/>
                          </a:solidFill>
                          <a:latin typeface="Arial" panose="020B0604020202020204"/>
                          <a:ea typeface="微软雅黑" panose="020B0503020204020204" pitchFamily="34" charset="-122"/>
                        </a:defRPr>
                      </a:lvl8pPr>
                      <a:lvl9pPr marL="4878070" algn="l" defTabSz="1219200" rtl="0" eaLnBrk="1" latinLnBrk="0" hangingPunct="1">
                        <a:defRPr sz="2400" b="1" kern="1200">
                          <a:solidFill>
                            <a:schemeClr val="lt1"/>
                          </a:solidFill>
                          <a:latin typeface="Arial" panose="020B0604020202020204"/>
                          <a:ea typeface="微软雅黑" panose="020B0503020204020204" pitchFamily="34" charset="-122"/>
                        </a:defRPr>
                      </a:lvl9pPr>
                    </a:lstStyle>
                    <a:p>
                      <a:pPr algn="ctr" fontAlgn="b"/>
                      <a:r>
                        <a:rPr lang="zh-CN" altLang="en-US" sz="1100" u="none" strike="noStrike" dirty="0">
                          <a:solidFill>
                            <a:srgbClr val="FF0000"/>
                          </a:solidFill>
                          <a:effectLst/>
                        </a:rPr>
                        <a:t>有字段无数据</a:t>
                      </a:r>
                      <a:endParaRPr lang="zh-CN" altLang="en-US" sz="1100" b="0" i="0" u="none" strike="noStrike" dirty="0">
                        <a:solidFill>
                          <a:srgbClr val="FF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BF00"/>
                    </a:solidFill>
                  </a:tcPr>
                </a:tc>
                <a:tc>
                  <a:txBody>
                    <a:bodyPr/>
                    <a:lstStyle>
                      <a:lvl1pPr marL="0" algn="l" defTabSz="1219200" rtl="0" eaLnBrk="1" latinLnBrk="0" hangingPunct="1">
                        <a:defRPr sz="2400" b="1" kern="1200">
                          <a:solidFill>
                            <a:schemeClr val="lt1"/>
                          </a:solidFill>
                          <a:latin typeface="Arial" panose="020B0604020202020204"/>
                          <a:ea typeface="微软雅黑" panose="020B0503020204020204" pitchFamily="34" charset="-122"/>
                        </a:defRPr>
                      </a:lvl1pPr>
                      <a:lvl2pPr marL="609600" algn="l" defTabSz="1219200" rtl="0" eaLnBrk="1" latinLnBrk="0" hangingPunct="1">
                        <a:defRPr sz="2400" b="1" kern="1200">
                          <a:solidFill>
                            <a:schemeClr val="lt1"/>
                          </a:solidFill>
                          <a:latin typeface="Arial" panose="020B0604020202020204"/>
                          <a:ea typeface="微软雅黑" panose="020B0503020204020204" pitchFamily="34" charset="-122"/>
                        </a:defRPr>
                      </a:lvl2pPr>
                      <a:lvl3pPr marL="1219200" algn="l" defTabSz="1219200" rtl="0" eaLnBrk="1" latinLnBrk="0" hangingPunct="1">
                        <a:defRPr sz="2400" b="1" kern="1200">
                          <a:solidFill>
                            <a:schemeClr val="lt1"/>
                          </a:solidFill>
                          <a:latin typeface="Arial" panose="020B0604020202020204"/>
                          <a:ea typeface="微软雅黑" panose="020B0503020204020204" pitchFamily="34" charset="-122"/>
                        </a:defRPr>
                      </a:lvl3pPr>
                      <a:lvl4pPr marL="1829435" algn="l" defTabSz="1219200" rtl="0" eaLnBrk="1" latinLnBrk="0" hangingPunct="1">
                        <a:defRPr sz="2400" b="1" kern="1200">
                          <a:solidFill>
                            <a:schemeClr val="lt1"/>
                          </a:solidFill>
                          <a:latin typeface="Arial" panose="020B0604020202020204"/>
                          <a:ea typeface="微软雅黑" panose="020B0503020204020204" pitchFamily="34" charset="-122"/>
                        </a:defRPr>
                      </a:lvl4pPr>
                      <a:lvl5pPr marL="2439035" algn="l" defTabSz="1219200" rtl="0" eaLnBrk="1" latinLnBrk="0" hangingPunct="1">
                        <a:defRPr sz="2400" b="1" kern="1200">
                          <a:solidFill>
                            <a:schemeClr val="lt1"/>
                          </a:solidFill>
                          <a:latin typeface="Arial" panose="020B0604020202020204"/>
                          <a:ea typeface="微软雅黑" panose="020B0503020204020204" pitchFamily="34" charset="-122"/>
                        </a:defRPr>
                      </a:lvl5pPr>
                      <a:lvl6pPr marL="3048635" algn="l" defTabSz="1219200" rtl="0" eaLnBrk="1" latinLnBrk="0" hangingPunct="1">
                        <a:defRPr sz="2400" b="1" kern="1200">
                          <a:solidFill>
                            <a:schemeClr val="lt1"/>
                          </a:solidFill>
                          <a:latin typeface="Arial" panose="020B0604020202020204"/>
                          <a:ea typeface="微软雅黑" panose="020B0503020204020204" pitchFamily="34" charset="-122"/>
                        </a:defRPr>
                      </a:lvl6pPr>
                      <a:lvl7pPr marL="3658235" algn="l" defTabSz="1219200" rtl="0" eaLnBrk="1" latinLnBrk="0" hangingPunct="1">
                        <a:defRPr sz="2400" b="1" kern="1200">
                          <a:solidFill>
                            <a:schemeClr val="lt1"/>
                          </a:solidFill>
                          <a:latin typeface="Arial" panose="020B0604020202020204"/>
                          <a:ea typeface="微软雅黑" panose="020B0503020204020204" pitchFamily="34" charset="-122"/>
                        </a:defRPr>
                      </a:lvl7pPr>
                      <a:lvl8pPr marL="4267835" algn="l" defTabSz="1219200" rtl="0" eaLnBrk="1" latinLnBrk="0" hangingPunct="1">
                        <a:defRPr sz="2400" b="1" kern="1200">
                          <a:solidFill>
                            <a:schemeClr val="lt1"/>
                          </a:solidFill>
                          <a:latin typeface="Arial" panose="020B0604020202020204"/>
                          <a:ea typeface="微软雅黑" panose="020B0503020204020204" pitchFamily="34" charset="-122"/>
                        </a:defRPr>
                      </a:lvl8pPr>
                      <a:lvl9pPr marL="4878070" algn="l" defTabSz="1219200" rtl="0" eaLnBrk="1" latinLnBrk="0" hangingPunct="1">
                        <a:defRPr sz="2400" b="1" kern="1200">
                          <a:solidFill>
                            <a:schemeClr val="lt1"/>
                          </a:solidFill>
                          <a:latin typeface="Arial" panose="020B0604020202020204"/>
                          <a:ea typeface="微软雅黑" panose="020B0503020204020204" pitchFamily="34" charset="-122"/>
                        </a:defRPr>
                      </a:lvl9pPr>
                    </a:lstStyle>
                    <a:p>
                      <a:pPr algn="ctr" fontAlgn="b"/>
                      <a:r>
                        <a:rPr lang="zh-CN" altLang="en-US" sz="1100" u="none" strike="noStrike">
                          <a:solidFill>
                            <a:srgbClr val="FF0000"/>
                          </a:solidFill>
                          <a:effectLst/>
                        </a:rPr>
                        <a:t>无字段无数据</a:t>
                      </a:r>
                      <a:endParaRPr lang="zh-CN" altLang="en-US" sz="1100" b="0" i="0" u="none" strike="noStrike">
                        <a:solidFill>
                          <a:srgbClr val="FF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BF00"/>
                    </a:solidFill>
                  </a:tcPr>
                </a:tc>
                <a:tc>
                  <a:txBody>
                    <a:bodyPr/>
                    <a:lstStyle>
                      <a:lvl1pPr marL="0" algn="l" defTabSz="1219200" rtl="0" eaLnBrk="1" latinLnBrk="0" hangingPunct="1">
                        <a:defRPr sz="2400" b="1" kern="1200">
                          <a:solidFill>
                            <a:schemeClr val="lt1"/>
                          </a:solidFill>
                          <a:latin typeface="Arial" panose="020B0604020202020204"/>
                          <a:ea typeface="微软雅黑" panose="020B0503020204020204" pitchFamily="34" charset="-122"/>
                        </a:defRPr>
                      </a:lvl1pPr>
                      <a:lvl2pPr marL="609600" algn="l" defTabSz="1219200" rtl="0" eaLnBrk="1" latinLnBrk="0" hangingPunct="1">
                        <a:defRPr sz="2400" b="1" kern="1200">
                          <a:solidFill>
                            <a:schemeClr val="lt1"/>
                          </a:solidFill>
                          <a:latin typeface="Arial" panose="020B0604020202020204"/>
                          <a:ea typeface="微软雅黑" panose="020B0503020204020204" pitchFamily="34" charset="-122"/>
                        </a:defRPr>
                      </a:lvl2pPr>
                      <a:lvl3pPr marL="1219200" algn="l" defTabSz="1219200" rtl="0" eaLnBrk="1" latinLnBrk="0" hangingPunct="1">
                        <a:defRPr sz="2400" b="1" kern="1200">
                          <a:solidFill>
                            <a:schemeClr val="lt1"/>
                          </a:solidFill>
                          <a:latin typeface="Arial" panose="020B0604020202020204"/>
                          <a:ea typeface="微软雅黑" panose="020B0503020204020204" pitchFamily="34" charset="-122"/>
                        </a:defRPr>
                      </a:lvl3pPr>
                      <a:lvl4pPr marL="1829435" algn="l" defTabSz="1219200" rtl="0" eaLnBrk="1" latinLnBrk="0" hangingPunct="1">
                        <a:defRPr sz="2400" b="1" kern="1200">
                          <a:solidFill>
                            <a:schemeClr val="lt1"/>
                          </a:solidFill>
                          <a:latin typeface="Arial" panose="020B0604020202020204"/>
                          <a:ea typeface="微软雅黑" panose="020B0503020204020204" pitchFamily="34" charset="-122"/>
                        </a:defRPr>
                      </a:lvl4pPr>
                      <a:lvl5pPr marL="2439035" algn="l" defTabSz="1219200" rtl="0" eaLnBrk="1" latinLnBrk="0" hangingPunct="1">
                        <a:defRPr sz="2400" b="1" kern="1200">
                          <a:solidFill>
                            <a:schemeClr val="lt1"/>
                          </a:solidFill>
                          <a:latin typeface="Arial" panose="020B0604020202020204"/>
                          <a:ea typeface="微软雅黑" panose="020B0503020204020204" pitchFamily="34" charset="-122"/>
                        </a:defRPr>
                      </a:lvl5pPr>
                      <a:lvl6pPr marL="3048635" algn="l" defTabSz="1219200" rtl="0" eaLnBrk="1" latinLnBrk="0" hangingPunct="1">
                        <a:defRPr sz="2400" b="1" kern="1200">
                          <a:solidFill>
                            <a:schemeClr val="lt1"/>
                          </a:solidFill>
                          <a:latin typeface="Arial" panose="020B0604020202020204"/>
                          <a:ea typeface="微软雅黑" panose="020B0503020204020204" pitchFamily="34" charset="-122"/>
                        </a:defRPr>
                      </a:lvl6pPr>
                      <a:lvl7pPr marL="3658235" algn="l" defTabSz="1219200" rtl="0" eaLnBrk="1" latinLnBrk="0" hangingPunct="1">
                        <a:defRPr sz="2400" b="1" kern="1200">
                          <a:solidFill>
                            <a:schemeClr val="lt1"/>
                          </a:solidFill>
                          <a:latin typeface="Arial" panose="020B0604020202020204"/>
                          <a:ea typeface="微软雅黑" panose="020B0503020204020204" pitchFamily="34" charset="-122"/>
                        </a:defRPr>
                      </a:lvl7pPr>
                      <a:lvl8pPr marL="4267835" algn="l" defTabSz="1219200" rtl="0" eaLnBrk="1" latinLnBrk="0" hangingPunct="1">
                        <a:defRPr sz="2400" b="1" kern="1200">
                          <a:solidFill>
                            <a:schemeClr val="lt1"/>
                          </a:solidFill>
                          <a:latin typeface="Arial" panose="020B0604020202020204"/>
                          <a:ea typeface="微软雅黑" panose="020B0503020204020204" pitchFamily="34" charset="-122"/>
                        </a:defRPr>
                      </a:lvl8pPr>
                      <a:lvl9pPr marL="4878070" algn="l" defTabSz="1219200" rtl="0" eaLnBrk="1" latinLnBrk="0" hangingPunct="1">
                        <a:defRPr sz="2400" b="1" kern="1200">
                          <a:solidFill>
                            <a:schemeClr val="lt1"/>
                          </a:solidFill>
                          <a:latin typeface="Arial" panose="020B0604020202020204"/>
                          <a:ea typeface="微软雅黑" panose="020B0503020204020204" pitchFamily="34" charset="-122"/>
                        </a:defRPr>
                      </a:lvl9pPr>
                    </a:lstStyle>
                    <a:p>
                      <a:pPr algn="ctr" fontAlgn="b"/>
                      <a:r>
                        <a:rPr lang="zh-CN" altLang="en-US" sz="1100" u="none" strike="noStrike" dirty="0">
                          <a:solidFill>
                            <a:srgbClr val="FF0000"/>
                          </a:solidFill>
                          <a:effectLst/>
                        </a:rPr>
                        <a:t>无表</a:t>
                      </a:r>
                      <a:endParaRPr lang="zh-CN" altLang="en-US" sz="1100" b="0" i="0" u="none" strike="noStrike" dirty="0">
                        <a:solidFill>
                          <a:srgbClr val="FF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BF00"/>
                    </a:solidFill>
                  </a:tcPr>
                </a:tc>
                <a:tc>
                  <a:txBody>
                    <a:bodyPr/>
                    <a:lstStyle>
                      <a:lvl1pPr marL="0" algn="l" defTabSz="1219200" rtl="0" eaLnBrk="1" latinLnBrk="0" hangingPunct="1">
                        <a:defRPr sz="2400" b="1" kern="1200">
                          <a:solidFill>
                            <a:schemeClr val="lt1"/>
                          </a:solidFill>
                          <a:latin typeface="Arial" panose="020B0604020202020204"/>
                          <a:ea typeface="微软雅黑" panose="020B0503020204020204" pitchFamily="34" charset="-122"/>
                        </a:defRPr>
                      </a:lvl1pPr>
                      <a:lvl2pPr marL="609600" algn="l" defTabSz="1219200" rtl="0" eaLnBrk="1" latinLnBrk="0" hangingPunct="1">
                        <a:defRPr sz="2400" b="1" kern="1200">
                          <a:solidFill>
                            <a:schemeClr val="lt1"/>
                          </a:solidFill>
                          <a:latin typeface="Arial" panose="020B0604020202020204"/>
                          <a:ea typeface="微软雅黑" panose="020B0503020204020204" pitchFamily="34" charset="-122"/>
                        </a:defRPr>
                      </a:lvl2pPr>
                      <a:lvl3pPr marL="1219200" algn="l" defTabSz="1219200" rtl="0" eaLnBrk="1" latinLnBrk="0" hangingPunct="1">
                        <a:defRPr sz="2400" b="1" kern="1200">
                          <a:solidFill>
                            <a:schemeClr val="lt1"/>
                          </a:solidFill>
                          <a:latin typeface="Arial" panose="020B0604020202020204"/>
                          <a:ea typeface="微软雅黑" panose="020B0503020204020204" pitchFamily="34" charset="-122"/>
                        </a:defRPr>
                      </a:lvl3pPr>
                      <a:lvl4pPr marL="1829435" algn="l" defTabSz="1219200" rtl="0" eaLnBrk="1" latinLnBrk="0" hangingPunct="1">
                        <a:defRPr sz="2400" b="1" kern="1200">
                          <a:solidFill>
                            <a:schemeClr val="lt1"/>
                          </a:solidFill>
                          <a:latin typeface="Arial" panose="020B0604020202020204"/>
                          <a:ea typeface="微软雅黑" panose="020B0503020204020204" pitchFamily="34" charset="-122"/>
                        </a:defRPr>
                      </a:lvl4pPr>
                      <a:lvl5pPr marL="2439035" algn="l" defTabSz="1219200" rtl="0" eaLnBrk="1" latinLnBrk="0" hangingPunct="1">
                        <a:defRPr sz="2400" b="1" kern="1200">
                          <a:solidFill>
                            <a:schemeClr val="lt1"/>
                          </a:solidFill>
                          <a:latin typeface="Arial" panose="020B0604020202020204"/>
                          <a:ea typeface="微软雅黑" panose="020B0503020204020204" pitchFamily="34" charset="-122"/>
                        </a:defRPr>
                      </a:lvl5pPr>
                      <a:lvl6pPr marL="3048635" algn="l" defTabSz="1219200" rtl="0" eaLnBrk="1" latinLnBrk="0" hangingPunct="1">
                        <a:defRPr sz="2400" b="1" kern="1200">
                          <a:solidFill>
                            <a:schemeClr val="lt1"/>
                          </a:solidFill>
                          <a:latin typeface="Arial" panose="020B0604020202020204"/>
                          <a:ea typeface="微软雅黑" panose="020B0503020204020204" pitchFamily="34" charset="-122"/>
                        </a:defRPr>
                      </a:lvl6pPr>
                      <a:lvl7pPr marL="3658235" algn="l" defTabSz="1219200" rtl="0" eaLnBrk="1" latinLnBrk="0" hangingPunct="1">
                        <a:defRPr sz="2400" b="1" kern="1200">
                          <a:solidFill>
                            <a:schemeClr val="lt1"/>
                          </a:solidFill>
                          <a:latin typeface="Arial" panose="020B0604020202020204"/>
                          <a:ea typeface="微软雅黑" panose="020B0503020204020204" pitchFamily="34" charset="-122"/>
                        </a:defRPr>
                      </a:lvl7pPr>
                      <a:lvl8pPr marL="4267835" algn="l" defTabSz="1219200" rtl="0" eaLnBrk="1" latinLnBrk="0" hangingPunct="1">
                        <a:defRPr sz="2400" b="1" kern="1200">
                          <a:solidFill>
                            <a:schemeClr val="lt1"/>
                          </a:solidFill>
                          <a:latin typeface="Arial" panose="020B0604020202020204"/>
                          <a:ea typeface="微软雅黑" panose="020B0503020204020204" pitchFamily="34" charset="-122"/>
                        </a:defRPr>
                      </a:lvl8pPr>
                      <a:lvl9pPr marL="4878070" algn="l" defTabSz="1219200" rtl="0" eaLnBrk="1" latinLnBrk="0" hangingPunct="1">
                        <a:defRPr sz="2400" b="1" kern="1200">
                          <a:solidFill>
                            <a:schemeClr val="lt1"/>
                          </a:solidFill>
                          <a:latin typeface="Arial" panose="020B0604020202020204"/>
                          <a:ea typeface="微软雅黑" panose="020B0503020204020204" pitchFamily="34" charset="-122"/>
                        </a:defRPr>
                      </a:lvl9pPr>
                    </a:lstStyle>
                    <a:p>
                      <a:pPr algn="ctr" fontAlgn="b"/>
                      <a:r>
                        <a:rPr lang="zh-CN" altLang="en-US" sz="1100" u="none" strike="noStrike" dirty="0">
                          <a:solidFill>
                            <a:srgbClr val="FF0000"/>
                          </a:solidFill>
                          <a:effectLst/>
                        </a:rPr>
                        <a:t>缺失项</a:t>
                      </a:r>
                      <a:endParaRPr lang="zh-CN" altLang="en-US" sz="1100" b="0" i="0" u="none" strike="noStrike" dirty="0">
                        <a:solidFill>
                          <a:srgbClr val="FF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BF00"/>
                    </a:solidFill>
                  </a:tcPr>
                </a:tc>
              </a:tr>
              <a:tr h="180975">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l" fontAlgn="b"/>
                      <a:r>
                        <a:rPr lang="zh-CN" altLang="en-US" sz="1100" u="none" strike="noStrike">
                          <a:effectLst/>
                        </a:rPr>
                        <a:t>　</a:t>
                      </a:r>
                      <a:endParaRPr lang="zh-CN" altLang="en-US"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zh-CN" altLang="en-US" sz="1100" u="none" strike="noStrike" dirty="0">
                          <a:effectLst/>
                        </a:rPr>
                        <a:t>有字段未录入</a:t>
                      </a:r>
                      <a:endParaRPr lang="zh-CN" altLang="en-US"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zh-CN" altLang="en-US" sz="1100" u="none" strike="noStrike" dirty="0">
                          <a:effectLst/>
                        </a:rPr>
                        <a:t>有表无字段</a:t>
                      </a:r>
                      <a:endParaRPr lang="zh-CN" altLang="en-US"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zh-CN" altLang="en-US" sz="1100" u="none" strike="noStrike" dirty="0">
                          <a:effectLst/>
                        </a:rPr>
                        <a:t>未设计表</a:t>
                      </a:r>
                      <a:endParaRPr lang="zh-CN" altLang="en-US"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zh-CN" altLang="en-US" sz="1100" u="none" strike="noStrike" dirty="0">
                          <a:effectLst/>
                        </a:rPr>
                        <a:t>合计</a:t>
                      </a:r>
                      <a:endParaRPr lang="zh-CN" altLang="en-US"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r>
              <a:tr h="180975">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l" fontAlgn="b"/>
                      <a:r>
                        <a:rPr lang="zh-CN" altLang="en-US" sz="1100" u="none" strike="noStrike">
                          <a:effectLst/>
                        </a:rPr>
                        <a:t>人事处</a:t>
                      </a:r>
                      <a:endParaRPr lang="zh-CN" altLang="en-US"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dirty="0">
                          <a:effectLst/>
                        </a:rPr>
                        <a:t>55</a:t>
                      </a:r>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a:effectLst/>
                        </a:rPr>
                        <a:t>6</a:t>
                      </a:r>
                      <a:endParaRPr lang="en-US" altLang="zh-CN"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a:effectLst/>
                        </a:rPr>
                        <a:t>131</a:t>
                      </a:r>
                      <a:endParaRPr lang="en-US" altLang="zh-CN"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r>
              <a:tr h="180975">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l" fontAlgn="b"/>
                      <a:r>
                        <a:rPr lang="zh-CN" altLang="en-US" sz="1100" u="none" strike="noStrike">
                          <a:effectLst/>
                        </a:rPr>
                        <a:t>教务处</a:t>
                      </a:r>
                      <a:endParaRPr lang="zh-CN" altLang="en-US"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dirty="0">
                          <a:effectLst/>
                        </a:rPr>
                        <a:t>85</a:t>
                      </a:r>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a:effectLst/>
                        </a:rPr>
                        <a:t>13</a:t>
                      </a:r>
                      <a:endParaRPr lang="en-US" altLang="zh-CN"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a:effectLst/>
                        </a:rPr>
                        <a:t>3</a:t>
                      </a:r>
                      <a:endParaRPr lang="en-US" altLang="zh-CN"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r>
              <a:tr h="180975">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l" fontAlgn="b"/>
                      <a:r>
                        <a:rPr lang="zh-CN" altLang="en-US" sz="1100" u="none" strike="noStrike">
                          <a:effectLst/>
                        </a:rPr>
                        <a:t>学工（含招就）</a:t>
                      </a:r>
                      <a:endParaRPr lang="zh-CN" altLang="en-US"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dirty="0">
                          <a:effectLst/>
                        </a:rPr>
                        <a:t>47</a:t>
                      </a:r>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dirty="0">
                          <a:effectLst/>
                        </a:rPr>
                        <a:t>89</a:t>
                      </a:r>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a:effectLst/>
                        </a:rPr>
                        <a:t>51</a:t>
                      </a:r>
                      <a:endParaRPr lang="en-US" altLang="zh-CN"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r>
              <a:tr h="180975">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l" fontAlgn="b"/>
                      <a:r>
                        <a:rPr lang="zh-CN" altLang="en-US" sz="1100" u="none" strike="noStrike">
                          <a:effectLst/>
                        </a:rPr>
                        <a:t>科研</a:t>
                      </a:r>
                      <a:endParaRPr lang="zh-CN" altLang="en-US"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a:effectLst/>
                        </a:rPr>
                        <a:t>85</a:t>
                      </a:r>
                      <a:endParaRPr lang="en-US" altLang="zh-CN"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dirty="0">
                          <a:effectLst/>
                        </a:rPr>
                        <a:t>1</a:t>
                      </a:r>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a:effectLst/>
                        </a:rPr>
                        <a:t>0</a:t>
                      </a:r>
                      <a:endParaRPr lang="en-US" altLang="zh-CN"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r>
              <a:tr h="180975">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l" fontAlgn="b"/>
                      <a:r>
                        <a:rPr lang="zh-CN" altLang="en-US" sz="1100" u="none" strike="noStrike">
                          <a:effectLst/>
                        </a:rPr>
                        <a:t>研究生</a:t>
                      </a:r>
                      <a:endParaRPr lang="zh-CN" altLang="en-US"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a:effectLst/>
                        </a:rPr>
                        <a:t>121</a:t>
                      </a:r>
                      <a:endParaRPr lang="en-US" altLang="zh-CN"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dirty="0">
                          <a:effectLst/>
                        </a:rPr>
                        <a:t>57</a:t>
                      </a:r>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dirty="0">
                          <a:effectLst/>
                        </a:rPr>
                        <a:t>0</a:t>
                      </a:r>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BF00">
                        <a:tint val="20000"/>
                      </a:srgbClr>
                    </a:solidFill>
                  </a:tcPr>
                </a:tc>
              </a:tr>
              <a:tr h="180975">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l" fontAlgn="b"/>
                      <a:r>
                        <a:rPr lang="zh-CN" altLang="en-US" sz="1100" u="none" strike="noStrike">
                          <a:effectLst/>
                        </a:rPr>
                        <a:t>国资（含设备处）</a:t>
                      </a:r>
                      <a:endParaRPr lang="zh-CN" altLang="en-US"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a:effectLst/>
                        </a:rPr>
                        <a:t>41</a:t>
                      </a:r>
                      <a:endParaRPr lang="en-US" altLang="zh-CN"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a:effectLst/>
                        </a:rPr>
                        <a:t>10</a:t>
                      </a:r>
                      <a:endParaRPr lang="en-US" altLang="zh-CN"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r>
                        <a:rPr lang="en-US" altLang="zh-CN" sz="1100" u="none" strike="noStrike" dirty="0">
                          <a:effectLst/>
                        </a:rPr>
                        <a:t>16</a:t>
                      </a:r>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BF00">
                        <a:tint val="20000"/>
                      </a:srgbClr>
                    </a:solidFill>
                  </a:tcPr>
                </a:tc>
                <a:tc>
                  <a:txBody>
                    <a:bodyPr/>
                    <a:lstStyle>
                      <a:lvl1pPr marL="0" algn="l" defTabSz="1219200" rtl="0" eaLnBrk="1" latinLnBrk="0" hangingPunct="1">
                        <a:defRPr sz="2400" kern="1200">
                          <a:solidFill>
                            <a:schemeClr val="dk1"/>
                          </a:solidFill>
                          <a:latin typeface="Arial" panose="020B0604020202020204"/>
                          <a:ea typeface="微软雅黑" panose="020B0503020204020204" pitchFamily="34" charset="-122"/>
                        </a:defRPr>
                      </a:lvl1pPr>
                      <a:lvl2pPr marL="609600" algn="l" defTabSz="1219200" rtl="0" eaLnBrk="1" latinLnBrk="0" hangingPunct="1">
                        <a:defRPr sz="2400" kern="1200">
                          <a:solidFill>
                            <a:schemeClr val="dk1"/>
                          </a:solidFill>
                          <a:latin typeface="Arial" panose="020B0604020202020204"/>
                          <a:ea typeface="微软雅黑" panose="020B0503020204020204" pitchFamily="34" charset="-122"/>
                        </a:defRPr>
                      </a:lvl2pPr>
                      <a:lvl3pPr marL="1219200" algn="l" defTabSz="1219200" rtl="0" eaLnBrk="1" latinLnBrk="0" hangingPunct="1">
                        <a:defRPr sz="2400" kern="1200">
                          <a:solidFill>
                            <a:schemeClr val="dk1"/>
                          </a:solidFill>
                          <a:latin typeface="Arial" panose="020B0604020202020204"/>
                          <a:ea typeface="微软雅黑" panose="020B0503020204020204" pitchFamily="34" charset="-122"/>
                        </a:defRPr>
                      </a:lvl3pPr>
                      <a:lvl4pPr marL="1829435" algn="l" defTabSz="1219200" rtl="0" eaLnBrk="1" latinLnBrk="0" hangingPunct="1">
                        <a:defRPr sz="2400" kern="1200">
                          <a:solidFill>
                            <a:schemeClr val="dk1"/>
                          </a:solidFill>
                          <a:latin typeface="Arial" panose="020B0604020202020204"/>
                          <a:ea typeface="微软雅黑" panose="020B0503020204020204" pitchFamily="34" charset="-122"/>
                        </a:defRPr>
                      </a:lvl4pPr>
                      <a:lvl5pPr marL="2439035" algn="l" defTabSz="1219200" rtl="0" eaLnBrk="1" latinLnBrk="0" hangingPunct="1">
                        <a:defRPr sz="2400" kern="1200">
                          <a:solidFill>
                            <a:schemeClr val="dk1"/>
                          </a:solidFill>
                          <a:latin typeface="Arial" panose="020B0604020202020204"/>
                          <a:ea typeface="微软雅黑" panose="020B0503020204020204" pitchFamily="34" charset="-122"/>
                        </a:defRPr>
                      </a:lvl5pPr>
                      <a:lvl6pPr marL="3048635" algn="l" defTabSz="1219200" rtl="0" eaLnBrk="1" latinLnBrk="0" hangingPunct="1">
                        <a:defRPr sz="2400" kern="1200">
                          <a:solidFill>
                            <a:schemeClr val="dk1"/>
                          </a:solidFill>
                          <a:latin typeface="Arial" panose="020B0604020202020204"/>
                          <a:ea typeface="微软雅黑" panose="020B0503020204020204" pitchFamily="34" charset="-122"/>
                        </a:defRPr>
                      </a:lvl6pPr>
                      <a:lvl7pPr marL="3658235" algn="l" defTabSz="1219200" rtl="0" eaLnBrk="1" latinLnBrk="0" hangingPunct="1">
                        <a:defRPr sz="2400" kern="1200">
                          <a:solidFill>
                            <a:schemeClr val="dk1"/>
                          </a:solidFill>
                          <a:latin typeface="Arial" panose="020B0604020202020204"/>
                          <a:ea typeface="微软雅黑" panose="020B0503020204020204" pitchFamily="34" charset="-122"/>
                        </a:defRPr>
                      </a:lvl7pPr>
                      <a:lvl8pPr marL="4267835" algn="l" defTabSz="1219200" rtl="0" eaLnBrk="1" latinLnBrk="0" hangingPunct="1">
                        <a:defRPr sz="2400" kern="1200">
                          <a:solidFill>
                            <a:schemeClr val="dk1"/>
                          </a:solidFill>
                          <a:latin typeface="Arial" panose="020B0604020202020204"/>
                          <a:ea typeface="微软雅黑" panose="020B0503020204020204" pitchFamily="34" charset="-122"/>
                        </a:defRPr>
                      </a:lvl8pPr>
                      <a:lvl9pPr marL="4878070" algn="l" defTabSz="1219200" rtl="0" eaLnBrk="1" latinLnBrk="0" hangingPunct="1">
                        <a:defRPr sz="2400" kern="1200">
                          <a:solidFill>
                            <a:schemeClr val="dk1"/>
                          </a:solidFill>
                          <a:latin typeface="Arial" panose="020B0604020202020204"/>
                          <a:ea typeface="微软雅黑" panose="020B0503020204020204" pitchFamily="34" charset="-122"/>
                        </a:defRPr>
                      </a:lvl9pPr>
                    </a:lstStyle>
                    <a:p>
                      <a:pPr algn="ctr" fontAlgn="b"/>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BF00">
                        <a:tint val="20000"/>
                      </a:srgbClr>
                    </a:solidFill>
                  </a:tcPr>
                </a:tc>
              </a:tr>
              <a:tr h="180975">
                <a:tc>
                  <a:txBody>
                    <a:bodyPr/>
                    <a:lstStyle>
                      <a:lvl1pPr marL="0" algn="l" defTabSz="1219200" rtl="0" eaLnBrk="1" latinLnBrk="0" hangingPunct="1">
                        <a:defRPr sz="2400" b="1" kern="1200">
                          <a:solidFill>
                            <a:schemeClr val="lt1"/>
                          </a:solidFill>
                          <a:latin typeface="Arial" panose="020B0604020202020204"/>
                          <a:ea typeface="微软雅黑" panose="020B0503020204020204" pitchFamily="34" charset="-122"/>
                        </a:defRPr>
                      </a:lvl1pPr>
                      <a:lvl2pPr marL="609600" algn="l" defTabSz="1219200" rtl="0" eaLnBrk="1" latinLnBrk="0" hangingPunct="1">
                        <a:defRPr sz="2400" b="1" kern="1200">
                          <a:solidFill>
                            <a:schemeClr val="lt1"/>
                          </a:solidFill>
                          <a:latin typeface="Arial" panose="020B0604020202020204"/>
                          <a:ea typeface="微软雅黑" panose="020B0503020204020204" pitchFamily="34" charset="-122"/>
                        </a:defRPr>
                      </a:lvl2pPr>
                      <a:lvl3pPr marL="1219200" algn="l" defTabSz="1219200" rtl="0" eaLnBrk="1" latinLnBrk="0" hangingPunct="1">
                        <a:defRPr sz="2400" b="1" kern="1200">
                          <a:solidFill>
                            <a:schemeClr val="lt1"/>
                          </a:solidFill>
                          <a:latin typeface="Arial" panose="020B0604020202020204"/>
                          <a:ea typeface="微软雅黑" panose="020B0503020204020204" pitchFamily="34" charset="-122"/>
                        </a:defRPr>
                      </a:lvl3pPr>
                      <a:lvl4pPr marL="1829435" algn="l" defTabSz="1219200" rtl="0" eaLnBrk="1" latinLnBrk="0" hangingPunct="1">
                        <a:defRPr sz="2400" b="1" kern="1200">
                          <a:solidFill>
                            <a:schemeClr val="lt1"/>
                          </a:solidFill>
                          <a:latin typeface="Arial" panose="020B0604020202020204"/>
                          <a:ea typeface="微软雅黑" panose="020B0503020204020204" pitchFamily="34" charset="-122"/>
                        </a:defRPr>
                      </a:lvl4pPr>
                      <a:lvl5pPr marL="2439035" algn="l" defTabSz="1219200" rtl="0" eaLnBrk="1" latinLnBrk="0" hangingPunct="1">
                        <a:defRPr sz="2400" b="1" kern="1200">
                          <a:solidFill>
                            <a:schemeClr val="lt1"/>
                          </a:solidFill>
                          <a:latin typeface="Arial" panose="020B0604020202020204"/>
                          <a:ea typeface="微软雅黑" panose="020B0503020204020204" pitchFamily="34" charset="-122"/>
                        </a:defRPr>
                      </a:lvl5pPr>
                      <a:lvl6pPr marL="3048635" algn="l" defTabSz="1219200" rtl="0" eaLnBrk="1" latinLnBrk="0" hangingPunct="1">
                        <a:defRPr sz="2400" b="1" kern="1200">
                          <a:solidFill>
                            <a:schemeClr val="lt1"/>
                          </a:solidFill>
                          <a:latin typeface="Arial" panose="020B0604020202020204"/>
                          <a:ea typeface="微软雅黑" panose="020B0503020204020204" pitchFamily="34" charset="-122"/>
                        </a:defRPr>
                      </a:lvl6pPr>
                      <a:lvl7pPr marL="3658235" algn="l" defTabSz="1219200" rtl="0" eaLnBrk="1" latinLnBrk="0" hangingPunct="1">
                        <a:defRPr sz="2400" b="1" kern="1200">
                          <a:solidFill>
                            <a:schemeClr val="lt1"/>
                          </a:solidFill>
                          <a:latin typeface="Arial" panose="020B0604020202020204"/>
                          <a:ea typeface="微软雅黑" panose="020B0503020204020204" pitchFamily="34" charset="-122"/>
                        </a:defRPr>
                      </a:lvl7pPr>
                      <a:lvl8pPr marL="4267835" algn="l" defTabSz="1219200" rtl="0" eaLnBrk="1" latinLnBrk="0" hangingPunct="1">
                        <a:defRPr sz="2400" b="1" kern="1200">
                          <a:solidFill>
                            <a:schemeClr val="lt1"/>
                          </a:solidFill>
                          <a:latin typeface="Arial" panose="020B0604020202020204"/>
                          <a:ea typeface="微软雅黑" panose="020B0503020204020204" pitchFamily="34" charset="-122"/>
                        </a:defRPr>
                      </a:lvl8pPr>
                      <a:lvl9pPr marL="4878070" algn="l" defTabSz="1219200" rtl="0" eaLnBrk="1" latinLnBrk="0" hangingPunct="1">
                        <a:defRPr sz="2400" b="1" kern="1200">
                          <a:solidFill>
                            <a:schemeClr val="lt1"/>
                          </a:solidFill>
                          <a:latin typeface="Arial" panose="020B0604020202020204"/>
                          <a:ea typeface="微软雅黑" panose="020B0503020204020204" pitchFamily="34" charset="-122"/>
                        </a:defRPr>
                      </a:lvl9pPr>
                    </a:lstStyle>
                    <a:p>
                      <a:pPr algn="l" fontAlgn="b"/>
                      <a:r>
                        <a:rPr lang="zh-CN" altLang="en-US" sz="1100" u="none" strike="noStrike">
                          <a:effectLst/>
                        </a:rPr>
                        <a:t>　</a:t>
                      </a:r>
                      <a:endParaRPr lang="zh-CN" altLang="en-US" sz="1100" b="0" i="0" u="none" strike="noStrike">
                        <a:solidFill>
                          <a:srgbClr val="00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BF00"/>
                    </a:solidFill>
                  </a:tcPr>
                </a:tc>
                <a:tc>
                  <a:txBody>
                    <a:bodyPr/>
                    <a:lstStyle>
                      <a:lvl1pPr marL="0" algn="l" defTabSz="1219200" rtl="0" eaLnBrk="1" latinLnBrk="0" hangingPunct="1">
                        <a:defRPr sz="2400" b="1" kern="1200">
                          <a:solidFill>
                            <a:schemeClr val="lt1"/>
                          </a:solidFill>
                          <a:latin typeface="Arial" panose="020B0604020202020204"/>
                          <a:ea typeface="微软雅黑" panose="020B0503020204020204" pitchFamily="34" charset="-122"/>
                        </a:defRPr>
                      </a:lvl1pPr>
                      <a:lvl2pPr marL="609600" algn="l" defTabSz="1219200" rtl="0" eaLnBrk="1" latinLnBrk="0" hangingPunct="1">
                        <a:defRPr sz="2400" b="1" kern="1200">
                          <a:solidFill>
                            <a:schemeClr val="lt1"/>
                          </a:solidFill>
                          <a:latin typeface="Arial" panose="020B0604020202020204"/>
                          <a:ea typeface="微软雅黑" panose="020B0503020204020204" pitchFamily="34" charset="-122"/>
                        </a:defRPr>
                      </a:lvl2pPr>
                      <a:lvl3pPr marL="1219200" algn="l" defTabSz="1219200" rtl="0" eaLnBrk="1" latinLnBrk="0" hangingPunct="1">
                        <a:defRPr sz="2400" b="1" kern="1200">
                          <a:solidFill>
                            <a:schemeClr val="lt1"/>
                          </a:solidFill>
                          <a:latin typeface="Arial" panose="020B0604020202020204"/>
                          <a:ea typeface="微软雅黑" panose="020B0503020204020204" pitchFamily="34" charset="-122"/>
                        </a:defRPr>
                      </a:lvl3pPr>
                      <a:lvl4pPr marL="1829435" algn="l" defTabSz="1219200" rtl="0" eaLnBrk="1" latinLnBrk="0" hangingPunct="1">
                        <a:defRPr sz="2400" b="1" kern="1200">
                          <a:solidFill>
                            <a:schemeClr val="lt1"/>
                          </a:solidFill>
                          <a:latin typeface="Arial" panose="020B0604020202020204"/>
                          <a:ea typeface="微软雅黑" panose="020B0503020204020204" pitchFamily="34" charset="-122"/>
                        </a:defRPr>
                      </a:lvl4pPr>
                      <a:lvl5pPr marL="2439035" algn="l" defTabSz="1219200" rtl="0" eaLnBrk="1" latinLnBrk="0" hangingPunct="1">
                        <a:defRPr sz="2400" b="1" kern="1200">
                          <a:solidFill>
                            <a:schemeClr val="lt1"/>
                          </a:solidFill>
                          <a:latin typeface="Arial" panose="020B0604020202020204"/>
                          <a:ea typeface="微软雅黑" panose="020B0503020204020204" pitchFamily="34" charset="-122"/>
                        </a:defRPr>
                      </a:lvl5pPr>
                      <a:lvl6pPr marL="3048635" algn="l" defTabSz="1219200" rtl="0" eaLnBrk="1" latinLnBrk="0" hangingPunct="1">
                        <a:defRPr sz="2400" b="1" kern="1200">
                          <a:solidFill>
                            <a:schemeClr val="lt1"/>
                          </a:solidFill>
                          <a:latin typeface="Arial" panose="020B0604020202020204"/>
                          <a:ea typeface="微软雅黑" panose="020B0503020204020204" pitchFamily="34" charset="-122"/>
                        </a:defRPr>
                      </a:lvl6pPr>
                      <a:lvl7pPr marL="3658235" algn="l" defTabSz="1219200" rtl="0" eaLnBrk="1" latinLnBrk="0" hangingPunct="1">
                        <a:defRPr sz="2400" b="1" kern="1200">
                          <a:solidFill>
                            <a:schemeClr val="lt1"/>
                          </a:solidFill>
                          <a:latin typeface="Arial" panose="020B0604020202020204"/>
                          <a:ea typeface="微软雅黑" panose="020B0503020204020204" pitchFamily="34" charset="-122"/>
                        </a:defRPr>
                      </a:lvl7pPr>
                      <a:lvl8pPr marL="4267835" algn="l" defTabSz="1219200" rtl="0" eaLnBrk="1" latinLnBrk="0" hangingPunct="1">
                        <a:defRPr sz="2400" b="1" kern="1200">
                          <a:solidFill>
                            <a:schemeClr val="lt1"/>
                          </a:solidFill>
                          <a:latin typeface="Arial" panose="020B0604020202020204"/>
                          <a:ea typeface="微软雅黑" panose="020B0503020204020204" pitchFamily="34" charset="-122"/>
                        </a:defRPr>
                      </a:lvl8pPr>
                      <a:lvl9pPr marL="4878070" algn="l" defTabSz="1219200" rtl="0" eaLnBrk="1" latinLnBrk="0" hangingPunct="1">
                        <a:defRPr sz="2400" b="1" kern="1200">
                          <a:solidFill>
                            <a:schemeClr val="lt1"/>
                          </a:solidFill>
                          <a:latin typeface="Arial" panose="020B0604020202020204"/>
                          <a:ea typeface="微软雅黑" panose="020B0503020204020204" pitchFamily="34" charset="-122"/>
                        </a:defRPr>
                      </a:lvl9pPr>
                    </a:lstStyle>
                    <a:p>
                      <a:pPr algn="ctr" fontAlgn="b"/>
                      <a:r>
                        <a:rPr lang="en-US" altLang="zh-CN" sz="1100" u="none" strike="noStrike" dirty="0">
                          <a:solidFill>
                            <a:srgbClr val="FF0000"/>
                          </a:solidFill>
                          <a:effectLst/>
                        </a:rPr>
                        <a:t>434</a:t>
                      </a:r>
                      <a:endParaRPr lang="en-US" altLang="zh-CN" sz="1100" b="0" i="0" u="none" strike="noStrike" dirty="0">
                        <a:solidFill>
                          <a:srgbClr val="FF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BF00"/>
                    </a:solidFill>
                  </a:tcPr>
                </a:tc>
                <a:tc>
                  <a:txBody>
                    <a:bodyPr/>
                    <a:lstStyle>
                      <a:lvl1pPr marL="0" algn="l" defTabSz="1219200" rtl="0" eaLnBrk="1" latinLnBrk="0" hangingPunct="1">
                        <a:defRPr sz="2400" b="1" kern="1200">
                          <a:solidFill>
                            <a:schemeClr val="lt1"/>
                          </a:solidFill>
                          <a:latin typeface="Arial" panose="020B0604020202020204"/>
                          <a:ea typeface="微软雅黑" panose="020B0503020204020204" pitchFamily="34" charset="-122"/>
                        </a:defRPr>
                      </a:lvl1pPr>
                      <a:lvl2pPr marL="609600" algn="l" defTabSz="1219200" rtl="0" eaLnBrk="1" latinLnBrk="0" hangingPunct="1">
                        <a:defRPr sz="2400" b="1" kern="1200">
                          <a:solidFill>
                            <a:schemeClr val="lt1"/>
                          </a:solidFill>
                          <a:latin typeface="Arial" panose="020B0604020202020204"/>
                          <a:ea typeface="微软雅黑" panose="020B0503020204020204" pitchFamily="34" charset="-122"/>
                        </a:defRPr>
                      </a:lvl2pPr>
                      <a:lvl3pPr marL="1219200" algn="l" defTabSz="1219200" rtl="0" eaLnBrk="1" latinLnBrk="0" hangingPunct="1">
                        <a:defRPr sz="2400" b="1" kern="1200">
                          <a:solidFill>
                            <a:schemeClr val="lt1"/>
                          </a:solidFill>
                          <a:latin typeface="Arial" panose="020B0604020202020204"/>
                          <a:ea typeface="微软雅黑" panose="020B0503020204020204" pitchFamily="34" charset="-122"/>
                        </a:defRPr>
                      </a:lvl3pPr>
                      <a:lvl4pPr marL="1829435" algn="l" defTabSz="1219200" rtl="0" eaLnBrk="1" latinLnBrk="0" hangingPunct="1">
                        <a:defRPr sz="2400" b="1" kern="1200">
                          <a:solidFill>
                            <a:schemeClr val="lt1"/>
                          </a:solidFill>
                          <a:latin typeface="Arial" panose="020B0604020202020204"/>
                          <a:ea typeface="微软雅黑" panose="020B0503020204020204" pitchFamily="34" charset="-122"/>
                        </a:defRPr>
                      </a:lvl4pPr>
                      <a:lvl5pPr marL="2439035" algn="l" defTabSz="1219200" rtl="0" eaLnBrk="1" latinLnBrk="0" hangingPunct="1">
                        <a:defRPr sz="2400" b="1" kern="1200">
                          <a:solidFill>
                            <a:schemeClr val="lt1"/>
                          </a:solidFill>
                          <a:latin typeface="Arial" panose="020B0604020202020204"/>
                          <a:ea typeface="微软雅黑" panose="020B0503020204020204" pitchFamily="34" charset="-122"/>
                        </a:defRPr>
                      </a:lvl5pPr>
                      <a:lvl6pPr marL="3048635" algn="l" defTabSz="1219200" rtl="0" eaLnBrk="1" latinLnBrk="0" hangingPunct="1">
                        <a:defRPr sz="2400" b="1" kern="1200">
                          <a:solidFill>
                            <a:schemeClr val="lt1"/>
                          </a:solidFill>
                          <a:latin typeface="Arial" panose="020B0604020202020204"/>
                          <a:ea typeface="微软雅黑" panose="020B0503020204020204" pitchFamily="34" charset="-122"/>
                        </a:defRPr>
                      </a:lvl6pPr>
                      <a:lvl7pPr marL="3658235" algn="l" defTabSz="1219200" rtl="0" eaLnBrk="1" latinLnBrk="0" hangingPunct="1">
                        <a:defRPr sz="2400" b="1" kern="1200">
                          <a:solidFill>
                            <a:schemeClr val="lt1"/>
                          </a:solidFill>
                          <a:latin typeface="Arial" panose="020B0604020202020204"/>
                          <a:ea typeface="微软雅黑" panose="020B0503020204020204" pitchFamily="34" charset="-122"/>
                        </a:defRPr>
                      </a:lvl7pPr>
                      <a:lvl8pPr marL="4267835" algn="l" defTabSz="1219200" rtl="0" eaLnBrk="1" latinLnBrk="0" hangingPunct="1">
                        <a:defRPr sz="2400" b="1" kern="1200">
                          <a:solidFill>
                            <a:schemeClr val="lt1"/>
                          </a:solidFill>
                          <a:latin typeface="Arial" panose="020B0604020202020204"/>
                          <a:ea typeface="微软雅黑" panose="020B0503020204020204" pitchFamily="34" charset="-122"/>
                        </a:defRPr>
                      </a:lvl8pPr>
                      <a:lvl9pPr marL="4878070" algn="l" defTabSz="1219200" rtl="0" eaLnBrk="1" latinLnBrk="0" hangingPunct="1">
                        <a:defRPr sz="2400" b="1" kern="1200">
                          <a:solidFill>
                            <a:schemeClr val="lt1"/>
                          </a:solidFill>
                          <a:latin typeface="Arial" panose="020B0604020202020204"/>
                          <a:ea typeface="微软雅黑" panose="020B0503020204020204" pitchFamily="34" charset="-122"/>
                        </a:defRPr>
                      </a:lvl9pPr>
                    </a:lstStyle>
                    <a:p>
                      <a:pPr algn="ctr" fontAlgn="b"/>
                      <a:r>
                        <a:rPr lang="en-US" altLang="zh-CN" sz="1100" u="none" strike="noStrike">
                          <a:solidFill>
                            <a:srgbClr val="FF0000"/>
                          </a:solidFill>
                          <a:effectLst/>
                        </a:rPr>
                        <a:t>176</a:t>
                      </a:r>
                      <a:endParaRPr lang="en-US" altLang="zh-CN" sz="1100" b="0" i="0" u="none" strike="noStrike">
                        <a:solidFill>
                          <a:srgbClr val="FF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BF00"/>
                    </a:solidFill>
                  </a:tcPr>
                </a:tc>
                <a:tc>
                  <a:txBody>
                    <a:bodyPr/>
                    <a:lstStyle>
                      <a:lvl1pPr marL="0" algn="l" defTabSz="1219200" rtl="0" eaLnBrk="1" latinLnBrk="0" hangingPunct="1">
                        <a:defRPr sz="2400" b="1" kern="1200">
                          <a:solidFill>
                            <a:schemeClr val="lt1"/>
                          </a:solidFill>
                          <a:latin typeface="Arial" panose="020B0604020202020204"/>
                          <a:ea typeface="微软雅黑" panose="020B0503020204020204" pitchFamily="34" charset="-122"/>
                        </a:defRPr>
                      </a:lvl1pPr>
                      <a:lvl2pPr marL="609600" algn="l" defTabSz="1219200" rtl="0" eaLnBrk="1" latinLnBrk="0" hangingPunct="1">
                        <a:defRPr sz="2400" b="1" kern="1200">
                          <a:solidFill>
                            <a:schemeClr val="lt1"/>
                          </a:solidFill>
                          <a:latin typeface="Arial" panose="020B0604020202020204"/>
                          <a:ea typeface="微软雅黑" panose="020B0503020204020204" pitchFamily="34" charset="-122"/>
                        </a:defRPr>
                      </a:lvl2pPr>
                      <a:lvl3pPr marL="1219200" algn="l" defTabSz="1219200" rtl="0" eaLnBrk="1" latinLnBrk="0" hangingPunct="1">
                        <a:defRPr sz="2400" b="1" kern="1200">
                          <a:solidFill>
                            <a:schemeClr val="lt1"/>
                          </a:solidFill>
                          <a:latin typeface="Arial" panose="020B0604020202020204"/>
                          <a:ea typeface="微软雅黑" panose="020B0503020204020204" pitchFamily="34" charset="-122"/>
                        </a:defRPr>
                      </a:lvl3pPr>
                      <a:lvl4pPr marL="1829435" algn="l" defTabSz="1219200" rtl="0" eaLnBrk="1" latinLnBrk="0" hangingPunct="1">
                        <a:defRPr sz="2400" b="1" kern="1200">
                          <a:solidFill>
                            <a:schemeClr val="lt1"/>
                          </a:solidFill>
                          <a:latin typeface="Arial" panose="020B0604020202020204"/>
                          <a:ea typeface="微软雅黑" panose="020B0503020204020204" pitchFamily="34" charset="-122"/>
                        </a:defRPr>
                      </a:lvl4pPr>
                      <a:lvl5pPr marL="2439035" algn="l" defTabSz="1219200" rtl="0" eaLnBrk="1" latinLnBrk="0" hangingPunct="1">
                        <a:defRPr sz="2400" b="1" kern="1200">
                          <a:solidFill>
                            <a:schemeClr val="lt1"/>
                          </a:solidFill>
                          <a:latin typeface="Arial" panose="020B0604020202020204"/>
                          <a:ea typeface="微软雅黑" panose="020B0503020204020204" pitchFamily="34" charset="-122"/>
                        </a:defRPr>
                      </a:lvl5pPr>
                      <a:lvl6pPr marL="3048635" algn="l" defTabSz="1219200" rtl="0" eaLnBrk="1" latinLnBrk="0" hangingPunct="1">
                        <a:defRPr sz="2400" b="1" kern="1200">
                          <a:solidFill>
                            <a:schemeClr val="lt1"/>
                          </a:solidFill>
                          <a:latin typeface="Arial" panose="020B0604020202020204"/>
                          <a:ea typeface="微软雅黑" panose="020B0503020204020204" pitchFamily="34" charset="-122"/>
                        </a:defRPr>
                      </a:lvl6pPr>
                      <a:lvl7pPr marL="3658235" algn="l" defTabSz="1219200" rtl="0" eaLnBrk="1" latinLnBrk="0" hangingPunct="1">
                        <a:defRPr sz="2400" b="1" kern="1200">
                          <a:solidFill>
                            <a:schemeClr val="lt1"/>
                          </a:solidFill>
                          <a:latin typeface="Arial" panose="020B0604020202020204"/>
                          <a:ea typeface="微软雅黑" panose="020B0503020204020204" pitchFamily="34" charset="-122"/>
                        </a:defRPr>
                      </a:lvl7pPr>
                      <a:lvl8pPr marL="4267835" algn="l" defTabSz="1219200" rtl="0" eaLnBrk="1" latinLnBrk="0" hangingPunct="1">
                        <a:defRPr sz="2400" b="1" kern="1200">
                          <a:solidFill>
                            <a:schemeClr val="lt1"/>
                          </a:solidFill>
                          <a:latin typeface="Arial" panose="020B0604020202020204"/>
                          <a:ea typeface="微软雅黑" panose="020B0503020204020204" pitchFamily="34" charset="-122"/>
                        </a:defRPr>
                      </a:lvl8pPr>
                      <a:lvl9pPr marL="4878070" algn="l" defTabSz="1219200" rtl="0" eaLnBrk="1" latinLnBrk="0" hangingPunct="1">
                        <a:defRPr sz="2400" b="1" kern="1200">
                          <a:solidFill>
                            <a:schemeClr val="lt1"/>
                          </a:solidFill>
                          <a:latin typeface="Arial" panose="020B0604020202020204"/>
                          <a:ea typeface="微软雅黑" panose="020B0503020204020204" pitchFamily="34" charset="-122"/>
                        </a:defRPr>
                      </a:lvl9pPr>
                    </a:lstStyle>
                    <a:p>
                      <a:pPr algn="ctr" fontAlgn="b"/>
                      <a:r>
                        <a:rPr lang="en-US" altLang="zh-CN" sz="1100" u="none" strike="noStrike">
                          <a:solidFill>
                            <a:srgbClr val="FF0000"/>
                          </a:solidFill>
                          <a:effectLst/>
                        </a:rPr>
                        <a:t>201</a:t>
                      </a:r>
                      <a:endParaRPr lang="en-US" altLang="zh-CN" sz="1100" b="0" i="0" u="none" strike="noStrike">
                        <a:solidFill>
                          <a:srgbClr val="FF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BF00"/>
                    </a:solidFill>
                  </a:tcPr>
                </a:tc>
                <a:tc>
                  <a:txBody>
                    <a:bodyPr/>
                    <a:lstStyle>
                      <a:lvl1pPr marL="0" algn="l" defTabSz="1219200" rtl="0" eaLnBrk="1" latinLnBrk="0" hangingPunct="1">
                        <a:defRPr sz="2400" b="1" kern="1200">
                          <a:solidFill>
                            <a:schemeClr val="lt1"/>
                          </a:solidFill>
                          <a:latin typeface="Arial" panose="020B0604020202020204"/>
                          <a:ea typeface="微软雅黑" panose="020B0503020204020204" pitchFamily="34" charset="-122"/>
                        </a:defRPr>
                      </a:lvl1pPr>
                      <a:lvl2pPr marL="609600" algn="l" defTabSz="1219200" rtl="0" eaLnBrk="1" latinLnBrk="0" hangingPunct="1">
                        <a:defRPr sz="2400" b="1" kern="1200">
                          <a:solidFill>
                            <a:schemeClr val="lt1"/>
                          </a:solidFill>
                          <a:latin typeface="Arial" panose="020B0604020202020204"/>
                          <a:ea typeface="微软雅黑" panose="020B0503020204020204" pitchFamily="34" charset="-122"/>
                        </a:defRPr>
                      </a:lvl2pPr>
                      <a:lvl3pPr marL="1219200" algn="l" defTabSz="1219200" rtl="0" eaLnBrk="1" latinLnBrk="0" hangingPunct="1">
                        <a:defRPr sz="2400" b="1" kern="1200">
                          <a:solidFill>
                            <a:schemeClr val="lt1"/>
                          </a:solidFill>
                          <a:latin typeface="Arial" panose="020B0604020202020204"/>
                          <a:ea typeface="微软雅黑" panose="020B0503020204020204" pitchFamily="34" charset="-122"/>
                        </a:defRPr>
                      </a:lvl3pPr>
                      <a:lvl4pPr marL="1829435" algn="l" defTabSz="1219200" rtl="0" eaLnBrk="1" latinLnBrk="0" hangingPunct="1">
                        <a:defRPr sz="2400" b="1" kern="1200">
                          <a:solidFill>
                            <a:schemeClr val="lt1"/>
                          </a:solidFill>
                          <a:latin typeface="Arial" panose="020B0604020202020204"/>
                          <a:ea typeface="微软雅黑" panose="020B0503020204020204" pitchFamily="34" charset="-122"/>
                        </a:defRPr>
                      </a:lvl4pPr>
                      <a:lvl5pPr marL="2439035" algn="l" defTabSz="1219200" rtl="0" eaLnBrk="1" latinLnBrk="0" hangingPunct="1">
                        <a:defRPr sz="2400" b="1" kern="1200">
                          <a:solidFill>
                            <a:schemeClr val="lt1"/>
                          </a:solidFill>
                          <a:latin typeface="Arial" panose="020B0604020202020204"/>
                          <a:ea typeface="微软雅黑" panose="020B0503020204020204" pitchFamily="34" charset="-122"/>
                        </a:defRPr>
                      </a:lvl5pPr>
                      <a:lvl6pPr marL="3048635" algn="l" defTabSz="1219200" rtl="0" eaLnBrk="1" latinLnBrk="0" hangingPunct="1">
                        <a:defRPr sz="2400" b="1" kern="1200">
                          <a:solidFill>
                            <a:schemeClr val="lt1"/>
                          </a:solidFill>
                          <a:latin typeface="Arial" panose="020B0604020202020204"/>
                          <a:ea typeface="微软雅黑" panose="020B0503020204020204" pitchFamily="34" charset="-122"/>
                        </a:defRPr>
                      </a:lvl6pPr>
                      <a:lvl7pPr marL="3658235" algn="l" defTabSz="1219200" rtl="0" eaLnBrk="1" latinLnBrk="0" hangingPunct="1">
                        <a:defRPr sz="2400" b="1" kern="1200">
                          <a:solidFill>
                            <a:schemeClr val="lt1"/>
                          </a:solidFill>
                          <a:latin typeface="Arial" panose="020B0604020202020204"/>
                          <a:ea typeface="微软雅黑" panose="020B0503020204020204" pitchFamily="34" charset="-122"/>
                        </a:defRPr>
                      </a:lvl7pPr>
                      <a:lvl8pPr marL="4267835" algn="l" defTabSz="1219200" rtl="0" eaLnBrk="1" latinLnBrk="0" hangingPunct="1">
                        <a:defRPr sz="2400" b="1" kern="1200">
                          <a:solidFill>
                            <a:schemeClr val="lt1"/>
                          </a:solidFill>
                          <a:latin typeface="Arial" panose="020B0604020202020204"/>
                          <a:ea typeface="微软雅黑" panose="020B0503020204020204" pitchFamily="34" charset="-122"/>
                        </a:defRPr>
                      </a:lvl8pPr>
                      <a:lvl9pPr marL="4878070" algn="l" defTabSz="1219200" rtl="0" eaLnBrk="1" latinLnBrk="0" hangingPunct="1">
                        <a:defRPr sz="2400" b="1" kern="1200">
                          <a:solidFill>
                            <a:schemeClr val="lt1"/>
                          </a:solidFill>
                          <a:latin typeface="Arial" panose="020B0604020202020204"/>
                          <a:ea typeface="微软雅黑" panose="020B0503020204020204" pitchFamily="34" charset="-122"/>
                        </a:defRPr>
                      </a:lvl9pPr>
                    </a:lstStyle>
                    <a:p>
                      <a:pPr algn="ctr" fontAlgn="b"/>
                      <a:r>
                        <a:rPr lang="en-US" altLang="zh-CN" sz="1100" u="none" strike="noStrike" dirty="0">
                          <a:solidFill>
                            <a:srgbClr val="FF0000"/>
                          </a:solidFill>
                          <a:effectLst/>
                        </a:rPr>
                        <a:t>3003</a:t>
                      </a:r>
                      <a:endParaRPr lang="en-US" altLang="zh-CN" sz="1100" b="0" i="0" u="none" strike="noStrike" dirty="0">
                        <a:solidFill>
                          <a:srgbClr val="FF0000"/>
                        </a:solidFill>
                        <a:effectLst/>
                        <a:latin typeface="等线" panose="02010600030101010101" charset="-122"/>
                        <a:ea typeface="等线" panose="02010600030101010101" charset="-122"/>
                      </a:endParaRPr>
                    </a:p>
                  </a:txBody>
                  <a:tcPr marL="9525" marR="9525" marT="9525" marB="0" anchor="b">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BF00"/>
                    </a:solidFill>
                  </a:tcPr>
                </a:tc>
              </a:tr>
            </a:tbl>
          </a:graphicData>
        </a:graphic>
      </p:graphicFrame>
      <p:pic>
        <p:nvPicPr>
          <p:cNvPr id="7" name="图片 5"/>
          <p:cNvPicPr>
            <a:picLocks noChangeAspect="1"/>
          </p:cNvPicPr>
          <p:nvPr/>
        </p:nvPicPr>
        <p:blipFill>
          <a:blip r:embed="rId3"/>
          <a:stretch>
            <a:fillRect/>
          </a:stretch>
        </p:blipFill>
        <p:spPr>
          <a:xfrm>
            <a:off x="584466" y="3077767"/>
            <a:ext cx="5851733" cy="35110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a:t>
            </a:r>
            <a:r>
              <a:rPr lang="zh-CN" altLang="en-US" dirty="0"/>
              <a:t>xx</a:t>
            </a:r>
            <a:r>
              <a:rPr lang="zh-CN" altLang="en-US" dirty="0"/>
              <a:t>师范大学</a:t>
            </a:r>
            <a:r>
              <a:rPr lang="en-US" altLang="zh-CN" dirty="0"/>
              <a:t> </a:t>
            </a:r>
            <a:endParaRPr lang="zh-CN" altLang="en-US" dirty="0"/>
          </a:p>
        </p:txBody>
      </p:sp>
      <p:sp>
        <p:nvSpPr>
          <p:cNvPr id="3" name="矩形 30"/>
          <p:cNvSpPr/>
          <p:nvPr/>
        </p:nvSpPr>
        <p:spPr>
          <a:xfrm>
            <a:off x="762731" y="1261504"/>
            <a:ext cx="1620957" cy="523220"/>
          </a:xfrm>
          <a:prstGeom prst="rect">
            <a:avLst/>
          </a:prstGeom>
          <a:solidFill>
            <a:srgbClr val="0070C0"/>
          </a:solidFill>
          <a:ln w="6350" cap="flat" cmpd="sng" algn="ctr">
            <a:solidFill>
              <a:srgbClr val="FAAF3F"/>
            </a:solidFill>
            <a:prstDash val="solid"/>
            <a:miter lim="800000"/>
          </a:ln>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调研成果</a:t>
            </a:r>
            <a:endParaRPr kumimoji="0" lang="zh-CN" altLang="en-US" sz="2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aphicFrame>
        <p:nvGraphicFramePr>
          <p:cNvPr id="4" name="图示 17"/>
          <p:cNvGraphicFramePr/>
          <p:nvPr/>
        </p:nvGraphicFramePr>
        <p:xfrm>
          <a:off x="1509525" y="2447575"/>
          <a:ext cx="4143754" cy="298969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对话气泡: 圆角矩形 8"/>
          <p:cNvSpPr/>
          <p:nvPr/>
        </p:nvSpPr>
        <p:spPr>
          <a:xfrm>
            <a:off x="7005000" y="1640856"/>
            <a:ext cx="2909889" cy="1232453"/>
          </a:xfrm>
          <a:prstGeom prst="wedgeRoundRectCallout">
            <a:avLst>
              <a:gd name="adj1" fmla="val -48760"/>
              <a:gd name="adj2" fmla="val 16694"/>
              <a:gd name="adj3" fmla="val 16667"/>
            </a:avLst>
          </a:prstGeom>
          <a:solidFill>
            <a:srgbClr val="FFBF00"/>
          </a:solidFill>
          <a:ln w="12700" cap="flat" cmpd="sng" algn="ctr">
            <a:solidFill>
              <a:srgbClr val="FFBF00">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全校范围内统一了数据表达、交换和理解的规范，是实现数据交换的前提，</a:t>
            </a:r>
            <a:endParaRPr kumimoji="0" lang="en-US" altLang="zh-CN"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是数据仓库的内容边界</a:t>
            </a:r>
            <a:endPar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cxnSp>
        <p:nvCxnSpPr>
          <p:cNvPr id="6" name="直接箭头连接符 19"/>
          <p:cNvCxnSpPr>
            <a:endCxn id="5" idx="1"/>
          </p:cNvCxnSpPr>
          <p:nvPr/>
        </p:nvCxnSpPr>
        <p:spPr>
          <a:xfrm flipV="1">
            <a:off x="5653279" y="2257083"/>
            <a:ext cx="1351721" cy="518602"/>
          </a:xfrm>
          <a:prstGeom prst="straightConnector1">
            <a:avLst/>
          </a:prstGeom>
          <a:noFill/>
          <a:ln w="6350" cap="flat" cmpd="sng" algn="ctr">
            <a:solidFill>
              <a:srgbClr val="FFBF00"/>
            </a:solidFill>
            <a:prstDash val="solid"/>
            <a:miter lim="800000"/>
            <a:tailEnd type="triangle"/>
          </a:ln>
          <a:effectLst/>
        </p:spPr>
      </p:cxnSp>
      <p:cxnSp>
        <p:nvCxnSpPr>
          <p:cNvPr id="7" name="直接箭头连接符 21"/>
          <p:cNvCxnSpPr/>
          <p:nvPr/>
        </p:nvCxnSpPr>
        <p:spPr>
          <a:xfrm flipV="1">
            <a:off x="5653279" y="2586897"/>
            <a:ext cx="1351721" cy="1023676"/>
          </a:xfrm>
          <a:prstGeom prst="straightConnector1">
            <a:avLst/>
          </a:prstGeom>
          <a:noFill/>
          <a:ln w="6350" cap="flat" cmpd="sng" algn="ctr">
            <a:solidFill>
              <a:srgbClr val="FFBF00"/>
            </a:solidFill>
            <a:prstDash val="solid"/>
            <a:miter lim="800000"/>
            <a:tailEnd type="triangle"/>
          </a:ln>
          <a:effectLst/>
        </p:spPr>
      </p:cxnSp>
      <p:sp>
        <p:nvSpPr>
          <p:cNvPr id="8" name="对话气泡: 圆角矩形 26"/>
          <p:cNvSpPr/>
          <p:nvPr/>
        </p:nvSpPr>
        <p:spPr>
          <a:xfrm>
            <a:off x="7005000" y="3183435"/>
            <a:ext cx="2909889" cy="1518592"/>
          </a:xfrm>
          <a:prstGeom prst="wedgeRoundRectCallout">
            <a:avLst>
              <a:gd name="adj1" fmla="val -48760"/>
              <a:gd name="adj2" fmla="val 16694"/>
              <a:gd name="adj3" fmla="val 16667"/>
            </a:avLst>
          </a:prstGeom>
          <a:solidFill>
            <a:srgbClr val="FFBF00"/>
          </a:solidFill>
          <a:ln w="12700" cap="flat" cmpd="sng" algn="ctr">
            <a:solidFill>
              <a:srgbClr val="FFBF00">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明确了各项数据的供应来源，后续的采集、集中、共享、质量都有了明确的负责部门，是数据采集的来源依据。</a:t>
            </a:r>
            <a:endPar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cxnSp>
        <p:nvCxnSpPr>
          <p:cNvPr id="9" name="直接箭头连接符 23"/>
          <p:cNvCxnSpPr>
            <a:endCxn id="8" idx="1"/>
          </p:cNvCxnSpPr>
          <p:nvPr/>
        </p:nvCxnSpPr>
        <p:spPr>
          <a:xfrm flipV="1">
            <a:off x="5653279" y="3942731"/>
            <a:ext cx="1351721" cy="242460"/>
          </a:xfrm>
          <a:prstGeom prst="straightConnector1">
            <a:avLst/>
          </a:prstGeom>
          <a:noFill/>
          <a:ln w="6350" cap="flat" cmpd="sng" algn="ctr">
            <a:solidFill>
              <a:srgbClr val="FFBF00"/>
            </a:solidFill>
            <a:prstDash val="solid"/>
            <a:miter lim="800000"/>
            <a:tailEnd type="triangle"/>
          </a:ln>
          <a:effectLst/>
        </p:spPr>
      </p:cxnSp>
      <p:sp>
        <p:nvSpPr>
          <p:cNvPr id="10" name="对话气泡: 圆角矩形 31"/>
          <p:cNvSpPr/>
          <p:nvPr/>
        </p:nvSpPr>
        <p:spPr>
          <a:xfrm>
            <a:off x="7005000" y="5008012"/>
            <a:ext cx="2909889" cy="1583619"/>
          </a:xfrm>
          <a:prstGeom prst="wedgeRoundRectCallout">
            <a:avLst>
              <a:gd name="adj1" fmla="val -48760"/>
              <a:gd name="adj2" fmla="val 16694"/>
              <a:gd name="adj3" fmla="val 16667"/>
            </a:avLst>
          </a:prstGeom>
          <a:solidFill>
            <a:srgbClr val="FFBF00"/>
          </a:solidFill>
          <a:ln w="12700" cap="flat" cmpd="sng" algn="ctr">
            <a:solidFill>
              <a:srgbClr val="FFBF00">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明确了数据去向目标，后续的交换、供应都有了明确的目标对象</a:t>
            </a:r>
            <a:endParaRPr kumimoji="0" lang="en-US" altLang="zh-CN"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是数据交换的依据，消除数据孤岛的目标。</a:t>
            </a:r>
            <a:endPar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cxnSp>
        <p:nvCxnSpPr>
          <p:cNvPr id="11" name="直接箭头连接符 32"/>
          <p:cNvCxnSpPr>
            <a:endCxn id="10" idx="1"/>
          </p:cNvCxnSpPr>
          <p:nvPr/>
        </p:nvCxnSpPr>
        <p:spPr>
          <a:xfrm>
            <a:off x="5653279" y="5092376"/>
            <a:ext cx="1351721" cy="707446"/>
          </a:xfrm>
          <a:prstGeom prst="straightConnector1">
            <a:avLst/>
          </a:prstGeom>
          <a:noFill/>
          <a:ln w="6350" cap="flat" cmpd="sng" algn="ctr">
            <a:solidFill>
              <a:srgbClr val="FFBF00"/>
            </a:solidFill>
            <a:prstDash val="solid"/>
            <a:miter lim="800000"/>
            <a:tailEnd type="triangle"/>
          </a:ln>
          <a:effectLst/>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xx</a:t>
            </a:r>
            <a:r>
              <a:rPr lang="zh-CN" altLang="en-US" dirty="0"/>
              <a:t>师范大学</a:t>
            </a:r>
            <a:r>
              <a:rPr lang="en-US" altLang="zh-CN" dirty="0"/>
              <a:t> </a:t>
            </a:r>
            <a:endParaRPr lang="zh-CN" altLang="en-US" dirty="0"/>
          </a:p>
        </p:txBody>
      </p:sp>
      <p:sp>
        <p:nvSpPr>
          <p:cNvPr id="8" name="流程图: 磁盘 6"/>
          <p:cNvSpPr/>
          <p:nvPr/>
        </p:nvSpPr>
        <p:spPr>
          <a:xfrm>
            <a:off x="4242675" y="1425518"/>
            <a:ext cx="3218082" cy="4824201"/>
          </a:xfrm>
          <a:prstGeom prst="flowChartMagneticDisk">
            <a:avLst/>
          </a:prstGeom>
          <a:noFill/>
          <a:ln w="9525" cap="flat" cmpd="sng" algn="ctr">
            <a:solidFill>
              <a:srgbClr val="00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9" name="文本框 7"/>
          <p:cNvSpPr txBox="1"/>
          <p:nvPr/>
        </p:nvSpPr>
        <p:spPr>
          <a:xfrm>
            <a:off x="5181883" y="1662090"/>
            <a:ext cx="1415772" cy="461665"/>
          </a:xfrm>
          <a:prstGeom prst="rect">
            <a:avLst/>
          </a:prstGeom>
          <a:solidFill>
            <a:srgbClr val="00B0F0"/>
          </a:solidFill>
          <a:ln>
            <a:noFill/>
          </a:ln>
          <a:effectLst>
            <a:outerShdw blurRad="57150" dist="19050" dir="5400000" algn="ctr" rotWithShape="0">
              <a:srgbClr val="000000">
                <a:alpha val="63000"/>
              </a:srgbClr>
            </a:outerShdw>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数据中心</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nvGrpSpPr>
          <p:cNvPr id="10" name="组合 26"/>
          <p:cNvGrpSpPr/>
          <p:nvPr/>
        </p:nvGrpSpPr>
        <p:grpSpPr>
          <a:xfrm>
            <a:off x="4557616" y="2147994"/>
            <a:ext cx="2664306" cy="3785289"/>
            <a:chOff x="2603084" y="1882809"/>
            <a:chExt cx="2664306" cy="3785289"/>
          </a:xfrm>
        </p:grpSpPr>
        <p:sp>
          <p:nvSpPr>
            <p:cNvPr id="11" name="文本框 8"/>
            <p:cNvSpPr txBox="1"/>
            <p:nvPr/>
          </p:nvSpPr>
          <p:spPr>
            <a:xfrm>
              <a:off x="3164937" y="1882809"/>
              <a:ext cx="700833"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8</a:t>
              </a:r>
              <a:r>
                <a:rPr kumimoji="0" lang="zh-CN" altLang="en-US" sz="1800" b="0" i="0" u="none" strike="noStrike" kern="0" cap="none" spc="0" normalizeH="0" baseline="0" noProof="0" dirty="0">
                  <a:ln>
                    <a:noFill/>
                  </a:ln>
                  <a:solidFill>
                    <a:srgbClr val="92D050"/>
                  </a:solidFill>
                  <a:effectLst/>
                  <a:uLnTx/>
                  <a:uFillTx/>
                </a:rPr>
                <a:t>类</a:t>
              </a:r>
              <a:endParaRPr kumimoji="0" lang="zh-CN" altLang="en-US" sz="1800" b="0" i="0" u="none" strike="noStrike" kern="0" cap="none" spc="0" normalizeH="0" baseline="0" noProof="0" dirty="0">
                <a:ln>
                  <a:noFill/>
                </a:ln>
                <a:solidFill>
                  <a:srgbClr val="92D050"/>
                </a:solidFill>
                <a:effectLst/>
                <a:uLnTx/>
                <a:uFillTx/>
              </a:endParaRPr>
            </a:p>
          </p:txBody>
        </p:sp>
        <p:sp>
          <p:nvSpPr>
            <p:cNvPr id="12" name="矩形 9"/>
            <p:cNvSpPr/>
            <p:nvPr/>
          </p:nvSpPr>
          <p:spPr>
            <a:xfrm>
              <a:off x="4227512" y="2140225"/>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数据集</a:t>
              </a:r>
              <a:endParaRPr kumimoji="0" lang="zh-CN" altLang="en-US" sz="1800" b="0" i="0" u="none" strike="noStrike" kern="0" cap="none" spc="0" normalizeH="0" baseline="0" noProof="0" dirty="0">
                <a:ln>
                  <a:noFill/>
                </a:ln>
                <a:solidFill>
                  <a:srgbClr val="000000"/>
                </a:solidFill>
                <a:effectLst/>
                <a:uLnTx/>
                <a:uFillTx/>
              </a:endParaRPr>
            </a:p>
          </p:txBody>
        </p:sp>
        <p:sp>
          <p:nvSpPr>
            <p:cNvPr id="13" name="文本框 10"/>
            <p:cNvSpPr txBox="1"/>
            <p:nvPr/>
          </p:nvSpPr>
          <p:spPr>
            <a:xfrm>
              <a:off x="3022270" y="2494168"/>
              <a:ext cx="986167"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55</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4" name="矩形 11"/>
            <p:cNvSpPr/>
            <p:nvPr/>
          </p:nvSpPr>
          <p:spPr>
            <a:xfrm>
              <a:off x="4227512" y="275158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数据类</a:t>
              </a:r>
              <a:endParaRPr kumimoji="0" lang="zh-CN" altLang="en-US" sz="1800" b="0" i="0" u="none" strike="noStrike" kern="0" cap="none" spc="0" normalizeH="0" baseline="0" noProof="0" dirty="0">
                <a:ln>
                  <a:noFill/>
                </a:ln>
                <a:solidFill>
                  <a:srgbClr val="000000"/>
                </a:solidFill>
                <a:effectLst/>
                <a:uLnTx/>
                <a:uFillTx/>
              </a:endParaRPr>
            </a:p>
          </p:txBody>
        </p:sp>
        <p:sp>
          <p:nvSpPr>
            <p:cNvPr id="15" name="文本框 18"/>
            <p:cNvSpPr txBox="1"/>
            <p:nvPr/>
          </p:nvSpPr>
          <p:spPr>
            <a:xfrm>
              <a:off x="2879602" y="3090138"/>
              <a:ext cx="127150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296</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6" name="矩形 19"/>
            <p:cNvSpPr/>
            <p:nvPr/>
          </p:nvSpPr>
          <p:spPr>
            <a:xfrm>
              <a:off x="3996679" y="3347554"/>
              <a:ext cx="1107996"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数据子类</a:t>
              </a:r>
              <a:endParaRPr kumimoji="0" lang="zh-CN" altLang="en-US" sz="1800" b="0" i="0" u="none" strike="noStrike" kern="0" cap="none" spc="0" normalizeH="0" baseline="0" noProof="0" dirty="0">
                <a:ln>
                  <a:noFill/>
                </a:ln>
                <a:solidFill>
                  <a:srgbClr val="000000"/>
                </a:solidFill>
                <a:effectLst/>
                <a:uLnTx/>
                <a:uFillTx/>
              </a:endParaRPr>
            </a:p>
          </p:txBody>
        </p:sp>
        <p:sp>
          <p:nvSpPr>
            <p:cNvPr id="17" name="文本框 20"/>
            <p:cNvSpPr txBox="1"/>
            <p:nvPr/>
          </p:nvSpPr>
          <p:spPr>
            <a:xfrm>
              <a:off x="2736935" y="3686108"/>
              <a:ext cx="1556836"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5328</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8" name="矩形 21"/>
            <p:cNvSpPr/>
            <p:nvPr/>
          </p:nvSpPr>
          <p:spPr>
            <a:xfrm>
              <a:off x="4227512" y="394352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数据项</a:t>
              </a:r>
              <a:endParaRPr kumimoji="0" lang="zh-CN" altLang="en-US" sz="1800" b="0" i="0" u="none" strike="noStrike" kern="0" cap="none" spc="0" normalizeH="0" baseline="0" noProof="0" dirty="0">
                <a:ln>
                  <a:noFill/>
                </a:ln>
                <a:solidFill>
                  <a:srgbClr val="000000"/>
                </a:solidFill>
                <a:effectLst/>
                <a:uLnTx/>
                <a:uFillTx/>
              </a:endParaRPr>
            </a:p>
          </p:txBody>
        </p:sp>
        <p:sp>
          <p:nvSpPr>
            <p:cNvPr id="19" name="文本框 22"/>
            <p:cNvSpPr txBox="1"/>
            <p:nvPr/>
          </p:nvSpPr>
          <p:spPr>
            <a:xfrm>
              <a:off x="2603084" y="4960212"/>
              <a:ext cx="177324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2.47</a:t>
              </a:r>
              <a:r>
                <a:rPr kumimoji="0" lang="zh-CN" altLang="en-US" sz="2800" b="0" i="0" u="none" strike="noStrike" kern="0" cap="none" spc="0" normalizeH="0" baseline="0" noProof="0" dirty="0">
                  <a:ln>
                    <a:noFill/>
                  </a:ln>
                  <a:solidFill>
                    <a:srgbClr val="FF0000"/>
                  </a:solidFill>
                  <a:effectLst/>
                  <a:uLnTx/>
                  <a:uFillTx/>
                </a:rPr>
                <a:t>亿</a:t>
              </a:r>
              <a:r>
                <a:rPr kumimoji="0" lang="zh-CN" altLang="en-US" sz="1800" b="0" i="0" u="none" strike="noStrike" kern="0" cap="none" spc="0" normalizeH="0" baseline="0" noProof="0" dirty="0">
                  <a:ln>
                    <a:noFill/>
                  </a:ln>
                  <a:solidFill>
                    <a:srgbClr val="92D050"/>
                  </a:solidFill>
                  <a:effectLst/>
                  <a:uLnTx/>
                  <a:uFillTx/>
                </a:rPr>
                <a:t>条</a:t>
              </a:r>
              <a:endParaRPr kumimoji="0" lang="zh-CN" altLang="en-US" sz="1800" b="0" i="0" u="none" strike="noStrike" kern="0" cap="none" spc="0" normalizeH="0" baseline="0" noProof="0" dirty="0">
                <a:ln>
                  <a:noFill/>
                </a:ln>
                <a:solidFill>
                  <a:srgbClr val="92D050"/>
                </a:solidFill>
                <a:effectLst/>
                <a:uLnTx/>
                <a:uFillTx/>
              </a:endParaRPr>
            </a:p>
          </p:txBody>
        </p:sp>
        <p:sp>
          <p:nvSpPr>
            <p:cNvPr id="20" name="矩形 23"/>
            <p:cNvSpPr/>
            <p:nvPr/>
          </p:nvSpPr>
          <p:spPr>
            <a:xfrm>
              <a:off x="4458344" y="5217628"/>
              <a:ext cx="646331"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记录</a:t>
              </a:r>
              <a:endParaRPr kumimoji="0" lang="zh-CN" altLang="en-US" sz="1800" b="0" i="0" u="none" strike="noStrike" kern="0" cap="none" spc="0" normalizeH="0" baseline="0" noProof="0" dirty="0">
                <a:ln>
                  <a:noFill/>
                </a:ln>
                <a:solidFill>
                  <a:srgbClr val="000000"/>
                </a:solidFill>
                <a:effectLst/>
                <a:uLnTx/>
                <a:uFillTx/>
              </a:endParaRPr>
            </a:p>
          </p:txBody>
        </p:sp>
        <p:sp>
          <p:nvSpPr>
            <p:cNvPr id="21" name="文本框 179"/>
            <p:cNvSpPr txBox="1"/>
            <p:nvPr/>
          </p:nvSpPr>
          <p:spPr>
            <a:xfrm>
              <a:off x="2774400" y="4430673"/>
              <a:ext cx="2492990" cy="492443"/>
            </a:xfrm>
            <a:prstGeom prst="rect">
              <a:avLst/>
            </a:prstGeom>
            <a:solidFill>
              <a:srgbClr val="F0F0F0">
                <a:lumMod val="75000"/>
              </a:srgbClr>
            </a:solidFill>
            <a:ln>
              <a:noFill/>
            </a:ln>
            <a:effectLst>
              <a:outerShdw blurRad="57150" dist="19050" dir="5400000" algn="ctr" rotWithShape="0">
                <a:srgbClr val="000000">
                  <a:alpha val="63000"/>
                </a:srgbClr>
              </a:outerShdw>
            </a:effectLst>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 1146</a:t>
              </a: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个</a:t>
              </a:r>
              <a:r>
                <a:rPr kumimoji="0" lang="zh-CN" altLang="en-US" sz="1800" b="0" i="0" u="none" strike="noStrike" kern="0" cap="none" spc="0" normalizeH="0" baseline="0" noProof="0" dirty="0">
                  <a:ln>
                    <a:noFill/>
                  </a:ln>
                  <a:solidFill>
                    <a:srgbClr val="92D050"/>
                  </a:solidFill>
                  <a:effectLst/>
                  <a:uLnTx/>
                  <a:uFillTx/>
                  <a:latin typeface="Arial" panose="020B0604020202020204"/>
                  <a:ea typeface="微软雅黑" panose="020B0503020204020204" pitchFamily="34" charset="-122"/>
                  <a:cs typeface="+mn-cs"/>
                </a:rPr>
                <a:t>   </a:t>
              </a:r>
              <a:r>
                <a:rPr kumimoji="0" lang="zh-CN" altLang="en-US" sz="18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待补充</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sp>
        <p:nvSpPr>
          <p:cNvPr id="22" name="矩形 28"/>
          <p:cNvSpPr/>
          <p:nvPr/>
        </p:nvSpPr>
        <p:spPr>
          <a:xfrm>
            <a:off x="492399" y="120042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人事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3" name="直接箭头连接符 61"/>
          <p:cNvCxnSpPr>
            <a:stCxn id="22" idx="3"/>
          </p:cNvCxnSpPr>
          <p:nvPr/>
        </p:nvCxnSpPr>
        <p:spPr>
          <a:xfrm>
            <a:off x="1358970" y="1340015"/>
            <a:ext cx="2773512" cy="14299"/>
          </a:xfrm>
          <a:prstGeom prst="straightConnector1">
            <a:avLst/>
          </a:prstGeom>
          <a:noFill/>
          <a:ln w="6350" cap="flat" cmpd="sng" algn="ctr">
            <a:solidFill>
              <a:srgbClr val="FFBF00"/>
            </a:solidFill>
            <a:prstDash val="solid"/>
            <a:miter lim="800000"/>
            <a:tailEnd type="triangle"/>
          </a:ln>
          <a:effectLst/>
        </p:spPr>
      </p:cxnSp>
      <p:sp>
        <p:nvSpPr>
          <p:cNvPr id="24" name="矩形 90"/>
          <p:cNvSpPr/>
          <p:nvPr/>
        </p:nvSpPr>
        <p:spPr>
          <a:xfrm>
            <a:off x="492399" y="166209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研究生院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5" name="直接箭头连接符 91"/>
          <p:cNvCxnSpPr>
            <a:stCxn id="24" idx="3"/>
          </p:cNvCxnSpPr>
          <p:nvPr/>
        </p:nvCxnSpPr>
        <p:spPr>
          <a:xfrm>
            <a:off x="1358970" y="1801680"/>
            <a:ext cx="2773512" cy="14301"/>
          </a:xfrm>
          <a:prstGeom prst="straightConnector1">
            <a:avLst/>
          </a:prstGeom>
          <a:noFill/>
          <a:ln w="6350" cap="flat" cmpd="sng" algn="ctr">
            <a:solidFill>
              <a:srgbClr val="FFBF00"/>
            </a:solidFill>
            <a:prstDash val="solid"/>
            <a:miter lim="800000"/>
            <a:tailEnd type="triangle"/>
          </a:ln>
          <a:effectLst/>
        </p:spPr>
      </p:cxnSp>
      <p:sp>
        <p:nvSpPr>
          <p:cNvPr id="26" name="矩形 92"/>
          <p:cNvSpPr/>
          <p:nvPr/>
        </p:nvSpPr>
        <p:spPr>
          <a:xfrm>
            <a:off x="492399" y="212375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学工</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7" name="直接箭头连接符 93"/>
          <p:cNvCxnSpPr>
            <a:stCxn id="26" idx="3"/>
          </p:cNvCxnSpPr>
          <p:nvPr/>
        </p:nvCxnSpPr>
        <p:spPr>
          <a:xfrm>
            <a:off x="1358970" y="2263345"/>
            <a:ext cx="2773512" cy="14299"/>
          </a:xfrm>
          <a:prstGeom prst="straightConnector1">
            <a:avLst/>
          </a:prstGeom>
          <a:noFill/>
          <a:ln w="6350" cap="flat" cmpd="sng" algn="ctr">
            <a:solidFill>
              <a:srgbClr val="FFBF00"/>
            </a:solidFill>
            <a:prstDash val="solid"/>
            <a:miter lim="800000"/>
            <a:tailEnd type="triangle"/>
          </a:ln>
          <a:effectLst/>
        </p:spPr>
      </p:cxnSp>
      <p:sp>
        <p:nvSpPr>
          <p:cNvPr id="28" name="矩形 94"/>
          <p:cNvSpPr/>
          <p:nvPr/>
        </p:nvSpPr>
        <p:spPr>
          <a:xfrm>
            <a:off x="492399" y="258542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国资办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9" name="直接箭头连接符 95"/>
          <p:cNvCxnSpPr>
            <a:stCxn id="28" idx="3"/>
          </p:cNvCxnSpPr>
          <p:nvPr/>
        </p:nvCxnSpPr>
        <p:spPr>
          <a:xfrm>
            <a:off x="1358970" y="2725010"/>
            <a:ext cx="2773512" cy="14299"/>
          </a:xfrm>
          <a:prstGeom prst="straightConnector1">
            <a:avLst/>
          </a:prstGeom>
          <a:noFill/>
          <a:ln w="6350" cap="flat" cmpd="sng" algn="ctr">
            <a:solidFill>
              <a:srgbClr val="FFBF00"/>
            </a:solidFill>
            <a:prstDash val="solid"/>
            <a:miter lim="800000"/>
            <a:tailEnd type="triangle"/>
          </a:ln>
          <a:effectLst/>
        </p:spPr>
      </p:cxnSp>
      <p:sp>
        <p:nvSpPr>
          <p:cNvPr id="30" name="矩形 96"/>
          <p:cNvSpPr/>
          <p:nvPr/>
        </p:nvSpPr>
        <p:spPr>
          <a:xfrm>
            <a:off x="492399" y="304708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科研</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1" name="直接箭头连接符 97"/>
          <p:cNvCxnSpPr>
            <a:stCxn id="30" idx="3"/>
          </p:cNvCxnSpPr>
          <p:nvPr/>
        </p:nvCxnSpPr>
        <p:spPr>
          <a:xfrm>
            <a:off x="1358970" y="3186675"/>
            <a:ext cx="2773512" cy="14299"/>
          </a:xfrm>
          <a:prstGeom prst="straightConnector1">
            <a:avLst/>
          </a:prstGeom>
          <a:noFill/>
          <a:ln w="6350" cap="flat" cmpd="sng" algn="ctr">
            <a:solidFill>
              <a:srgbClr val="FFBF00"/>
            </a:solidFill>
            <a:prstDash val="solid"/>
            <a:miter lim="800000"/>
            <a:tailEnd type="triangle"/>
          </a:ln>
          <a:effectLst/>
        </p:spPr>
      </p:cxnSp>
      <p:sp>
        <p:nvSpPr>
          <p:cNvPr id="32" name="矩形 98"/>
          <p:cNvSpPr/>
          <p:nvPr/>
        </p:nvSpPr>
        <p:spPr>
          <a:xfrm>
            <a:off x="492399" y="350875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3" name="直接箭头连接符 99"/>
          <p:cNvCxnSpPr>
            <a:stCxn id="32" idx="3"/>
          </p:cNvCxnSpPr>
          <p:nvPr/>
        </p:nvCxnSpPr>
        <p:spPr>
          <a:xfrm>
            <a:off x="1358970" y="3648340"/>
            <a:ext cx="2773512" cy="14299"/>
          </a:xfrm>
          <a:prstGeom prst="straightConnector1">
            <a:avLst/>
          </a:prstGeom>
          <a:noFill/>
          <a:ln w="6350" cap="flat" cmpd="sng" algn="ctr">
            <a:solidFill>
              <a:srgbClr val="FFBF00"/>
            </a:solidFill>
            <a:prstDash val="solid"/>
            <a:miter lim="800000"/>
            <a:tailEnd type="triangle"/>
          </a:ln>
          <a:effectLst/>
        </p:spPr>
      </p:cxnSp>
      <p:sp>
        <p:nvSpPr>
          <p:cNvPr id="34" name="矩形 100"/>
          <p:cNvSpPr/>
          <p:nvPr/>
        </p:nvSpPr>
        <p:spPr>
          <a:xfrm>
            <a:off x="492399" y="397041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房产办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5" name="直接箭头连接符 101"/>
          <p:cNvCxnSpPr>
            <a:stCxn id="34" idx="3"/>
          </p:cNvCxnSpPr>
          <p:nvPr/>
        </p:nvCxnSpPr>
        <p:spPr>
          <a:xfrm>
            <a:off x="1358970" y="4110005"/>
            <a:ext cx="2773512" cy="14299"/>
          </a:xfrm>
          <a:prstGeom prst="straightConnector1">
            <a:avLst/>
          </a:prstGeom>
          <a:noFill/>
          <a:ln w="6350" cap="flat" cmpd="sng" algn="ctr">
            <a:solidFill>
              <a:srgbClr val="FFBF00"/>
            </a:solidFill>
            <a:prstDash val="solid"/>
            <a:miter lim="800000"/>
            <a:tailEnd type="triangle"/>
          </a:ln>
          <a:effectLst/>
        </p:spPr>
      </p:cxnSp>
      <p:sp>
        <p:nvSpPr>
          <p:cNvPr id="36" name="矩形 102"/>
          <p:cNvSpPr/>
          <p:nvPr/>
        </p:nvSpPr>
        <p:spPr>
          <a:xfrm>
            <a:off x="492399" y="443208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公管学院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7" name="直接箭头连接符 103"/>
          <p:cNvCxnSpPr>
            <a:stCxn id="36" idx="3"/>
          </p:cNvCxnSpPr>
          <p:nvPr/>
        </p:nvCxnSpPr>
        <p:spPr>
          <a:xfrm>
            <a:off x="1358970" y="4571670"/>
            <a:ext cx="2773512" cy="14299"/>
          </a:xfrm>
          <a:prstGeom prst="straightConnector1">
            <a:avLst/>
          </a:prstGeom>
          <a:noFill/>
          <a:ln w="6350" cap="flat" cmpd="sng" algn="ctr">
            <a:solidFill>
              <a:srgbClr val="FFBF00"/>
            </a:solidFill>
            <a:prstDash val="solid"/>
            <a:miter lim="800000"/>
            <a:tailEnd type="triangle"/>
          </a:ln>
          <a:effectLst/>
        </p:spPr>
      </p:cxnSp>
      <p:sp>
        <p:nvSpPr>
          <p:cNvPr id="38" name="矩形 104"/>
          <p:cNvSpPr/>
          <p:nvPr/>
        </p:nvSpPr>
        <p:spPr>
          <a:xfrm>
            <a:off x="492399" y="489374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教师教院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9" name="直接箭头连接符 105"/>
          <p:cNvCxnSpPr>
            <a:stCxn id="38" idx="3"/>
          </p:cNvCxnSpPr>
          <p:nvPr/>
        </p:nvCxnSpPr>
        <p:spPr>
          <a:xfrm>
            <a:off x="1358970" y="5033335"/>
            <a:ext cx="2773512" cy="14299"/>
          </a:xfrm>
          <a:prstGeom prst="straightConnector1">
            <a:avLst/>
          </a:prstGeom>
          <a:noFill/>
          <a:ln w="6350" cap="flat" cmpd="sng" algn="ctr">
            <a:solidFill>
              <a:srgbClr val="FFBF00"/>
            </a:solidFill>
            <a:prstDash val="solid"/>
            <a:miter lim="800000"/>
            <a:tailEnd type="triangle"/>
          </a:ln>
          <a:effectLst/>
        </p:spPr>
      </p:cxnSp>
      <p:sp>
        <p:nvSpPr>
          <p:cNvPr id="40" name="矩形 106"/>
          <p:cNvSpPr/>
          <p:nvPr/>
        </p:nvSpPr>
        <p:spPr>
          <a:xfrm>
            <a:off x="492399" y="535541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就业处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41" name="直接箭头连接符 107"/>
          <p:cNvCxnSpPr>
            <a:stCxn id="40" idx="3"/>
          </p:cNvCxnSpPr>
          <p:nvPr/>
        </p:nvCxnSpPr>
        <p:spPr>
          <a:xfrm>
            <a:off x="1358970" y="5495000"/>
            <a:ext cx="2773512" cy="14299"/>
          </a:xfrm>
          <a:prstGeom prst="straightConnector1">
            <a:avLst/>
          </a:prstGeom>
          <a:noFill/>
          <a:ln w="6350" cap="flat" cmpd="sng" algn="ctr">
            <a:solidFill>
              <a:srgbClr val="FFBF00"/>
            </a:solidFill>
            <a:prstDash val="solid"/>
            <a:miter lim="800000"/>
            <a:tailEnd type="triangle"/>
          </a:ln>
          <a:effectLst/>
        </p:spPr>
      </p:cxnSp>
      <p:sp>
        <p:nvSpPr>
          <p:cNvPr id="42" name="矩形 108"/>
          <p:cNvSpPr/>
          <p:nvPr/>
        </p:nvSpPr>
        <p:spPr>
          <a:xfrm>
            <a:off x="492399" y="581707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离退处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43" name="直接箭头连接符 109"/>
          <p:cNvCxnSpPr>
            <a:stCxn id="42" idx="3"/>
          </p:cNvCxnSpPr>
          <p:nvPr/>
        </p:nvCxnSpPr>
        <p:spPr>
          <a:xfrm>
            <a:off x="1358970" y="5956665"/>
            <a:ext cx="2773512" cy="14299"/>
          </a:xfrm>
          <a:prstGeom prst="straightConnector1">
            <a:avLst/>
          </a:prstGeom>
          <a:noFill/>
          <a:ln w="6350" cap="flat" cmpd="sng" algn="ctr">
            <a:solidFill>
              <a:srgbClr val="FFBF00"/>
            </a:solidFill>
            <a:prstDash val="solid"/>
            <a:miter lim="800000"/>
            <a:tailEnd type="triangle"/>
          </a:ln>
          <a:effectLst/>
        </p:spPr>
      </p:cxnSp>
      <p:sp>
        <p:nvSpPr>
          <p:cNvPr id="44" name="矩形 110"/>
          <p:cNvSpPr/>
          <p:nvPr/>
        </p:nvSpPr>
        <p:spPr>
          <a:xfrm>
            <a:off x="492399" y="627874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设备处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45" name="直接箭头连接符 111"/>
          <p:cNvCxnSpPr>
            <a:stCxn id="44" idx="3"/>
          </p:cNvCxnSpPr>
          <p:nvPr/>
        </p:nvCxnSpPr>
        <p:spPr>
          <a:xfrm>
            <a:off x="1358970" y="6418330"/>
            <a:ext cx="2773512" cy="14299"/>
          </a:xfrm>
          <a:prstGeom prst="straightConnector1">
            <a:avLst/>
          </a:prstGeom>
          <a:noFill/>
          <a:ln w="6350" cap="flat" cmpd="sng" algn="ctr">
            <a:solidFill>
              <a:srgbClr val="FFBF00"/>
            </a:solidFill>
            <a:prstDash val="solid"/>
            <a:miter lim="800000"/>
            <a:tailEnd type="triangle"/>
          </a:ln>
          <a:effectLst/>
        </p:spPr>
      </p:cxnSp>
      <p:sp>
        <p:nvSpPr>
          <p:cNvPr id="46" name="矩形 112"/>
          <p:cNvSpPr/>
          <p:nvPr/>
        </p:nvSpPr>
        <p:spPr>
          <a:xfrm>
            <a:off x="1851322" y="143281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统战</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7" name="矩形 114"/>
          <p:cNvSpPr/>
          <p:nvPr/>
        </p:nvSpPr>
        <p:spPr>
          <a:xfrm>
            <a:off x="1851322" y="189447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图书馆</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8" name="矩形 116"/>
          <p:cNvSpPr/>
          <p:nvPr/>
        </p:nvSpPr>
        <p:spPr>
          <a:xfrm>
            <a:off x="1851322" y="235614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外事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9" name="矩形 118"/>
          <p:cNvSpPr/>
          <p:nvPr/>
        </p:nvSpPr>
        <p:spPr>
          <a:xfrm>
            <a:off x="1851322" y="281780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工会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0" name="矩形 120"/>
          <p:cNvSpPr/>
          <p:nvPr/>
        </p:nvSpPr>
        <p:spPr>
          <a:xfrm>
            <a:off x="1851322" y="327947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校医院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1" name="矩形 122"/>
          <p:cNvSpPr/>
          <p:nvPr/>
        </p:nvSpPr>
        <p:spPr>
          <a:xfrm>
            <a:off x="1851322" y="374113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校友会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2" name="矩形 124"/>
          <p:cNvSpPr/>
          <p:nvPr/>
        </p:nvSpPr>
        <p:spPr>
          <a:xfrm>
            <a:off x="1851322" y="420280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宣传部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3" name="矩形 126"/>
          <p:cNvSpPr/>
          <p:nvPr/>
        </p:nvSpPr>
        <p:spPr>
          <a:xfrm>
            <a:off x="1851322" y="466446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4" name="矩形 128"/>
          <p:cNvSpPr/>
          <p:nvPr/>
        </p:nvSpPr>
        <p:spPr>
          <a:xfrm>
            <a:off x="1851322" y="512613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招标办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5" name="矩形 130"/>
          <p:cNvSpPr/>
          <p:nvPr/>
        </p:nvSpPr>
        <p:spPr>
          <a:xfrm>
            <a:off x="1851322" y="558779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组织部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6" name="矩形 132"/>
          <p:cNvSpPr/>
          <p:nvPr/>
        </p:nvSpPr>
        <p:spPr>
          <a:xfrm>
            <a:off x="1851322" y="604946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财务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57" name="直接箭头连接符 113"/>
          <p:cNvCxnSpPr>
            <a:stCxn id="46" idx="3"/>
          </p:cNvCxnSpPr>
          <p:nvPr/>
        </p:nvCxnSpPr>
        <p:spPr>
          <a:xfrm>
            <a:off x="2717893" y="1572404"/>
            <a:ext cx="1414589" cy="14299"/>
          </a:xfrm>
          <a:prstGeom prst="straightConnector1">
            <a:avLst/>
          </a:prstGeom>
          <a:noFill/>
          <a:ln w="6350" cap="flat" cmpd="sng" algn="ctr">
            <a:solidFill>
              <a:srgbClr val="FFBF00"/>
            </a:solidFill>
            <a:prstDash val="solid"/>
            <a:miter lim="800000"/>
            <a:tailEnd type="triangle"/>
          </a:ln>
          <a:effectLst/>
        </p:spPr>
      </p:cxnSp>
      <p:cxnSp>
        <p:nvCxnSpPr>
          <p:cNvPr id="58" name="直接箭头连接符 115"/>
          <p:cNvCxnSpPr>
            <a:stCxn id="47" idx="3"/>
          </p:cNvCxnSpPr>
          <p:nvPr/>
        </p:nvCxnSpPr>
        <p:spPr>
          <a:xfrm>
            <a:off x="2717893" y="2034069"/>
            <a:ext cx="1414589" cy="14299"/>
          </a:xfrm>
          <a:prstGeom prst="straightConnector1">
            <a:avLst/>
          </a:prstGeom>
          <a:noFill/>
          <a:ln w="6350" cap="flat" cmpd="sng" algn="ctr">
            <a:solidFill>
              <a:srgbClr val="FFBF00"/>
            </a:solidFill>
            <a:prstDash val="solid"/>
            <a:miter lim="800000"/>
            <a:tailEnd type="triangle"/>
          </a:ln>
          <a:effectLst/>
        </p:spPr>
      </p:cxnSp>
      <p:cxnSp>
        <p:nvCxnSpPr>
          <p:cNvPr id="59" name="直接箭头连接符 117"/>
          <p:cNvCxnSpPr>
            <a:stCxn id="48" idx="3"/>
          </p:cNvCxnSpPr>
          <p:nvPr/>
        </p:nvCxnSpPr>
        <p:spPr>
          <a:xfrm>
            <a:off x="2717893" y="2495734"/>
            <a:ext cx="1414589" cy="14299"/>
          </a:xfrm>
          <a:prstGeom prst="straightConnector1">
            <a:avLst/>
          </a:prstGeom>
          <a:noFill/>
          <a:ln w="6350" cap="flat" cmpd="sng" algn="ctr">
            <a:solidFill>
              <a:srgbClr val="FFBF00"/>
            </a:solidFill>
            <a:prstDash val="solid"/>
            <a:miter lim="800000"/>
            <a:tailEnd type="triangle"/>
          </a:ln>
          <a:effectLst/>
        </p:spPr>
      </p:cxnSp>
      <p:cxnSp>
        <p:nvCxnSpPr>
          <p:cNvPr id="60" name="直接箭头连接符 119"/>
          <p:cNvCxnSpPr>
            <a:stCxn id="49" idx="3"/>
          </p:cNvCxnSpPr>
          <p:nvPr/>
        </p:nvCxnSpPr>
        <p:spPr>
          <a:xfrm>
            <a:off x="2717893" y="2957399"/>
            <a:ext cx="1414589" cy="14299"/>
          </a:xfrm>
          <a:prstGeom prst="straightConnector1">
            <a:avLst/>
          </a:prstGeom>
          <a:noFill/>
          <a:ln w="6350" cap="flat" cmpd="sng" algn="ctr">
            <a:solidFill>
              <a:srgbClr val="FFBF00"/>
            </a:solidFill>
            <a:prstDash val="solid"/>
            <a:miter lim="800000"/>
            <a:tailEnd type="triangle"/>
          </a:ln>
          <a:effectLst/>
        </p:spPr>
      </p:cxnSp>
      <p:cxnSp>
        <p:nvCxnSpPr>
          <p:cNvPr id="61" name="直接箭头连接符 121"/>
          <p:cNvCxnSpPr>
            <a:stCxn id="50" idx="3"/>
          </p:cNvCxnSpPr>
          <p:nvPr/>
        </p:nvCxnSpPr>
        <p:spPr>
          <a:xfrm>
            <a:off x="2717893" y="3419064"/>
            <a:ext cx="1414589" cy="14299"/>
          </a:xfrm>
          <a:prstGeom prst="straightConnector1">
            <a:avLst/>
          </a:prstGeom>
          <a:noFill/>
          <a:ln w="6350" cap="flat" cmpd="sng" algn="ctr">
            <a:solidFill>
              <a:srgbClr val="FFBF00"/>
            </a:solidFill>
            <a:prstDash val="solid"/>
            <a:miter lim="800000"/>
            <a:tailEnd type="triangle"/>
          </a:ln>
          <a:effectLst/>
        </p:spPr>
      </p:cxnSp>
      <p:cxnSp>
        <p:nvCxnSpPr>
          <p:cNvPr id="62" name="直接箭头连接符 123"/>
          <p:cNvCxnSpPr>
            <a:stCxn id="51" idx="3"/>
          </p:cNvCxnSpPr>
          <p:nvPr/>
        </p:nvCxnSpPr>
        <p:spPr>
          <a:xfrm>
            <a:off x="2717893" y="3880729"/>
            <a:ext cx="1414589" cy="14299"/>
          </a:xfrm>
          <a:prstGeom prst="straightConnector1">
            <a:avLst/>
          </a:prstGeom>
          <a:noFill/>
          <a:ln w="6350" cap="flat" cmpd="sng" algn="ctr">
            <a:solidFill>
              <a:srgbClr val="FFBF00"/>
            </a:solidFill>
            <a:prstDash val="solid"/>
            <a:miter lim="800000"/>
            <a:tailEnd type="triangle"/>
          </a:ln>
          <a:effectLst/>
        </p:spPr>
      </p:cxnSp>
      <p:cxnSp>
        <p:nvCxnSpPr>
          <p:cNvPr id="63" name="直接箭头连接符 125"/>
          <p:cNvCxnSpPr>
            <a:stCxn id="52" idx="3"/>
          </p:cNvCxnSpPr>
          <p:nvPr/>
        </p:nvCxnSpPr>
        <p:spPr>
          <a:xfrm>
            <a:off x="2717893" y="4342394"/>
            <a:ext cx="1414589" cy="14299"/>
          </a:xfrm>
          <a:prstGeom prst="straightConnector1">
            <a:avLst/>
          </a:prstGeom>
          <a:noFill/>
          <a:ln w="6350" cap="flat" cmpd="sng" algn="ctr">
            <a:solidFill>
              <a:srgbClr val="FFBF00"/>
            </a:solidFill>
            <a:prstDash val="solid"/>
            <a:miter lim="800000"/>
            <a:tailEnd type="triangle"/>
          </a:ln>
          <a:effectLst/>
        </p:spPr>
      </p:cxnSp>
      <p:cxnSp>
        <p:nvCxnSpPr>
          <p:cNvPr id="64" name="直接箭头连接符 127"/>
          <p:cNvCxnSpPr>
            <a:stCxn id="53" idx="3"/>
          </p:cNvCxnSpPr>
          <p:nvPr/>
        </p:nvCxnSpPr>
        <p:spPr>
          <a:xfrm>
            <a:off x="2717893" y="4804059"/>
            <a:ext cx="1414589" cy="14299"/>
          </a:xfrm>
          <a:prstGeom prst="straightConnector1">
            <a:avLst/>
          </a:prstGeom>
          <a:noFill/>
          <a:ln w="6350" cap="flat" cmpd="sng" algn="ctr">
            <a:solidFill>
              <a:srgbClr val="FFBF00"/>
            </a:solidFill>
            <a:prstDash val="solid"/>
            <a:miter lim="800000"/>
            <a:tailEnd type="triangle"/>
          </a:ln>
          <a:effectLst/>
        </p:spPr>
      </p:cxnSp>
      <p:cxnSp>
        <p:nvCxnSpPr>
          <p:cNvPr id="65" name="直接箭头连接符 129"/>
          <p:cNvCxnSpPr>
            <a:stCxn id="54" idx="3"/>
          </p:cNvCxnSpPr>
          <p:nvPr/>
        </p:nvCxnSpPr>
        <p:spPr>
          <a:xfrm>
            <a:off x="2717893" y="5265724"/>
            <a:ext cx="1414589" cy="14299"/>
          </a:xfrm>
          <a:prstGeom prst="straightConnector1">
            <a:avLst/>
          </a:prstGeom>
          <a:noFill/>
          <a:ln w="6350" cap="flat" cmpd="sng" algn="ctr">
            <a:solidFill>
              <a:srgbClr val="FFBF00"/>
            </a:solidFill>
            <a:prstDash val="solid"/>
            <a:miter lim="800000"/>
            <a:tailEnd type="triangle"/>
          </a:ln>
          <a:effectLst/>
        </p:spPr>
      </p:cxnSp>
      <p:cxnSp>
        <p:nvCxnSpPr>
          <p:cNvPr id="66" name="直接箭头连接符 131"/>
          <p:cNvCxnSpPr>
            <a:stCxn id="55" idx="3"/>
          </p:cNvCxnSpPr>
          <p:nvPr/>
        </p:nvCxnSpPr>
        <p:spPr>
          <a:xfrm>
            <a:off x="2717893" y="5727389"/>
            <a:ext cx="1414589" cy="14299"/>
          </a:xfrm>
          <a:prstGeom prst="straightConnector1">
            <a:avLst/>
          </a:prstGeom>
          <a:noFill/>
          <a:ln w="6350" cap="flat" cmpd="sng" algn="ctr">
            <a:solidFill>
              <a:srgbClr val="FFBF00"/>
            </a:solidFill>
            <a:prstDash val="solid"/>
            <a:miter lim="800000"/>
            <a:tailEnd type="triangle"/>
          </a:ln>
          <a:effectLst/>
        </p:spPr>
      </p:cxnSp>
      <p:cxnSp>
        <p:nvCxnSpPr>
          <p:cNvPr id="67" name="直接箭头连接符 133"/>
          <p:cNvCxnSpPr>
            <a:stCxn id="56" idx="3"/>
          </p:cNvCxnSpPr>
          <p:nvPr/>
        </p:nvCxnSpPr>
        <p:spPr>
          <a:xfrm>
            <a:off x="2717893" y="6189054"/>
            <a:ext cx="1414589" cy="14299"/>
          </a:xfrm>
          <a:prstGeom prst="straightConnector1">
            <a:avLst/>
          </a:prstGeom>
          <a:noFill/>
          <a:ln w="6350" cap="flat" cmpd="sng" algn="ctr">
            <a:solidFill>
              <a:srgbClr val="FFBF00"/>
            </a:solidFill>
            <a:prstDash val="solid"/>
            <a:miter lim="800000"/>
            <a:tailEnd type="triangle"/>
          </a:ln>
          <a:effectLst/>
        </p:spPr>
      </p:cxnSp>
      <p:sp>
        <p:nvSpPr>
          <p:cNvPr id="68" name="矩形 139"/>
          <p:cNvSpPr/>
          <p:nvPr/>
        </p:nvSpPr>
        <p:spPr>
          <a:xfrm>
            <a:off x="1369464" y="126769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244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9" name="矩形 156"/>
          <p:cNvSpPr/>
          <p:nvPr/>
        </p:nvSpPr>
        <p:spPr>
          <a:xfrm>
            <a:off x="1369464" y="1725020"/>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464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0" name="矩形 157"/>
          <p:cNvSpPr/>
          <p:nvPr/>
        </p:nvSpPr>
        <p:spPr>
          <a:xfrm>
            <a:off x="1369464" y="2182343"/>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1" name="矩形 158"/>
          <p:cNvSpPr/>
          <p:nvPr/>
        </p:nvSpPr>
        <p:spPr>
          <a:xfrm>
            <a:off x="1369464" y="2639666"/>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78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2" name="矩形 159"/>
          <p:cNvSpPr/>
          <p:nvPr/>
        </p:nvSpPr>
        <p:spPr>
          <a:xfrm>
            <a:off x="1369464" y="3096989"/>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458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3" name="矩形 160"/>
          <p:cNvSpPr/>
          <p:nvPr/>
        </p:nvSpPr>
        <p:spPr>
          <a:xfrm>
            <a:off x="1369464" y="3554312"/>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4" name="矩形 161"/>
          <p:cNvSpPr/>
          <p:nvPr/>
        </p:nvSpPr>
        <p:spPr>
          <a:xfrm>
            <a:off x="1369464" y="4011635"/>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5" name="矩形 162"/>
          <p:cNvSpPr/>
          <p:nvPr/>
        </p:nvSpPr>
        <p:spPr>
          <a:xfrm>
            <a:off x="1369464" y="4503715"/>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6" name="矩形 164"/>
          <p:cNvSpPr/>
          <p:nvPr/>
        </p:nvSpPr>
        <p:spPr>
          <a:xfrm>
            <a:off x="1369464" y="4963281"/>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7" name="矩形 165"/>
          <p:cNvSpPr/>
          <p:nvPr/>
        </p:nvSpPr>
        <p:spPr>
          <a:xfrm>
            <a:off x="1369464" y="542284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97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8" name="矩形 166"/>
          <p:cNvSpPr/>
          <p:nvPr/>
        </p:nvSpPr>
        <p:spPr>
          <a:xfrm>
            <a:off x="1369464" y="5882413"/>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9" name="矩形 167"/>
          <p:cNvSpPr/>
          <p:nvPr/>
        </p:nvSpPr>
        <p:spPr>
          <a:xfrm>
            <a:off x="1369464" y="634804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188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0" name="矩形 168"/>
          <p:cNvSpPr/>
          <p:nvPr/>
        </p:nvSpPr>
        <p:spPr>
          <a:xfrm>
            <a:off x="2730827" y="1483928"/>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1" name="矩形 169"/>
          <p:cNvSpPr/>
          <p:nvPr/>
        </p:nvSpPr>
        <p:spPr>
          <a:xfrm>
            <a:off x="2730827" y="1940831"/>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125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2" name="矩形 170"/>
          <p:cNvSpPr/>
          <p:nvPr/>
        </p:nvSpPr>
        <p:spPr>
          <a:xfrm>
            <a:off x="2730827" y="2397734"/>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146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3" name="矩形 171"/>
          <p:cNvSpPr/>
          <p:nvPr/>
        </p:nvSpPr>
        <p:spPr>
          <a:xfrm>
            <a:off x="2730827" y="2854637"/>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4" name="矩形 172"/>
          <p:cNvSpPr/>
          <p:nvPr/>
        </p:nvSpPr>
        <p:spPr>
          <a:xfrm>
            <a:off x="2730827" y="3311540"/>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5" name="矩形 173"/>
          <p:cNvSpPr/>
          <p:nvPr/>
        </p:nvSpPr>
        <p:spPr>
          <a:xfrm>
            <a:off x="2730827" y="3791158"/>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6" name="矩形 174"/>
          <p:cNvSpPr/>
          <p:nvPr/>
        </p:nvSpPr>
        <p:spPr>
          <a:xfrm>
            <a:off x="2730827" y="4258076"/>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7" name="矩形 175"/>
          <p:cNvSpPr/>
          <p:nvPr/>
        </p:nvSpPr>
        <p:spPr>
          <a:xfrm>
            <a:off x="2730827" y="4717003"/>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174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8" name="矩形 176"/>
          <p:cNvSpPr/>
          <p:nvPr/>
        </p:nvSpPr>
        <p:spPr>
          <a:xfrm>
            <a:off x="2730827" y="5172486"/>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9" name="矩形 177"/>
          <p:cNvSpPr/>
          <p:nvPr/>
        </p:nvSpPr>
        <p:spPr>
          <a:xfrm>
            <a:off x="2730827" y="5627969"/>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90" name="矩形 178"/>
          <p:cNvSpPr/>
          <p:nvPr/>
        </p:nvSpPr>
        <p:spPr>
          <a:xfrm>
            <a:off x="2730827" y="6083452"/>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505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cxnSp>
        <p:nvCxnSpPr>
          <p:cNvPr id="91" name="直接箭头连接符 181"/>
          <p:cNvCxnSpPr>
            <a:endCxn id="92" idx="1"/>
          </p:cNvCxnSpPr>
          <p:nvPr/>
        </p:nvCxnSpPr>
        <p:spPr>
          <a:xfrm>
            <a:off x="7570951" y="1672026"/>
            <a:ext cx="1049169" cy="0"/>
          </a:xfrm>
          <a:prstGeom prst="straightConnector1">
            <a:avLst/>
          </a:prstGeom>
          <a:noFill/>
          <a:ln w="6350" cap="flat" cmpd="sng" algn="ctr">
            <a:solidFill>
              <a:srgbClr val="FFBF00"/>
            </a:solidFill>
            <a:prstDash val="solid"/>
            <a:miter lim="800000"/>
            <a:tailEnd type="triangle"/>
          </a:ln>
          <a:effectLst/>
        </p:spPr>
      </p:cxnSp>
      <p:sp>
        <p:nvSpPr>
          <p:cNvPr id="92" name="矩形 184"/>
          <p:cNvSpPr/>
          <p:nvPr/>
        </p:nvSpPr>
        <p:spPr>
          <a:xfrm>
            <a:off x="8620120" y="1532436"/>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财务处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3" name="直接箭头连接符 188"/>
          <p:cNvCxnSpPr>
            <a:endCxn id="94" idx="1"/>
          </p:cNvCxnSpPr>
          <p:nvPr/>
        </p:nvCxnSpPr>
        <p:spPr>
          <a:xfrm>
            <a:off x="7570951" y="2006610"/>
            <a:ext cx="1049169" cy="0"/>
          </a:xfrm>
          <a:prstGeom prst="straightConnector1">
            <a:avLst/>
          </a:prstGeom>
          <a:noFill/>
          <a:ln w="6350" cap="flat" cmpd="sng" algn="ctr">
            <a:solidFill>
              <a:srgbClr val="FFBF00"/>
            </a:solidFill>
            <a:prstDash val="solid"/>
            <a:miter lim="800000"/>
            <a:tailEnd type="triangle"/>
          </a:ln>
          <a:effectLst/>
        </p:spPr>
      </p:cxnSp>
      <p:sp>
        <p:nvSpPr>
          <p:cNvPr id="94" name="矩形 189"/>
          <p:cNvSpPr/>
          <p:nvPr/>
        </p:nvSpPr>
        <p:spPr>
          <a:xfrm>
            <a:off x="8620120" y="1867020"/>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房产办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5" name="直接箭头连接符 190"/>
          <p:cNvCxnSpPr>
            <a:endCxn id="96" idx="1"/>
          </p:cNvCxnSpPr>
          <p:nvPr/>
        </p:nvCxnSpPr>
        <p:spPr>
          <a:xfrm>
            <a:off x="7570951" y="2341194"/>
            <a:ext cx="1049169" cy="0"/>
          </a:xfrm>
          <a:prstGeom prst="straightConnector1">
            <a:avLst/>
          </a:prstGeom>
          <a:noFill/>
          <a:ln w="6350" cap="flat" cmpd="sng" algn="ctr">
            <a:solidFill>
              <a:srgbClr val="FFBF00"/>
            </a:solidFill>
            <a:prstDash val="solid"/>
            <a:miter lim="800000"/>
            <a:tailEnd type="triangle"/>
          </a:ln>
          <a:effectLst/>
        </p:spPr>
      </p:cxnSp>
      <p:sp>
        <p:nvSpPr>
          <p:cNvPr id="96" name="矩形 191"/>
          <p:cNvSpPr/>
          <p:nvPr/>
        </p:nvSpPr>
        <p:spPr>
          <a:xfrm>
            <a:off x="8620120" y="2201604"/>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国资办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7" name="直接箭头连接符 192"/>
          <p:cNvCxnSpPr>
            <a:endCxn id="98" idx="1"/>
          </p:cNvCxnSpPr>
          <p:nvPr/>
        </p:nvCxnSpPr>
        <p:spPr>
          <a:xfrm>
            <a:off x="7570951" y="2675778"/>
            <a:ext cx="1049169" cy="0"/>
          </a:xfrm>
          <a:prstGeom prst="straightConnector1">
            <a:avLst/>
          </a:prstGeom>
          <a:noFill/>
          <a:ln w="6350" cap="flat" cmpd="sng" algn="ctr">
            <a:solidFill>
              <a:srgbClr val="FFBF00"/>
            </a:solidFill>
            <a:prstDash val="solid"/>
            <a:miter lim="800000"/>
            <a:tailEnd type="triangle"/>
          </a:ln>
          <a:effectLst/>
        </p:spPr>
      </p:cxnSp>
      <p:sp>
        <p:nvSpPr>
          <p:cNvPr id="98" name="矩形 193"/>
          <p:cNvSpPr/>
          <p:nvPr/>
        </p:nvSpPr>
        <p:spPr>
          <a:xfrm>
            <a:off x="8620120" y="2536188"/>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外事处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9" name="直接箭头连接符 194"/>
          <p:cNvCxnSpPr>
            <a:endCxn id="100" idx="1"/>
          </p:cNvCxnSpPr>
          <p:nvPr/>
        </p:nvCxnSpPr>
        <p:spPr>
          <a:xfrm>
            <a:off x="7570951" y="3010362"/>
            <a:ext cx="1049169" cy="0"/>
          </a:xfrm>
          <a:prstGeom prst="straightConnector1">
            <a:avLst/>
          </a:prstGeom>
          <a:noFill/>
          <a:ln w="6350" cap="flat" cmpd="sng" algn="ctr">
            <a:solidFill>
              <a:srgbClr val="FFBF00"/>
            </a:solidFill>
            <a:prstDash val="solid"/>
            <a:miter lim="800000"/>
            <a:tailEnd type="triangle"/>
          </a:ln>
          <a:effectLst/>
        </p:spPr>
      </p:cxnSp>
      <p:sp>
        <p:nvSpPr>
          <p:cNvPr id="100" name="矩形 195"/>
          <p:cNvSpPr/>
          <p:nvPr/>
        </p:nvSpPr>
        <p:spPr>
          <a:xfrm>
            <a:off x="8620120" y="2870772"/>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基建处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01" name="直接箭头连接符 196"/>
          <p:cNvCxnSpPr>
            <a:endCxn id="102" idx="1"/>
          </p:cNvCxnSpPr>
          <p:nvPr/>
        </p:nvCxnSpPr>
        <p:spPr>
          <a:xfrm>
            <a:off x="7570951" y="3344946"/>
            <a:ext cx="1049169" cy="0"/>
          </a:xfrm>
          <a:prstGeom prst="straightConnector1">
            <a:avLst/>
          </a:prstGeom>
          <a:noFill/>
          <a:ln w="6350" cap="flat" cmpd="sng" algn="ctr">
            <a:solidFill>
              <a:srgbClr val="FFBF00"/>
            </a:solidFill>
            <a:prstDash val="solid"/>
            <a:miter lim="800000"/>
            <a:tailEnd type="triangle"/>
          </a:ln>
          <a:effectLst/>
        </p:spPr>
      </p:cxnSp>
      <p:sp>
        <p:nvSpPr>
          <p:cNvPr id="102" name="矩形 197"/>
          <p:cNvSpPr/>
          <p:nvPr/>
        </p:nvSpPr>
        <p:spPr>
          <a:xfrm>
            <a:off x="8620120" y="3205356"/>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教师教院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03" name="直接箭头连接符 198"/>
          <p:cNvCxnSpPr>
            <a:endCxn id="104" idx="1"/>
          </p:cNvCxnSpPr>
          <p:nvPr/>
        </p:nvCxnSpPr>
        <p:spPr>
          <a:xfrm>
            <a:off x="7570951" y="3679530"/>
            <a:ext cx="1049169" cy="0"/>
          </a:xfrm>
          <a:prstGeom prst="straightConnector1">
            <a:avLst/>
          </a:prstGeom>
          <a:noFill/>
          <a:ln w="6350" cap="flat" cmpd="sng" algn="ctr">
            <a:solidFill>
              <a:srgbClr val="FFBF00"/>
            </a:solidFill>
            <a:prstDash val="solid"/>
            <a:miter lim="800000"/>
            <a:tailEnd type="triangle"/>
          </a:ln>
          <a:effectLst/>
        </p:spPr>
      </p:cxnSp>
      <p:sp>
        <p:nvSpPr>
          <p:cNvPr id="104" name="矩形 199"/>
          <p:cNvSpPr/>
          <p:nvPr/>
        </p:nvSpPr>
        <p:spPr>
          <a:xfrm>
            <a:off x="8620120" y="3539940"/>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教务处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05" name="直接箭头连接符 200"/>
          <p:cNvCxnSpPr>
            <a:endCxn id="106" idx="1"/>
          </p:cNvCxnSpPr>
          <p:nvPr/>
        </p:nvCxnSpPr>
        <p:spPr>
          <a:xfrm>
            <a:off x="7570951" y="4014114"/>
            <a:ext cx="1049169" cy="0"/>
          </a:xfrm>
          <a:prstGeom prst="straightConnector1">
            <a:avLst/>
          </a:prstGeom>
          <a:noFill/>
          <a:ln w="6350" cap="flat" cmpd="sng" algn="ctr">
            <a:solidFill>
              <a:srgbClr val="FFBF00"/>
            </a:solidFill>
            <a:prstDash val="solid"/>
            <a:miter lim="800000"/>
            <a:tailEnd type="triangle"/>
          </a:ln>
          <a:effectLst/>
        </p:spPr>
      </p:cxnSp>
      <p:sp>
        <p:nvSpPr>
          <p:cNvPr id="106" name="矩形 201"/>
          <p:cNvSpPr/>
          <p:nvPr/>
        </p:nvSpPr>
        <p:spPr>
          <a:xfrm>
            <a:off x="8620120" y="3874524"/>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科技处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07" name="直接箭头连接符 202"/>
          <p:cNvCxnSpPr>
            <a:endCxn id="108" idx="1"/>
          </p:cNvCxnSpPr>
          <p:nvPr/>
        </p:nvCxnSpPr>
        <p:spPr>
          <a:xfrm>
            <a:off x="7570951" y="4348698"/>
            <a:ext cx="1049169" cy="0"/>
          </a:xfrm>
          <a:prstGeom prst="straightConnector1">
            <a:avLst/>
          </a:prstGeom>
          <a:noFill/>
          <a:ln w="6350" cap="flat" cmpd="sng" algn="ctr">
            <a:solidFill>
              <a:srgbClr val="FFBF00"/>
            </a:solidFill>
            <a:prstDash val="solid"/>
            <a:miter lim="800000"/>
            <a:tailEnd type="triangle"/>
          </a:ln>
          <a:effectLst/>
        </p:spPr>
      </p:cxnSp>
      <p:sp>
        <p:nvSpPr>
          <p:cNvPr id="108" name="矩形 203"/>
          <p:cNvSpPr/>
          <p:nvPr/>
        </p:nvSpPr>
        <p:spPr>
          <a:xfrm>
            <a:off x="8620120" y="4209108"/>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离退处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09" name="直接箭头连接符 204"/>
          <p:cNvCxnSpPr>
            <a:endCxn id="110" idx="1"/>
          </p:cNvCxnSpPr>
          <p:nvPr/>
        </p:nvCxnSpPr>
        <p:spPr>
          <a:xfrm>
            <a:off x="7570951" y="4683282"/>
            <a:ext cx="1049169" cy="0"/>
          </a:xfrm>
          <a:prstGeom prst="straightConnector1">
            <a:avLst/>
          </a:prstGeom>
          <a:noFill/>
          <a:ln w="6350" cap="flat" cmpd="sng" algn="ctr">
            <a:solidFill>
              <a:srgbClr val="FFBF00"/>
            </a:solidFill>
            <a:prstDash val="solid"/>
            <a:miter lim="800000"/>
            <a:tailEnd type="triangle"/>
          </a:ln>
          <a:effectLst/>
        </p:spPr>
      </p:cxnSp>
      <p:sp>
        <p:nvSpPr>
          <p:cNvPr id="110" name="矩形 205"/>
          <p:cNvSpPr/>
          <p:nvPr/>
        </p:nvSpPr>
        <p:spPr>
          <a:xfrm>
            <a:off x="8620120" y="4543692"/>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11" name="直接箭头连接符 206"/>
          <p:cNvCxnSpPr>
            <a:endCxn id="112" idx="1"/>
          </p:cNvCxnSpPr>
          <p:nvPr/>
        </p:nvCxnSpPr>
        <p:spPr>
          <a:xfrm>
            <a:off x="7570951" y="5017866"/>
            <a:ext cx="1049169" cy="0"/>
          </a:xfrm>
          <a:prstGeom prst="straightConnector1">
            <a:avLst/>
          </a:prstGeom>
          <a:noFill/>
          <a:ln w="6350" cap="flat" cmpd="sng" algn="ctr">
            <a:solidFill>
              <a:srgbClr val="FFBF00"/>
            </a:solidFill>
            <a:prstDash val="solid"/>
            <a:miter lim="800000"/>
            <a:tailEnd type="triangle"/>
          </a:ln>
          <a:effectLst/>
        </p:spPr>
      </p:cxnSp>
      <p:sp>
        <p:nvSpPr>
          <p:cNvPr id="112" name="矩形 207"/>
          <p:cNvSpPr/>
          <p:nvPr/>
        </p:nvSpPr>
        <p:spPr>
          <a:xfrm>
            <a:off x="8620120" y="4878276"/>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设备处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13" name="直接箭头连接符 208"/>
          <p:cNvCxnSpPr>
            <a:endCxn id="114" idx="1"/>
          </p:cNvCxnSpPr>
          <p:nvPr/>
        </p:nvCxnSpPr>
        <p:spPr>
          <a:xfrm>
            <a:off x="7570951" y="5352450"/>
            <a:ext cx="1049169" cy="0"/>
          </a:xfrm>
          <a:prstGeom prst="straightConnector1">
            <a:avLst/>
          </a:prstGeom>
          <a:noFill/>
          <a:ln w="6350" cap="flat" cmpd="sng" algn="ctr">
            <a:solidFill>
              <a:srgbClr val="FFBF00"/>
            </a:solidFill>
            <a:prstDash val="solid"/>
            <a:miter lim="800000"/>
            <a:tailEnd type="triangle"/>
          </a:ln>
          <a:effectLst/>
        </p:spPr>
      </p:cxnSp>
      <p:sp>
        <p:nvSpPr>
          <p:cNvPr id="114" name="矩形 209"/>
          <p:cNvSpPr/>
          <p:nvPr/>
        </p:nvSpPr>
        <p:spPr>
          <a:xfrm>
            <a:off x="8620120" y="5212860"/>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后勤保障部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15" name="直接箭头连接符 210"/>
          <p:cNvCxnSpPr>
            <a:endCxn id="116" idx="1"/>
          </p:cNvCxnSpPr>
          <p:nvPr/>
        </p:nvCxnSpPr>
        <p:spPr>
          <a:xfrm>
            <a:off x="7570951" y="5687034"/>
            <a:ext cx="1049169" cy="0"/>
          </a:xfrm>
          <a:prstGeom prst="straightConnector1">
            <a:avLst/>
          </a:prstGeom>
          <a:noFill/>
          <a:ln w="6350" cap="flat" cmpd="sng" algn="ctr">
            <a:solidFill>
              <a:srgbClr val="FFBF00"/>
            </a:solidFill>
            <a:prstDash val="solid"/>
            <a:miter lim="800000"/>
            <a:tailEnd type="triangle"/>
          </a:ln>
          <a:effectLst/>
        </p:spPr>
      </p:cxnSp>
      <p:sp>
        <p:nvSpPr>
          <p:cNvPr id="116" name="矩形 211"/>
          <p:cNvSpPr/>
          <p:nvPr/>
        </p:nvSpPr>
        <p:spPr>
          <a:xfrm>
            <a:off x="8620120" y="5547444"/>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图书馆</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17" name="直接箭头连接符 212"/>
          <p:cNvCxnSpPr>
            <a:endCxn id="118" idx="1"/>
          </p:cNvCxnSpPr>
          <p:nvPr/>
        </p:nvCxnSpPr>
        <p:spPr>
          <a:xfrm>
            <a:off x="7570951" y="6021618"/>
            <a:ext cx="1049169" cy="0"/>
          </a:xfrm>
          <a:prstGeom prst="straightConnector1">
            <a:avLst/>
          </a:prstGeom>
          <a:noFill/>
          <a:ln w="6350" cap="flat" cmpd="sng" algn="ctr">
            <a:solidFill>
              <a:srgbClr val="FFBF00"/>
            </a:solidFill>
            <a:prstDash val="solid"/>
            <a:miter lim="800000"/>
            <a:tailEnd type="triangle"/>
          </a:ln>
          <a:effectLst/>
        </p:spPr>
      </p:cxnSp>
      <p:sp>
        <p:nvSpPr>
          <p:cNvPr id="118" name="矩形 213"/>
          <p:cNvSpPr/>
          <p:nvPr/>
        </p:nvSpPr>
        <p:spPr>
          <a:xfrm>
            <a:off x="8620120" y="5882028"/>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学工处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9" name="矩形 218"/>
          <p:cNvSpPr/>
          <p:nvPr/>
        </p:nvSpPr>
        <p:spPr>
          <a:xfrm>
            <a:off x="9712717" y="1532436"/>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研究生院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0" name="矩形 219"/>
          <p:cNvSpPr/>
          <p:nvPr/>
        </p:nvSpPr>
        <p:spPr>
          <a:xfrm>
            <a:off x="9712717" y="1867020"/>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人事处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1" name="矩形 220"/>
          <p:cNvSpPr/>
          <p:nvPr/>
        </p:nvSpPr>
        <p:spPr>
          <a:xfrm>
            <a:off x="9712717" y="2201604"/>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组织部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2" name="矩形 221"/>
          <p:cNvSpPr/>
          <p:nvPr/>
        </p:nvSpPr>
        <p:spPr>
          <a:xfrm>
            <a:off x="9712717" y="2536188"/>
            <a:ext cx="952500"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校友会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3" name="矩形 278"/>
          <p:cNvSpPr/>
          <p:nvPr/>
        </p:nvSpPr>
        <p:spPr>
          <a:xfrm>
            <a:off x="7455438" y="6260328"/>
            <a:ext cx="3775393"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微软雅黑" panose="020B0503020204020204" pitchFamily="34" charset="-122"/>
              </a:rPr>
              <a:t>数据孤岛已经基本打通</a:t>
            </a:r>
            <a:endParaRPr kumimoji="0" lang="zh-CN" altLang="en-US" sz="2800" b="0" i="0" u="none" strike="noStrike" kern="0" cap="none" spc="0" normalizeH="0" baseline="0" noProof="0" dirty="0">
              <a:ln>
                <a:noFill/>
              </a:ln>
              <a:solidFill>
                <a:srgbClr val="000000"/>
              </a:solidFill>
              <a:effectLst/>
              <a:uLnTx/>
              <a:uFillTx/>
            </a:endParaRPr>
          </a:p>
        </p:txBody>
      </p:sp>
      <p:sp>
        <p:nvSpPr>
          <p:cNvPr id="124" name="矩形 134"/>
          <p:cNvSpPr/>
          <p:nvPr/>
        </p:nvSpPr>
        <p:spPr>
          <a:xfrm>
            <a:off x="4087730" y="846364"/>
            <a:ext cx="3775393"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微软雅黑" panose="020B0503020204020204" pitchFamily="34" charset="-122"/>
              </a:rPr>
              <a:t>服务于部门间数据交换</a:t>
            </a:r>
            <a:endParaRPr kumimoji="0" lang="zh-CN" altLang="en-US" sz="2800" b="0" i="0" u="none" strike="noStrike" kern="0" cap="none" spc="0" normalizeH="0" baseline="0" noProof="0" dirty="0">
              <a:ln>
                <a:noFill/>
              </a:ln>
              <a:solidFill>
                <a:srgbClr val="000000"/>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a:t>
            </a:r>
            <a:r>
              <a:rPr lang="en-US" altLang="zh-CN" dirty="0">
                <a:sym typeface="+mn-ea"/>
              </a:rPr>
              <a:t>xx</a:t>
            </a:r>
            <a:r>
              <a:rPr lang="zh-CN" altLang="en-US" dirty="0"/>
              <a:t>师范大学</a:t>
            </a:r>
            <a:r>
              <a:rPr lang="en-US" altLang="zh-CN" dirty="0"/>
              <a:t> </a:t>
            </a:r>
            <a:endParaRPr lang="zh-CN" altLang="en-US" dirty="0"/>
          </a:p>
        </p:txBody>
      </p:sp>
      <p:sp>
        <p:nvSpPr>
          <p:cNvPr id="3" name="流程图: 磁盘 6"/>
          <p:cNvSpPr/>
          <p:nvPr/>
        </p:nvSpPr>
        <p:spPr>
          <a:xfrm>
            <a:off x="4733662" y="1468628"/>
            <a:ext cx="3218082" cy="4824201"/>
          </a:xfrm>
          <a:prstGeom prst="flowChartMagneticDisk">
            <a:avLst/>
          </a:prstGeom>
          <a:noFill/>
          <a:ln w="9525" cap="flat" cmpd="sng" algn="ctr">
            <a:solidFill>
              <a:srgbClr val="00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4" name="矩形 2"/>
          <p:cNvSpPr/>
          <p:nvPr/>
        </p:nvSpPr>
        <p:spPr>
          <a:xfrm>
            <a:off x="4275470" y="802084"/>
            <a:ext cx="4134465"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微软雅黑" panose="020B0503020204020204" pitchFamily="34" charset="-122"/>
              </a:rPr>
              <a:t>服务于信息中心综合业务</a:t>
            </a:r>
            <a:endParaRPr kumimoji="0" lang="zh-CN" altLang="en-US" sz="2800" b="0" i="0" u="none" strike="noStrike" kern="0" cap="none" spc="0" normalizeH="0" baseline="0" noProof="0" dirty="0">
              <a:ln>
                <a:noFill/>
              </a:ln>
              <a:solidFill>
                <a:srgbClr val="000000"/>
              </a:solidFill>
              <a:effectLst/>
              <a:uLnTx/>
              <a:uFillTx/>
            </a:endParaRPr>
          </a:p>
        </p:txBody>
      </p:sp>
      <p:sp>
        <p:nvSpPr>
          <p:cNvPr id="5" name="文本框 7"/>
          <p:cNvSpPr txBox="1"/>
          <p:nvPr/>
        </p:nvSpPr>
        <p:spPr>
          <a:xfrm>
            <a:off x="5672870" y="1705200"/>
            <a:ext cx="1415772" cy="461665"/>
          </a:xfrm>
          <a:prstGeom prst="rect">
            <a:avLst/>
          </a:prstGeom>
          <a:solidFill>
            <a:srgbClr val="00B0F0"/>
          </a:solidFill>
          <a:ln>
            <a:noFill/>
          </a:ln>
          <a:effectLst>
            <a:outerShdw blurRad="57150" dist="19050" dir="5400000" algn="ctr" rotWithShape="0">
              <a:srgbClr val="000000">
                <a:alpha val="63000"/>
              </a:srgbClr>
            </a:outerShdw>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数据中心</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nvGrpSpPr>
          <p:cNvPr id="6" name="组合 26"/>
          <p:cNvGrpSpPr/>
          <p:nvPr/>
        </p:nvGrpSpPr>
        <p:grpSpPr>
          <a:xfrm>
            <a:off x="5048603" y="2191104"/>
            <a:ext cx="2664306" cy="3785289"/>
            <a:chOff x="2603084" y="1882809"/>
            <a:chExt cx="2664306" cy="3785289"/>
          </a:xfrm>
        </p:grpSpPr>
        <p:sp>
          <p:nvSpPr>
            <p:cNvPr id="7" name="文本框 8"/>
            <p:cNvSpPr txBox="1"/>
            <p:nvPr/>
          </p:nvSpPr>
          <p:spPr>
            <a:xfrm>
              <a:off x="3164937" y="1882809"/>
              <a:ext cx="700833"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8</a:t>
              </a:r>
              <a:r>
                <a:rPr kumimoji="0" lang="zh-CN" altLang="en-US" sz="1800" b="0" i="0" u="none" strike="noStrike" kern="0" cap="none" spc="0" normalizeH="0" baseline="0" noProof="0" dirty="0">
                  <a:ln>
                    <a:noFill/>
                  </a:ln>
                  <a:solidFill>
                    <a:srgbClr val="92D050"/>
                  </a:solidFill>
                  <a:effectLst/>
                  <a:uLnTx/>
                  <a:uFillTx/>
                </a:rPr>
                <a:t>类</a:t>
              </a:r>
              <a:endParaRPr kumimoji="0" lang="zh-CN" altLang="en-US" sz="1800" b="0" i="0" u="none" strike="noStrike" kern="0" cap="none" spc="0" normalizeH="0" baseline="0" noProof="0" dirty="0">
                <a:ln>
                  <a:noFill/>
                </a:ln>
                <a:solidFill>
                  <a:srgbClr val="92D050"/>
                </a:solidFill>
                <a:effectLst/>
                <a:uLnTx/>
                <a:uFillTx/>
              </a:endParaRPr>
            </a:p>
          </p:txBody>
        </p:sp>
        <p:sp>
          <p:nvSpPr>
            <p:cNvPr id="8" name="矩形 9"/>
            <p:cNvSpPr/>
            <p:nvPr/>
          </p:nvSpPr>
          <p:spPr>
            <a:xfrm>
              <a:off x="4227512" y="2140225"/>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数据集</a:t>
              </a:r>
              <a:endParaRPr kumimoji="0" lang="zh-CN" altLang="en-US" sz="1800" b="0" i="0" u="none" strike="noStrike" kern="0" cap="none" spc="0" normalizeH="0" baseline="0" noProof="0" dirty="0">
                <a:ln>
                  <a:noFill/>
                </a:ln>
                <a:solidFill>
                  <a:srgbClr val="000000"/>
                </a:solidFill>
                <a:effectLst/>
                <a:uLnTx/>
                <a:uFillTx/>
              </a:endParaRPr>
            </a:p>
          </p:txBody>
        </p:sp>
        <p:sp>
          <p:nvSpPr>
            <p:cNvPr id="9" name="文本框 10"/>
            <p:cNvSpPr txBox="1"/>
            <p:nvPr/>
          </p:nvSpPr>
          <p:spPr>
            <a:xfrm>
              <a:off x="3022270" y="2494168"/>
              <a:ext cx="986167"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55</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0" name="矩形 11"/>
            <p:cNvSpPr/>
            <p:nvPr/>
          </p:nvSpPr>
          <p:spPr>
            <a:xfrm>
              <a:off x="4227512" y="275158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数据类</a:t>
              </a:r>
              <a:endParaRPr kumimoji="0" lang="zh-CN" altLang="en-US" sz="1800" b="0" i="0" u="none" strike="noStrike" kern="0" cap="none" spc="0" normalizeH="0" baseline="0" noProof="0" dirty="0">
                <a:ln>
                  <a:noFill/>
                </a:ln>
                <a:solidFill>
                  <a:srgbClr val="000000"/>
                </a:solidFill>
                <a:effectLst/>
                <a:uLnTx/>
                <a:uFillTx/>
              </a:endParaRPr>
            </a:p>
          </p:txBody>
        </p:sp>
        <p:sp>
          <p:nvSpPr>
            <p:cNvPr id="11" name="文本框 18"/>
            <p:cNvSpPr txBox="1"/>
            <p:nvPr/>
          </p:nvSpPr>
          <p:spPr>
            <a:xfrm>
              <a:off x="2879602" y="3090138"/>
              <a:ext cx="127150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296</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2" name="矩形 19"/>
            <p:cNvSpPr/>
            <p:nvPr/>
          </p:nvSpPr>
          <p:spPr>
            <a:xfrm>
              <a:off x="3996679" y="3347554"/>
              <a:ext cx="1107996"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数据子类</a:t>
              </a:r>
              <a:endParaRPr kumimoji="0" lang="zh-CN" altLang="en-US" sz="1800" b="0" i="0" u="none" strike="noStrike" kern="0" cap="none" spc="0" normalizeH="0" baseline="0" noProof="0" dirty="0">
                <a:ln>
                  <a:noFill/>
                </a:ln>
                <a:solidFill>
                  <a:srgbClr val="000000"/>
                </a:solidFill>
                <a:effectLst/>
                <a:uLnTx/>
                <a:uFillTx/>
              </a:endParaRPr>
            </a:p>
          </p:txBody>
        </p:sp>
        <p:sp>
          <p:nvSpPr>
            <p:cNvPr id="13" name="文本框 20"/>
            <p:cNvSpPr txBox="1"/>
            <p:nvPr/>
          </p:nvSpPr>
          <p:spPr>
            <a:xfrm>
              <a:off x="2736935" y="3686108"/>
              <a:ext cx="1556836"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5328</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4" name="矩形 21"/>
            <p:cNvSpPr/>
            <p:nvPr/>
          </p:nvSpPr>
          <p:spPr>
            <a:xfrm>
              <a:off x="4227512" y="394352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数据项</a:t>
              </a:r>
              <a:endParaRPr kumimoji="0" lang="zh-CN" altLang="en-US" sz="1800" b="0" i="0" u="none" strike="noStrike" kern="0" cap="none" spc="0" normalizeH="0" baseline="0" noProof="0" dirty="0">
                <a:ln>
                  <a:noFill/>
                </a:ln>
                <a:solidFill>
                  <a:srgbClr val="000000"/>
                </a:solidFill>
                <a:effectLst/>
                <a:uLnTx/>
                <a:uFillTx/>
              </a:endParaRPr>
            </a:p>
          </p:txBody>
        </p:sp>
        <p:sp>
          <p:nvSpPr>
            <p:cNvPr id="15" name="文本框 22"/>
            <p:cNvSpPr txBox="1"/>
            <p:nvPr/>
          </p:nvSpPr>
          <p:spPr>
            <a:xfrm>
              <a:off x="2603084" y="4960212"/>
              <a:ext cx="177324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2.47</a:t>
              </a:r>
              <a:r>
                <a:rPr kumimoji="0" lang="zh-CN" altLang="en-US" sz="2800" b="0" i="0" u="none" strike="noStrike" kern="0" cap="none" spc="0" normalizeH="0" baseline="0" noProof="0" dirty="0">
                  <a:ln>
                    <a:noFill/>
                  </a:ln>
                  <a:solidFill>
                    <a:srgbClr val="FF0000"/>
                  </a:solidFill>
                  <a:effectLst/>
                  <a:uLnTx/>
                  <a:uFillTx/>
                </a:rPr>
                <a:t>亿</a:t>
              </a:r>
              <a:r>
                <a:rPr kumimoji="0" lang="zh-CN" altLang="en-US" sz="1800" b="0" i="0" u="none" strike="noStrike" kern="0" cap="none" spc="0" normalizeH="0" baseline="0" noProof="0" dirty="0">
                  <a:ln>
                    <a:noFill/>
                  </a:ln>
                  <a:solidFill>
                    <a:srgbClr val="92D050"/>
                  </a:solidFill>
                  <a:effectLst/>
                  <a:uLnTx/>
                  <a:uFillTx/>
                </a:rPr>
                <a:t>条</a:t>
              </a:r>
              <a:endParaRPr kumimoji="0" lang="zh-CN" altLang="en-US" sz="1800" b="0" i="0" u="none" strike="noStrike" kern="0" cap="none" spc="0" normalizeH="0" baseline="0" noProof="0" dirty="0">
                <a:ln>
                  <a:noFill/>
                </a:ln>
                <a:solidFill>
                  <a:srgbClr val="92D050"/>
                </a:solidFill>
                <a:effectLst/>
                <a:uLnTx/>
                <a:uFillTx/>
              </a:endParaRPr>
            </a:p>
          </p:txBody>
        </p:sp>
        <p:sp>
          <p:nvSpPr>
            <p:cNvPr id="16" name="矩形 23"/>
            <p:cNvSpPr/>
            <p:nvPr/>
          </p:nvSpPr>
          <p:spPr>
            <a:xfrm>
              <a:off x="4458344" y="5217628"/>
              <a:ext cx="646331"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记录</a:t>
              </a:r>
              <a:endParaRPr kumimoji="0" lang="zh-CN" altLang="en-US" sz="1800" b="0" i="0" u="none" strike="noStrike" kern="0" cap="none" spc="0" normalizeH="0" baseline="0" noProof="0" dirty="0">
                <a:ln>
                  <a:noFill/>
                </a:ln>
                <a:solidFill>
                  <a:srgbClr val="000000"/>
                </a:solidFill>
                <a:effectLst/>
                <a:uLnTx/>
                <a:uFillTx/>
              </a:endParaRPr>
            </a:p>
          </p:txBody>
        </p:sp>
        <p:sp>
          <p:nvSpPr>
            <p:cNvPr id="17" name="文本框 179"/>
            <p:cNvSpPr txBox="1"/>
            <p:nvPr/>
          </p:nvSpPr>
          <p:spPr>
            <a:xfrm>
              <a:off x="2779130" y="4430673"/>
              <a:ext cx="2488260" cy="492443"/>
            </a:xfrm>
            <a:prstGeom prst="rect">
              <a:avLst/>
            </a:prstGeom>
            <a:solidFill>
              <a:srgbClr val="F0F0F0">
                <a:lumMod val="75000"/>
              </a:srgbClr>
            </a:solidFill>
            <a:ln>
              <a:noFill/>
            </a:ln>
            <a:effectLst>
              <a:outerShdw blurRad="57150" dist="19050" dir="5400000" algn="ctr" rotWithShape="0">
                <a:srgbClr val="000000">
                  <a:alpha val="63000"/>
                </a:srgbClr>
              </a:outerShdw>
            </a:effectLst>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 1146 </a:t>
              </a: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个</a:t>
              </a:r>
              <a:r>
                <a:rPr kumimoji="0" lang="zh-CN" altLang="en-US" sz="1800" b="0" i="0" u="none" strike="noStrike" kern="0" cap="none" spc="0" normalizeH="0" baseline="0" noProof="0" dirty="0">
                  <a:ln>
                    <a:noFill/>
                  </a:ln>
                  <a:solidFill>
                    <a:srgbClr val="92D050"/>
                  </a:solidFill>
                  <a:effectLst/>
                  <a:uLnTx/>
                  <a:uFillTx/>
                  <a:latin typeface="Arial" panose="020B0604020202020204"/>
                  <a:ea typeface="微软雅黑" panose="020B0503020204020204" pitchFamily="34" charset="-122"/>
                  <a:cs typeface="+mn-cs"/>
                </a:rPr>
                <a:t>   </a:t>
              </a:r>
              <a:r>
                <a:rPr kumimoji="0" lang="zh-CN" altLang="en-US" sz="18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待补充</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sp>
        <p:nvSpPr>
          <p:cNvPr id="18" name="矩形 28"/>
          <p:cNvSpPr/>
          <p:nvPr/>
        </p:nvSpPr>
        <p:spPr>
          <a:xfrm>
            <a:off x="983386" y="124353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人事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9" name="直接箭头连接符 61"/>
          <p:cNvCxnSpPr>
            <a:stCxn id="18" idx="3"/>
          </p:cNvCxnSpPr>
          <p:nvPr/>
        </p:nvCxnSpPr>
        <p:spPr>
          <a:xfrm>
            <a:off x="1849957" y="1383125"/>
            <a:ext cx="2773512" cy="14299"/>
          </a:xfrm>
          <a:prstGeom prst="straightConnector1">
            <a:avLst/>
          </a:prstGeom>
          <a:noFill/>
          <a:ln w="6350" cap="flat" cmpd="sng" algn="ctr">
            <a:solidFill>
              <a:srgbClr val="FFBF00"/>
            </a:solidFill>
            <a:prstDash val="solid"/>
            <a:miter lim="800000"/>
            <a:tailEnd type="triangle"/>
          </a:ln>
          <a:effectLst/>
        </p:spPr>
      </p:cxnSp>
      <p:sp>
        <p:nvSpPr>
          <p:cNvPr id="20" name="矩形 90"/>
          <p:cNvSpPr/>
          <p:nvPr/>
        </p:nvSpPr>
        <p:spPr>
          <a:xfrm>
            <a:off x="983386" y="170520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研究生院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1" name="直接箭头连接符 91"/>
          <p:cNvCxnSpPr>
            <a:stCxn id="20" idx="3"/>
          </p:cNvCxnSpPr>
          <p:nvPr/>
        </p:nvCxnSpPr>
        <p:spPr>
          <a:xfrm>
            <a:off x="1849957" y="1844790"/>
            <a:ext cx="2773512" cy="14301"/>
          </a:xfrm>
          <a:prstGeom prst="straightConnector1">
            <a:avLst/>
          </a:prstGeom>
          <a:noFill/>
          <a:ln w="6350" cap="flat" cmpd="sng" algn="ctr">
            <a:solidFill>
              <a:srgbClr val="FFBF00"/>
            </a:solidFill>
            <a:prstDash val="solid"/>
            <a:miter lim="800000"/>
            <a:tailEnd type="triangle"/>
          </a:ln>
          <a:effectLst/>
        </p:spPr>
      </p:cxnSp>
      <p:sp>
        <p:nvSpPr>
          <p:cNvPr id="22" name="矩形 92"/>
          <p:cNvSpPr/>
          <p:nvPr/>
        </p:nvSpPr>
        <p:spPr>
          <a:xfrm>
            <a:off x="983386" y="216686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学工</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3" name="直接箭头连接符 93"/>
          <p:cNvCxnSpPr>
            <a:stCxn id="22" idx="3"/>
          </p:cNvCxnSpPr>
          <p:nvPr/>
        </p:nvCxnSpPr>
        <p:spPr>
          <a:xfrm>
            <a:off x="1849957" y="2306455"/>
            <a:ext cx="2773512" cy="14299"/>
          </a:xfrm>
          <a:prstGeom prst="straightConnector1">
            <a:avLst/>
          </a:prstGeom>
          <a:noFill/>
          <a:ln w="6350" cap="flat" cmpd="sng" algn="ctr">
            <a:solidFill>
              <a:srgbClr val="FFBF00"/>
            </a:solidFill>
            <a:prstDash val="solid"/>
            <a:miter lim="800000"/>
            <a:tailEnd type="triangle"/>
          </a:ln>
          <a:effectLst/>
        </p:spPr>
      </p:cxnSp>
      <p:sp>
        <p:nvSpPr>
          <p:cNvPr id="24" name="矩形 94"/>
          <p:cNvSpPr/>
          <p:nvPr/>
        </p:nvSpPr>
        <p:spPr>
          <a:xfrm>
            <a:off x="983386" y="262853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国资办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5" name="直接箭头连接符 95"/>
          <p:cNvCxnSpPr>
            <a:stCxn id="24" idx="3"/>
          </p:cNvCxnSpPr>
          <p:nvPr/>
        </p:nvCxnSpPr>
        <p:spPr>
          <a:xfrm>
            <a:off x="1849957" y="2768120"/>
            <a:ext cx="2773512" cy="14299"/>
          </a:xfrm>
          <a:prstGeom prst="straightConnector1">
            <a:avLst/>
          </a:prstGeom>
          <a:noFill/>
          <a:ln w="6350" cap="flat" cmpd="sng" algn="ctr">
            <a:solidFill>
              <a:srgbClr val="FFBF00"/>
            </a:solidFill>
            <a:prstDash val="solid"/>
            <a:miter lim="800000"/>
            <a:tailEnd type="triangle"/>
          </a:ln>
          <a:effectLst/>
        </p:spPr>
      </p:cxnSp>
      <p:sp>
        <p:nvSpPr>
          <p:cNvPr id="26" name="矩形 96"/>
          <p:cNvSpPr/>
          <p:nvPr/>
        </p:nvSpPr>
        <p:spPr>
          <a:xfrm>
            <a:off x="983386" y="309019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科研</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7" name="直接箭头连接符 97"/>
          <p:cNvCxnSpPr>
            <a:stCxn id="26" idx="3"/>
          </p:cNvCxnSpPr>
          <p:nvPr/>
        </p:nvCxnSpPr>
        <p:spPr>
          <a:xfrm>
            <a:off x="1849957" y="3229785"/>
            <a:ext cx="2773512" cy="14299"/>
          </a:xfrm>
          <a:prstGeom prst="straightConnector1">
            <a:avLst/>
          </a:prstGeom>
          <a:noFill/>
          <a:ln w="6350" cap="flat" cmpd="sng" algn="ctr">
            <a:solidFill>
              <a:srgbClr val="FFBF00"/>
            </a:solidFill>
            <a:prstDash val="solid"/>
            <a:miter lim="800000"/>
            <a:tailEnd type="triangle"/>
          </a:ln>
          <a:effectLst/>
        </p:spPr>
      </p:cxnSp>
      <p:sp>
        <p:nvSpPr>
          <p:cNvPr id="28" name="矩形 98"/>
          <p:cNvSpPr/>
          <p:nvPr/>
        </p:nvSpPr>
        <p:spPr>
          <a:xfrm>
            <a:off x="983386" y="355186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9" name="直接箭头连接符 99"/>
          <p:cNvCxnSpPr>
            <a:stCxn id="28" idx="3"/>
          </p:cNvCxnSpPr>
          <p:nvPr/>
        </p:nvCxnSpPr>
        <p:spPr>
          <a:xfrm>
            <a:off x="1849957" y="3691450"/>
            <a:ext cx="2773512" cy="14299"/>
          </a:xfrm>
          <a:prstGeom prst="straightConnector1">
            <a:avLst/>
          </a:prstGeom>
          <a:noFill/>
          <a:ln w="6350" cap="flat" cmpd="sng" algn="ctr">
            <a:solidFill>
              <a:srgbClr val="FFBF00"/>
            </a:solidFill>
            <a:prstDash val="solid"/>
            <a:miter lim="800000"/>
            <a:tailEnd type="triangle"/>
          </a:ln>
          <a:effectLst/>
        </p:spPr>
      </p:cxnSp>
      <p:sp>
        <p:nvSpPr>
          <p:cNvPr id="30" name="矩形 100"/>
          <p:cNvSpPr/>
          <p:nvPr/>
        </p:nvSpPr>
        <p:spPr>
          <a:xfrm>
            <a:off x="983386" y="401352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房产办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1" name="直接箭头连接符 101"/>
          <p:cNvCxnSpPr>
            <a:stCxn id="30" idx="3"/>
          </p:cNvCxnSpPr>
          <p:nvPr/>
        </p:nvCxnSpPr>
        <p:spPr>
          <a:xfrm>
            <a:off x="1849957" y="4153115"/>
            <a:ext cx="2773512" cy="14299"/>
          </a:xfrm>
          <a:prstGeom prst="straightConnector1">
            <a:avLst/>
          </a:prstGeom>
          <a:noFill/>
          <a:ln w="6350" cap="flat" cmpd="sng" algn="ctr">
            <a:solidFill>
              <a:srgbClr val="FFBF00"/>
            </a:solidFill>
            <a:prstDash val="solid"/>
            <a:miter lim="800000"/>
            <a:tailEnd type="triangle"/>
          </a:ln>
          <a:effectLst/>
        </p:spPr>
      </p:cxnSp>
      <p:sp>
        <p:nvSpPr>
          <p:cNvPr id="32" name="矩形 102"/>
          <p:cNvSpPr/>
          <p:nvPr/>
        </p:nvSpPr>
        <p:spPr>
          <a:xfrm>
            <a:off x="983386" y="447519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公管学院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3" name="直接箭头连接符 103"/>
          <p:cNvCxnSpPr>
            <a:stCxn id="32" idx="3"/>
          </p:cNvCxnSpPr>
          <p:nvPr/>
        </p:nvCxnSpPr>
        <p:spPr>
          <a:xfrm>
            <a:off x="1849957" y="4614780"/>
            <a:ext cx="2773512" cy="14299"/>
          </a:xfrm>
          <a:prstGeom prst="straightConnector1">
            <a:avLst/>
          </a:prstGeom>
          <a:noFill/>
          <a:ln w="6350" cap="flat" cmpd="sng" algn="ctr">
            <a:solidFill>
              <a:srgbClr val="FFBF00"/>
            </a:solidFill>
            <a:prstDash val="solid"/>
            <a:miter lim="800000"/>
            <a:tailEnd type="triangle"/>
          </a:ln>
          <a:effectLst/>
        </p:spPr>
      </p:cxnSp>
      <p:sp>
        <p:nvSpPr>
          <p:cNvPr id="34" name="矩形 104"/>
          <p:cNvSpPr/>
          <p:nvPr/>
        </p:nvSpPr>
        <p:spPr>
          <a:xfrm>
            <a:off x="983386" y="493685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教师教院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5" name="直接箭头连接符 105"/>
          <p:cNvCxnSpPr>
            <a:stCxn id="34" idx="3"/>
          </p:cNvCxnSpPr>
          <p:nvPr/>
        </p:nvCxnSpPr>
        <p:spPr>
          <a:xfrm>
            <a:off x="1849957" y="5076445"/>
            <a:ext cx="2773512" cy="14299"/>
          </a:xfrm>
          <a:prstGeom prst="straightConnector1">
            <a:avLst/>
          </a:prstGeom>
          <a:noFill/>
          <a:ln w="6350" cap="flat" cmpd="sng" algn="ctr">
            <a:solidFill>
              <a:srgbClr val="FFBF00"/>
            </a:solidFill>
            <a:prstDash val="solid"/>
            <a:miter lim="800000"/>
            <a:tailEnd type="triangle"/>
          </a:ln>
          <a:effectLst/>
        </p:spPr>
      </p:cxnSp>
      <p:sp>
        <p:nvSpPr>
          <p:cNvPr id="36" name="矩形 106"/>
          <p:cNvSpPr/>
          <p:nvPr/>
        </p:nvSpPr>
        <p:spPr>
          <a:xfrm>
            <a:off x="983386" y="539852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就业处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7" name="直接箭头连接符 107"/>
          <p:cNvCxnSpPr>
            <a:stCxn id="36" idx="3"/>
          </p:cNvCxnSpPr>
          <p:nvPr/>
        </p:nvCxnSpPr>
        <p:spPr>
          <a:xfrm>
            <a:off x="1849957" y="5538110"/>
            <a:ext cx="2773512" cy="14299"/>
          </a:xfrm>
          <a:prstGeom prst="straightConnector1">
            <a:avLst/>
          </a:prstGeom>
          <a:noFill/>
          <a:ln w="6350" cap="flat" cmpd="sng" algn="ctr">
            <a:solidFill>
              <a:srgbClr val="FFBF00"/>
            </a:solidFill>
            <a:prstDash val="solid"/>
            <a:miter lim="800000"/>
            <a:tailEnd type="triangle"/>
          </a:ln>
          <a:effectLst/>
        </p:spPr>
      </p:cxnSp>
      <p:sp>
        <p:nvSpPr>
          <p:cNvPr id="38" name="矩形 108"/>
          <p:cNvSpPr/>
          <p:nvPr/>
        </p:nvSpPr>
        <p:spPr>
          <a:xfrm>
            <a:off x="983386" y="586018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离退处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9" name="直接箭头连接符 109"/>
          <p:cNvCxnSpPr>
            <a:stCxn id="38" idx="3"/>
          </p:cNvCxnSpPr>
          <p:nvPr/>
        </p:nvCxnSpPr>
        <p:spPr>
          <a:xfrm>
            <a:off x="1849957" y="5999775"/>
            <a:ext cx="2773512" cy="14299"/>
          </a:xfrm>
          <a:prstGeom prst="straightConnector1">
            <a:avLst/>
          </a:prstGeom>
          <a:noFill/>
          <a:ln w="6350" cap="flat" cmpd="sng" algn="ctr">
            <a:solidFill>
              <a:srgbClr val="FFBF00"/>
            </a:solidFill>
            <a:prstDash val="solid"/>
            <a:miter lim="800000"/>
            <a:tailEnd type="triangle"/>
          </a:ln>
          <a:effectLst/>
        </p:spPr>
      </p:cxnSp>
      <p:sp>
        <p:nvSpPr>
          <p:cNvPr id="40" name="矩形 110"/>
          <p:cNvSpPr/>
          <p:nvPr/>
        </p:nvSpPr>
        <p:spPr>
          <a:xfrm>
            <a:off x="983386" y="632185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设备处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41" name="直接箭头连接符 111"/>
          <p:cNvCxnSpPr>
            <a:stCxn id="40" idx="3"/>
          </p:cNvCxnSpPr>
          <p:nvPr/>
        </p:nvCxnSpPr>
        <p:spPr>
          <a:xfrm>
            <a:off x="1849957" y="6461440"/>
            <a:ext cx="2773512" cy="14299"/>
          </a:xfrm>
          <a:prstGeom prst="straightConnector1">
            <a:avLst/>
          </a:prstGeom>
          <a:noFill/>
          <a:ln w="6350" cap="flat" cmpd="sng" algn="ctr">
            <a:solidFill>
              <a:srgbClr val="FFBF00"/>
            </a:solidFill>
            <a:prstDash val="solid"/>
            <a:miter lim="800000"/>
            <a:tailEnd type="triangle"/>
          </a:ln>
          <a:effectLst/>
        </p:spPr>
      </p:cxnSp>
      <p:sp>
        <p:nvSpPr>
          <p:cNvPr id="42" name="矩形 112"/>
          <p:cNvSpPr/>
          <p:nvPr/>
        </p:nvSpPr>
        <p:spPr>
          <a:xfrm>
            <a:off x="2342309" y="147592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统战</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3" name="矩形 114"/>
          <p:cNvSpPr/>
          <p:nvPr/>
        </p:nvSpPr>
        <p:spPr>
          <a:xfrm>
            <a:off x="2342309" y="193758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图书馆</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4" name="矩形 116"/>
          <p:cNvSpPr/>
          <p:nvPr/>
        </p:nvSpPr>
        <p:spPr>
          <a:xfrm>
            <a:off x="2342309" y="239925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外事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5" name="矩形 118"/>
          <p:cNvSpPr/>
          <p:nvPr/>
        </p:nvSpPr>
        <p:spPr>
          <a:xfrm>
            <a:off x="2342309" y="286091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工会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6" name="矩形 120"/>
          <p:cNvSpPr/>
          <p:nvPr/>
        </p:nvSpPr>
        <p:spPr>
          <a:xfrm>
            <a:off x="2342309" y="332258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校医院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7" name="矩形 122"/>
          <p:cNvSpPr/>
          <p:nvPr/>
        </p:nvSpPr>
        <p:spPr>
          <a:xfrm>
            <a:off x="2342309" y="378424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校友会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8" name="矩形 124"/>
          <p:cNvSpPr/>
          <p:nvPr/>
        </p:nvSpPr>
        <p:spPr>
          <a:xfrm>
            <a:off x="2342309" y="424591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宣传部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9" name="矩形 126"/>
          <p:cNvSpPr/>
          <p:nvPr/>
        </p:nvSpPr>
        <p:spPr>
          <a:xfrm>
            <a:off x="2342309" y="470757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0" name="矩形 128"/>
          <p:cNvSpPr/>
          <p:nvPr/>
        </p:nvSpPr>
        <p:spPr>
          <a:xfrm>
            <a:off x="2342309" y="516924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招标办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1" name="矩形 130"/>
          <p:cNvSpPr/>
          <p:nvPr/>
        </p:nvSpPr>
        <p:spPr>
          <a:xfrm>
            <a:off x="2342309" y="563090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组织部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2" name="矩形 132"/>
          <p:cNvSpPr/>
          <p:nvPr/>
        </p:nvSpPr>
        <p:spPr>
          <a:xfrm>
            <a:off x="2342309" y="609257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财务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53" name="直接箭头连接符 113"/>
          <p:cNvCxnSpPr>
            <a:stCxn id="42" idx="3"/>
          </p:cNvCxnSpPr>
          <p:nvPr/>
        </p:nvCxnSpPr>
        <p:spPr>
          <a:xfrm>
            <a:off x="3208880" y="1615514"/>
            <a:ext cx="1414589" cy="14299"/>
          </a:xfrm>
          <a:prstGeom prst="straightConnector1">
            <a:avLst/>
          </a:prstGeom>
          <a:noFill/>
          <a:ln w="6350" cap="flat" cmpd="sng" algn="ctr">
            <a:solidFill>
              <a:srgbClr val="FFBF00"/>
            </a:solidFill>
            <a:prstDash val="solid"/>
            <a:miter lim="800000"/>
            <a:tailEnd type="triangle"/>
          </a:ln>
          <a:effectLst/>
        </p:spPr>
      </p:cxnSp>
      <p:cxnSp>
        <p:nvCxnSpPr>
          <p:cNvPr id="54" name="直接箭头连接符 115"/>
          <p:cNvCxnSpPr>
            <a:stCxn id="43" idx="3"/>
          </p:cNvCxnSpPr>
          <p:nvPr/>
        </p:nvCxnSpPr>
        <p:spPr>
          <a:xfrm>
            <a:off x="3208880" y="2077179"/>
            <a:ext cx="1414589" cy="14299"/>
          </a:xfrm>
          <a:prstGeom prst="straightConnector1">
            <a:avLst/>
          </a:prstGeom>
          <a:noFill/>
          <a:ln w="6350" cap="flat" cmpd="sng" algn="ctr">
            <a:solidFill>
              <a:srgbClr val="FFBF00"/>
            </a:solidFill>
            <a:prstDash val="solid"/>
            <a:miter lim="800000"/>
            <a:tailEnd type="triangle"/>
          </a:ln>
          <a:effectLst/>
        </p:spPr>
      </p:cxnSp>
      <p:cxnSp>
        <p:nvCxnSpPr>
          <p:cNvPr id="55" name="直接箭头连接符 117"/>
          <p:cNvCxnSpPr>
            <a:stCxn id="44" idx="3"/>
          </p:cNvCxnSpPr>
          <p:nvPr/>
        </p:nvCxnSpPr>
        <p:spPr>
          <a:xfrm>
            <a:off x="3208880" y="2538844"/>
            <a:ext cx="1414589" cy="14299"/>
          </a:xfrm>
          <a:prstGeom prst="straightConnector1">
            <a:avLst/>
          </a:prstGeom>
          <a:noFill/>
          <a:ln w="6350" cap="flat" cmpd="sng" algn="ctr">
            <a:solidFill>
              <a:srgbClr val="FFBF00"/>
            </a:solidFill>
            <a:prstDash val="solid"/>
            <a:miter lim="800000"/>
            <a:tailEnd type="triangle"/>
          </a:ln>
          <a:effectLst/>
        </p:spPr>
      </p:cxnSp>
      <p:cxnSp>
        <p:nvCxnSpPr>
          <p:cNvPr id="56" name="直接箭头连接符 119"/>
          <p:cNvCxnSpPr>
            <a:stCxn id="45" idx="3"/>
          </p:cNvCxnSpPr>
          <p:nvPr/>
        </p:nvCxnSpPr>
        <p:spPr>
          <a:xfrm>
            <a:off x="3208880" y="3000509"/>
            <a:ext cx="1414589" cy="14299"/>
          </a:xfrm>
          <a:prstGeom prst="straightConnector1">
            <a:avLst/>
          </a:prstGeom>
          <a:noFill/>
          <a:ln w="6350" cap="flat" cmpd="sng" algn="ctr">
            <a:solidFill>
              <a:srgbClr val="FFBF00"/>
            </a:solidFill>
            <a:prstDash val="solid"/>
            <a:miter lim="800000"/>
            <a:tailEnd type="triangle"/>
          </a:ln>
          <a:effectLst/>
        </p:spPr>
      </p:cxnSp>
      <p:cxnSp>
        <p:nvCxnSpPr>
          <p:cNvPr id="57" name="直接箭头连接符 121"/>
          <p:cNvCxnSpPr>
            <a:stCxn id="46" idx="3"/>
          </p:cNvCxnSpPr>
          <p:nvPr/>
        </p:nvCxnSpPr>
        <p:spPr>
          <a:xfrm>
            <a:off x="3208880" y="3462174"/>
            <a:ext cx="1414589" cy="14299"/>
          </a:xfrm>
          <a:prstGeom prst="straightConnector1">
            <a:avLst/>
          </a:prstGeom>
          <a:noFill/>
          <a:ln w="6350" cap="flat" cmpd="sng" algn="ctr">
            <a:solidFill>
              <a:srgbClr val="FFBF00"/>
            </a:solidFill>
            <a:prstDash val="solid"/>
            <a:miter lim="800000"/>
            <a:tailEnd type="triangle"/>
          </a:ln>
          <a:effectLst/>
        </p:spPr>
      </p:cxnSp>
      <p:cxnSp>
        <p:nvCxnSpPr>
          <p:cNvPr id="58" name="直接箭头连接符 123"/>
          <p:cNvCxnSpPr>
            <a:stCxn id="47" idx="3"/>
          </p:cNvCxnSpPr>
          <p:nvPr/>
        </p:nvCxnSpPr>
        <p:spPr>
          <a:xfrm>
            <a:off x="3208880" y="3923839"/>
            <a:ext cx="1414589" cy="14299"/>
          </a:xfrm>
          <a:prstGeom prst="straightConnector1">
            <a:avLst/>
          </a:prstGeom>
          <a:noFill/>
          <a:ln w="6350" cap="flat" cmpd="sng" algn="ctr">
            <a:solidFill>
              <a:srgbClr val="FFBF00"/>
            </a:solidFill>
            <a:prstDash val="solid"/>
            <a:miter lim="800000"/>
            <a:tailEnd type="triangle"/>
          </a:ln>
          <a:effectLst/>
        </p:spPr>
      </p:cxnSp>
      <p:cxnSp>
        <p:nvCxnSpPr>
          <p:cNvPr id="59" name="直接箭头连接符 125"/>
          <p:cNvCxnSpPr>
            <a:stCxn id="48" idx="3"/>
          </p:cNvCxnSpPr>
          <p:nvPr/>
        </p:nvCxnSpPr>
        <p:spPr>
          <a:xfrm>
            <a:off x="3208880" y="4385504"/>
            <a:ext cx="1414589" cy="14299"/>
          </a:xfrm>
          <a:prstGeom prst="straightConnector1">
            <a:avLst/>
          </a:prstGeom>
          <a:noFill/>
          <a:ln w="6350" cap="flat" cmpd="sng" algn="ctr">
            <a:solidFill>
              <a:srgbClr val="FFBF00"/>
            </a:solidFill>
            <a:prstDash val="solid"/>
            <a:miter lim="800000"/>
            <a:tailEnd type="triangle"/>
          </a:ln>
          <a:effectLst/>
        </p:spPr>
      </p:cxnSp>
      <p:cxnSp>
        <p:nvCxnSpPr>
          <p:cNvPr id="60" name="直接箭头连接符 127"/>
          <p:cNvCxnSpPr>
            <a:stCxn id="49" idx="3"/>
          </p:cNvCxnSpPr>
          <p:nvPr/>
        </p:nvCxnSpPr>
        <p:spPr>
          <a:xfrm>
            <a:off x="3208880" y="4847169"/>
            <a:ext cx="1414589" cy="14299"/>
          </a:xfrm>
          <a:prstGeom prst="straightConnector1">
            <a:avLst/>
          </a:prstGeom>
          <a:noFill/>
          <a:ln w="6350" cap="flat" cmpd="sng" algn="ctr">
            <a:solidFill>
              <a:srgbClr val="FFBF00"/>
            </a:solidFill>
            <a:prstDash val="solid"/>
            <a:miter lim="800000"/>
            <a:tailEnd type="triangle"/>
          </a:ln>
          <a:effectLst/>
        </p:spPr>
      </p:cxnSp>
      <p:cxnSp>
        <p:nvCxnSpPr>
          <p:cNvPr id="61" name="直接箭头连接符 129"/>
          <p:cNvCxnSpPr>
            <a:stCxn id="50" idx="3"/>
          </p:cNvCxnSpPr>
          <p:nvPr/>
        </p:nvCxnSpPr>
        <p:spPr>
          <a:xfrm>
            <a:off x="3208880" y="5308834"/>
            <a:ext cx="1414589" cy="14299"/>
          </a:xfrm>
          <a:prstGeom prst="straightConnector1">
            <a:avLst/>
          </a:prstGeom>
          <a:noFill/>
          <a:ln w="6350" cap="flat" cmpd="sng" algn="ctr">
            <a:solidFill>
              <a:srgbClr val="FFBF00"/>
            </a:solidFill>
            <a:prstDash val="solid"/>
            <a:miter lim="800000"/>
            <a:tailEnd type="triangle"/>
          </a:ln>
          <a:effectLst/>
        </p:spPr>
      </p:cxnSp>
      <p:cxnSp>
        <p:nvCxnSpPr>
          <p:cNvPr id="62" name="直接箭头连接符 131"/>
          <p:cNvCxnSpPr>
            <a:stCxn id="51" idx="3"/>
          </p:cNvCxnSpPr>
          <p:nvPr/>
        </p:nvCxnSpPr>
        <p:spPr>
          <a:xfrm>
            <a:off x="3208880" y="5770499"/>
            <a:ext cx="1414589" cy="14299"/>
          </a:xfrm>
          <a:prstGeom prst="straightConnector1">
            <a:avLst/>
          </a:prstGeom>
          <a:noFill/>
          <a:ln w="6350" cap="flat" cmpd="sng" algn="ctr">
            <a:solidFill>
              <a:srgbClr val="FFBF00"/>
            </a:solidFill>
            <a:prstDash val="solid"/>
            <a:miter lim="800000"/>
            <a:tailEnd type="triangle"/>
          </a:ln>
          <a:effectLst/>
        </p:spPr>
      </p:cxnSp>
      <p:cxnSp>
        <p:nvCxnSpPr>
          <p:cNvPr id="63" name="直接箭头连接符 133"/>
          <p:cNvCxnSpPr>
            <a:stCxn id="52" idx="3"/>
          </p:cNvCxnSpPr>
          <p:nvPr/>
        </p:nvCxnSpPr>
        <p:spPr>
          <a:xfrm>
            <a:off x="3208880" y="6232164"/>
            <a:ext cx="1414589" cy="14299"/>
          </a:xfrm>
          <a:prstGeom prst="straightConnector1">
            <a:avLst/>
          </a:prstGeom>
          <a:noFill/>
          <a:ln w="6350" cap="flat" cmpd="sng" algn="ctr">
            <a:solidFill>
              <a:srgbClr val="FFBF00"/>
            </a:solidFill>
            <a:prstDash val="solid"/>
            <a:miter lim="800000"/>
            <a:tailEnd type="triangle"/>
          </a:ln>
          <a:effectLst/>
        </p:spPr>
      </p:cxnSp>
      <p:sp>
        <p:nvSpPr>
          <p:cNvPr id="64" name="矩形 139"/>
          <p:cNvSpPr/>
          <p:nvPr/>
        </p:nvSpPr>
        <p:spPr>
          <a:xfrm>
            <a:off x="1860451" y="131080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244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5" name="矩形 156"/>
          <p:cNvSpPr/>
          <p:nvPr/>
        </p:nvSpPr>
        <p:spPr>
          <a:xfrm>
            <a:off x="1860451" y="1768130"/>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464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6" name="矩形 157"/>
          <p:cNvSpPr/>
          <p:nvPr/>
        </p:nvSpPr>
        <p:spPr>
          <a:xfrm>
            <a:off x="1860451" y="2225453"/>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7" name="矩形 158"/>
          <p:cNvSpPr/>
          <p:nvPr/>
        </p:nvSpPr>
        <p:spPr>
          <a:xfrm>
            <a:off x="1860451" y="2682776"/>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78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8" name="矩形 159"/>
          <p:cNvSpPr/>
          <p:nvPr/>
        </p:nvSpPr>
        <p:spPr>
          <a:xfrm>
            <a:off x="1860451" y="3140099"/>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458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9" name="矩形 160"/>
          <p:cNvSpPr/>
          <p:nvPr/>
        </p:nvSpPr>
        <p:spPr>
          <a:xfrm>
            <a:off x="1860451" y="3597422"/>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0" name="矩形 161"/>
          <p:cNvSpPr/>
          <p:nvPr/>
        </p:nvSpPr>
        <p:spPr>
          <a:xfrm>
            <a:off x="1860451" y="4054745"/>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1" name="矩形 162"/>
          <p:cNvSpPr/>
          <p:nvPr/>
        </p:nvSpPr>
        <p:spPr>
          <a:xfrm>
            <a:off x="1860451" y="4546825"/>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2" name="矩形 164"/>
          <p:cNvSpPr/>
          <p:nvPr/>
        </p:nvSpPr>
        <p:spPr>
          <a:xfrm>
            <a:off x="1860451" y="5006391"/>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3" name="矩形 165"/>
          <p:cNvSpPr/>
          <p:nvPr/>
        </p:nvSpPr>
        <p:spPr>
          <a:xfrm>
            <a:off x="1860451" y="546595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97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4" name="矩形 166"/>
          <p:cNvSpPr/>
          <p:nvPr/>
        </p:nvSpPr>
        <p:spPr>
          <a:xfrm>
            <a:off x="1860451" y="5925523"/>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5" name="矩形 167"/>
          <p:cNvSpPr/>
          <p:nvPr/>
        </p:nvSpPr>
        <p:spPr>
          <a:xfrm>
            <a:off x="1860451" y="639115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188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6" name="矩形 168"/>
          <p:cNvSpPr/>
          <p:nvPr/>
        </p:nvSpPr>
        <p:spPr>
          <a:xfrm>
            <a:off x="3221814" y="1527038"/>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7" name="矩形 169"/>
          <p:cNvSpPr/>
          <p:nvPr/>
        </p:nvSpPr>
        <p:spPr>
          <a:xfrm>
            <a:off x="3221814" y="1983941"/>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125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8" name="矩形 170"/>
          <p:cNvSpPr/>
          <p:nvPr/>
        </p:nvSpPr>
        <p:spPr>
          <a:xfrm>
            <a:off x="3221814" y="2440844"/>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146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9" name="矩形 171"/>
          <p:cNvSpPr/>
          <p:nvPr/>
        </p:nvSpPr>
        <p:spPr>
          <a:xfrm>
            <a:off x="3221814" y="2897747"/>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0" name="矩形 172"/>
          <p:cNvSpPr/>
          <p:nvPr/>
        </p:nvSpPr>
        <p:spPr>
          <a:xfrm>
            <a:off x="3221814" y="3354650"/>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1" name="矩形 173"/>
          <p:cNvSpPr/>
          <p:nvPr/>
        </p:nvSpPr>
        <p:spPr>
          <a:xfrm>
            <a:off x="3221814" y="3834268"/>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2" name="矩形 174"/>
          <p:cNvSpPr/>
          <p:nvPr/>
        </p:nvSpPr>
        <p:spPr>
          <a:xfrm>
            <a:off x="3221814" y="4301186"/>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3" name="矩形 175"/>
          <p:cNvSpPr/>
          <p:nvPr/>
        </p:nvSpPr>
        <p:spPr>
          <a:xfrm>
            <a:off x="3221814" y="4760113"/>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174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4" name="矩形 176"/>
          <p:cNvSpPr/>
          <p:nvPr/>
        </p:nvSpPr>
        <p:spPr>
          <a:xfrm>
            <a:off x="3221814" y="5215596"/>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5" name="矩形 177"/>
          <p:cNvSpPr/>
          <p:nvPr/>
        </p:nvSpPr>
        <p:spPr>
          <a:xfrm>
            <a:off x="3221814" y="5671079"/>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6" name="矩形 178"/>
          <p:cNvSpPr/>
          <p:nvPr/>
        </p:nvSpPr>
        <p:spPr>
          <a:xfrm>
            <a:off x="3221814" y="6126562"/>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505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cxnSp>
        <p:nvCxnSpPr>
          <p:cNvPr id="87" name="直接箭头连接符 181"/>
          <p:cNvCxnSpPr/>
          <p:nvPr/>
        </p:nvCxnSpPr>
        <p:spPr>
          <a:xfrm>
            <a:off x="7999590" y="1826851"/>
            <a:ext cx="1049169" cy="0"/>
          </a:xfrm>
          <a:prstGeom prst="straightConnector1">
            <a:avLst/>
          </a:prstGeom>
          <a:noFill/>
          <a:ln w="6350" cap="flat" cmpd="sng" algn="ctr">
            <a:solidFill>
              <a:srgbClr val="FFBF00"/>
            </a:solidFill>
            <a:prstDash val="solid"/>
            <a:miter lim="800000"/>
            <a:tailEnd type="triangle"/>
          </a:ln>
          <a:effectLst/>
        </p:spPr>
      </p:cxnSp>
      <p:cxnSp>
        <p:nvCxnSpPr>
          <p:cNvPr id="88" name="直接箭头连接符 188"/>
          <p:cNvCxnSpPr/>
          <p:nvPr/>
        </p:nvCxnSpPr>
        <p:spPr>
          <a:xfrm>
            <a:off x="7999590" y="2161435"/>
            <a:ext cx="1049169" cy="0"/>
          </a:xfrm>
          <a:prstGeom prst="straightConnector1">
            <a:avLst/>
          </a:prstGeom>
          <a:noFill/>
          <a:ln w="6350" cap="flat" cmpd="sng" algn="ctr">
            <a:solidFill>
              <a:srgbClr val="FFBF00"/>
            </a:solidFill>
            <a:prstDash val="solid"/>
            <a:miter lim="800000"/>
            <a:tailEnd type="triangle"/>
          </a:ln>
          <a:effectLst/>
        </p:spPr>
      </p:cxnSp>
      <p:cxnSp>
        <p:nvCxnSpPr>
          <p:cNvPr id="89" name="直接箭头连接符 190"/>
          <p:cNvCxnSpPr/>
          <p:nvPr/>
        </p:nvCxnSpPr>
        <p:spPr>
          <a:xfrm>
            <a:off x="7999590" y="2496019"/>
            <a:ext cx="1049169" cy="0"/>
          </a:xfrm>
          <a:prstGeom prst="straightConnector1">
            <a:avLst/>
          </a:prstGeom>
          <a:noFill/>
          <a:ln w="6350" cap="flat" cmpd="sng" algn="ctr">
            <a:solidFill>
              <a:srgbClr val="FFBF00"/>
            </a:solidFill>
            <a:prstDash val="solid"/>
            <a:miter lim="800000"/>
            <a:tailEnd type="triangle"/>
          </a:ln>
          <a:effectLst/>
        </p:spPr>
      </p:cxnSp>
      <p:cxnSp>
        <p:nvCxnSpPr>
          <p:cNvPr id="90" name="直接箭头连接符 192"/>
          <p:cNvCxnSpPr/>
          <p:nvPr/>
        </p:nvCxnSpPr>
        <p:spPr>
          <a:xfrm>
            <a:off x="7999590" y="2830603"/>
            <a:ext cx="1049169" cy="0"/>
          </a:xfrm>
          <a:prstGeom prst="straightConnector1">
            <a:avLst/>
          </a:prstGeom>
          <a:noFill/>
          <a:ln w="6350" cap="flat" cmpd="sng" algn="ctr">
            <a:solidFill>
              <a:srgbClr val="FFBF00"/>
            </a:solidFill>
            <a:prstDash val="solid"/>
            <a:miter lim="800000"/>
            <a:tailEnd type="triangle"/>
          </a:ln>
          <a:effectLst/>
        </p:spPr>
      </p:cxnSp>
      <p:cxnSp>
        <p:nvCxnSpPr>
          <p:cNvPr id="91" name="直接箭头连接符 194"/>
          <p:cNvCxnSpPr/>
          <p:nvPr/>
        </p:nvCxnSpPr>
        <p:spPr>
          <a:xfrm>
            <a:off x="7999590" y="3165187"/>
            <a:ext cx="1049169" cy="0"/>
          </a:xfrm>
          <a:prstGeom prst="straightConnector1">
            <a:avLst/>
          </a:prstGeom>
          <a:noFill/>
          <a:ln w="6350" cap="flat" cmpd="sng" algn="ctr">
            <a:solidFill>
              <a:srgbClr val="FFBF00"/>
            </a:solidFill>
            <a:prstDash val="solid"/>
            <a:miter lim="800000"/>
            <a:tailEnd type="triangle"/>
          </a:ln>
          <a:effectLst/>
        </p:spPr>
      </p:cxnSp>
      <p:cxnSp>
        <p:nvCxnSpPr>
          <p:cNvPr id="92" name="直接箭头连接符 196"/>
          <p:cNvCxnSpPr/>
          <p:nvPr/>
        </p:nvCxnSpPr>
        <p:spPr>
          <a:xfrm>
            <a:off x="7999590" y="3499771"/>
            <a:ext cx="1049169" cy="0"/>
          </a:xfrm>
          <a:prstGeom prst="straightConnector1">
            <a:avLst/>
          </a:prstGeom>
          <a:noFill/>
          <a:ln w="6350" cap="flat" cmpd="sng" algn="ctr">
            <a:solidFill>
              <a:srgbClr val="FFBF00"/>
            </a:solidFill>
            <a:prstDash val="solid"/>
            <a:miter lim="800000"/>
            <a:tailEnd type="triangle"/>
          </a:ln>
          <a:effectLst/>
        </p:spPr>
      </p:cxnSp>
      <p:cxnSp>
        <p:nvCxnSpPr>
          <p:cNvPr id="93" name="直接箭头连接符 198"/>
          <p:cNvCxnSpPr/>
          <p:nvPr/>
        </p:nvCxnSpPr>
        <p:spPr>
          <a:xfrm>
            <a:off x="7999590" y="3834355"/>
            <a:ext cx="1049169" cy="0"/>
          </a:xfrm>
          <a:prstGeom prst="straightConnector1">
            <a:avLst/>
          </a:prstGeom>
          <a:noFill/>
          <a:ln w="6350" cap="flat" cmpd="sng" algn="ctr">
            <a:solidFill>
              <a:srgbClr val="FFBF00"/>
            </a:solidFill>
            <a:prstDash val="solid"/>
            <a:miter lim="800000"/>
            <a:tailEnd type="triangle"/>
          </a:ln>
          <a:effectLst/>
        </p:spPr>
      </p:cxnSp>
      <p:cxnSp>
        <p:nvCxnSpPr>
          <p:cNvPr id="94" name="直接箭头连接符 200"/>
          <p:cNvCxnSpPr/>
          <p:nvPr/>
        </p:nvCxnSpPr>
        <p:spPr>
          <a:xfrm>
            <a:off x="7999590" y="4168939"/>
            <a:ext cx="1049169" cy="0"/>
          </a:xfrm>
          <a:prstGeom prst="straightConnector1">
            <a:avLst/>
          </a:prstGeom>
          <a:noFill/>
          <a:ln w="6350" cap="flat" cmpd="sng" algn="ctr">
            <a:solidFill>
              <a:srgbClr val="FFBF00"/>
            </a:solidFill>
            <a:prstDash val="solid"/>
            <a:miter lim="800000"/>
            <a:tailEnd type="triangle"/>
          </a:ln>
          <a:effectLst/>
        </p:spPr>
      </p:cxnSp>
      <p:cxnSp>
        <p:nvCxnSpPr>
          <p:cNvPr id="95" name="直接箭头连接符 202"/>
          <p:cNvCxnSpPr/>
          <p:nvPr/>
        </p:nvCxnSpPr>
        <p:spPr>
          <a:xfrm>
            <a:off x="7999590" y="4503523"/>
            <a:ext cx="1049169" cy="0"/>
          </a:xfrm>
          <a:prstGeom prst="straightConnector1">
            <a:avLst/>
          </a:prstGeom>
          <a:noFill/>
          <a:ln w="6350" cap="flat" cmpd="sng" algn="ctr">
            <a:solidFill>
              <a:srgbClr val="FFBF00"/>
            </a:solidFill>
            <a:prstDash val="solid"/>
            <a:miter lim="800000"/>
            <a:tailEnd type="triangle"/>
          </a:ln>
          <a:effectLst/>
        </p:spPr>
      </p:cxnSp>
      <p:cxnSp>
        <p:nvCxnSpPr>
          <p:cNvPr id="96" name="直接箭头连接符 204"/>
          <p:cNvCxnSpPr/>
          <p:nvPr/>
        </p:nvCxnSpPr>
        <p:spPr>
          <a:xfrm>
            <a:off x="7999590" y="4838107"/>
            <a:ext cx="1049169" cy="0"/>
          </a:xfrm>
          <a:prstGeom prst="straightConnector1">
            <a:avLst/>
          </a:prstGeom>
          <a:noFill/>
          <a:ln w="6350" cap="flat" cmpd="sng" algn="ctr">
            <a:solidFill>
              <a:srgbClr val="FFBF00"/>
            </a:solidFill>
            <a:prstDash val="solid"/>
            <a:miter lim="800000"/>
            <a:tailEnd type="triangle"/>
          </a:ln>
          <a:effectLst/>
        </p:spPr>
      </p:cxnSp>
      <p:cxnSp>
        <p:nvCxnSpPr>
          <p:cNvPr id="97" name="直接箭头连接符 206"/>
          <p:cNvCxnSpPr/>
          <p:nvPr/>
        </p:nvCxnSpPr>
        <p:spPr>
          <a:xfrm>
            <a:off x="7999590" y="5172691"/>
            <a:ext cx="1049169" cy="0"/>
          </a:xfrm>
          <a:prstGeom prst="straightConnector1">
            <a:avLst/>
          </a:prstGeom>
          <a:noFill/>
          <a:ln w="6350" cap="flat" cmpd="sng" algn="ctr">
            <a:solidFill>
              <a:srgbClr val="FFBF00"/>
            </a:solidFill>
            <a:prstDash val="solid"/>
            <a:miter lim="800000"/>
            <a:tailEnd type="triangle"/>
          </a:ln>
          <a:effectLst/>
        </p:spPr>
      </p:cxnSp>
      <p:cxnSp>
        <p:nvCxnSpPr>
          <p:cNvPr id="98" name="直接箭头连接符 208"/>
          <p:cNvCxnSpPr/>
          <p:nvPr/>
        </p:nvCxnSpPr>
        <p:spPr>
          <a:xfrm>
            <a:off x="7999590" y="5507275"/>
            <a:ext cx="1049169" cy="0"/>
          </a:xfrm>
          <a:prstGeom prst="straightConnector1">
            <a:avLst/>
          </a:prstGeom>
          <a:noFill/>
          <a:ln w="6350" cap="flat" cmpd="sng" algn="ctr">
            <a:solidFill>
              <a:srgbClr val="FFBF00"/>
            </a:solidFill>
            <a:prstDash val="solid"/>
            <a:miter lim="800000"/>
            <a:tailEnd type="triangle"/>
          </a:ln>
          <a:effectLst/>
        </p:spPr>
      </p:cxnSp>
      <p:cxnSp>
        <p:nvCxnSpPr>
          <p:cNvPr id="99" name="直接箭头连接符 210"/>
          <p:cNvCxnSpPr/>
          <p:nvPr/>
        </p:nvCxnSpPr>
        <p:spPr>
          <a:xfrm>
            <a:off x="7999590" y="5841859"/>
            <a:ext cx="1049169" cy="0"/>
          </a:xfrm>
          <a:prstGeom prst="straightConnector1">
            <a:avLst/>
          </a:prstGeom>
          <a:noFill/>
          <a:ln w="6350" cap="flat" cmpd="sng" algn="ctr">
            <a:solidFill>
              <a:srgbClr val="FFBF00"/>
            </a:solidFill>
            <a:prstDash val="solid"/>
            <a:miter lim="800000"/>
            <a:tailEnd type="triangle"/>
          </a:ln>
          <a:effectLst/>
        </p:spPr>
      </p:cxnSp>
      <p:sp>
        <p:nvSpPr>
          <p:cNvPr id="100" name="矩形 222"/>
          <p:cNvSpPr/>
          <p:nvPr/>
        </p:nvSpPr>
        <p:spPr>
          <a:xfrm>
            <a:off x="9054062" y="3360181"/>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一卡通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1" name="矩形 223"/>
          <p:cNvSpPr/>
          <p:nvPr/>
        </p:nvSpPr>
        <p:spPr>
          <a:xfrm>
            <a:off x="9054062" y="3694765"/>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决策支持</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2" name="矩形 224"/>
          <p:cNvSpPr/>
          <p:nvPr/>
        </p:nvSpPr>
        <p:spPr>
          <a:xfrm>
            <a:off x="9054062" y="4029349"/>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12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统一身份认证</a:t>
            </a:r>
            <a:endParaRPr kumimoji="0" lang="zh-CN" altLang="en-US" sz="1200" b="0" i="0" u="none" strike="noStrike" kern="0" cap="none" spc="-12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3" name="矩形 225"/>
          <p:cNvSpPr/>
          <p:nvPr/>
        </p:nvSpPr>
        <p:spPr>
          <a:xfrm>
            <a:off x="9054062" y="4363933"/>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一站式门户</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4" name="矩形 226"/>
          <p:cNvSpPr/>
          <p:nvPr/>
        </p:nvSpPr>
        <p:spPr>
          <a:xfrm>
            <a:off x="9054062" y="4698517"/>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12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项目管理平台</a:t>
            </a:r>
            <a:endParaRPr kumimoji="0" lang="zh-CN" altLang="en-US" sz="1200" b="0" i="0" u="none" strike="noStrike" kern="0" cap="none" spc="-12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5" name="矩形 227"/>
          <p:cNvSpPr/>
          <p:nvPr/>
        </p:nvSpPr>
        <p:spPr>
          <a:xfrm>
            <a:off x="9054062" y="5033101"/>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城市热点</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6" name="矩形 228"/>
          <p:cNvSpPr/>
          <p:nvPr/>
        </p:nvSpPr>
        <p:spPr>
          <a:xfrm>
            <a:off x="9054062" y="5367685"/>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微信平台</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7" name="矩形 229"/>
          <p:cNvSpPr/>
          <p:nvPr/>
        </p:nvSpPr>
        <p:spPr>
          <a:xfrm>
            <a:off x="9054062" y="5702269"/>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微软正版化</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8" name="矩形 235"/>
          <p:cNvSpPr/>
          <p:nvPr/>
        </p:nvSpPr>
        <p:spPr>
          <a:xfrm>
            <a:off x="9048759" y="1687261"/>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一张表流程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9" name="矩形 236"/>
          <p:cNvSpPr/>
          <p:nvPr/>
        </p:nvSpPr>
        <p:spPr>
          <a:xfrm>
            <a:off x="9048759" y="2021845"/>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智慧教室</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0" name="矩形 237"/>
          <p:cNvSpPr/>
          <p:nvPr/>
        </p:nvSpPr>
        <p:spPr>
          <a:xfrm>
            <a:off x="9048759" y="2356429"/>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专家评审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1" name="矩形 238"/>
          <p:cNvSpPr/>
          <p:nvPr/>
        </p:nvSpPr>
        <p:spPr>
          <a:xfrm>
            <a:off x="9048759" y="2691013"/>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站群系统</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2" name="矩形 239"/>
          <p:cNvSpPr/>
          <p:nvPr/>
        </p:nvSpPr>
        <p:spPr>
          <a:xfrm>
            <a:off x="9048759" y="3025597"/>
            <a:ext cx="1061790" cy="279180"/>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多媒体教室</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a:t>
            </a:r>
            <a:r>
              <a:rPr lang="en-US" altLang="zh-CN" dirty="0">
                <a:sym typeface="+mn-ea"/>
              </a:rPr>
              <a:t>xx</a:t>
            </a:r>
            <a:r>
              <a:rPr lang="zh-CN" altLang="en-US" dirty="0"/>
              <a:t>师范大学</a:t>
            </a:r>
            <a:r>
              <a:rPr lang="en-US" altLang="zh-CN" dirty="0"/>
              <a:t> </a:t>
            </a:r>
            <a:endParaRPr lang="zh-CN" altLang="en-US" dirty="0"/>
          </a:p>
        </p:txBody>
      </p:sp>
      <p:sp>
        <p:nvSpPr>
          <p:cNvPr id="3" name="流程图: 磁盘 6"/>
          <p:cNvSpPr/>
          <p:nvPr/>
        </p:nvSpPr>
        <p:spPr>
          <a:xfrm>
            <a:off x="4242675" y="1586703"/>
            <a:ext cx="3218082" cy="4824201"/>
          </a:xfrm>
          <a:prstGeom prst="flowChartMagneticDisk">
            <a:avLst/>
          </a:prstGeom>
          <a:noFill/>
          <a:ln w="9525" cap="flat" cmpd="sng" algn="ctr">
            <a:solidFill>
              <a:srgbClr val="00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4" name="文本框 7"/>
          <p:cNvSpPr txBox="1"/>
          <p:nvPr/>
        </p:nvSpPr>
        <p:spPr>
          <a:xfrm>
            <a:off x="5181883" y="1823275"/>
            <a:ext cx="1415772" cy="461665"/>
          </a:xfrm>
          <a:prstGeom prst="rect">
            <a:avLst/>
          </a:prstGeom>
          <a:solidFill>
            <a:srgbClr val="00B0F0"/>
          </a:solidFill>
          <a:ln>
            <a:noFill/>
          </a:ln>
          <a:effectLst>
            <a:outerShdw blurRad="57150" dist="19050" dir="5400000" algn="ctr" rotWithShape="0">
              <a:srgbClr val="000000">
                <a:alpha val="63000"/>
              </a:srgbClr>
            </a:outerShdw>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数据中心</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nvGrpSpPr>
          <p:cNvPr id="5" name="组合 26"/>
          <p:cNvGrpSpPr/>
          <p:nvPr/>
        </p:nvGrpSpPr>
        <p:grpSpPr>
          <a:xfrm>
            <a:off x="4557616" y="2309179"/>
            <a:ext cx="2664306" cy="3785289"/>
            <a:chOff x="2603084" y="1882809"/>
            <a:chExt cx="2664306" cy="3785289"/>
          </a:xfrm>
        </p:grpSpPr>
        <p:sp>
          <p:nvSpPr>
            <p:cNvPr id="6" name="文本框 8"/>
            <p:cNvSpPr txBox="1"/>
            <p:nvPr/>
          </p:nvSpPr>
          <p:spPr>
            <a:xfrm>
              <a:off x="3164937" y="1882809"/>
              <a:ext cx="700833"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8</a:t>
              </a:r>
              <a:r>
                <a:rPr kumimoji="0" lang="zh-CN" altLang="en-US" sz="1800" b="0" i="0" u="none" strike="noStrike" kern="0" cap="none" spc="0" normalizeH="0" baseline="0" noProof="0" dirty="0">
                  <a:ln>
                    <a:noFill/>
                  </a:ln>
                  <a:solidFill>
                    <a:srgbClr val="92D050"/>
                  </a:solidFill>
                  <a:effectLst/>
                  <a:uLnTx/>
                  <a:uFillTx/>
                </a:rPr>
                <a:t>类</a:t>
              </a:r>
              <a:endParaRPr kumimoji="0" lang="zh-CN" altLang="en-US" sz="1800" b="0" i="0" u="none" strike="noStrike" kern="0" cap="none" spc="0" normalizeH="0" baseline="0" noProof="0" dirty="0">
                <a:ln>
                  <a:noFill/>
                </a:ln>
                <a:solidFill>
                  <a:srgbClr val="92D050"/>
                </a:solidFill>
                <a:effectLst/>
                <a:uLnTx/>
                <a:uFillTx/>
              </a:endParaRPr>
            </a:p>
          </p:txBody>
        </p:sp>
        <p:sp>
          <p:nvSpPr>
            <p:cNvPr id="7" name="矩形 9"/>
            <p:cNvSpPr/>
            <p:nvPr/>
          </p:nvSpPr>
          <p:spPr>
            <a:xfrm>
              <a:off x="4227512" y="2140225"/>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数据集</a:t>
              </a:r>
              <a:endParaRPr kumimoji="0" lang="zh-CN" altLang="en-US" sz="1800" b="0" i="0" u="none" strike="noStrike" kern="0" cap="none" spc="0" normalizeH="0" baseline="0" noProof="0" dirty="0">
                <a:ln>
                  <a:noFill/>
                </a:ln>
                <a:solidFill>
                  <a:srgbClr val="000000"/>
                </a:solidFill>
                <a:effectLst/>
                <a:uLnTx/>
                <a:uFillTx/>
              </a:endParaRPr>
            </a:p>
          </p:txBody>
        </p:sp>
        <p:sp>
          <p:nvSpPr>
            <p:cNvPr id="8" name="文本框 10"/>
            <p:cNvSpPr txBox="1"/>
            <p:nvPr/>
          </p:nvSpPr>
          <p:spPr>
            <a:xfrm>
              <a:off x="3022270" y="2494168"/>
              <a:ext cx="986167"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55</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9" name="矩形 11"/>
            <p:cNvSpPr/>
            <p:nvPr/>
          </p:nvSpPr>
          <p:spPr>
            <a:xfrm>
              <a:off x="4227512" y="275158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数据类</a:t>
              </a:r>
              <a:endParaRPr kumimoji="0" lang="zh-CN" altLang="en-US" sz="1800" b="0" i="0" u="none" strike="noStrike" kern="0" cap="none" spc="0" normalizeH="0" baseline="0" noProof="0" dirty="0">
                <a:ln>
                  <a:noFill/>
                </a:ln>
                <a:solidFill>
                  <a:srgbClr val="000000"/>
                </a:solidFill>
                <a:effectLst/>
                <a:uLnTx/>
                <a:uFillTx/>
              </a:endParaRPr>
            </a:p>
          </p:txBody>
        </p:sp>
        <p:sp>
          <p:nvSpPr>
            <p:cNvPr id="10" name="文本框 18"/>
            <p:cNvSpPr txBox="1"/>
            <p:nvPr/>
          </p:nvSpPr>
          <p:spPr>
            <a:xfrm>
              <a:off x="2879602" y="3090138"/>
              <a:ext cx="127150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296</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1" name="矩形 19"/>
            <p:cNvSpPr/>
            <p:nvPr/>
          </p:nvSpPr>
          <p:spPr>
            <a:xfrm>
              <a:off x="3996679" y="3347554"/>
              <a:ext cx="1107996"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数据子类</a:t>
              </a:r>
              <a:endParaRPr kumimoji="0" lang="zh-CN" altLang="en-US" sz="1800" b="0" i="0" u="none" strike="noStrike" kern="0" cap="none" spc="0" normalizeH="0" baseline="0" noProof="0" dirty="0">
                <a:ln>
                  <a:noFill/>
                </a:ln>
                <a:solidFill>
                  <a:srgbClr val="000000"/>
                </a:solidFill>
                <a:effectLst/>
                <a:uLnTx/>
                <a:uFillTx/>
              </a:endParaRPr>
            </a:p>
          </p:txBody>
        </p:sp>
        <p:sp>
          <p:nvSpPr>
            <p:cNvPr id="12" name="文本框 20"/>
            <p:cNvSpPr txBox="1"/>
            <p:nvPr/>
          </p:nvSpPr>
          <p:spPr>
            <a:xfrm>
              <a:off x="2736935" y="3686108"/>
              <a:ext cx="1556836"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5328</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3" name="矩形 21"/>
            <p:cNvSpPr/>
            <p:nvPr/>
          </p:nvSpPr>
          <p:spPr>
            <a:xfrm>
              <a:off x="4227512" y="394352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数据项</a:t>
              </a:r>
              <a:endParaRPr kumimoji="0" lang="zh-CN" altLang="en-US" sz="1800" b="0" i="0" u="none" strike="noStrike" kern="0" cap="none" spc="0" normalizeH="0" baseline="0" noProof="0" dirty="0">
                <a:ln>
                  <a:noFill/>
                </a:ln>
                <a:solidFill>
                  <a:srgbClr val="000000"/>
                </a:solidFill>
                <a:effectLst/>
                <a:uLnTx/>
                <a:uFillTx/>
              </a:endParaRPr>
            </a:p>
          </p:txBody>
        </p:sp>
        <p:sp>
          <p:nvSpPr>
            <p:cNvPr id="14" name="文本框 22"/>
            <p:cNvSpPr txBox="1"/>
            <p:nvPr/>
          </p:nvSpPr>
          <p:spPr>
            <a:xfrm>
              <a:off x="2603084" y="4960212"/>
              <a:ext cx="177324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2.47</a:t>
              </a:r>
              <a:r>
                <a:rPr kumimoji="0" lang="zh-CN" altLang="en-US" sz="2800" b="0" i="0" u="none" strike="noStrike" kern="0" cap="none" spc="0" normalizeH="0" baseline="0" noProof="0" dirty="0">
                  <a:ln>
                    <a:noFill/>
                  </a:ln>
                  <a:solidFill>
                    <a:srgbClr val="FF0000"/>
                  </a:solidFill>
                  <a:effectLst/>
                  <a:uLnTx/>
                  <a:uFillTx/>
                </a:rPr>
                <a:t>亿</a:t>
              </a:r>
              <a:r>
                <a:rPr kumimoji="0" lang="zh-CN" altLang="en-US" sz="1800" b="0" i="0" u="none" strike="noStrike" kern="0" cap="none" spc="0" normalizeH="0" baseline="0" noProof="0" dirty="0">
                  <a:ln>
                    <a:noFill/>
                  </a:ln>
                  <a:solidFill>
                    <a:srgbClr val="92D050"/>
                  </a:solidFill>
                  <a:effectLst/>
                  <a:uLnTx/>
                  <a:uFillTx/>
                </a:rPr>
                <a:t>条</a:t>
              </a:r>
              <a:endParaRPr kumimoji="0" lang="zh-CN" altLang="en-US" sz="1800" b="0" i="0" u="none" strike="noStrike" kern="0" cap="none" spc="0" normalizeH="0" baseline="0" noProof="0" dirty="0">
                <a:ln>
                  <a:noFill/>
                </a:ln>
                <a:solidFill>
                  <a:srgbClr val="92D050"/>
                </a:solidFill>
                <a:effectLst/>
                <a:uLnTx/>
                <a:uFillTx/>
              </a:endParaRPr>
            </a:p>
          </p:txBody>
        </p:sp>
        <p:sp>
          <p:nvSpPr>
            <p:cNvPr id="15" name="矩形 23"/>
            <p:cNvSpPr/>
            <p:nvPr/>
          </p:nvSpPr>
          <p:spPr>
            <a:xfrm>
              <a:off x="4458344" y="5217628"/>
              <a:ext cx="646331"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记录</a:t>
              </a:r>
              <a:endParaRPr kumimoji="0" lang="zh-CN" altLang="en-US" sz="1800" b="0" i="0" u="none" strike="noStrike" kern="0" cap="none" spc="0" normalizeH="0" baseline="0" noProof="0" dirty="0">
                <a:ln>
                  <a:noFill/>
                </a:ln>
                <a:solidFill>
                  <a:srgbClr val="000000"/>
                </a:solidFill>
                <a:effectLst/>
                <a:uLnTx/>
                <a:uFillTx/>
              </a:endParaRPr>
            </a:p>
          </p:txBody>
        </p:sp>
        <p:sp>
          <p:nvSpPr>
            <p:cNvPr id="16" name="文本框 179"/>
            <p:cNvSpPr txBox="1"/>
            <p:nvPr/>
          </p:nvSpPr>
          <p:spPr>
            <a:xfrm>
              <a:off x="2774400" y="4430673"/>
              <a:ext cx="2492990" cy="492443"/>
            </a:xfrm>
            <a:prstGeom prst="rect">
              <a:avLst/>
            </a:prstGeom>
            <a:solidFill>
              <a:srgbClr val="F0F0F0">
                <a:lumMod val="75000"/>
              </a:srgbClr>
            </a:solidFill>
            <a:ln>
              <a:noFill/>
            </a:ln>
            <a:effectLst>
              <a:outerShdw blurRad="57150" dist="19050" dir="5400000" algn="ctr" rotWithShape="0">
                <a:srgbClr val="000000">
                  <a:alpha val="63000"/>
                </a:srgbClr>
              </a:outerShdw>
            </a:effectLst>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 1146</a:t>
              </a: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个</a:t>
              </a:r>
              <a:r>
                <a:rPr kumimoji="0" lang="zh-CN" altLang="en-US" sz="1800" b="0" i="0" u="none" strike="noStrike" kern="0" cap="none" spc="0" normalizeH="0" baseline="0" noProof="0" dirty="0">
                  <a:ln>
                    <a:noFill/>
                  </a:ln>
                  <a:solidFill>
                    <a:srgbClr val="92D050"/>
                  </a:solidFill>
                  <a:effectLst/>
                  <a:uLnTx/>
                  <a:uFillTx/>
                  <a:latin typeface="Arial" panose="020B0604020202020204"/>
                  <a:ea typeface="微软雅黑" panose="020B0503020204020204" pitchFamily="34" charset="-122"/>
                  <a:cs typeface="+mn-cs"/>
                </a:rPr>
                <a:t>   </a:t>
              </a:r>
              <a:r>
                <a:rPr kumimoji="0" lang="zh-CN" altLang="en-US" sz="18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待补充</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sp>
        <p:nvSpPr>
          <p:cNvPr id="17" name="矩形 28"/>
          <p:cNvSpPr/>
          <p:nvPr/>
        </p:nvSpPr>
        <p:spPr>
          <a:xfrm>
            <a:off x="492399" y="136161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人事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8" name="直接箭头连接符 61"/>
          <p:cNvCxnSpPr>
            <a:stCxn id="17" idx="3"/>
          </p:cNvCxnSpPr>
          <p:nvPr/>
        </p:nvCxnSpPr>
        <p:spPr>
          <a:xfrm>
            <a:off x="1358970" y="1501200"/>
            <a:ext cx="2773512" cy="14299"/>
          </a:xfrm>
          <a:prstGeom prst="straightConnector1">
            <a:avLst/>
          </a:prstGeom>
          <a:noFill/>
          <a:ln w="6350" cap="flat" cmpd="sng" algn="ctr">
            <a:solidFill>
              <a:srgbClr val="FFBF00"/>
            </a:solidFill>
            <a:prstDash val="solid"/>
            <a:miter lim="800000"/>
            <a:tailEnd type="triangle"/>
          </a:ln>
          <a:effectLst/>
        </p:spPr>
      </p:cxnSp>
      <p:sp>
        <p:nvSpPr>
          <p:cNvPr id="19" name="矩形 90"/>
          <p:cNvSpPr/>
          <p:nvPr/>
        </p:nvSpPr>
        <p:spPr>
          <a:xfrm>
            <a:off x="492399" y="182327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研究生院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0" name="直接箭头连接符 91"/>
          <p:cNvCxnSpPr>
            <a:stCxn id="19" idx="3"/>
          </p:cNvCxnSpPr>
          <p:nvPr/>
        </p:nvCxnSpPr>
        <p:spPr>
          <a:xfrm>
            <a:off x="1358970" y="1962865"/>
            <a:ext cx="2773512" cy="14301"/>
          </a:xfrm>
          <a:prstGeom prst="straightConnector1">
            <a:avLst/>
          </a:prstGeom>
          <a:noFill/>
          <a:ln w="6350" cap="flat" cmpd="sng" algn="ctr">
            <a:solidFill>
              <a:srgbClr val="FFBF00"/>
            </a:solidFill>
            <a:prstDash val="solid"/>
            <a:miter lim="800000"/>
            <a:tailEnd type="triangle"/>
          </a:ln>
          <a:effectLst/>
        </p:spPr>
      </p:cxnSp>
      <p:sp>
        <p:nvSpPr>
          <p:cNvPr id="21" name="矩形 92"/>
          <p:cNvSpPr/>
          <p:nvPr/>
        </p:nvSpPr>
        <p:spPr>
          <a:xfrm>
            <a:off x="492399" y="228494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学工</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2" name="直接箭头连接符 93"/>
          <p:cNvCxnSpPr>
            <a:stCxn id="21" idx="3"/>
          </p:cNvCxnSpPr>
          <p:nvPr/>
        </p:nvCxnSpPr>
        <p:spPr>
          <a:xfrm>
            <a:off x="1358970" y="2424530"/>
            <a:ext cx="2773512" cy="14299"/>
          </a:xfrm>
          <a:prstGeom prst="straightConnector1">
            <a:avLst/>
          </a:prstGeom>
          <a:noFill/>
          <a:ln w="6350" cap="flat" cmpd="sng" algn="ctr">
            <a:solidFill>
              <a:srgbClr val="FFBF00"/>
            </a:solidFill>
            <a:prstDash val="solid"/>
            <a:miter lim="800000"/>
            <a:tailEnd type="triangle"/>
          </a:ln>
          <a:effectLst/>
        </p:spPr>
      </p:cxnSp>
      <p:sp>
        <p:nvSpPr>
          <p:cNvPr id="23" name="矩形 94"/>
          <p:cNvSpPr/>
          <p:nvPr/>
        </p:nvSpPr>
        <p:spPr>
          <a:xfrm>
            <a:off x="492399" y="274660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国资办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4" name="直接箭头连接符 95"/>
          <p:cNvCxnSpPr>
            <a:stCxn id="23" idx="3"/>
          </p:cNvCxnSpPr>
          <p:nvPr/>
        </p:nvCxnSpPr>
        <p:spPr>
          <a:xfrm>
            <a:off x="1358970" y="2886195"/>
            <a:ext cx="2773512" cy="14299"/>
          </a:xfrm>
          <a:prstGeom prst="straightConnector1">
            <a:avLst/>
          </a:prstGeom>
          <a:noFill/>
          <a:ln w="6350" cap="flat" cmpd="sng" algn="ctr">
            <a:solidFill>
              <a:srgbClr val="FFBF00"/>
            </a:solidFill>
            <a:prstDash val="solid"/>
            <a:miter lim="800000"/>
            <a:tailEnd type="triangle"/>
          </a:ln>
          <a:effectLst/>
        </p:spPr>
      </p:cxnSp>
      <p:sp>
        <p:nvSpPr>
          <p:cNvPr id="25" name="矩形 96"/>
          <p:cNvSpPr/>
          <p:nvPr/>
        </p:nvSpPr>
        <p:spPr>
          <a:xfrm>
            <a:off x="492399" y="320827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科研</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箭头连接符 97"/>
          <p:cNvCxnSpPr>
            <a:stCxn id="25" idx="3"/>
          </p:cNvCxnSpPr>
          <p:nvPr/>
        </p:nvCxnSpPr>
        <p:spPr>
          <a:xfrm>
            <a:off x="1358970" y="3347860"/>
            <a:ext cx="2773512" cy="14299"/>
          </a:xfrm>
          <a:prstGeom prst="straightConnector1">
            <a:avLst/>
          </a:prstGeom>
          <a:noFill/>
          <a:ln w="6350" cap="flat" cmpd="sng" algn="ctr">
            <a:solidFill>
              <a:srgbClr val="FFBF00"/>
            </a:solidFill>
            <a:prstDash val="solid"/>
            <a:miter lim="800000"/>
            <a:tailEnd type="triangle"/>
          </a:ln>
          <a:effectLst/>
        </p:spPr>
      </p:cxnSp>
      <p:sp>
        <p:nvSpPr>
          <p:cNvPr id="27" name="矩形 98"/>
          <p:cNvSpPr/>
          <p:nvPr/>
        </p:nvSpPr>
        <p:spPr>
          <a:xfrm>
            <a:off x="492399" y="366993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8" name="直接箭头连接符 99"/>
          <p:cNvCxnSpPr>
            <a:stCxn id="27" idx="3"/>
          </p:cNvCxnSpPr>
          <p:nvPr/>
        </p:nvCxnSpPr>
        <p:spPr>
          <a:xfrm>
            <a:off x="1358970" y="3809525"/>
            <a:ext cx="2773512" cy="14299"/>
          </a:xfrm>
          <a:prstGeom prst="straightConnector1">
            <a:avLst/>
          </a:prstGeom>
          <a:noFill/>
          <a:ln w="6350" cap="flat" cmpd="sng" algn="ctr">
            <a:solidFill>
              <a:srgbClr val="FFBF00"/>
            </a:solidFill>
            <a:prstDash val="solid"/>
            <a:miter lim="800000"/>
            <a:tailEnd type="triangle"/>
          </a:ln>
          <a:effectLst/>
        </p:spPr>
      </p:cxnSp>
      <p:sp>
        <p:nvSpPr>
          <p:cNvPr id="29" name="矩形 100"/>
          <p:cNvSpPr/>
          <p:nvPr/>
        </p:nvSpPr>
        <p:spPr>
          <a:xfrm>
            <a:off x="492399" y="413160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房产办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0" name="直接箭头连接符 101"/>
          <p:cNvCxnSpPr>
            <a:stCxn id="29" idx="3"/>
          </p:cNvCxnSpPr>
          <p:nvPr/>
        </p:nvCxnSpPr>
        <p:spPr>
          <a:xfrm>
            <a:off x="1358970" y="4271190"/>
            <a:ext cx="2773512" cy="14299"/>
          </a:xfrm>
          <a:prstGeom prst="straightConnector1">
            <a:avLst/>
          </a:prstGeom>
          <a:noFill/>
          <a:ln w="6350" cap="flat" cmpd="sng" algn="ctr">
            <a:solidFill>
              <a:srgbClr val="FFBF00"/>
            </a:solidFill>
            <a:prstDash val="solid"/>
            <a:miter lim="800000"/>
            <a:tailEnd type="triangle"/>
          </a:ln>
          <a:effectLst/>
        </p:spPr>
      </p:cxnSp>
      <p:sp>
        <p:nvSpPr>
          <p:cNvPr id="31" name="矩形 102"/>
          <p:cNvSpPr/>
          <p:nvPr/>
        </p:nvSpPr>
        <p:spPr>
          <a:xfrm>
            <a:off x="492399" y="459326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公管学院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2" name="直接箭头连接符 103"/>
          <p:cNvCxnSpPr>
            <a:stCxn id="31" idx="3"/>
          </p:cNvCxnSpPr>
          <p:nvPr/>
        </p:nvCxnSpPr>
        <p:spPr>
          <a:xfrm>
            <a:off x="1358970" y="4732855"/>
            <a:ext cx="2773512" cy="14299"/>
          </a:xfrm>
          <a:prstGeom prst="straightConnector1">
            <a:avLst/>
          </a:prstGeom>
          <a:noFill/>
          <a:ln w="6350" cap="flat" cmpd="sng" algn="ctr">
            <a:solidFill>
              <a:srgbClr val="FFBF00"/>
            </a:solidFill>
            <a:prstDash val="solid"/>
            <a:miter lim="800000"/>
            <a:tailEnd type="triangle"/>
          </a:ln>
          <a:effectLst/>
        </p:spPr>
      </p:cxnSp>
      <p:sp>
        <p:nvSpPr>
          <p:cNvPr id="33" name="矩形 104"/>
          <p:cNvSpPr/>
          <p:nvPr/>
        </p:nvSpPr>
        <p:spPr>
          <a:xfrm>
            <a:off x="492399" y="505493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教师教院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4" name="直接箭头连接符 105"/>
          <p:cNvCxnSpPr>
            <a:stCxn id="33" idx="3"/>
          </p:cNvCxnSpPr>
          <p:nvPr/>
        </p:nvCxnSpPr>
        <p:spPr>
          <a:xfrm>
            <a:off x="1358970" y="5194520"/>
            <a:ext cx="2773512" cy="14299"/>
          </a:xfrm>
          <a:prstGeom prst="straightConnector1">
            <a:avLst/>
          </a:prstGeom>
          <a:noFill/>
          <a:ln w="6350" cap="flat" cmpd="sng" algn="ctr">
            <a:solidFill>
              <a:srgbClr val="FFBF00"/>
            </a:solidFill>
            <a:prstDash val="solid"/>
            <a:miter lim="800000"/>
            <a:tailEnd type="triangle"/>
          </a:ln>
          <a:effectLst/>
        </p:spPr>
      </p:cxnSp>
      <p:sp>
        <p:nvSpPr>
          <p:cNvPr id="35" name="矩形 106"/>
          <p:cNvSpPr/>
          <p:nvPr/>
        </p:nvSpPr>
        <p:spPr>
          <a:xfrm>
            <a:off x="492399" y="551659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就业处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6" name="直接箭头连接符 107"/>
          <p:cNvCxnSpPr>
            <a:stCxn id="35" idx="3"/>
          </p:cNvCxnSpPr>
          <p:nvPr/>
        </p:nvCxnSpPr>
        <p:spPr>
          <a:xfrm>
            <a:off x="1358970" y="5656185"/>
            <a:ext cx="2773512" cy="14299"/>
          </a:xfrm>
          <a:prstGeom prst="straightConnector1">
            <a:avLst/>
          </a:prstGeom>
          <a:noFill/>
          <a:ln w="6350" cap="flat" cmpd="sng" algn="ctr">
            <a:solidFill>
              <a:srgbClr val="FFBF00"/>
            </a:solidFill>
            <a:prstDash val="solid"/>
            <a:miter lim="800000"/>
            <a:tailEnd type="triangle"/>
          </a:ln>
          <a:effectLst/>
        </p:spPr>
      </p:cxnSp>
      <p:sp>
        <p:nvSpPr>
          <p:cNvPr id="37" name="矩形 108"/>
          <p:cNvSpPr/>
          <p:nvPr/>
        </p:nvSpPr>
        <p:spPr>
          <a:xfrm>
            <a:off x="492399" y="597826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离退处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8" name="直接箭头连接符 109"/>
          <p:cNvCxnSpPr>
            <a:stCxn id="37" idx="3"/>
          </p:cNvCxnSpPr>
          <p:nvPr/>
        </p:nvCxnSpPr>
        <p:spPr>
          <a:xfrm>
            <a:off x="1358970" y="6117850"/>
            <a:ext cx="2773512" cy="14299"/>
          </a:xfrm>
          <a:prstGeom prst="straightConnector1">
            <a:avLst/>
          </a:prstGeom>
          <a:noFill/>
          <a:ln w="6350" cap="flat" cmpd="sng" algn="ctr">
            <a:solidFill>
              <a:srgbClr val="FFBF00"/>
            </a:solidFill>
            <a:prstDash val="solid"/>
            <a:miter lim="800000"/>
            <a:tailEnd type="triangle"/>
          </a:ln>
          <a:effectLst/>
        </p:spPr>
      </p:cxnSp>
      <p:sp>
        <p:nvSpPr>
          <p:cNvPr id="39" name="矩形 110"/>
          <p:cNvSpPr/>
          <p:nvPr/>
        </p:nvSpPr>
        <p:spPr>
          <a:xfrm>
            <a:off x="492399" y="643992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设备处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40" name="直接箭头连接符 111"/>
          <p:cNvCxnSpPr>
            <a:stCxn id="39" idx="3"/>
          </p:cNvCxnSpPr>
          <p:nvPr/>
        </p:nvCxnSpPr>
        <p:spPr>
          <a:xfrm>
            <a:off x="1358970" y="6579515"/>
            <a:ext cx="2773512" cy="14299"/>
          </a:xfrm>
          <a:prstGeom prst="straightConnector1">
            <a:avLst/>
          </a:prstGeom>
          <a:noFill/>
          <a:ln w="6350" cap="flat" cmpd="sng" algn="ctr">
            <a:solidFill>
              <a:srgbClr val="FFBF00"/>
            </a:solidFill>
            <a:prstDash val="solid"/>
            <a:miter lim="800000"/>
            <a:tailEnd type="triangle"/>
          </a:ln>
          <a:effectLst/>
        </p:spPr>
      </p:cxnSp>
      <p:sp>
        <p:nvSpPr>
          <p:cNvPr id="41" name="矩形 112"/>
          <p:cNvSpPr/>
          <p:nvPr/>
        </p:nvSpPr>
        <p:spPr>
          <a:xfrm>
            <a:off x="1851322" y="159399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统战</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2" name="矩形 114"/>
          <p:cNvSpPr/>
          <p:nvPr/>
        </p:nvSpPr>
        <p:spPr>
          <a:xfrm>
            <a:off x="1851322" y="205566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图书馆</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3" name="矩形 116"/>
          <p:cNvSpPr/>
          <p:nvPr/>
        </p:nvSpPr>
        <p:spPr>
          <a:xfrm>
            <a:off x="1851322" y="251732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外事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4" name="矩形 118"/>
          <p:cNvSpPr/>
          <p:nvPr/>
        </p:nvSpPr>
        <p:spPr>
          <a:xfrm>
            <a:off x="1851322" y="297899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工会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5" name="矩形 120"/>
          <p:cNvSpPr/>
          <p:nvPr/>
        </p:nvSpPr>
        <p:spPr>
          <a:xfrm>
            <a:off x="1851322" y="344065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校医院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6" name="矩形 122"/>
          <p:cNvSpPr/>
          <p:nvPr/>
        </p:nvSpPr>
        <p:spPr>
          <a:xfrm>
            <a:off x="1851322" y="390232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校友会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7" name="矩形 124"/>
          <p:cNvSpPr/>
          <p:nvPr/>
        </p:nvSpPr>
        <p:spPr>
          <a:xfrm>
            <a:off x="1851322" y="436398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宣传部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8" name="矩形 126"/>
          <p:cNvSpPr/>
          <p:nvPr/>
        </p:nvSpPr>
        <p:spPr>
          <a:xfrm>
            <a:off x="1851322" y="482565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9" name="矩形 128"/>
          <p:cNvSpPr/>
          <p:nvPr/>
        </p:nvSpPr>
        <p:spPr>
          <a:xfrm>
            <a:off x="1851322" y="528731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招标办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0" name="矩形 130"/>
          <p:cNvSpPr/>
          <p:nvPr/>
        </p:nvSpPr>
        <p:spPr>
          <a:xfrm>
            <a:off x="1851322" y="574898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组织部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1" name="矩形 132"/>
          <p:cNvSpPr/>
          <p:nvPr/>
        </p:nvSpPr>
        <p:spPr>
          <a:xfrm>
            <a:off x="1851322" y="621064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财务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52" name="直接箭头连接符 113"/>
          <p:cNvCxnSpPr>
            <a:stCxn id="41" idx="3"/>
          </p:cNvCxnSpPr>
          <p:nvPr/>
        </p:nvCxnSpPr>
        <p:spPr>
          <a:xfrm>
            <a:off x="2717893" y="1733589"/>
            <a:ext cx="1414589" cy="14299"/>
          </a:xfrm>
          <a:prstGeom prst="straightConnector1">
            <a:avLst/>
          </a:prstGeom>
          <a:noFill/>
          <a:ln w="6350" cap="flat" cmpd="sng" algn="ctr">
            <a:solidFill>
              <a:srgbClr val="FFBF00"/>
            </a:solidFill>
            <a:prstDash val="solid"/>
            <a:miter lim="800000"/>
            <a:tailEnd type="triangle"/>
          </a:ln>
          <a:effectLst/>
        </p:spPr>
      </p:cxnSp>
      <p:cxnSp>
        <p:nvCxnSpPr>
          <p:cNvPr id="53" name="直接箭头连接符 115"/>
          <p:cNvCxnSpPr>
            <a:stCxn id="42" idx="3"/>
          </p:cNvCxnSpPr>
          <p:nvPr/>
        </p:nvCxnSpPr>
        <p:spPr>
          <a:xfrm>
            <a:off x="2717893" y="2195254"/>
            <a:ext cx="1414589" cy="14299"/>
          </a:xfrm>
          <a:prstGeom prst="straightConnector1">
            <a:avLst/>
          </a:prstGeom>
          <a:noFill/>
          <a:ln w="6350" cap="flat" cmpd="sng" algn="ctr">
            <a:solidFill>
              <a:srgbClr val="FFBF00"/>
            </a:solidFill>
            <a:prstDash val="solid"/>
            <a:miter lim="800000"/>
            <a:tailEnd type="triangle"/>
          </a:ln>
          <a:effectLst/>
        </p:spPr>
      </p:cxnSp>
      <p:cxnSp>
        <p:nvCxnSpPr>
          <p:cNvPr id="54" name="直接箭头连接符 117"/>
          <p:cNvCxnSpPr>
            <a:stCxn id="43" idx="3"/>
          </p:cNvCxnSpPr>
          <p:nvPr/>
        </p:nvCxnSpPr>
        <p:spPr>
          <a:xfrm>
            <a:off x="2717893" y="2656919"/>
            <a:ext cx="1414589" cy="14299"/>
          </a:xfrm>
          <a:prstGeom prst="straightConnector1">
            <a:avLst/>
          </a:prstGeom>
          <a:noFill/>
          <a:ln w="6350" cap="flat" cmpd="sng" algn="ctr">
            <a:solidFill>
              <a:srgbClr val="FFBF00"/>
            </a:solidFill>
            <a:prstDash val="solid"/>
            <a:miter lim="800000"/>
            <a:tailEnd type="triangle"/>
          </a:ln>
          <a:effectLst/>
        </p:spPr>
      </p:cxnSp>
      <p:cxnSp>
        <p:nvCxnSpPr>
          <p:cNvPr id="55" name="直接箭头连接符 119"/>
          <p:cNvCxnSpPr>
            <a:stCxn id="44" idx="3"/>
          </p:cNvCxnSpPr>
          <p:nvPr/>
        </p:nvCxnSpPr>
        <p:spPr>
          <a:xfrm>
            <a:off x="2717893" y="3118584"/>
            <a:ext cx="1414589" cy="14299"/>
          </a:xfrm>
          <a:prstGeom prst="straightConnector1">
            <a:avLst/>
          </a:prstGeom>
          <a:noFill/>
          <a:ln w="6350" cap="flat" cmpd="sng" algn="ctr">
            <a:solidFill>
              <a:srgbClr val="FFBF00"/>
            </a:solidFill>
            <a:prstDash val="solid"/>
            <a:miter lim="800000"/>
            <a:tailEnd type="triangle"/>
          </a:ln>
          <a:effectLst/>
        </p:spPr>
      </p:cxnSp>
      <p:cxnSp>
        <p:nvCxnSpPr>
          <p:cNvPr id="56" name="直接箭头连接符 121"/>
          <p:cNvCxnSpPr>
            <a:stCxn id="45" idx="3"/>
          </p:cNvCxnSpPr>
          <p:nvPr/>
        </p:nvCxnSpPr>
        <p:spPr>
          <a:xfrm>
            <a:off x="2717893" y="3580249"/>
            <a:ext cx="1414589" cy="14299"/>
          </a:xfrm>
          <a:prstGeom prst="straightConnector1">
            <a:avLst/>
          </a:prstGeom>
          <a:noFill/>
          <a:ln w="6350" cap="flat" cmpd="sng" algn="ctr">
            <a:solidFill>
              <a:srgbClr val="FFBF00"/>
            </a:solidFill>
            <a:prstDash val="solid"/>
            <a:miter lim="800000"/>
            <a:tailEnd type="triangle"/>
          </a:ln>
          <a:effectLst/>
        </p:spPr>
      </p:cxnSp>
      <p:cxnSp>
        <p:nvCxnSpPr>
          <p:cNvPr id="57" name="直接箭头连接符 123"/>
          <p:cNvCxnSpPr>
            <a:stCxn id="46" idx="3"/>
          </p:cNvCxnSpPr>
          <p:nvPr/>
        </p:nvCxnSpPr>
        <p:spPr>
          <a:xfrm>
            <a:off x="2717893" y="4041914"/>
            <a:ext cx="1414589" cy="14299"/>
          </a:xfrm>
          <a:prstGeom prst="straightConnector1">
            <a:avLst/>
          </a:prstGeom>
          <a:noFill/>
          <a:ln w="6350" cap="flat" cmpd="sng" algn="ctr">
            <a:solidFill>
              <a:srgbClr val="FFBF00"/>
            </a:solidFill>
            <a:prstDash val="solid"/>
            <a:miter lim="800000"/>
            <a:tailEnd type="triangle"/>
          </a:ln>
          <a:effectLst/>
        </p:spPr>
      </p:cxnSp>
      <p:cxnSp>
        <p:nvCxnSpPr>
          <p:cNvPr id="58" name="直接箭头连接符 125"/>
          <p:cNvCxnSpPr>
            <a:stCxn id="47" idx="3"/>
          </p:cNvCxnSpPr>
          <p:nvPr/>
        </p:nvCxnSpPr>
        <p:spPr>
          <a:xfrm>
            <a:off x="2717893" y="4503579"/>
            <a:ext cx="1414589" cy="14299"/>
          </a:xfrm>
          <a:prstGeom prst="straightConnector1">
            <a:avLst/>
          </a:prstGeom>
          <a:noFill/>
          <a:ln w="6350" cap="flat" cmpd="sng" algn="ctr">
            <a:solidFill>
              <a:srgbClr val="FFBF00"/>
            </a:solidFill>
            <a:prstDash val="solid"/>
            <a:miter lim="800000"/>
            <a:tailEnd type="triangle"/>
          </a:ln>
          <a:effectLst/>
        </p:spPr>
      </p:cxnSp>
      <p:cxnSp>
        <p:nvCxnSpPr>
          <p:cNvPr id="59" name="直接箭头连接符 127"/>
          <p:cNvCxnSpPr>
            <a:stCxn id="48" idx="3"/>
          </p:cNvCxnSpPr>
          <p:nvPr/>
        </p:nvCxnSpPr>
        <p:spPr>
          <a:xfrm>
            <a:off x="2717893" y="4965244"/>
            <a:ext cx="1414589" cy="14299"/>
          </a:xfrm>
          <a:prstGeom prst="straightConnector1">
            <a:avLst/>
          </a:prstGeom>
          <a:noFill/>
          <a:ln w="6350" cap="flat" cmpd="sng" algn="ctr">
            <a:solidFill>
              <a:srgbClr val="FFBF00"/>
            </a:solidFill>
            <a:prstDash val="solid"/>
            <a:miter lim="800000"/>
            <a:tailEnd type="triangle"/>
          </a:ln>
          <a:effectLst/>
        </p:spPr>
      </p:cxnSp>
      <p:cxnSp>
        <p:nvCxnSpPr>
          <p:cNvPr id="60" name="直接箭头连接符 129"/>
          <p:cNvCxnSpPr>
            <a:stCxn id="49" idx="3"/>
          </p:cNvCxnSpPr>
          <p:nvPr/>
        </p:nvCxnSpPr>
        <p:spPr>
          <a:xfrm>
            <a:off x="2717893" y="5426909"/>
            <a:ext cx="1414589" cy="14299"/>
          </a:xfrm>
          <a:prstGeom prst="straightConnector1">
            <a:avLst/>
          </a:prstGeom>
          <a:noFill/>
          <a:ln w="6350" cap="flat" cmpd="sng" algn="ctr">
            <a:solidFill>
              <a:srgbClr val="FFBF00"/>
            </a:solidFill>
            <a:prstDash val="solid"/>
            <a:miter lim="800000"/>
            <a:tailEnd type="triangle"/>
          </a:ln>
          <a:effectLst/>
        </p:spPr>
      </p:cxnSp>
      <p:cxnSp>
        <p:nvCxnSpPr>
          <p:cNvPr id="61" name="直接箭头连接符 131"/>
          <p:cNvCxnSpPr>
            <a:stCxn id="50" idx="3"/>
          </p:cNvCxnSpPr>
          <p:nvPr/>
        </p:nvCxnSpPr>
        <p:spPr>
          <a:xfrm>
            <a:off x="2717893" y="5888574"/>
            <a:ext cx="1414589" cy="14299"/>
          </a:xfrm>
          <a:prstGeom prst="straightConnector1">
            <a:avLst/>
          </a:prstGeom>
          <a:noFill/>
          <a:ln w="6350" cap="flat" cmpd="sng" algn="ctr">
            <a:solidFill>
              <a:srgbClr val="FFBF00"/>
            </a:solidFill>
            <a:prstDash val="solid"/>
            <a:miter lim="800000"/>
            <a:tailEnd type="triangle"/>
          </a:ln>
          <a:effectLst/>
        </p:spPr>
      </p:cxnSp>
      <p:cxnSp>
        <p:nvCxnSpPr>
          <p:cNvPr id="62" name="直接箭头连接符 133"/>
          <p:cNvCxnSpPr>
            <a:stCxn id="51" idx="3"/>
          </p:cNvCxnSpPr>
          <p:nvPr/>
        </p:nvCxnSpPr>
        <p:spPr>
          <a:xfrm>
            <a:off x="2717893" y="6350239"/>
            <a:ext cx="1414589" cy="14299"/>
          </a:xfrm>
          <a:prstGeom prst="straightConnector1">
            <a:avLst/>
          </a:prstGeom>
          <a:noFill/>
          <a:ln w="6350" cap="flat" cmpd="sng" algn="ctr">
            <a:solidFill>
              <a:srgbClr val="FFBF00"/>
            </a:solidFill>
            <a:prstDash val="solid"/>
            <a:miter lim="800000"/>
            <a:tailEnd type="triangle"/>
          </a:ln>
          <a:effectLst/>
        </p:spPr>
      </p:cxnSp>
      <p:sp>
        <p:nvSpPr>
          <p:cNvPr id="63" name="矩形 139"/>
          <p:cNvSpPr/>
          <p:nvPr/>
        </p:nvSpPr>
        <p:spPr>
          <a:xfrm>
            <a:off x="1369464" y="1428882"/>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244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4" name="矩形 156"/>
          <p:cNvSpPr/>
          <p:nvPr/>
        </p:nvSpPr>
        <p:spPr>
          <a:xfrm>
            <a:off x="1369464" y="1886205"/>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464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5" name="矩形 157"/>
          <p:cNvSpPr/>
          <p:nvPr/>
        </p:nvSpPr>
        <p:spPr>
          <a:xfrm>
            <a:off x="1369464" y="2343528"/>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6" name="矩形 158"/>
          <p:cNvSpPr/>
          <p:nvPr/>
        </p:nvSpPr>
        <p:spPr>
          <a:xfrm>
            <a:off x="1369464" y="2800851"/>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78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7" name="矩形 159"/>
          <p:cNvSpPr/>
          <p:nvPr/>
        </p:nvSpPr>
        <p:spPr>
          <a:xfrm>
            <a:off x="1369464" y="3258174"/>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458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8" name="矩形 160"/>
          <p:cNvSpPr/>
          <p:nvPr/>
        </p:nvSpPr>
        <p:spPr>
          <a:xfrm>
            <a:off x="1369464" y="371549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9" name="矩形 161"/>
          <p:cNvSpPr/>
          <p:nvPr/>
        </p:nvSpPr>
        <p:spPr>
          <a:xfrm>
            <a:off x="1369464" y="4172820"/>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0" name="矩形 162"/>
          <p:cNvSpPr/>
          <p:nvPr/>
        </p:nvSpPr>
        <p:spPr>
          <a:xfrm>
            <a:off x="1369464" y="4664900"/>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1" name="矩形 164"/>
          <p:cNvSpPr/>
          <p:nvPr/>
        </p:nvSpPr>
        <p:spPr>
          <a:xfrm>
            <a:off x="1369464" y="5124466"/>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2" name="矩形 165"/>
          <p:cNvSpPr/>
          <p:nvPr/>
        </p:nvSpPr>
        <p:spPr>
          <a:xfrm>
            <a:off x="1369464" y="5584032"/>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97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3" name="矩形 166"/>
          <p:cNvSpPr/>
          <p:nvPr/>
        </p:nvSpPr>
        <p:spPr>
          <a:xfrm>
            <a:off x="1369464" y="6043598"/>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4" name="矩形 167"/>
          <p:cNvSpPr/>
          <p:nvPr/>
        </p:nvSpPr>
        <p:spPr>
          <a:xfrm>
            <a:off x="1369464" y="6509232"/>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188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5" name="矩形 168"/>
          <p:cNvSpPr/>
          <p:nvPr/>
        </p:nvSpPr>
        <p:spPr>
          <a:xfrm>
            <a:off x="2730827" y="1645113"/>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6" name="矩形 169"/>
          <p:cNvSpPr/>
          <p:nvPr/>
        </p:nvSpPr>
        <p:spPr>
          <a:xfrm>
            <a:off x="2730827" y="2102016"/>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125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7" name="矩形 170"/>
          <p:cNvSpPr/>
          <p:nvPr/>
        </p:nvSpPr>
        <p:spPr>
          <a:xfrm>
            <a:off x="2730827" y="2558919"/>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146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8" name="矩形 171"/>
          <p:cNvSpPr/>
          <p:nvPr/>
        </p:nvSpPr>
        <p:spPr>
          <a:xfrm>
            <a:off x="2730827" y="3015822"/>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9" name="矩形 172"/>
          <p:cNvSpPr/>
          <p:nvPr/>
        </p:nvSpPr>
        <p:spPr>
          <a:xfrm>
            <a:off x="2730827" y="3472725"/>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0" name="矩形 173"/>
          <p:cNvSpPr/>
          <p:nvPr/>
        </p:nvSpPr>
        <p:spPr>
          <a:xfrm>
            <a:off x="2730827" y="3952343"/>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1" name="矩形 174"/>
          <p:cNvSpPr/>
          <p:nvPr/>
        </p:nvSpPr>
        <p:spPr>
          <a:xfrm>
            <a:off x="2730827" y="4419261"/>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2" name="矩形 175"/>
          <p:cNvSpPr/>
          <p:nvPr/>
        </p:nvSpPr>
        <p:spPr>
          <a:xfrm>
            <a:off x="2730827" y="4878188"/>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174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3" name="矩形 176"/>
          <p:cNvSpPr/>
          <p:nvPr/>
        </p:nvSpPr>
        <p:spPr>
          <a:xfrm>
            <a:off x="2730827" y="5333671"/>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4" name="矩形 177"/>
          <p:cNvSpPr/>
          <p:nvPr/>
        </p:nvSpPr>
        <p:spPr>
          <a:xfrm>
            <a:off x="2730827" y="5789154"/>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5" name="矩形 178"/>
          <p:cNvSpPr/>
          <p:nvPr/>
        </p:nvSpPr>
        <p:spPr>
          <a:xfrm>
            <a:off x="2730827" y="6244637"/>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505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cxnSp>
        <p:nvCxnSpPr>
          <p:cNvPr id="86" name="直接箭头连接符 181"/>
          <p:cNvCxnSpPr/>
          <p:nvPr/>
        </p:nvCxnSpPr>
        <p:spPr>
          <a:xfrm>
            <a:off x="7493489" y="2506989"/>
            <a:ext cx="496987" cy="0"/>
          </a:xfrm>
          <a:prstGeom prst="straightConnector1">
            <a:avLst/>
          </a:prstGeom>
          <a:noFill/>
          <a:ln w="6350" cap="flat" cmpd="sng" algn="ctr">
            <a:solidFill>
              <a:srgbClr val="FFBF00"/>
            </a:solidFill>
            <a:prstDash val="solid"/>
            <a:miter lim="800000"/>
            <a:tailEnd type="triangle"/>
          </a:ln>
          <a:effectLst/>
        </p:spPr>
      </p:cxnSp>
      <p:sp>
        <p:nvSpPr>
          <p:cNvPr id="87" name="矩形 235"/>
          <p:cNvSpPr/>
          <p:nvPr/>
        </p:nvSpPr>
        <p:spPr>
          <a:xfrm>
            <a:off x="8001361" y="2379295"/>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一张表流程</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88" name="直接箭头连接符 134"/>
          <p:cNvCxnSpPr/>
          <p:nvPr/>
        </p:nvCxnSpPr>
        <p:spPr>
          <a:xfrm>
            <a:off x="7493489" y="3508462"/>
            <a:ext cx="496987" cy="0"/>
          </a:xfrm>
          <a:prstGeom prst="straightConnector1">
            <a:avLst/>
          </a:prstGeom>
          <a:noFill/>
          <a:ln w="6350" cap="flat" cmpd="sng" algn="ctr">
            <a:solidFill>
              <a:srgbClr val="FFBF00"/>
            </a:solidFill>
            <a:prstDash val="solid"/>
            <a:miter lim="800000"/>
            <a:tailEnd type="triangle"/>
          </a:ln>
          <a:effectLst/>
        </p:spPr>
      </p:cxnSp>
      <p:sp>
        <p:nvSpPr>
          <p:cNvPr id="89" name="矩形 135"/>
          <p:cNvSpPr/>
          <p:nvPr/>
        </p:nvSpPr>
        <p:spPr>
          <a:xfrm>
            <a:off x="8001361" y="3380768"/>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决策支持</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0" name="直接箭头连接符 136"/>
          <p:cNvCxnSpPr/>
          <p:nvPr/>
        </p:nvCxnSpPr>
        <p:spPr>
          <a:xfrm>
            <a:off x="7493489" y="4513684"/>
            <a:ext cx="496987" cy="0"/>
          </a:xfrm>
          <a:prstGeom prst="straightConnector1">
            <a:avLst/>
          </a:prstGeom>
          <a:noFill/>
          <a:ln w="6350" cap="flat" cmpd="sng" algn="ctr">
            <a:solidFill>
              <a:srgbClr val="FFBF00"/>
            </a:solidFill>
            <a:prstDash val="solid"/>
            <a:miter lim="800000"/>
            <a:tailEnd type="triangle"/>
          </a:ln>
          <a:effectLst/>
        </p:spPr>
      </p:cxnSp>
      <p:sp>
        <p:nvSpPr>
          <p:cNvPr id="91" name="矩形 137"/>
          <p:cNvSpPr/>
          <p:nvPr/>
        </p:nvSpPr>
        <p:spPr>
          <a:xfrm>
            <a:off x="8001361" y="4385990"/>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微信平台</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2" name="直接箭头连接符 138"/>
          <p:cNvCxnSpPr/>
          <p:nvPr/>
        </p:nvCxnSpPr>
        <p:spPr>
          <a:xfrm>
            <a:off x="7493489" y="5518907"/>
            <a:ext cx="496987" cy="0"/>
          </a:xfrm>
          <a:prstGeom prst="straightConnector1">
            <a:avLst/>
          </a:prstGeom>
          <a:noFill/>
          <a:ln w="6350" cap="flat" cmpd="sng" algn="ctr">
            <a:solidFill>
              <a:srgbClr val="FFBF00"/>
            </a:solidFill>
            <a:prstDash val="solid"/>
            <a:miter lim="800000"/>
            <a:tailEnd type="triangle"/>
          </a:ln>
          <a:effectLst/>
        </p:spPr>
      </p:cxnSp>
      <p:sp>
        <p:nvSpPr>
          <p:cNvPr id="93" name="矩形 140"/>
          <p:cNvSpPr/>
          <p:nvPr/>
        </p:nvSpPr>
        <p:spPr>
          <a:xfrm>
            <a:off x="8001361" y="5391213"/>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一站式门户</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4" name="矩形 141"/>
          <p:cNvSpPr/>
          <p:nvPr/>
        </p:nvSpPr>
        <p:spPr>
          <a:xfrm>
            <a:off x="4403510" y="945881"/>
            <a:ext cx="3057247"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微软雅黑" panose="020B0503020204020204" pitchFamily="34" charset="-122"/>
              </a:rPr>
              <a:t>服务于流程和决策</a:t>
            </a:r>
            <a:endParaRPr kumimoji="0" lang="zh-CN" altLang="en-US" sz="2800" b="0" i="0" u="none" strike="noStrike" kern="0" cap="none" spc="0" normalizeH="0" baseline="0" noProof="0" dirty="0">
              <a:ln>
                <a:noFill/>
              </a:ln>
              <a:solidFill>
                <a:srgbClr val="000000"/>
              </a:solidFill>
              <a:effectLst/>
              <a:uLnTx/>
              <a:uFillTx/>
            </a:endParaRPr>
          </a:p>
        </p:txBody>
      </p:sp>
      <p:sp>
        <p:nvSpPr>
          <p:cNvPr id="95" name="文本框 2"/>
          <p:cNvSpPr txBox="1"/>
          <p:nvPr/>
        </p:nvSpPr>
        <p:spPr>
          <a:xfrm>
            <a:off x="9688472" y="1693043"/>
            <a:ext cx="2289115" cy="4109330"/>
          </a:xfrm>
          <a:prstGeom prst="rect">
            <a:avLst/>
          </a:prstGeom>
          <a:solidFill>
            <a:srgbClr val="FFFF00"/>
          </a:solidFill>
          <a:ln w="6350" cap="flat" cmpd="sng" algn="ctr">
            <a:solidFill>
              <a:srgbClr val="FAAF3F"/>
            </a:solidFill>
            <a:prstDash val="solid"/>
            <a:miter lim="800000"/>
          </a:ln>
          <a:effectLst/>
        </p:spPr>
        <p:txBody>
          <a:bodyPr wrap="square" rtlCol="0">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研究生奖学金申请</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学生个人信息填报</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教师资格考试报名审核</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本科生奖学金申请</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勤工助学积极根子申请</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入党申请</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因公出国申请</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学生请销假</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虚拟机租用申请</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新闻宣传申请</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a:t>
            </a:r>
            <a:endPar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cxnSp>
        <p:nvCxnSpPr>
          <p:cNvPr id="96" name="直接箭头连接符 12"/>
          <p:cNvCxnSpPr>
            <a:stCxn id="87" idx="3"/>
            <a:endCxn id="95" idx="1"/>
          </p:cNvCxnSpPr>
          <p:nvPr/>
        </p:nvCxnSpPr>
        <p:spPr>
          <a:xfrm>
            <a:off x="8908077" y="2534274"/>
            <a:ext cx="780395" cy="1213434"/>
          </a:xfrm>
          <a:prstGeom prst="straightConnector1">
            <a:avLst/>
          </a:prstGeom>
          <a:noFill/>
          <a:ln w="57150" cap="flat" cmpd="sng" algn="ctr">
            <a:solidFill>
              <a:srgbClr val="00B050"/>
            </a:solidFill>
            <a:prstDash val="solid"/>
            <a:miter lim="800000"/>
            <a:tailEnd type="triangle"/>
          </a:ln>
          <a:effectLst/>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a:t>
            </a:r>
            <a:r>
              <a:rPr lang="en-US" altLang="zh-CN" dirty="0">
                <a:sym typeface="+mn-ea"/>
              </a:rPr>
              <a:t>xx</a:t>
            </a:r>
            <a:r>
              <a:rPr lang="zh-CN" altLang="en-US" dirty="0"/>
              <a:t>师范大学</a:t>
            </a:r>
            <a:r>
              <a:rPr lang="en-US" altLang="zh-CN" dirty="0"/>
              <a:t> </a:t>
            </a:r>
            <a:endParaRPr lang="zh-CN" altLang="en-US" dirty="0"/>
          </a:p>
        </p:txBody>
      </p:sp>
      <p:sp>
        <p:nvSpPr>
          <p:cNvPr id="3" name="流程图: 磁盘 6"/>
          <p:cNvSpPr/>
          <p:nvPr/>
        </p:nvSpPr>
        <p:spPr>
          <a:xfrm>
            <a:off x="4003840" y="1539192"/>
            <a:ext cx="3218082" cy="4824201"/>
          </a:xfrm>
          <a:prstGeom prst="flowChartMagneticDisk">
            <a:avLst/>
          </a:prstGeom>
          <a:noFill/>
          <a:ln w="9525" cap="flat" cmpd="sng" algn="ctr">
            <a:solidFill>
              <a:srgbClr val="00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4" name="文本框 7"/>
          <p:cNvSpPr txBox="1"/>
          <p:nvPr/>
        </p:nvSpPr>
        <p:spPr>
          <a:xfrm>
            <a:off x="4943048" y="1775764"/>
            <a:ext cx="1415772" cy="461665"/>
          </a:xfrm>
          <a:prstGeom prst="rect">
            <a:avLst/>
          </a:prstGeom>
          <a:solidFill>
            <a:srgbClr val="00B0F0"/>
          </a:solidFill>
          <a:ln>
            <a:noFill/>
          </a:ln>
          <a:effectLst>
            <a:outerShdw blurRad="57150" dist="19050" dir="5400000" algn="ctr" rotWithShape="0">
              <a:srgbClr val="000000">
                <a:alpha val="63000"/>
              </a:srgbClr>
            </a:outerShdw>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数据中心</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nvGrpSpPr>
          <p:cNvPr id="5" name="组合 26"/>
          <p:cNvGrpSpPr/>
          <p:nvPr/>
        </p:nvGrpSpPr>
        <p:grpSpPr>
          <a:xfrm>
            <a:off x="4318781" y="2261668"/>
            <a:ext cx="2664306" cy="3785289"/>
            <a:chOff x="2603084" y="1882809"/>
            <a:chExt cx="2664306" cy="3785289"/>
          </a:xfrm>
        </p:grpSpPr>
        <p:sp>
          <p:nvSpPr>
            <p:cNvPr id="6" name="文本框 8"/>
            <p:cNvSpPr txBox="1"/>
            <p:nvPr/>
          </p:nvSpPr>
          <p:spPr>
            <a:xfrm>
              <a:off x="3164937" y="1882809"/>
              <a:ext cx="700833"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8</a:t>
              </a:r>
              <a:r>
                <a:rPr kumimoji="0" lang="zh-CN" altLang="en-US" sz="1800" b="0" i="0" u="none" strike="noStrike" kern="0" cap="none" spc="0" normalizeH="0" baseline="0" noProof="0" dirty="0">
                  <a:ln>
                    <a:noFill/>
                  </a:ln>
                  <a:solidFill>
                    <a:srgbClr val="92D050"/>
                  </a:solidFill>
                  <a:effectLst/>
                  <a:uLnTx/>
                  <a:uFillTx/>
                </a:rPr>
                <a:t>类</a:t>
              </a:r>
              <a:endParaRPr kumimoji="0" lang="zh-CN" altLang="en-US" sz="1800" b="0" i="0" u="none" strike="noStrike" kern="0" cap="none" spc="0" normalizeH="0" baseline="0" noProof="0" dirty="0">
                <a:ln>
                  <a:noFill/>
                </a:ln>
                <a:solidFill>
                  <a:srgbClr val="92D050"/>
                </a:solidFill>
                <a:effectLst/>
                <a:uLnTx/>
                <a:uFillTx/>
              </a:endParaRPr>
            </a:p>
          </p:txBody>
        </p:sp>
        <p:sp>
          <p:nvSpPr>
            <p:cNvPr id="7" name="矩形 9"/>
            <p:cNvSpPr/>
            <p:nvPr/>
          </p:nvSpPr>
          <p:spPr>
            <a:xfrm>
              <a:off x="4227512" y="2140225"/>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数据集</a:t>
              </a:r>
              <a:endParaRPr kumimoji="0" lang="zh-CN" altLang="en-US" sz="1800" b="0" i="0" u="none" strike="noStrike" kern="0" cap="none" spc="0" normalizeH="0" baseline="0" noProof="0" dirty="0">
                <a:ln>
                  <a:noFill/>
                </a:ln>
                <a:solidFill>
                  <a:srgbClr val="000000"/>
                </a:solidFill>
                <a:effectLst/>
                <a:uLnTx/>
                <a:uFillTx/>
              </a:endParaRPr>
            </a:p>
          </p:txBody>
        </p:sp>
        <p:sp>
          <p:nvSpPr>
            <p:cNvPr id="8" name="文本框 10"/>
            <p:cNvSpPr txBox="1"/>
            <p:nvPr/>
          </p:nvSpPr>
          <p:spPr>
            <a:xfrm>
              <a:off x="3022270" y="2494168"/>
              <a:ext cx="986167"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55</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9" name="矩形 11"/>
            <p:cNvSpPr/>
            <p:nvPr/>
          </p:nvSpPr>
          <p:spPr>
            <a:xfrm>
              <a:off x="4227512" y="275158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数据类</a:t>
              </a:r>
              <a:endParaRPr kumimoji="0" lang="zh-CN" altLang="en-US" sz="1800" b="0" i="0" u="none" strike="noStrike" kern="0" cap="none" spc="0" normalizeH="0" baseline="0" noProof="0" dirty="0">
                <a:ln>
                  <a:noFill/>
                </a:ln>
                <a:solidFill>
                  <a:srgbClr val="000000"/>
                </a:solidFill>
                <a:effectLst/>
                <a:uLnTx/>
                <a:uFillTx/>
              </a:endParaRPr>
            </a:p>
          </p:txBody>
        </p:sp>
        <p:sp>
          <p:nvSpPr>
            <p:cNvPr id="10" name="文本框 18"/>
            <p:cNvSpPr txBox="1"/>
            <p:nvPr/>
          </p:nvSpPr>
          <p:spPr>
            <a:xfrm>
              <a:off x="2879602" y="3090138"/>
              <a:ext cx="127150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296</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1" name="矩形 19"/>
            <p:cNvSpPr/>
            <p:nvPr/>
          </p:nvSpPr>
          <p:spPr>
            <a:xfrm>
              <a:off x="3996679" y="3347554"/>
              <a:ext cx="1107996"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数据子类</a:t>
              </a:r>
              <a:endParaRPr kumimoji="0" lang="zh-CN" altLang="en-US" sz="1800" b="0" i="0" u="none" strike="noStrike" kern="0" cap="none" spc="0" normalizeH="0" baseline="0" noProof="0" dirty="0">
                <a:ln>
                  <a:noFill/>
                </a:ln>
                <a:solidFill>
                  <a:srgbClr val="000000"/>
                </a:solidFill>
                <a:effectLst/>
                <a:uLnTx/>
                <a:uFillTx/>
              </a:endParaRPr>
            </a:p>
          </p:txBody>
        </p:sp>
        <p:sp>
          <p:nvSpPr>
            <p:cNvPr id="12" name="文本框 20"/>
            <p:cNvSpPr txBox="1"/>
            <p:nvPr/>
          </p:nvSpPr>
          <p:spPr>
            <a:xfrm>
              <a:off x="2736935" y="3686108"/>
              <a:ext cx="1556836"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5328</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3" name="矩形 21"/>
            <p:cNvSpPr/>
            <p:nvPr/>
          </p:nvSpPr>
          <p:spPr>
            <a:xfrm>
              <a:off x="4227512" y="394352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数据项</a:t>
              </a:r>
              <a:endParaRPr kumimoji="0" lang="zh-CN" altLang="en-US" sz="1800" b="0" i="0" u="none" strike="noStrike" kern="0" cap="none" spc="0" normalizeH="0" baseline="0" noProof="0" dirty="0">
                <a:ln>
                  <a:noFill/>
                </a:ln>
                <a:solidFill>
                  <a:srgbClr val="000000"/>
                </a:solidFill>
                <a:effectLst/>
                <a:uLnTx/>
                <a:uFillTx/>
              </a:endParaRPr>
            </a:p>
          </p:txBody>
        </p:sp>
        <p:sp>
          <p:nvSpPr>
            <p:cNvPr id="14" name="文本框 22"/>
            <p:cNvSpPr txBox="1"/>
            <p:nvPr/>
          </p:nvSpPr>
          <p:spPr>
            <a:xfrm>
              <a:off x="2603084" y="4960212"/>
              <a:ext cx="177324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2.47</a:t>
              </a:r>
              <a:r>
                <a:rPr kumimoji="0" lang="zh-CN" altLang="en-US" sz="2800" b="0" i="0" u="none" strike="noStrike" kern="0" cap="none" spc="0" normalizeH="0" baseline="0" noProof="0" dirty="0">
                  <a:ln>
                    <a:noFill/>
                  </a:ln>
                  <a:solidFill>
                    <a:srgbClr val="FF0000"/>
                  </a:solidFill>
                  <a:effectLst/>
                  <a:uLnTx/>
                  <a:uFillTx/>
                </a:rPr>
                <a:t>亿</a:t>
              </a:r>
              <a:r>
                <a:rPr kumimoji="0" lang="zh-CN" altLang="en-US" sz="1800" b="0" i="0" u="none" strike="noStrike" kern="0" cap="none" spc="0" normalizeH="0" baseline="0" noProof="0" dirty="0">
                  <a:ln>
                    <a:noFill/>
                  </a:ln>
                  <a:solidFill>
                    <a:srgbClr val="92D050"/>
                  </a:solidFill>
                  <a:effectLst/>
                  <a:uLnTx/>
                  <a:uFillTx/>
                </a:rPr>
                <a:t>条</a:t>
              </a:r>
              <a:endParaRPr kumimoji="0" lang="zh-CN" altLang="en-US" sz="1800" b="0" i="0" u="none" strike="noStrike" kern="0" cap="none" spc="0" normalizeH="0" baseline="0" noProof="0" dirty="0">
                <a:ln>
                  <a:noFill/>
                </a:ln>
                <a:solidFill>
                  <a:srgbClr val="92D050"/>
                </a:solidFill>
                <a:effectLst/>
                <a:uLnTx/>
                <a:uFillTx/>
              </a:endParaRPr>
            </a:p>
          </p:txBody>
        </p:sp>
        <p:sp>
          <p:nvSpPr>
            <p:cNvPr id="15" name="矩形 23"/>
            <p:cNvSpPr/>
            <p:nvPr/>
          </p:nvSpPr>
          <p:spPr>
            <a:xfrm>
              <a:off x="4458344" y="5217628"/>
              <a:ext cx="646331"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记录</a:t>
              </a:r>
              <a:endParaRPr kumimoji="0" lang="zh-CN" altLang="en-US" sz="1800" b="0" i="0" u="none" strike="noStrike" kern="0" cap="none" spc="0" normalizeH="0" baseline="0" noProof="0" dirty="0">
                <a:ln>
                  <a:noFill/>
                </a:ln>
                <a:solidFill>
                  <a:srgbClr val="000000"/>
                </a:solidFill>
                <a:effectLst/>
                <a:uLnTx/>
                <a:uFillTx/>
              </a:endParaRPr>
            </a:p>
          </p:txBody>
        </p:sp>
        <p:sp>
          <p:nvSpPr>
            <p:cNvPr id="16" name="文本框 179"/>
            <p:cNvSpPr txBox="1"/>
            <p:nvPr/>
          </p:nvSpPr>
          <p:spPr>
            <a:xfrm>
              <a:off x="2774400" y="4430673"/>
              <a:ext cx="2492990" cy="492443"/>
            </a:xfrm>
            <a:prstGeom prst="rect">
              <a:avLst/>
            </a:prstGeom>
            <a:solidFill>
              <a:srgbClr val="F0F0F0">
                <a:lumMod val="75000"/>
              </a:srgbClr>
            </a:solidFill>
            <a:ln>
              <a:noFill/>
            </a:ln>
            <a:effectLst>
              <a:outerShdw blurRad="57150" dist="19050" dir="5400000" algn="ctr" rotWithShape="0">
                <a:srgbClr val="000000">
                  <a:alpha val="63000"/>
                </a:srgbClr>
              </a:outerShdw>
            </a:effectLst>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 1146 </a:t>
              </a: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个</a:t>
              </a:r>
              <a:r>
                <a:rPr kumimoji="0" lang="zh-CN" altLang="en-US" sz="1800" b="0" i="0" u="none" strike="noStrike" kern="0" cap="none" spc="0" normalizeH="0" baseline="0" noProof="0" dirty="0">
                  <a:ln>
                    <a:noFill/>
                  </a:ln>
                  <a:solidFill>
                    <a:srgbClr val="92D050"/>
                  </a:solidFill>
                  <a:effectLst/>
                  <a:uLnTx/>
                  <a:uFillTx/>
                  <a:latin typeface="Arial" panose="020B0604020202020204"/>
                  <a:ea typeface="微软雅黑" panose="020B0503020204020204" pitchFamily="34" charset="-122"/>
                  <a:cs typeface="+mn-cs"/>
                </a:rPr>
                <a:t>   </a:t>
              </a:r>
              <a:r>
                <a:rPr kumimoji="0" lang="zh-CN" altLang="en-US" sz="18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待补充</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sp>
        <p:nvSpPr>
          <p:cNvPr id="17" name="矩形 28"/>
          <p:cNvSpPr/>
          <p:nvPr/>
        </p:nvSpPr>
        <p:spPr>
          <a:xfrm>
            <a:off x="253564" y="131409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人事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8" name="直接箭头连接符 61"/>
          <p:cNvCxnSpPr>
            <a:stCxn id="17" idx="3"/>
          </p:cNvCxnSpPr>
          <p:nvPr/>
        </p:nvCxnSpPr>
        <p:spPr>
          <a:xfrm>
            <a:off x="1120135" y="1453689"/>
            <a:ext cx="2773512" cy="14299"/>
          </a:xfrm>
          <a:prstGeom prst="straightConnector1">
            <a:avLst/>
          </a:prstGeom>
          <a:noFill/>
          <a:ln w="6350" cap="flat" cmpd="sng" algn="ctr">
            <a:solidFill>
              <a:srgbClr val="FFBF00"/>
            </a:solidFill>
            <a:prstDash val="solid"/>
            <a:miter lim="800000"/>
            <a:tailEnd type="triangle"/>
          </a:ln>
          <a:effectLst/>
        </p:spPr>
      </p:cxnSp>
      <p:sp>
        <p:nvSpPr>
          <p:cNvPr id="19" name="矩形 90"/>
          <p:cNvSpPr/>
          <p:nvPr/>
        </p:nvSpPr>
        <p:spPr>
          <a:xfrm>
            <a:off x="253564" y="177576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研究生院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0" name="直接箭头连接符 91"/>
          <p:cNvCxnSpPr>
            <a:stCxn id="19" idx="3"/>
          </p:cNvCxnSpPr>
          <p:nvPr/>
        </p:nvCxnSpPr>
        <p:spPr>
          <a:xfrm>
            <a:off x="1120135" y="1915354"/>
            <a:ext cx="2773512" cy="14301"/>
          </a:xfrm>
          <a:prstGeom prst="straightConnector1">
            <a:avLst/>
          </a:prstGeom>
          <a:noFill/>
          <a:ln w="6350" cap="flat" cmpd="sng" algn="ctr">
            <a:solidFill>
              <a:srgbClr val="FFBF00"/>
            </a:solidFill>
            <a:prstDash val="solid"/>
            <a:miter lim="800000"/>
            <a:tailEnd type="triangle"/>
          </a:ln>
          <a:effectLst/>
        </p:spPr>
      </p:cxnSp>
      <p:sp>
        <p:nvSpPr>
          <p:cNvPr id="21" name="矩形 92"/>
          <p:cNvSpPr/>
          <p:nvPr/>
        </p:nvSpPr>
        <p:spPr>
          <a:xfrm>
            <a:off x="253564" y="223742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学工</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2" name="直接箭头连接符 93"/>
          <p:cNvCxnSpPr>
            <a:stCxn id="21" idx="3"/>
          </p:cNvCxnSpPr>
          <p:nvPr/>
        </p:nvCxnSpPr>
        <p:spPr>
          <a:xfrm>
            <a:off x="1120135" y="2377019"/>
            <a:ext cx="2773512" cy="14299"/>
          </a:xfrm>
          <a:prstGeom prst="straightConnector1">
            <a:avLst/>
          </a:prstGeom>
          <a:noFill/>
          <a:ln w="6350" cap="flat" cmpd="sng" algn="ctr">
            <a:solidFill>
              <a:srgbClr val="FFBF00"/>
            </a:solidFill>
            <a:prstDash val="solid"/>
            <a:miter lim="800000"/>
            <a:tailEnd type="triangle"/>
          </a:ln>
          <a:effectLst/>
        </p:spPr>
      </p:cxnSp>
      <p:sp>
        <p:nvSpPr>
          <p:cNvPr id="23" name="矩形 94"/>
          <p:cNvSpPr/>
          <p:nvPr/>
        </p:nvSpPr>
        <p:spPr>
          <a:xfrm>
            <a:off x="253564" y="269909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国资办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4" name="直接箭头连接符 95"/>
          <p:cNvCxnSpPr>
            <a:stCxn id="23" idx="3"/>
          </p:cNvCxnSpPr>
          <p:nvPr/>
        </p:nvCxnSpPr>
        <p:spPr>
          <a:xfrm>
            <a:off x="1120135" y="2838684"/>
            <a:ext cx="2773512" cy="14299"/>
          </a:xfrm>
          <a:prstGeom prst="straightConnector1">
            <a:avLst/>
          </a:prstGeom>
          <a:noFill/>
          <a:ln w="6350" cap="flat" cmpd="sng" algn="ctr">
            <a:solidFill>
              <a:srgbClr val="FFBF00"/>
            </a:solidFill>
            <a:prstDash val="solid"/>
            <a:miter lim="800000"/>
            <a:tailEnd type="triangle"/>
          </a:ln>
          <a:effectLst/>
        </p:spPr>
      </p:cxnSp>
      <p:sp>
        <p:nvSpPr>
          <p:cNvPr id="25" name="矩形 96"/>
          <p:cNvSpPr/>
          <p:nvPr/>
        </p:nvSpPr>
        <p:spPr>
          <a:xfrm>
            <a:off x="253564" y="316075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科研</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箭头连接符 97"/>
          <p:cNvCxnSpPr>
            <a:stCxn id="25" idx="3"/>
          </p:cNvCxnSpPr>
          <p:nvPr/>
        </p:nvCxnSpPr>
        <p:spPr>
          <a:xfrm>
            <a:off x="1120135" y="3300349"/>
            <a:ext cx="2773512" cy="14299"/>
          </a:xfrm>
          <a:prstGeom prst="straightConnector1">
            <a:avLst/>
          </a:prstGeom>
          <a:noFill/>
          <a:ln w="6350" cap="flat" cmpd="sng" algn="ctr">
            <a:solidFill>
              <a:srgbClr val="FFBF00"/>
            </a:solidFill>
            <a:prstDash val="solid"/>
            <a:miter lim="800000"/>
            <a:tailEnd type="triangle"/>
          </a:ln>
          <a:effectLst/>
        </p:spPr>
      </p:cxnSp>
      <p:sp>
        <p:nvSpPr>
          <p:cNvPr id="27" name="矩形 98"/>
          <p:cNvSpPr/>
          <p:nvPr/>
        </p:nvSpPr>
        <p:spPr>
          <a:xfrm>
            <a:off x="253564" y="362242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8" name="直接箭头连接符 99"/>
          <p:cNvCxnSpPr>
            <a:stCxn id="27" idx="3"/>
          </p:cNvCxnSpPr>
          <p:nvPr/>
        </p:nvCxnSpPr>
        <p:spPr>
          <a:xfrm>
            <a:off x="1120135" y="3762014"/>
            <a:ext cx="2773512" cy="14299"/>
          </a:xfrm>
          <a:prstGeom prst="straightConnector1">
            <a:avLst/>
          </a:prstGeom>
          <a:noFill/>
          <a:ln w="6350" cap="flat" cmpd="sng" algn="ctr">
            <a:solidFill>
              <a:srgbClr val="FFBF00"/>
            </a:solidFill>
            <a:prstDash val="solid"/>
            <a:miter lim="800000"/>
            <a:tailEnd type="triangle"/>
          </a:ln>
          <a:effectLst/>
        </p:spPr>
      </p:cxnSp>
      <p:sp>
        <p:nvSpPr>
          <p:cNvPr id="29" name="矩形 100"/>
          <p:cNvSpPr/>
          <p:nvPr/>
        </p:nvSpPr>
        <p:spPr>
          <a:xfrm>
            <a:off x="253564" y="408408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房产办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0" name="直接箭头连接符 101"/>
          <p:cNvCxnSpPr>
            <a:stCxn id="29" idx="3"/>
          </p:cNvCxnSpPr>
          <p:nvPr/>
        </p:nvCxnSpPr>
        <p:spPr>
          <a:xfrm>
            <a:off x="1120135" y="4223679"/>
            <a:ext cx="2773512" cy="14299"/>
          </a:xfrm>
          <a:prstGeom prst="straightConnector1">
            <a:avLst/>
          </a:prstGeom>
          <a:noFill/>
          <a:ln w="6350" cap="flat" cmpd="sng" algn="ctr">
            <a:solidFill>
              <a:srgbClr val="FFBF00"/>
            </a:solidFill>
            <a:prstDash val="solid"/>
            <a:miter lim="800000"/>
            <a:tailEnd type="triangle"/>
          </a:ln>
          <a:effectLst/>
        </p:spPr>
      </p:cxnSp>
      <p:sp>
        <p:nvSpPr>
          <p:cNvPr id="31" name="矩形 102"/>
          <p:cNvSpPr/>
          <p:nvPr/>
        </p:nvSpPr>
        <p:spPr>
          <a:xfrm>
            <a:off x="253564" y="454575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公管学院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2" name="直接箭头连接符 103"/>
          <p:cNvCxnSpPr>
            <a:stCxn id="31" idx="3"/>
          </p:cNvCxnSpPr>
          <p:nvPr/>
        </p:nvCxnSpPr>
        <p:spPr>
          <a:xfrm>
            <a:off x="1120135" y="4685344"/>
            <a:ext cx="2773512" cy="14299"/>
          </a:xfrm>
          <a:prstGeom prst="straightConnector1">
            <a:avLst/>
          </a:prstGeom>
          <a:noFill/>
          <a:ln w="6350" cap="flat" cmpd="sng" algn="ctr">
            <a:solidFill>
              <a:srgbClr val="FFBF00"/>
            </a:solidFill>
            <a:prstDash val="solid"/>
            <a:miter lim="800000"/>
            <a:tailEnd type="triangle"/>
          </a:ln>
          <a:effectLst/>
        </p:spPr>
      </p:cxnSp>
      <p:sp>
        <p:nvSpPr>
          <p:cNvPr id="33" name="矩形 104"/>
          <p:cNvSpPr/>
          <p:nvPr/>
        </p:nvSpPr>
        <p:spPr>
          <a:xfrm>
            <a:off x="253564" y="500741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教师教院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4" name="直接箭头连接符 105"/>
          <p:cNvCxnSpPr>
            <a:stCxn id="33" idx="3"/>
          </p:cNvCxnSpPr>
          <p:nvPr/>
        </p:nvCxnSpPr>
        <p:spPr>
          <a:xfrm>
            <a:off x="1120135" y="5147009"/>
            <a:ext cx="2773512" cy="14299"/>
          </a:xfrm>
          <a:prstGeom prst="straightConnector1">
            <a:avLst/>
          </a:prstGeom>
          <a:noFill/>
          <a:ln w="6350" cap="flat" cmpd="sng" algn="ctr">
            <a:solidFill>
              <a:srgbClr val="FFBF00"/>
            </a:solidFill>
            <a:prstDash val="solid"/>
            <a:miter lim="800000"/>
            <a:tailEnd type="triangle"/>
          </a:ln>
          <a:effectLst/>
        </p:spPr>
      </p:cxnSp>
      <p:sp>
        <p:nvSpPr>
          <p:cNvPr id="35" name="矩形 106"/>
          <p:cNvSpPr/>
          <p:nvPr/>
        </p:nvSpPr>
        <p:spPr>
          <a:xfrm>
            <a:off x="253564" y="546908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就业处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6" name="直接箭头连接符 107"/>
          <p:cNvCxnSpPr>
            <a:stCxn id="35" idx="3"/>
          </p:cNvCxnSpPr>
          <p:nvPr/>
        </p:nvCxnSpPr>
        <p:spPr>
          <a:xfrm>
            <a:off x="1120135" y="5608674"/>
            <a:ext cx="2773512" cy="14299"/>
          </a:xfrm>
          <a:prstGeom prst="straightConnector1">
            <a:avLst/>
          </a:prstGeom>
          <a:noFill/>
          <a:ln w="6350" cap="flat" cmpd="sng" algn="ctr">
            <a:solidFill>
              <a:srgbClr val="FFBF00"/>
            </a:solidFill>
            <a:prstDash val="solid"/>
            <a:miter lim="800000"/>
            <a:tailEnd type="triangle"/>
          </a:ln>
          <a:effectLst/>
        </p:spPr>
      </p:cxnSp>
      <p:sp>
        <p:nvSpPr>
          <p:cNvPr id="37" name="矩形 108"/>
          <p:cNvSpPr/>
          <p:nvPr/>
        </p:nvSpPr>
        <p:spPr>
          <a:xfrm>
            <a:off x="253564" y="593074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离退处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8" name="直接箭头连接符 109"/>
          <p:cNvCxnSpPr>
            <a:stCxn id="37" idx="3"/>
          </p:cNvCxnSpPr>
          <p:nvPr/>
        </p:nvCxnSpPr>
        <p:spPr>
          <a:xfrm>
            <a:off x="1120135" y="6070339"/>
            <a:ext cx="2773512" cy="14299"/>
          </a:xfrm>
          <a:prstGeom prst="straightConnector1">
            <a:avLst/>
          </a:prstGeom>
          <a:noFill/>
          <a:ln w="6350" cap="flat" cmpd="sng" algn="ctr">
            <a:solidFill>
              <a:srgbClr val="FFBF00"/>
            </a:solidFill>
            <a:prstDash val="solid"/>
            <a:miter lim="800000"/>
            <a:tailEnd type="triangle"/>
          </a:ln>
          <a:effectLst/>
        </p:spPr>
      </p:cxnSp>
      <p:sp>
        <p:nvSpPr>
          <p:cNvPr id="39" name="矩形 110"/>
          <p:cNvSpPr/>
          <p:nvPr/>
        </p:nvSpPr>
        <p:spPr>
          <a:xfrm>
            <a:off x="253564" y="639241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设备处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40" name="直接箭头连接符 111"/>
          <p:cNvCxnSpPr>
            <a:stCxn id="39" idx="3"/>
          </p:cNvCxnSpPr>
          <p:nvPr/>
        </p:nvCxnSpPr>
        <p:spPr>
          <a:xfrm>
            <a:off x="1120135" y="6532004"/>
            <a:ext cx="2773512" cy="14299"/>
          </a:xfrm>
          <a:prstGeom prst="straightConnector1">
            <a:avLst/>
          </a:prstGeom>
          <a:noFill/>
          <a:ln w="6350" cap="flat" cmpd="sng" algn="ctr">
            <a:solidFill>
              <a:srgbClr val="FFBF00"/>
            </a:solidFill>
            <a:prstDash val="solid"/>
            <a:miter lim="800000"/>
            <a:tailEnd type="triangle"/>
          </a:ln>
          <a:effectLst/>
        </p:spPr>
      </p:cxnSp>
      <p:sp>
        <p:nvSpPr>
          <p:cNvPr id="41" name="矩形 112"/>
          <p:cNvSpPr/>
          <p:nvPr/>
        </p:nvSpPr>
        <p:spPr>
          <a:xfrm>
            <a:off x="1612487" y="1546488"/>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统战</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2" name="矩形 114"/>
          <p:cNvSpPr/>
          <p:nvPr/>
        </p:nvSpPr>
        <p:spPr>
          <a:xfrm>
            <a:off x="1612487" y="2008153"/>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图书馆</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3" name="矩形 116"/>
          <p:cNvSpPr/>
          <p:nvPr/>
        </p:nvSpPr>
        <p:spPr>
          <a:xfrm>
            <a:off x="1612487" y="2469818"/>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外事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4" name="矩形 118"/>
          <p:cNvSpPr/>
          <p:nvPr/>
        </p:nvSpPr>
        <p:spPr>
          <a:xfrm>
            <a:off x="1612487" y="2931483"/>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工会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5" name="矩形 120"/>
          <p:cNvSpPr/>
          <p:nvPr/>
        </p:nvSpPr>
        <p:spPr>
          <a:xfrm>
            <a:off x="1612487" y="3393148"/>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校医院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6" name="矩形 122"/>
          <p:cNvSpPr/>
          <p:nvPr/>
        </p:nvSpPr>
        <p:spPr>
          <a:xfrm>
            <a:off x="1612487" y="3854813"/>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校友会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7" name="矩形 124"/>
          <p:cNvSpPr/>
          <p:nvPr/>
        </p:nvSpPr>
        <p:spPr>
          <a:xfrm>
            <a:off x="1612487" y="4316478"/>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宣传部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8" name="矩形 126"/>
          <p:cNvSpPr/>
          <p:nvPr/>
        </p:nvSpPr>
        <p:spPr>
          <a:xfrm>
            <a:off x="1612487" y="4778143"/>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9" name="矩形 128"/>
          <p:cNvSpPr/>
          <p:nvPr/>
        </p:nvSpPr>
        <p:spPr>
          <a:xfrm>
            <a:off x="1612487" y="5239808"/>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招标办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0" name="矩形 130"/>
          <p:cNvSpPr/>
          <p:nvPr/>
        </p:nvSpPr>
        <p:spPr>
          <a:xfrm>
            <a:off x="1612487" y="5701473"/>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组织部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1" name="矩形 132"/>
          <p:cNvSpPr/>
          <p:nvPr/>
        </p:nvSpPr>
        <p:spPr>
          <a:xfrm>
            <a:off x="1612487" y="6163138"/>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财务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52" name="直接箭头连接符 113"/>
          <p:cNvCxnSpPr>
            <a:stCxn id="41" idx="3"/>
          </p:cNvCxnSpPr>
          <p:nvPr/>
        </p:nvCxnSpPr>
        <p:spPr>
          <a:xfrm>
            <a:off x="2479058" y="1686078"/>
            <a:ext cx="1414589" cy="14299"/>
          </a:xfrm>
          <a:prstGeom prst="straightConnector1">
            <a:avLst/>
          </a:prstGeom>
          <a:noFill/>
          <a:ln w="6350" cap="flat" cmpd="sng" algn="ctr">
            <a:solidFill>
              <a:srgbClr val="FFBF00"/>
            </a:solidFill>
            <a:prstDash val="solid"/>
            <a:miter lim="800000"/>
            <a:tailEnd type="triangle"/>
          </a:ln>
          <a:effectLst/>
        </p:spPr>
      </p:cxnSp>
      <p:cxnSp>
        <p:nvCxnSpPr>
          <p:cNvPr id="53" name="直接箭头连接符 115"/>
          <p:cNvCxnSpPr>
            <a:stCxn id="42" idx="3"/>
          </p:cNvCxnSpPr>
          <p:nvPr/>
        </p:nvCxnSpPr>
        <p:spPr>
          <a:xfrm>
            <a:off x="2479058" y="2147743"/>
            <a:ext cx="1414589" cy="14299"/>
          </a:xfrm>
          <a:prstGeom prst="straightConnector1">
            <a:avLst/>
          </a:prstGeom>
          <a:noFill/>
          <a:ln w="6350" cap="flat" cmpd="sng" algn="ctr">
            <a:solidFill>
              <a:srgbClr val="FFBF00"/>
            </a:solidFill>
            <a:prstDash val="solid"/>
            <a:miter lim="800000"/>
            <a:tailEnd type="triangle"/>
          </a:ln>
          <a:effectLst/>
        </p:spPr>
      </p:cxnSp>
      <p:cxnSp>
        <p:nvCxnSpPr>
          <p:cNvPr id="54" name="直接箭头连接符 117"/>
          <p:cNvCxnSpPr>
            <a:stCxn id="43" idx="3"/>
          </p:cNvCxnSpPr>
          <p:nvPr/>
        </p:nvCxnSpPr>
        <p:spPr>
          <a:xfrm>
            <a:off x="2479058" y="2609408"/>
            <a:ext cx="1414589" cy="14299"/>
          </a:xfrm>
          <a:prstGeom prst="straightConnector1">
            <a:avLst/>
          </a:prstGeom>
          <a:noFill/>
          <a:ln w="6350" cap="flat" cmpd="sng" algn="ctr">
            <a:solidFill>
              <a:srgbClr val="FFBF00"/>
            </a:solidFill>
            <a:prstDash val="solid"/>
            <a:miter lim="800000"/>
            <a:tailEnd type="triangle"/>
          </a:ln>
          <a:effectLst/>
        </p:spPr>
      </p:cxnSp>
      <p:cxnSp>
        <p:nvCxnSpPr>
          <p:cNvPr id="55" name="直接箭头连接符 119"/>
          <p:cNvCxnSpPr>
            <a:stCxn id="44" idx="3"/>
          </p:cNvCxnSpPr>
          <p:nvPr/>
        </p:nvCxnSpPr>
        <p:spPr>
          <a:xfrm>
            <a:off x="2479058" y="3071073"/>
            <a:ext cx="1414589" cy="14299"/>
          </a:xfrm>
          <a:prstGeom prst="straightConnector1">
            <a:avLst/>
          </a:prstGeom>
          <a:noFill/>
          <a:ln w="6350" cap="flat" cmpd="sng" algn="ctr">
            <a:solidFill>
              <a:srgbClr val="FFBF00"/>
            </a:solidFill>
            <a:prstDash val="solid"/>
            <a:miter lim="800000"/>
            <a:tailEnd type="triangle"/>
          </a:ln>
          <a:effectLst/>
        </p:spPr>
      </p:cxnSp>
      <p:cxnSp>
        <p:nvCxnSpPr>
          <p:cNvPr id="56" name="直接箭头连接符 121"/>
          <p:cNvCxnSpPr>
            <a:stCxn id="45" idx="3"/>
          </p:cNvCxnSpPr>
          <p:nvPr/>
        </p:nvCxnSpPr>
        <p:spPr>
          <a:xfrm>
            <a:off x="2479058" y="3532738"/>
            <a:ext cx="1414589" cy="14299"/>
          </a:xfrm>
          <a:prstGeom prst="straightConnector1">
            <a:avLst/>
          </a:prstGeom>
          <a:noFill/>
          <a:ln w="6350" cap="flat" cmpd="sng" algn="ctr">
            <a:solidFill>
              <a:srgbClr val="FFBF00"/>
            </a:solidFill>
            <a:prstDash val="solid"/>
            <a:miter lim="800000"/>
            <a:tailEnd type="triangle"/>
          </a:ln>
          <a:effectLst/>
        </p:spPr>
      </p:cxnSp>
      <p:cxnSp>
        <p:nvCxnSpPr>
          <p:cNvPr id="57" name="直接箭头连接符 123"/>
          <p:cNvCxnSpPr>
            <a:stCxn id="46" idx="3"/>
          </p:cNvCxnSpPr>
          <p:nvPr/>
        </p:nvCxnSpPr>
        <p:spPr>
          <a:xfrm>
            <a:off x="2479058" y="3994403"/>
            <a:ext cx="1414589" cy="14299"/>
          </a:xfrm>
          <a:prstGeom prst="straightConnector1">
            <a:avLst/>
          </a:prstGeom>
          <a:noFill/>
          <a:ln w="6350" cap="flat" cmpd="sng" algn="ctr">
            <a:solidFill>
              <a:srgbClr val="FFBF00"/>
            </a:solidFill>
            <a:prstDash val="solid"/>
            <a:miter lim="800000"/>
            <a:tailEnd type="triangle"/>
          </a:ln>
          <a:effectLst/>
        </p:spPr>
      </p:cxnSp>
      <p:cxnSp>
        <p:nvCxnSpPr>
          <p:cNvPr id="58" name="直接箭头连接符 125"/>
          <p:cNvCxnSpPr>
            <a:stCxn id="47" idx="3"/>
          </p:cNvCxnSpPr>
          <p:nvPr/>
        </p:nvCxnSpPr>
        <p:spPr>
          <a:xfrm>
            <a:off x="2479058" y="4456068"/>
            <a:ext cx="1414589" cy="14299"/>
          </a:xfrm>
          <a:prstGeom prst="straightConnector1">
            <a:avLst/>
          </a:prstGeom>
          <a:noFill/>
          <a:ln w="6350" cap="flat" cmpd="sng" algn="ctr">
            <a:solidFill>
              <a:srgbClr val="FFBF00"/>
            </a:solidFill>
            <a:prstDash val="solid"/>
            <a:miter lim="800000"/>
            <a:tailEnd type="triangle"/>
          </a:ln>
          <a:effectLst/>
        </p:spPr>
      </p:cxnSp>
      <p:cxnSp>
        <p:nvCxnSpPr>
          <p:cNvPr id="59" name="直接箭头连接符 127"/>
          <p:cNvCxnSpPr>
            <a:stCxn id="48" idx="3"/>
          </p:cNvCxnSpPr>
          <p:nvPr/>
        </p:nvCxnSpPr>
        <p:spPr>
          <a:xfrm>
            <a:off x="2479058" y="4917733"/>
            <a:ext cx="1414589" cy="14299"/>
          </a:xfrm>
          <a:prstGeom prst="straightConnector1">
            <a:avLst/>
          </a:prstGeom>
          <a:noFill/>
          <a:ln w="6350" cap="flat" cmpd="sng" algn="ctr">
            <a:solidFill>
              <a:srgbClr val="FFBF00"/>
            </a:solidFill>
            <a:prstDash val="solid"/>
            <a:miter lim="800000"/>
            <a:tailEnd type="triangle"/>
          </a:ln>
          <a:effectLst/>
        </p:spPr>
      </p:cxnSp>
      <p:cxnSp>
        <p:nvCxnSpPr>
          <p:cNvPr id="60" name="直接箭头连接符 129"/>
          <p:cNvCxnSpPr>
            <a:stCxn id="49" idx="3"/>
          </p:cNvCxnSpPr>
          <p:nvPr/>
        </p:nvCxnSpPr>
        <p:spPr>
          <a:xfrm>
            <a:off x="2479058" y="5379398"/>
            <a:ext cx="1414589" cy="14299"/>
          </a:xfrm>
          <a:prstGeom prst="straightConnector1">
            <a:avLst/>
          </a:prstGeom>
          <a:noFill/>
          <a:ln w="6350" cap="flat" cmpd="sng" algn="ctr">
            <a:solidFill>
              <a:srgbClr val="FFBF00"/>
            </a:solidFill>
            <a:prstDash val="solid"/>
            <a:miter lim="800000"/>
            <a:tailEnd type="triangle"/>
          </a:ln>
          <a:effectLst/>
        </p:spPr>
      </p:cxnSp>
      <p:cxnSp>
        <p:nvCxnSpPr>
          <p:cNvPr id="61" name="直接箭头连接符 131"/>
          <p:cNvCxnSpPr>
            <a:stCxn id="50" idx="3"/>
          </p:cNvCxnSpPr>
          <p:nvPr/>
        </p:nvCxnSpPr>
        <p:spPr>
          <a:xfrm>
            <a:off x="2479058" y="5841063"/>
            <a:ext cx="1414589" cy="14299"/>
          </a:xfrm>
          <a:prstGeom prst="straightConnector1">
            <a:avLst/>
          </a:prstGeom>
          <a:noFill/>
          <a:ln w="6350" cap="flat" cmpd="sng" algn="ctr">
            <a:solidFill>
              <a:srgbClr val="FFBF00"/>
            </a:solidFill>
            <a:prstDash val="solid"/>
            <a:miter lim="800000"/>
            <a:tailEnd type="triangle"/>
          </a:ln>
          <a:effectLst/>
        </p:spPr>
      </p:cxnSp>
      <p:cxnSp>
        <p:nvCxnSpPr>
          <p:cNvPr id="62" name="直接箭头连接符 133"/>
          <p:cNvCxnSpPr>
            <a:stCxn id="51" idx="3"/>
          </p:cNvCxnSpPr>
          <p:nvPr/>
        </p:nvCxnSpPr>
        <p:spPr>
          <a:xfrm>
            <a:off x="2479058" y="6302728"/>
            <a:ext cx="1414589" cy="14299"/>
          </a:xfrm>
          <a:prstGeom prst="straightConnector1">
            <a:avLst/>
          </a:prstGeom>
          <a:noFill/>
          <a:ln w="6350" cap="flat" cmpd="sng" algn="ctr">
            <a:solidFill>
              <a:srgbClr val="FFBF00"/>
            </a:solidFill>
            <a:prstDash val="solid"/>
            <a:miter lim="800000"/>
            <a:tailEnd type="triangle"/>
          </a:ln>
          <a:effectLst/>
        </p:spPr>
      </p:cxnSp>
      <p:sp>
        <p:nvSpPr>
          <p:cNvPr id="63" name="矩形 139"/>
          <p:cNvSpPr/>
          <p:nvPr/>
        </p:nvSpPr>
        <p:spPr>
          <a:xfrm>
            <a:off x="1130629" y="1381371"/>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244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4" name="矩形 156"/>
          <p:cNvSpPr/>
          <p:nvPr/>
        </p:nvSpPr>
        <p:spPr>
          <a:xfrm>
            <a:off x="1130629" y="1838694"/>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464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5" name="矩形 157"/>
          <p:cNvSpPr/>
          <p:nvPr/>
        </p:nvSpPr>
        <p:spPr>
          <a:xfrm>
            <a:off x="1130629" y="229601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6" name="矩形 158"/>
          <p:cNvSpPr/>
          <p:nvPr/>
        </p:nvSpPr>
        <p:spPr>
          <a:xfrm>
            <a:off x="1130629" y="2753340"/>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78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7" name="矩形 159"/>
          <p:cNvSpPr/>
          <p:nvPr/>
        </p:nvSpPr>
        <p:spPr>
          <a:xfrm>
            <a:off x="1130629" y="3210663"/>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458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8" name="矩形 160"/>
          <p:cNvSpPr/>
          <p:nvPr/>
        </p:nvSpPr>
        <p:spPr>
          <a:xfrm>
            <a:off x="1130629" y="3667986"/>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9" name="矩形 161"/>
          <p:cNvSpPr/>
          <p:nvPr/>
        </p:nvSpPr>
        <p:spPr>
          <a:xfrm>
            <a:off x="1130629" y="4125309"/>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0" name="矩形 162"/>
          <p:cNvSpPr/>
          <p:nvPr/>
        </p:nvSpPr>
        <p:spPr>
          <a:xfrm>
            <a:off x="1130629" y="4617389"/>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1" name="矩形 164"/>
          <p:cNvSpPr/>
          <p:nvPr/>
        </p:nvSpPr>
        <p:spPr>
          <a:xfrm>
            <a:off x="1130629" y="5076955"/>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2" name="矩形 165"/>
          <p:cNvSpPr/>
          <p:nvPr/>
        </p:nvSpPr>
        <p:spPr>
          <a:xfrm>
            <a:off x="1130629" y="5536521"/>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97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3" name="矩形 166"/>
          <p:cNvSpPr/>
          <p:nvPr/>
        </p:nvSpPr>
        <p:spPr>
          <a:xfrm>
            <a:off x="1130629" y="599608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4" name="矩形 167"/>
          <p:cNvSpPr/>
          <p:nvPr/>
        </p:nvSpPr>
        <p:spPr>
          <a:xfrm>
            <a:off x="1130629" y="6461721"/>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188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5" name="矩形 168"/>
          <p:cNvSpPr/>
          <p:nvPr/>
        </p:nvSpPr>
        <p:spPr>
          <a:xfrm>
            <a:off x="2491992" y="1597602"/>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6" name="矩形 169"/>
          <p:cNvSpPr/>
          <p:nvPr/>
        </p:nvSpPr>
        <p:spPr>
          <a:xfrm>
            <a:off x="2491992" y="2054505"/>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125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7" name="矩形 170"/>
          <p:cNvSpPr/>
          <p:nvPr/>
        </p:nvSpPr>
        <p:spPr>
          <a:xfrm>
            <a:off x="2491992" y="2511408"/>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146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8" name="矩形 171"/>
          <p:cNvSpPr/>
          <p:nvPr/>
        </p:nvSpPr>
        <p:spPr>
          <a:xfrm>
            <a:off x="2491992" y="2968311"/>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9" name="矩形 172"/>
          <p:cNvSpPr/>
          <p:nvPr/>
        </p:nvSpPr>
        <p:spPr>
          <a:xfrm>
            <a:off x="2491992" y="3425214"/>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0" name="矩形 173"/>
          <p:cNvSpPr/>
          <p:nvPr/>
        </p:nvSpPr>
        <p:spPr>
          <a:xfrm>
            <a:off x="2491992" y="3904832"/>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1" name="矩形 174"/>
          <p:cNvSpPr/>
          <p:nvPr/>
        </p:nvSpPr>
        <p:spPr>
          <a:xfrm>
            <a:off x="2491992" y="4371750"/>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2" name="矩形 175"/>
          <p:cNvSpPr/>
          <p:nvPr/>
        </p:nvSpPr>
        <p:spPr>
          <a:xfrm>
            <a:off x="2491992" y="4830677"/>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174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3" name="矩形 176"/>
          <p:cNvSpPr/>
          <p:nvPr/>
        </p:nvSpPr>
        <p:spPr>
          <a:xfrm>
            <a:off x="2491992" y="5286160"/>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4" name="矩形 177"/>
          <p:cNvSpPr/>
          <p:nvPr/>
        </p:nvSpPr>
        <p:spPr>
          <a:xfrm>
            <a:off x="2491992" y="5741643"/>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5" name="矩形 178"/>
          <p:cNvSpPr/>
          <p:nvPr/>
        </p:nvSpPr>
        <p:spPr>
          <a:xfrm>
            <a:off x="2491992" y="6197126"/>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505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cxnSp>
        <p:nvCxnSpPr>
          <p:cNvPr id="86" name="直接箭头连接符 181"/>
          <p:cNvCxnSpPr/>
          <p:nvPr/>
        </p:nvCxnSpPr>
        <p:spPr>
          <a:xfrm>
            <a:off x="7254654" y="2459478"/>
            <a:ext cx="496987" cy="0"/>
          </a:xfrm>
          <a:prstGeom prst="straightConnector1">
            <a:avLst/>
          </a:prstGeom>
          <a:noFill/>
          <a:ln w="6350" cap="flat" cmpd="sng" algn="ctr">
            <a:solidFill>
              <a:srgbClr val="FFBF00"/>
            </a:solidFill>
            <a:prstDash val="solid"/>
            <a:miter lim="800000"/>
            <a:tailEnd type="triangle"/>
          </a:ln>
          <a:effectLst/>
        </p:spPr>
      </p:cxnSp>
      <p:sp>
        <p:nvSpPr>
          <p:cNvPr id="87" name="矩形 235"/>
          <p:cNvSpPr/>
          <p:nvPr/>
        </p:nvSpPr>
        <p:spPr>
          <a:xfrm>
            <a:off x="7762526" y="2331784"/>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一张表流程</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88" name="直接箭头连接符 134"/>
          <p:cNvCxnSpPr/>
          <p:nvPr/>
        </p:nvCxnSpPr>
        <p:spPr>
          <a:xfrm>
            <a:off x="7254654" y="3460951"/>
            <a:ext cx="496987" cy="0"/>
          </a:xfrm>
          <a:prstGeom prst="straightConnector1">
            <a:avLst/>
          </a:prstGeom>
          <a:noFill/>
          <a:ln w="6350" cap="flat" cmpd="sng" algn="ctr">
            <a:solidFill>
              <a:srgbClr val="FFBF00"/>
            </a:solidFill>
            <a:prstDash val="solid"/>
            <a:miter lim="800000"/>
            <a:tailEnd type="triangle"/>
          </a:ln>
          <a:effectLst/>
        </p:spPr>
      </p:cxnSp>
      <p:sp>
        <p:nvSpPr>
          <p:cNvPr id="89" name="矩形 135"/>
          <p:cNvSpPr/>
          <p:nvPr/>
        </p:nvSpPr>
        <p:spPr>
          <a:xfrm>
            <a:off x="7762526" y="3333257"/>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决策支持</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0" name="直接箭头连接符 136"/>
          <p:cNvCxnSpPr/>
          <p:nvPr/>
        </p:nvCxnSpPr>
        <p:spPr>
          <a:xfrm>
            <a:off x="7254654" y="4466173"/>
            <a:ext cx="496987" cy="0"/>
          </a:xfrm>
          <a:prstGeom prst="straightConnector1">
            <a:avLst/>
          </a:prstGeom>
          <a:noFill/>
          <a:ln w="6350" cap="flat" cmpd="sng" algn="ctr">
            <a:solidFill>
              <a:srgbClr val="FFBF00"/>
            </a:solidFill>
            <a:prstDash val="solid"/>
            <a:miter lim="800000"/>
            <a:tailEnd type="triangle"/>
          </a:ln>
          <a:effectLst/>
        </p:spPr>
      </p:cxnSp>
      <p:sp>
        <p:nvSpPr>
          <p:cNvPr id="91" name="矩形 137"/>
          <p:cNvSpPr/>
          <p:nvPr/>
        </p:nvSpPr>
        <p:spPr>
          <a:xfrm>
            <a:off x="7762526" y="4338479"/>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微信平台</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2" name="直接箭头连接符 138"/>
          <p:cNvCxnSpPr/>
          <p:nvPr/>
        </p:nvCxnSpPr>
        <p:spPr>
          <a:xfrm>
            <a:off x="7254654" y="5471396"/>
            <a:ext cx="496987" cy="0"/>
          </a:xfrm>
          <a:prstGeom prst="straightConnector1">
            <a:avLst/>
          </a:prstGeom>
          <a:noFill/>
          <a:ln w="6350" cap="flat" cmpd="sng" algn="ctr">
            <a:solidFill>
              <a:srgbClr val="FFBF00"/>
            </a:solidFill>
            <a:prstDash val="solid"/>
            <a:miter lim="800000"/>
            <a:tailEnd type="triangle"/>
          </a:ln>
          <a:effectLst/>
        </p:spPr>
      </p:cxnSp>
      <p:sp>
        <p:nvSpPr>
          <p:cNvPr id="93" name="矩形 140"/>
          <p:cNvSpPr/>
          <p:nvPr/>
        </p:nvSpPr>
        <p:spPr>
          <a:xfrm>
            <a:off x="7762526" y="5343702"/>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一站式门户</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4" name="矩形 141"/>
          <p:cNvSpPr/>
          <p:nvPr/>
        </p:nvSpPr>
        <p:spPr>
          <a:xfrm>
            <a:off x="4084257" y="914753"/>
            <a:ext cx="3057247"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微软雅黑" panose="020B0503020204020204" pitchFamily="34" charset="-122"/>
              </a:rPr>
              <a:t>服务于流程和决策</a:t>
            </a:r>
            <a:endParaRPr kumimoji="0" lang="zh-CN" altLang="en-US" sz="2800" b="0" i="0" u="none" strike="noStrike" kern="0" cap="none" spc="0" normalizeH="0" baseline="0" noProof="0" dirty="0">
              <a:ln>
                <a:noFill/>
              </a:ln>
              <a:solidFill>
                <a:srgbClr val="000000"/>
              </a:solidFill>
              <a:effectLst/>
              <a:uLnTx/>
              <a:uFillTx/>
            </a:endParaRPr>
          </a:p>
        </p:txBody>
      </p:sp>
      <p:sp>
        <p:nvSpPr>
          <p:cNvPr id="95" name="文本框 2"/>
          <p:cNvSpPr txBox="1"/>
          <p:nvPr/>
        </p:nvSpPr>
        <p:spPr>
          <a:xfrm>
            <a:off x="9100237" y="1548884"/>
            <a:ext cx="2638515" cy="4583691"/>
          </a:xfrm>
          <a:prstGeom prst="rect">
            <a:avLst/>
          </a:prstGeom>
          <a:solidFill>
            <a:srgbClr val="FFFF00"/>
          </a:solidFill>
          <a:ln w="6350" cap="flat" cmpd="sng" algn="ctr">
            <a:solidFill>
              <a:srgbClr val="FAAF3F"/>
            </a:solidFill>
            <a:prstDash val="solid"/>
            <a:miter lim="800000"/>
          </a:ln>
          <a:effectLst/>
        </p:spPr>
        <p:txBody>
          <a:bodyPr wrap="square" rtlCol="0">
            <a:spAutoFit/>
          </a:bodyP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sz="1400" b="1" i="0" u="none" strike="noStrike" kern="0" cap="none" spc="0" normalizeH="0" baseline="0" noProof="0" dirty="0">
                <a:ln w="0"/>
                <a:solidFill>
                  <a:srgbClr val="00B050"/>
                </a:solidFill>
                <a:effectLst/>
                <a:uLnTx/>
                <a:uFillTx/>
                <a:latin typeface="Arial" panose="020B0604020202020204"/>
                <a:ea typeface="微软雅黑" panose="020B0503020204020204" pitchFamily="34" charset="-122"/>
                <a:cs typeface="+mn-cs"/>
              </a:rPr>
              <a:t>组织部：</a:t>
            </a:r>
            <a:r>
              <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党员基本情况、任职干部分布情况分析</a:t>
            </a:r>
            <a:endPar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defTabSz="914400" eaLnBrk="1" fontAlgn="auto" latinLnBrk="0" hangingPunct="1">
              <a:lnSpc>
                <a:spcPct val="150000"/>
              </a:lnSpc>
              <a:spcBef>
                <a:spcPts val="0"/>
              </a:spcBef>
              <a:spcAft>
                <a:spcPts val="0"/>
              </a:spcAft>
              <a:buClrTx/>
              <a:buSzTx/>
              <a:buFontTx/>
              <a:buNone/>
              <a:defRPr/>
            </a:pPr>
            <a:r>
              <a:rPr kumimoji="0" lang="zh-CN" altLang="en-US" sz="1400" b="1" i="0" u="none" strike="noStrike" kern="0" cap="none" spc="0" normalizeH="0" baseline="0" noProof="0" dirty="0">
                <a:ln w="0"/>
                <a:solidFill>
                  <a:srgbClr val="00B050"/>
                </a:solidFill>
                <a:effectLst/>
                <a:uLnTx/>
                <a:uFillTx/>
                <a:latin typeface="Arial" panose="020B0604020202020204"/>
                <a:ea typeface="微软雅黑" panose="020B0503020204020204" pitchFamily="34" charset="-122"/>
                <a:cs typeface="+mn-cs"/>
              </a:rPr>
              <a:t>就业处：</a:t>
            </a:r>
            <a:r>
              <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意向就业与真是就业、学历层次、性别与薪酬待遇分析</a:t>
            </a:r>
            <a:endPar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defTabSz="914400" eaLnBrk="1" fontAlgn="auto" latinLnBrk="0" hangingPunct="1">
              <a:lnSpc>
                <a:spcPct val="150000"/>
              </a:lnSpc>
              <a:spcBef>
                <a:spcPts val="0"/>
              </a:spcBef>
              <a:spcAft>
                <a:spcPts val="0"/>
              </a:spcAft>
              <a:buClrTx/>
              <a:buSzTx/>
              <a:buFontTx/>
              <a:buNone/>
              <a:defRPr/>
            </a:pPr>
            <a:r>
              <a:rPr kumimoji="0" lang="zh-CN" altLang="en-US" sz="1400" b="1" i="0" u="none" strike="noStrike" kern="0" cap="none" spc="0" normalizeH="0" baseline="0" noProof="0" dirty="0">
                <a:ln w="0"/>
                <a:solidFill>
                  <a:srgbClr val="00B050"/>
                </a:solidFill>
                <a:effectLst/>
                <a:uLnTx/>
                <a:uFillTx/>
                <a:latin typeface="Arial" panose="020B0604020202020204"/>
                <a:ea typeface="微软雅黑" panose="020B0503020204020204" pitchFamily="34" charset="-122"/>
                <a:cs typeface="+mn-cs"/>
              </a:rPr>
              <a:t>设备处：</a:t>
            </a:r>
            <a:r>
              <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资产品目占比预警、时间技术人员情况分析</a:t>
            </a:r>
            <a:endPar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defTabSz="914400" eaLnBrk="1" fontAlgn="auto" latinLnBrk="0" hangingPunct="1">
              <a:lnSpc>
                <a:spcPct val="150000"/>
              </a:lnSpc>
              <a:spcBef>
                <a:spcPts val="0"/>
              </a:spcBef>
              <a:spcAft>
                <a:spcPts val="0"/>
              </a:spcAft>
              <a:buClrTx/>
              <a:buSzTx/>
              <a:buFontTx/>
              <a:buNone/>
              <a:defRPr/>
            </a:pPr>
            <a:r>
              <a:rPr kumimoji="0" lang="zh-CN" altLang="en-US" sz="1400" b="1" i="0" u="none" strike="noStrike" kern="0" cap="none" spc="0" normalizeH="0" baseline="0" noProof="0" dirty="0">
                <a:ln w="0"/>
                <a:solidFill>
                  <a:srgbClr val="00B050"/>
                </a:solidFill>
                <a:effectLst/>
                <a:uLnTx/>
                <a:uFillTx/>
                <a:latin typeface="Arial" panose="020B0604020202020204"/>
                <a:ea typeface="微软雅黑" panose="020B0503020204020204" pitchFamily="34" charset="-122"/>
                <a:cs typeface="+mn-cs"/>
              </a:rPr>
              <a:t>校办：</a:t>
            </a:r>
            <a:r>
              <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会议室使用统计、信访分类统计分析</a:t>
            </a:r>
            <a:endPar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defTabSz="914400" eaLnBrk="1" fontAlgn="auto" latinLnBrk="0" hangingPunct="1">
              <a:lnSpc>
                <a:spcPct val="150000"/>
              </a:lnSpc>
              <a:spcBef>
                <a:spcPts val="0"/>
              </a:spcBef>
              <a:spcAft>
                <a:spcPts val="0"/>
              </a:spcAft>
              <a:buClrTx/>
              <a:buSzTx/>
              <a:buFontTx/>
              <a:buNone/>
              <a:defRPr/>
            </a:pPr>
            <a:r>
              <a:rPr kumimoji="0" lang="zh-CN" altLang="en-US" sz="1400" b="1" i="0" u="none" strike="noStrike" kern="0" cap="none" spc="0" normalizeH="0" baseline="0" noProof="0" dirty="0">
                <a:ln w="0"/>
                <a:solidFill>
                  <a:srgbClr val="00B050"/>
                </a:solidFill>
                <a:effectLst/>
                <a:uLnTx/>
                <a:uFillTx/>
                <a:latin typeface="Arial" panose="020B0604020202020204"/>
                <a:ea typeface="微软雅黑" panose="020B0503020204020204" pitchFamily="34" charset="-122"/>
                <a:cs typeface="+mn-cs"/>
              </a:rPr>
              <a:t>研究生院：</a:t>
            </a:r>
            <a:r>
              <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学生获奖情况分析、生源统计</a:t>
            </a:r>
            <a:endPar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defTabSz="914400" eaLnBrk="1" fontAlgn="auto" latinLnBrk="0" hangingPunct="1">
              <a:lnSpc>
                <a:spcPct val="150000"/>
              </a:lnSpc>
              <a:spcBef>
                <a:spcPts val="0"/>
              </a:spcBef>
              <a:spcAft>
                <a:spcPts val="0"/>
              </a:spcAft>
              <a:buClrTx/>
              <a:buSzTx/>
              <a:buFontTx/>
              <a:buNone/>
              <a:defRPr/>
            </a:pPr>
            <a:r>
              <a:rPr kumimoji="0" lang="zh-CN" altLang="en-US" sz="1400" b="1" i="0" u="none" strike="noStrike" kern="0" cap="none" spc="0" normalizeH="0" baseline="0" noProof="0" dirty="0">
                <a:ln w="0"/>
                <a:solidFill>
                  <a:srgbClr val="00B050"/>
                </a:solidFill>
                <a:effectLst/>
                <a:uLnTx/>
                <a:uFillTx/>
                <a:latin typeface="Arial" panose="020B0604020202020204"/>
                <a:ea typeface="微软雅黑" panose="020B0503020204020204" pitchFamily="34" charset="-122"/>
                <a:cs typeface="+mn-cs"/>
              </a:rPr>
              <a:t>校友办：</a:t>
            </a:r>
            <a:r>
              <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校友微信捐赠情况</a:t>
            </a:r>
            <a:endPar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defTabSz="914400" eaLnBrk="1" fontAlgn="auto" latinLnBrk="0" hangingPunct="1">
              <a:lnSpc>
                <a:spcPct val="150000"/>
              </a:lnSpc>
              <a:spcBef>
                <a:spcPts val="0"/>
              </a:spcBef>
              <a:spcAft>
                <a:spcPts val="0"/>
              </a:spcAft>
              <a:buClrTx/>
              <a:buSzTx/>
              <a:buFontTx/>
              <a:buNone/>
              <a:defRPr/>
            </a:pPr>
            <a:r>
              <a:rPr kumimoji="0" lang="zh-CN" altLang="en-US" sz="1400" b="1" i="0" u="none" strike="noStrike" kern="0" cap="none" spc="0" normalizeH="0" baseline="0" noProof="0" dirty="0">
                <a:ln w="0"/>
                <a:solidFill>
                  <a:srgbClr val="00B050"/>
                </a:solidFill>
                <a:effectLst/>
                <a:uLnTx/>
                <a:uFillTx/>
                <a:latin typeface="Arial" panose="020B0604020202020204"/>
                <a:ea typeface="微软雅黑" panose="020B0503020204020204" pitchFamily="34" charset="-122"/>
                <a:cs typeface="+mn-cs"/>
              </a:rPr>
              <a:t>国际文化交流学院：</a:t>
            </a:r>
            <a:r>
              <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来华留学生多维度分析</a:t>
            </a:r>
            <a:endPar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defTabSz="914400" eaLnBrk="1" fontAlgn="auto" latinLnBrk="0" hangingPunct="1">
              <a:lnSpc>
                <a:spcPct val="150000"/>
              </a:lnSpc>
              <a:spcBef>
                <a:spcPts val="0"/>
              </a:spcBef>
              <a:spcAft>
                <a:spcPts val="0"/>
              </a:spcAft>
              <a:buClrTx/>
              <a:buSzTx/>
              <a:buFontTx/>
              <a:buNone/>
              <a:defRPr/>
            </a:pPr>
            <a:r>
              <a:rPr kumimoji="0" lang="zh-CN" altLang="en-US" sz="1400" b="1" i="0" u="none" strike="noStrike" kern="0" cap="none" spc="0" normalizeH="0" baseline="0" noProof="0" dirty="0">
                <a:ln w="0"/>
                <a:solidFill>
                  <a:srgbClr val="00B050"/>
                </a:solidFill>
                <a:effectLst/>
                <a:uLnTx/>
                <a:uFillTx/>
                <a:latin typeface="Arial" panose="020B0604020202020204"/>
                <a:ea typeface="微软雅黑" panose="020B0503020204020204" pitchFamily="34" charset="-122"/>
                <a:cs typeface="+mn-cs"/>
              </a:rPr>
              <a:t>人事处：</a:t>
            </a:r>
            <a:r>
              <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教职工分布、职称与学缘构成分析</a:t>
            </a:r>
            <a:endParaRPr kumimoji="0" lang="zh-CN" altLang="en-US" sz="12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p:txBody>
      </p:sp>
      <p:cxnSp>
        <p:nvCxnSpPr>
          <p:cNvPr id="96" name="直接箭头连接符 12"/>
          <p:cNvCxnSpPr>
            <a:stCxn id="89" idx="3"/>
            <a:endCxn id="95" idx="1"/>
          </p:cNvCxnSpPr>
          <p:nvPr/>
        </p:nvCxnSpPr>
        <p:spPr>
          <a:xfrm>
            <a:off x="8669242" y="3488236"/>
            <a:ext cx="430995" cy="352494"/>
          </a:xfrm>
          <a:prstGeom prst="straightConnector1">
            <a:avLst/>
          </a:prstGeom>
          <a:noFill/>
          <a:ln w="57150" cap="flat" cmpd="sng" algn="ctr">
            <a:solidFill>
              <a:srgbClr val="00B050"/>
            </a:solidFill>
            <a:prstDash val="solid"/>
            <a:miter lim="800000"/>
            <a:tailEnd type="triangle"/>
          </a:ln>
          <a:effectLst/>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xx</a:t>
            </a:r>
            <a:r>
              <a:rPr lang="zh-CN" altLang="en-US" dirty="0"/>
              <a:t>师范大学</a:t>
            </a:r>
            <a:r>
              <a:rPr lang="en-US" altLang="zh-CN" dirty="0"/>
              <a:t> </a:t>
            </a:r>
            <a:endParaRPr lang="zh-CN" altLang="en-US" dirty="0"/>
          </a:p>
        </p:txBody>
      </p:sp>
      <p:sp>
        <p:nvSpPr>
          <p:cNvPr id="3" name="流程图: 磁盘 6"/>
          <p:cNvSpPr/>
          <p:nvPr/>
        </p:nvSpPr>
        <p:spPr>
          <a:xfrm>
            <a:off x="4132482" y="1608428"/>
            <a:ext cx="3218082" cy="4824201"/>
          </a:xfrm>
          <a:prstGeom prst="flowChartMagneticDisk">
            <a:avLst/>
          </a:prstGeom>
          <a:noFill/>
          <a:ln w="9525" cap="flat" cmpd="sng" algn="ctr">
            <a:solidFill>
              <a:srgbClr val="00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4" name="文本框 7"/>
          <p:cNvSpPr txBox="1"/>
          <p:nvPr/>
        </p:nvSpPr>
        <p:spPr>
          <a:xfrm>
            <a:off x="5071690" y="1845000"/>
            <a:ext cx="1415772" cy="461665"/>
          </a:xfrm>
          <a:prstGeom prst="rect">
            <a:avLst/>
          </a:prstGeom>
          <a:solidFill>
            <a:srgbClr val="00B0F0"/>
          </a:solidFill>
          <a:ln>
            <a:noFill/>
          </a:ln>
          <a:effectLst>
            <a:outerShdw blurRad="57150" dist="19050" dir="5400000" algn="ctr" rotWithShape="0">
              <a:srgbClr val="000000">
                <a:alpha val="63000"/>
              </a:srgbClr>
            </a:outerShdw>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数据中心</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nvGrpSpPr>
          <p:cNvPr id="5" name="组合 26"/>
          <p:cNvGrpSpPr/>
          <p:nvPr/>
        </p:nvGrpSpPr>
        <p:grpSpPr>
          <a:xfrm>
            <a:off x="4447423" y="2330904"/>
            <a:ext cx="2664306" cy="3785289"/>
            <a:chOff x="2603084" y="1882809"/>
            <a:chExt cx="2664306" cy="3785289"/>
          </a:xfrm>
        </p:grpSpPr>
        <p:sp>
          <p:nvSpPr>
            <p:cNvPr id="6" name="文本框 8"/>
            <p:cNvSpPr txBox="1"/>
            <p:nvPr/>
          </p:nvSpPr>
          <p:spPr>
            <a:xfrm>
              <a:off x="3164937" y="1882809"/>
              <a:ext cx="700833"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8</a:t>
              </a:r>
              <a:r>
                <a:rPr kumimoji="0" lang="zh-CN" altLang="en-US" sz="1800" b="0" i="0" u="none" strike="noStrike" kern="0" cap="none" spc="0" normalizeH="0" baseline="0" noProof="0" dirty="0">
                  <a:ln>
                    <a:noFill/>
                  </a:ln>
                  <a:solidFill>
                    <a:srgbClr val="92D050"/>
                  </a:solidFill>
                  <a:effectLst/>
                  <a:uLnTx/>
                  <a:uFillTx/>
                </a:rPr>
                <a:t>类</a:t>
              </a:r>
              <a:endParaRPr kumimoji="0" lang="zh-CN" altLang="en-US" sz="1800" b="0" i="0" u="none" strike="noStrike" kern="0" cap="none" spc="0" normalizeH="0" baseline="0" noProof="0" dirty="0">
                <a:ln>
                  <a:noFill/>
                </a:ln>
                <a:solidFill>
                  <a:srgbClr val="92D050"/>
                </a:solidFill>
                <a:effectLst/>
                <a:uLnTx/>
                <a:uFillTx/>
              </a:endParaRPr>
            </a:p>
          </p:txBody>
        </p:sp>
        <p:sp>
          <p:nvSpPr>
            <p:cNvPr id="7" name="矩形 9"/>
            <p:cNvSpPr/>
            <p:nvPr/>
          </p:nvSpPr>
          <p:spPr>
            <a:xfrm>
              <a:off x="4227512" y="2140225"/>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数据集</a:t>
              </a:r>
              <a:endParaRPr kumimoji="0" lang="zh-CN" altLang="en-US" sz="1800" b="0" i="0" u="none" strike="noStrike" kern="0" cap="none" spc="0" normalizeH="0" baseline="0" noProof="0" dirty="0">
                <a:ln>
                  <a:noFill/>
                </a:ln>
                <a:solidFill>
                  <a:srgbClr val="000000"/>
                </a:solidFill>
                <a:effectLst/>
                <a:uLnTx/>
                <a:uFillTx/>
              </a:endParaRPr>
            </a:p>
          </p:txBody>
        </p:sp>
        <p:sp>
          <p:nvSpPr>
            <p:cNvPr id="8" name="文本框 10"/>
            <p:cNvSpPr txBox="1"/>
            <p:nvPr/>
          </p:nvSpPr>
          <p:spPr>
            <a:xfrm>
              <a:off x="3022270" y="2494168"/>
              <a:ext cx="986167"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55</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9" name="矩形 11"/>
            <p:cNvSpPr/>
            <p:nvPr/>
          </p:nvSpPr>
          <p:spPr>
            <a:xfrm>
              <a:off x="4227512" y="275158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数据类</a:t>
              </a:r>
              <a:endParaRPr kumimoji="0" lang="zh-CN" altLang="en-US" sz="1800" b="0" i="0" u="none" strike="noStrike" kern="0" cap="none" spc="0" normalizeH="0" baseline="0" noProof="0" dirty="0">
                <a:ln>
                  <a:noFill/>
                </a:ln>
                <a:solidFill>
                  <a:srgbClr val="000000"/>
                </a:solidFill>
                <a:effectLst/>
                <a:uLnTx/>
                <a:uFillTx/>
              </a:endParaRPr>
            </a:p>
          </p:txBody>
        </p:sp>
        <p:sp>
          <p:nvSpPr>
            <p:cNvPr id="10" name="文本框 18"/>
            <p:cNvSpPr txBox="1"/>
            <p:nvPr/>
          </p:nvSpPr>
          <p:spPr>
            <a:xfrm>
              <a:off x="2879602" y="3090138"/>
              <a:ext cx="127150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296</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1" name="矩形 19"/>
            <p:cNvSpPr/>
            <p:nvPr/>
          </p:nvSpPr>
          <p:spPr>
            <a:xfrm>
              <a:off x="3996679" y="3347554"/>
              <a:ext cx="1107996"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数据子类</a:t>
              </a:r>
              <a:endParaRPr kumimoji="0" lang="zh-CN" altLang="en-US" sz="1800" b="0" i="0" u="none" strike="noStrike" kern="0" cap="none" spc="0" normalizeH="0" baseline="0" noProof="0" dirty="0">
                <a:ln>
                  <a:noFill/>
                </a:ln>
                <a:solidFill>
                  <a:srgbClr val="000000"/>
                </a:solidFill>
                <a:effectLst/>
                <a:uLnTx/>
                <a:uFillTx/>
              </a:endParaRPr>
            </a:p>
          </p:txBody>
        </p:sp>
        <p:sp>
          <p:nvSpPr>
            <p:cNvPr id="12" name="文本框 20"/>
            <p:cNvSpPr txBox="1"/>
            <p:nvPr/>
          </p:nvSpPr>
          <p:spPr>
            <a:xfrm>
              <a:off x="2736935" y="3686108"/>
              <a:ext cx="1556836"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5328</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3" name="矩形 21"/>
            <p:cNvSpPr/>
            <p:nvPr/>
          </p:nvSpPr>
          <p:spPr>
            <a:xfrm>
              <a:off x="4227512" y="394352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数据项</a:t>
              </a:r>
              <a:endParaRPr kumimoji="0" lang="zh-CN" altLang="en-US" sz="1800" b="0" i="0" u="none" strike="noStrike" kern="0" cap="none" spc="0" normalizeH="0" baseline="0" noProof="0" dirty="0">
                <a:ln>
                  <a:noFill/>
                </a:ln>
                <a:solidFill>
                  <a:srgbClr val="000000"/>
                </a:solidFill>
                <a:effectLst/>
                <a:uLnTx/>
                <a:uFillTx/>
              </a:endParaRPr>
            </a:p>
          </p:txBody>
        </p:sp>
        <p:sp>
          <p:nvSpPr>
            <p:cNvPr id="14" name="文本框 22"/>
            <p:cNvSpPr txBox="1"/>
            <p:nvPr/>
          </p:nvSpPr>
          <p:spPr>
            <a:xfrm>
              <a:off x="2603084" y="4960212"/>
              <a:ext cx="177324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2.47</a:t>
              </a:r>
              <a:r>
                <a:rPr kumimoji="0" lang="zh-CN" altLang="en-US" sz="2800" b="0" i="0" u="none" strike="noStrike" kern="0" cap="none" spc="0" normalizeH="0" baseline="0" noProof="0" dirty="0">
                  <a:ln>
                    <a:noFill/>
                  </a:ln>
                  <a:solidFill>
                    <a:srgbClr val="FF0000"/>
                  </a:solidFill>
                  <a:effectLst/>
                  <a:uLnTx/>
                  <a:uFillTx/>
                </a:rPr>
                <a:t>亿</a:t>
              </a:r>
              <a:r>
                <a:rPr kumimoji="0" lang="zh-CN" altLang="en-US" sz="1800" b="0" i="0" u="none" strike="noStrike" kern="0" cap="none" spc="0" normalizeH="0" baseline="0" noProof="0" dirty="0">
                  <a:ln>
                    <a:noFill/>
                  </a:ln>
                  <a:solidFill>
                    <a:srgbClr val="92D050"/>
                  </a:solidFill>
                  <a:effectLst/>
                  <a:uLnTx/>
                  <a:uFillTx/>
                </a:rPr>
                <a:t>条</a:t>
              </a:r>
              <a:endParaRPr kumimoji="0" lang="zh-CN" altLang="en-US" sz="1800" b="0" i="0" u="none" strike="noStrike" kern="0" cap="none" spc="0" normalizeH="0" baseline="0" noProof="0" dirty="0">
                <a:ln>
                  <a:noFill/>
                </a:ln>
                <a:solidFill>
                  <a:srgbClr val="92D050"/>
                </a:solidFill>
                <a:effectLst/>
                <a:uLnTx/>
                <a:uFillTx/>
              </a:endParaRPr>
            </a:p>
          </p:txBody>
        </p:sp>
        <p:sp>
          <p:nvSpPr>
            <p:cNvPr id="15" name="矩形 23"/>
            <p:cNvSpPr/>
            <p:nvPr/>
          </p:nvSpPr>
          <p:spPr>
            <a:xfrm>
              <a:off x="4458344" y="5217628"/>
              <a:ext cx="646331"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记录</a:t>
              </a:r>
              <a:endParaRPr kumimoji="0" lang="zh-CN" altLang="en-US" sz="1800" b="0" i="0" u="none" strike="noStrike" kern="0" cap="none" spc="0" normalizeH="0" baseline="0" noProof="0" dirty="0">
                <a:ln>
                  <a:noFill/>
                </a:ln>
                <a:solidFill>
                  <a:srgbClr val="000000"/>
                </a:solidFill>
                <a:effectLst/>
                <a:uLnTx/>
                <a:uFillTx/>
              </a:endParaRPr>
            </a:p>
          </p:txBody>
        </p:sp>
        <p:sp>
          <p:nvSpPr>
            <p:cNvPr id="16" name="文本框 179"/>
            <p:cNvSpPr txBox="1"/>
            <p:nvPr/>
          </p:nvSpPr>
          <p:spPr>
            <a:xfrm>
              <a:off x="2774400" y="4430673"/>
              <a:ext cx="2492990" cy="492443"/>
            </a:xfrm>
            <a:prstGeom prst="rect">
              <a:avLst/>
            </a:prstGeom>
            <a:solidFill>
              <a:srgbClr val="F0F0F0">
                <a:lumMod val="75000"/>
              </a:srgbClr>
            </a:solidFill>
            <a:ln>
              <a:noFill/>
            </a:ln>
            <a:effectLst>
              <a:outerShdw blurRad="57150" dist="19050" dir="5400000" algn="ctr" rotWithShape="0">
                <a:srgbClr val="000000">
                  <a:alpha val="63000"/>
                </a:srgbClr>
              </a:outerShdw>
            </a:effectLst>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 1146 </a:t>
              </a: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个</a:t>
              </a:r>
              <a:r>
                <a:rPr kumimoji="0" lang="zh-CN" altLang="en-US" sz="1800" b="0" i="0" u="none" strike="noStrike" kern="0" cap="none" spc="0" normalizeH="0" baseline="0" noProof="0" dirty="0">
                  <a:ln>
                    <a:noFill/>
                  </a:ln>
                  <a:solidFill>
                    <a:srgbClr val="92D050"/>
                  </a:solidFill>
                  <a:effectLst/>
                  <a:uLnTx/>
                  <a:uFillTx/>
                  <a:latin typeface="Arial" panose="020B0604020202020204"/>
                  <a:ea typeface="微软雅黑" panose="020B0503020204020204" pitchFamily="34" charset="-122"/>
                  <a:cs typeface="+mn-cs"/>
                </a:rPr>
                <a:t>   </a:t>
              </a:r>
              <a:r>
                <a:rPr kumimoji="0" lang="zh-CN" altLang="en-US" sz="18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待补充</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sp>
        <p:nvSpPr>
          <p:cNvPr id="17" name="矩形 28"/>
          <p:cNvSpPr/>
          <p:nvPr/>
        </p:nvSpPr>
        <p:spPr>
          <a:xfrm>
            <a:off x="382206" y="138333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人事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8" name="直接箭头连接符 61"/>
          <p:cNvCxnSpPr>
            <a:stCxn id="17" idx="3"/>
          </p:cNvCxnSpPr>
          <p:nvPr/>
        </p:nvCxnSpPr>
        <p:spPr>
          <a:xfrm>
            <a:off x="1248777" y="1522925"/>
            <a:ext cx="2773512" cy="14299"/>
          </a:xfrm>
          <a:prstGeom prst="straightConnector1">
            <a:avLst/>
          </a:prstGeom>
          <a:noFill/>
          <a:ln w="6350" cap="flat" cmpd="sng" algn="ctr">
            <a:solidFill>
              <a:srgbClr val="FFBF00"/>
            </a:solidFill>
            <a:prstDash val="solid"/>
            <a:miter lim="800000"/>
            <a:tailEnd type="triangle"/>
          </a:ln>
          <a:effectLst/>
        </p:spPr>
      </p:cxnSp>
      <p:sp>
        <p:nvSpPr>
          <p:cNvPr id="19" name="矩形 90"/>
          <p:cNvSpPr/>
          <p:nvPr/>
        </p:nvSpPr>
        <p:spPr>
          <a:xfrm>
            <a:off x="382206" y="184500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研究生院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0" name="直接箭头连接符 91"/>
          <p:cNvCxnSpPr>
            <a:stCxn id="19" idx="3"/>
          </p:cNvCxnSpPr>
          <p:nvPr/>
        </p:nvCxnSpPr>
        <p:spPr>
          <a:xfrm>
            <a:off x="1248777" y="1984590"/>
            <a:ext cx="2773512" cy="14301"/>
          </a:xfrm>
          <a:prstGeom prst="straightConnector1">
            <a:avLst/>
          </a:prstGeom>
          <a:noFill/>
          <a:ln w="6350" cap="flat" cmpd="sng" algn="ctr">
            <a:solidFill>
              <a:srgbClr val="FFBF00"/>
            </a:solidFill>
            <a:prstDash val="solid"/>
            <a:miter lim="800000"/>
            <a:tailEnd type="triangle"/>
          </a:ln>
          <a:effectLst/>
        </p:spPr>
      </p:cxnSp>
      <p:sp>
        <p:nvSpPr>
          <p:cNvPr id="21" name="矩形 92"/>
          <p:cNvSpPr/>
          <p:nvPr/>
        </p:nvSpPr>
        <p:spPr>
          <a:xfrm>
            <a:off x="382206" y="230666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学工</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2" name="直接箭头连接符 93"/>
          <p:cNvCxnSpPr>
            <a:stCxn id="21" idx="3"/>
          </p:cNvCxnSpPr>
          <p:nvPr/>
        </p:nvCxnSpPr>
        <p:spPr>
          <a:xfrm>
            <a:off x="1248777" y="2446255"/>
            <a:ext cx="2773512" cy="14299"/>
          </a:xfrm>
          <a:prstGeom prst="straightConnector1">
            <a:avLst/>
          </a:prstGeom>
          <a:noFill/>
          <a:ln w="6350" cap="flat" cmpd="sng" algn="ctr">
            <a:solidFill>
              <a:srgbClr val="FFBF00"/>
            </a:solidFill>
            <a:prstDash val="solid"/>
            <a:miter lim="800000"/>
            <a:tailEnd type="triangle"/>
          </a:ln>
          <a:effectLst/>
        </p:spPr>
      </p:cxnSp>
      <p:sp>
        <p:nvSpPr>
          <p:cNvPr id="23" name="矩形 94"/>
          <p:cNvSpPr/>
          <p:nvPr/>
        </p:nvSpPr>
        <p:spPr>
          <a:xfrm>
            <a:off x="382206" y="276833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国资办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4" name="直接箭头连接符 95"/>
          <p:cNvCxnSpPr>
            <a:stCxn id="23" idx="3"/>
          </p:cNvCxnSpPr>
          <p:nvPr/>
        </p:nvCxnSpPr>
        <p:spPr>
          <a:xfrm>
            <a:off x="1248777" y="2907920"/>
            <a:ext cx="2773512" cy="14299"/>
          </a:xfrm>
          <a:prstGeom prst="straightConnector1">
            <a:avLst/>
          </a:prstGeom>
          <a:noFill/>
          <a:ln w="6350" cap="flat" cmpd="sng" algn="ctr">
            <a:solidFill>
              <a:srgbClr val="FFBF00"/>
            </a:solidFill>
            <a:prstDash val="solid"/>
            <a:miter lim="800000"/>
            <a:tailEnd type="triangle"/>
          </a:ln>
          <a:effectLst/>
        </p:spPr>
      </p:cxnSp>
      <p:sp>
        <p:nvSpPr>
          <p:cNvPr id="25" name="矩形 96"/>
          <p:cNvSpPr/>
          <p:nvPr/>
        </p:nvSpPr>
        <p:spPr>
          <a:xfrm>
            <a:off x="382206" y="322999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科研</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箭头连接符 97"/>
          <p:cNvCxnSpPr>
            <a:stCxn id="25" idx="3"/>
          </p:cNvCxnSpPr>
          <p:nvPr/>
        </p:nvCxnSpPr>
        <p:spPr>
          <a:xfrm>
            <a:off x="1248777" y="3369585"/>
            <a:ext cx="2773512" cy="14299"/>
          </a:xfrm>
          <a:prstGeom prst="straightConnector1">
            <a:avLst/>
          </a:prstGeom>
          <a:noFill/>
          <a:ln w="6350" cap="flat" cmpd="sng" algn="ctr">
            <a:solidFill>
              <a:srgbClr val="FFBF00"/>
            </a:solidFill>
            <a:prstDash val="solid"/>
            <a:miter lim="800000"/>
            <a:tailEnd type="triangle"/>
          </a:ln>
          <a:effectLst/>
        </p:spPr>
      </p:cxnSp>
      <p:sp>
        <p:nvSpPr>
          <p:cNvPr id="27" name="矩形 98"/>
          <p:cNvSpPr/>
          <p:nvPr/>
        </p:nvSpPr>
        <p:spPr>
          <a:xfrm>
            <a:off x="382206" y="369166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8" name="直接箭头连接符 99"/>
          <p:cNvCxnSpPr>
            <a:stCxn id="27" idx="3"/>
          </p:cNvCxnSpPr>
          <p:nvPr/>
        </p:nvCxnSpPr>
        <p:spPr>
          <a:xfrm>
            <a:off x="1248777" y="3831250"/>
            <a:ext cx="2773512" cy="14299"/>
          </a:xfrm>
          <a:prstGeom prst="straightConnector1">
            <a:avLst/>
          </a:prstGeom>
          <a:noFill/>
          <a:ln w="6350" cap="flat" cmpd="sng" algn="ctr">
            <a:solidFill>
              <a:srgbClr val="FFBF00"/>
            </a:solidFill>
            <a:prstDash val="solid"/>
            <a:miter lim="800000"/>
            <a:tailEnd type="triangle"/>
          </a:ln>
          <a:effectLst/>
        </p:spPr>
      </p:cxnSp>
      <p:sp>
        <p:nvSpPr>
          <p:cNvPr id="29" name="矩形 100"/>
          <p:cNvSpPr/>
          <p:nvPr/>
        </p:nvSpPr>
        <p:spPr>
          <a:xfrm>
            <a:off x="382206" y="415332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房产办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0" name="直接箭头连接符 101"/>
          <p:cNvCxnSpPr>
            <a:stCxn id="29" idx="3"/>
          </p:cNvCxnSpPr>
          <p:nvPr/>
        </p:nvCxnSpPr>
        <p:spPr>
          <a:xfrm>
            <a:off x="1248777" y="4292915"/>
            <a:ext cx="2773512" cy="14299"/>
          </a:xfrm>
          <a:prstGeom prst="straightConnector1">
            <a:avLst/>
          </a:prstGeom>
          <a:noFill/>
          <a:ln w="6350" cap="flat" cmpd="sng" algn="ctr">
            <a:solidFill>
              <a:srgbClr val="FFBF00"/>
            </a:solidFill>
            <a:prstDash val="solid"/>
            <a:miter lim="800000"/>
            <a:tailEnd type="triangle"/>
          </a:ln>
          <a:effectLst/>
        </p:spPr>
      </p:cxnSp>
      <p:sp>
        <p:nvSpPr>
          <p:cNvPr id="31" name="矩形 102"/>
          <p:cNvSpPr/>
          <p:nvPr/>
        </p:nvSpPr>
        <p:spPr>
          <a:xfrm>
            <a:off x="382206" y="461499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公管学院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2" name="直接箭头连接符 103"/>
          <p:cNvCxnSpPr>
            <a:stCxn id="31" idx="3"/>
          </p:cNvCxnSpPr>
          <p:nvPr/>
        </p:nvCxnSpPr>
        <p:spPr>
          <a:xfrm>
            <a:off x="1248777" y="4754580"/>
            <a:ext cx="2773512" cy="14299"/>
          </a:xfrm>
          <a:prstGeom prst="straightConnector1">
            <a:avLst/>
          </a:prstGeom>
          <a:noFill/>
          <a:ln w="6350" cap="flat" cmpd="sng" algn="ctr">
            <a:solidFill>
              <a:srgbClr val="FFBF00"/>
            </a:solidFill>
            <a:prstDash val="solid"/>
            <a:miter lim="800000"/>
            <a:tailEnd type="triangle"/>
          </a:ln>
          <a:effectLst/>
        </p:spPr>
      </p:cxnSp>
      <p:sp>
        <p:nvSpPr>
          <p:cNvPr id="33" name="矩形 104"/>
          <p:cNvSpPr/>
          <p:nvPr/>
        </p:nvSpPr>
        <p:spPr>
          <a:xfrm>
            <a:off x="382206" y="507665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教师教院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4" name="直接箭头连接符 105"/>
          <p:cNvCxnSpPr>
            <a:stCxn id="33" idx="3"/>
          </p:cNvCxnSpPr>
          <p:nvPr/>
        </p:nvCxnSpPr>
        <p:spPr>
          <a:xfrm>
            <a:off x="1248777" y="5216245"/>
            <a:ext cx="2773512" cy="14299"/>
          </a:xfrm>
          <a:prstGeom prst="straightConnector1">
            <a:avLst/>
          </a:prstGeom>
          <a:noFill/>
          <a:ln w="6350" cap="flat" cmpd="sng" algn="ctr">
            <a:solidFill>
              <a:srgbClr val="FFBF00"/>
            </a:solidFill>
            <a:prstDash val="solid"/>
            <a:miter lim="800000"/>
            <a:tailEnd type="triangle"/>
          </a:ln>
          <a:effectLst/>
        </p:spPr>
      </p:cxnSp>
      <p:sp>
        <p:nvSpPr>
          <p:cNvPr id="35" name="矩形 106"/>
          <p:cNvSpPr/>
          <p:nvPr/>
        </p:nvSpPr>
        <p:spPr>
          <a:xfrm>
            <a:off x="382206" y="553832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就业处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6" name="直接箭头连接符 107"/>
          <p:cNvCxnSpPr>
            <a:stCxn id="35" idx="3"/>
          </p:cNvCxnSpPr>
          <p:nvPr/>
        </p:nvCxnSpPr>
        <p:spPr>
          <a:xfrm>
            <a:off x="1248777" y="5677910"/>
            <a:ext cx="2773512" cy="14299"/>
          </a:xfrm>
          <a:prstGeom prst="straightConnector1">
            <a:avLst/>
          </a:prstGeom>
          <a:noFill/>
          <a:ln w="6350" cap="flat" cmpd="sng" algn="ctr">
            <a:solidFill>
              <a:srgbClr val="FFBF00"/>
            </a:solidFill>
            <a:prstDash val="solid"/>
            <a:miter lim="800000"/>
            <a:tailEnd type="triangle"/>
          </a:ln>
          <a:effectLst/>
        </p:spPr>
      </p:cxnSp>
      <p:sp>
        <p:nvSpPr>
          <p:cNvPr id="37" name="矩形 108"/>
          <p:cNvSpPr/>
          <p:nvPr/>
        </p:nvSpPr>
        <p:spPr>
          <a:xfrm>
            <a:off x="382206" y="599998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离退处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8" name="直接箭头连接符 109"/>
          <p:cNvCxnSpPr>
            <a:stCxn id="37" idx="3"/>
          </p:cNvCxnSpPr>
          <p:nvPr/>
        </p:nvCxnSpPr>
        <p:spPr>
          <a:xfrm>
            <a:off x="1248777" y="6139575"/>
            <a:ext cx="2773512" cy="14299"/>
          </a:xfrm>
          <a:prstGeom prst="straightConnector1">
            <a:avLst/>
          </a:prstGeom>
          <a:noFill/>
          <a:ln w="6350" cap="flat" cmpd="sng" algn="ctr">
            <a:solidFill>
              <a:srgbClr val="FFBF00"/>
            </a:solidFill>
            <a:prstDash val="solid"/>
            <a:miter lim="800000"/>
            <a:tailEnd type="triangle"/>
          </a:ln>
          <a:effectLst/>
        </p:spPr>
      </p:cxnSp>
      <p:sp>
        <p:nvSpPr>
          <p:cNvPr id="39" name="矩形 110"/>
          <p:cNvSpPr/>
          <p:nvPr/>
        </p:nvSpPr>
        <p:spPr>
          <a:xfrm>
            <a:off x="382206" y="646165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设备处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40" name="直接箭头连接符 111"/>
          <p:cNvCxnSpPr>
            <a:stCxn id="39" idx="3"/>
          </p:cNvCxnSpPr>
          <p:nvPr/>
        </p:nvCxnSpPr>
        <p:spPr>
          <a:xfrm>
            <a:off x="1248777" y="6601240"/>
            <a:ext cx="2773512" cy="14299"/>
          </a:xfrm>
          <a:prstGeom prst="straightConnector1">
            <a:avLst/>
          </a:prstGeom>
          <a:noFill/>
          <a:ln w="6350" cap="flat" cmpd="sng" algn="ctr">
            <a:solidFill>
              <a:srgbClr val="FFBF00"/>
            </a:solidFill>
            <a:prstDash val="solid"/>
            <a:miter lim="800000"/>
            <a:tailEnd type="triangle"/>
          </a:ln>
          <a:effectLst/>
        </p:spPr>
      </p:cxnSp>
      <p:sp>
        <p:nvSpPr>
          <p:cNvPr id="41" name="矩形 112"/>
          <p:cNvSpPr/>
          <p:nvPr/>
        </p:nvSpPr>
        <p:spPr>
          <a:xfrm>
            <a:off x="1741129" y="161572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统战</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2" name="矩形 114"/>
          <p:cNvSpPr/>
          <p:nvPr/>
        </p:nvSpPr>
        <p:spPr>
          <a:xfrm>
            <a:off x="1741129" y="207738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图书馆</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3" name="矩形 116"/>
          <p:cNvSpPr/>
          <p:nvPr/>
        </p:nvSpPr>
        <p:spPr>
          <a:xfrm>
            <a:off x="1741129" y="253905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外事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4" name="矩形 118"/>
          <p:cNvSpPr/>
          <p:nvPr/>
        </p:nvSpPr>
        <p:spPr>
          <a:xfrm>
            <a:off x="1741129" y="300071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工会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5" name="矩形 120"/>
          <p:cNvSpPr/>
          <p:nvPr/>
        </p:nvSpPr>
        <p:spPr>
          <a:xfrm>
            <a:off x="1741129" y="346238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校医院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6" name="矩形 122"/>
          <p:cNvSpPr/>
          <p:nvPr/>
        </p:nvSpPr>
        <p:spPr>
          <a:xfrm>
            <a:off x="1741129" y="392404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校友会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7" name="矩形 124"/>
          <p:cNvSpPr/>
          <p:nvPr/>
        </p:nvSpPr>
        <p:spPr>
          <a:xfrm>
            <a:off x="1741129" y="438571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宣传部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8" name="矩形 126"/>
          <p:cNvSpPr/>
          <p:nvPr/>
        </p:nvSpPr>
        <p:spPr>
          <a:xfrm>
            <a:off x="1741129" y="484737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9" name="矩形 128"/>
          <p:cNvSpPr/>
          <p:nvPr/>
        </p:nvSpPr>
        <p:spPr>
          <a:xfrm>
            <a:off x="1741129" y="530904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招标办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0" name="矩形 130"/>
          <p:cNvSpPr/>
          <p:nvPr/>
        </p:nvSpPr>
        <p:spPr>
          <a:xfrm>
            <a:off x="1741129" y="5770709"/>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组织部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1" name="矩形 132"/>
          <p:cNvSpPr/>
          <p:nvPr/>
        </p:nvSpPr>
        <p:spPr>
          <a:xfrm>
            <a:off x="1741129" y="6232374"/>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财务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52" name="直接箭头连接符 113"/>
          <p:cNvCxnSpPr>
            <a:stCxn id="41" idx="3"/>
          </p:cNvCxnSpPr>
          <p:nvPr/>
        </p:nvCxnSpPr>
        <p:spPr>
          <a:xfrm>
            <a:off x="2607700" y="1755314"/>
            <a:ext cx="1414589" cy="14299"/>
          </a:xfrm>
          <a:prstGeom prst="straightConnector1">
            <a:avLst/>
          </a:prstGeom>
          <a:noFill/>
          <a:ln w="6350" cap="flat" cmpd="sng" algn="ctr">
            <a:solidFill>
              <a:srgbClr val="FFBF00"/>
            </a:solidFill>
            <a:prstDash val="solid"/>
            <a:miter lim="800000"/>
            <a:tailEnd type="triangle"/>
          </a:ln>
          <a:effectLst/>
        </p:spPr>
      </p:cxnSp>
      <p:cxnSp>
        <p:nvCxnSpPr>
          <p:cNvPr id="53" name="直接箭头连接符 115"/>
          <p:cNvCxnSpPr>
            <a:stCxn id="42" idx="3"/>
          </p:cNvCxnSpPr>
          <p:nvPr/>
        </p:nvCxnSpPr>
        <p:spPr>
          <a:xfrm>
            <a:off x="2607700" y="2216979"/>
            <a:ext cx="1414589" cy="14299"/>
          </a:xfrm>
          <a:prstGeom prst="straightConnector1">
            <a:avLst/>
          </a:prstGeom>
          <a:noFill/>
          <a:ln w="6350" cap="flat" cmpd="sng" algn="ctr">
            <a:solidFill>
              <a:srgbClr val="FFBF00"/>
            </a:solidFill>
            <a:prstDash val="solid"/>
            <a:miter lim="800000"/>
            <a:tailEnd type="triangle"/>
          </a:ln>
          <a:effectLst/>
        </p:spPr>
      </p:cxnSp>
      <p:cxnSp>
        <p:nvCxnSpPr>
          <p:cNvPr id="54" name="直接箭头连接符 117"/>
          <p:cNvCxnSpPr>
            <a:stCxn id="43" idx="3"/>
          </p:cNvCxnSpPr>
          <p:nvPr/>
        </p:nvCxnSpPr>
        <p:spPr>
          <a:xfrm>
            <a:off x="2607700" y="2678644"/>
            <a:ext cx="1414589" cy="14299"/>
          </a:xfrm>
          <a:prstGeom prst="straightConnector1">
            <a:avLst/>
          </a:prstGeom>
          <a:noFill/>
          <a:ln w="6350" cap="flat" cmpd="sng" algn="ctr">
            <a:solidFill>
              <a:srgbClr val="FFBF00"/>
            </a:solidFill>
            <a:prstDash val="solid"/>
            <a:miter lim="800000"/>
            <a:tailEnd type="triangle"/>
          </a:ln>
          <a:effectLst/>
        </p:spPr>
      </p:cxnSp>
      <p:cxnSp>
        <p:nvCxnSpPr>
          <p:cNvPr id="55" name="直接箭头连接符 119"/>
          <p:cNvCxnSpPr>
            <a:stCxn id="44" idx="3"/>
          </p:cNvCxnSpPr>
          <p:nvPr/>
        </p:nvCxnSpPr>
        <p:spPr>
          <a:xfrm>
            <a:off x="2607700" y="3140309"/>
            <a:ext cx="1414589" cy="14299"/>
          </a:xfrm>
          <a:prstGeom prst="straightConnector1">
            <a:avLst/>
          </a:prstGeom>
          <a:noFill/>
          <a:ln w="6350" cap="flat" cmpd="sng" algn="ctr">
            <a:solidFill>
              <a:srgbClr val="FFBF00"/>
            </a:solidFill>
            <a:prstDash val="solid"/>
            <a:miter lim="800000"/>
            <a:tailEnd type="triangle"/>
          </a:ln>
          <a:effectLst/>
        </p:spPr>
      </p:cxnSp>
      <p:cxnSp>
        <p:nvCxnSpPr>
          <p:cNvPr id="56" name="直接箭头连接符 121"/>
          <p:cNvCxnSpPr>
            <a:stCxn id="45" idx="3"/>
          </p:cNvCxnSpPr>
          <p:nvPr/>
        </p:nvCxnSpPr>
        <p:spPr>
          <a:xfrm>
            <a:off x="2607700" y="3601974"/>
            <a:ext cx="1414589" cy="14299"/>
          </a:xfrm>
          <a:prstGeom prst="straightConnector1">
            <a:avLst/>
          </a:prstGeom>
          <a:noFill/>
          <a:ln w="6350" cap="flat" cmpd="sng" algn="ctr">
            <a:solidFill>
              <a:srgbClr val="FFBF00"/>
            </a:solidFill>
            <a:prstDash val="solid"/>
            <a:miter lim="800000"/>
            <a:tailEnd type="triangle"/>
          </a:ln>
          <a:effectLst/>
        </p:spPr>
      </p:cxnSp>
      <p:cxnSp>
        <p:nvCxnSpPr>
          <p:cNvPr id="57" name="直接箭头连接符 123"/>
          <p:cNvCxnSpPr>
            <a:stCxn id="46" idx="3"/>
          </p:cNvCxnSpPr>
          <p:nvPr/>
        </p:nvCxnSpPr>
        <p:spPr>
          <a:xfrm>
            <a:off x="2607700" y="4063639"/>
            <a:ext cx="1414589" cy="14299"/>
          </a:xfrm>
          <a:prstGeom prst="straightConnector1">
            <a:avLst/>
          </a:prstGeom>
          <a:noFill/>
          <a:ln w="6350" cap="flat" cmpd="sng" algn="ctr">
            <a:solidFill>
              <a:srgbClr val="FFBF00"/>
            </a:solidFill>
            <a:prstDash val="solid"/>
            <a:miter lim="800000"/>
            <a:tailEnd type="triangle"/>
          </a:ln>
          <a:effectLst/>
        </p:spPr>
      </p:cxnSp>
      <p:cxnSp>
        <p:nvCxnSpPr>
          <p:cNvPr id="58" name="直接箭头连接符 125"/>
          <p:cNvCxnSpPr>
            <a:stCxn id="47" idx="3"/>
          </p:cNvCxnSpPr>
          <p:nvPr/>
        </p:nvCxnSpPr>
        <p:spPr>
          <a:xfrm>
            <a:off x="2607700" y="4525304"/>
            <a:ext cx="1414589" cy="14299"/>
          </a:xfrm>
          <a:prstGeom prst="straightConnector1">
            <a:avLst/>
          </a:prstGeom>
          <a:noFill/>
          <a:ln w="6350" cap="flat" cmpd="sng" algn="ctr">
            <a:solidFill>
              <a:srgbClr val="FFBF00"/>
            </a:solidFill>
            <a:prstDash val="solid"/>
            <a:miter lim="800000"/>
            <a:tailEnd type="triangle"/>
          </a:ln>
          <a:effectLst/>
        </p:spPr>
      </p:cxnSp>
      <p:cxnSp>
        <p:nvCxnSpPr>
          <p:cNvPr id="59" name="直接箭头连接符 127"/>
          <p:cNvCxnSpPr>
            <a:stCxn id="48" idx="3"/>
          </p:cNvCxnSpPr>
          <p:nvPr/>
        </p:nvCxnSpPr>
        <p:spPr>
          <a:xfrm>
            <a:off x="2607700" y="4986969"/>
            <a:ext cx="1414589" cy="14299"/>
          </a:xfrm>
          <a:prstGeom prst="straightConnector1">
            <a:avLst/>
          </a:prstGeom>
          <a:noFill/>
          <a:ln w="6350" cap="flat" cmpd="sng" algn="ctr">
            <a:solidFill>
              <a:srgbClr val="FFBF00"/>
            </a:solidFill>
            <a:prstDash val="solid"/>
            <a:miter lim="800000"/>
            <a:tailEnd type="triangle"/>
          </a:ln>
          <a:effectLst/>
        </p:spPr>
      </p:cxnSp>
      <p:cxnSp>
        <p:nvCxnSpPr>
          <p:cNvPr id="60" name="直接箭头连接符 129"/>
          <p:cNvCxnSpPr>
            <a:stCxn id="49" idx="3"/>
          </p:cNvCxnSpPr>
          <p:nvPr/>
        </p:nvCxnSpPr>
        <p:spPr>
          <a:xfrm>
            <a:off x="2607700" y="5448634"/>
            <a:ext cx="1414589" cy="14299"/>
          </a:xfrm>
          <a:prstGeom prst="straightConnector1">
            <a:avLst/>
          </a:prstGeom>
          <a:noFill/>
          <a:ln w="6350" cap="flat" cmpd="sng" algn="ctr">
            <a:solidFill>
              <a:srgbClr val="FFBF00"/>
            </a:solidFill>
            <a:prstDash val="solid"/>
            <a:miter lim="800000"/>
            <a:tailEnd type="triangle"/>
          </a:ln>
          <a:effectLst/>
        </p:spPr>
      </p:cxnSp>
      <p:cxnSp>
        <p:nvCxnSpPr>
          <p:cNvPr id="61" name="直接箭头连接符 131"/>
          <p:cNvCxnSpPr>
            <a:stCxn id="50" idx="3"/>
          </p:cNvCxnSpPr>
          <p:nvPr/>
        </p:nvCxnSpPr>
        <p:spPr>
          <a:xfrm>
            <a:off x="2607700" y="5910299"/>
            <a:ext cx="1414589" cy="14299"/>
          </a:xfrm>
          <a:prstGeom prst="straightConnector1">
            <a:avLst/>
          </a:prstGeom>
          <a:noFill/>
          <a:ln w="6350" cap="flat" cmpd="sng" algn="ctr">
            <a:solidFill>
              <a:srgbClr val="FFBF00"/>
            </a:solidFill>
            <a:prstDash val="solid"/>
            <a:miter lim="800000"/>
            <a:tailEnd type="triangle"/>
          </a:ln>
          <a:effectLst/>
        </p:spPr>
      </p:cxnSp>
      <p:cxnSp>
        <p:nvCxnSpPr>
          <p:cNvPr id="62" name="直接箭头连接符 133"/>
          <p:cNvCxnSpPr>
            <a:stCxn id="51" idx="3"/>
          </p:cNvCxnSpPr>
          <p:nvPr/>
        </p:nvCxnSpPr>
        <p:spPr>
          <a:xfrm>
            <a:off x="2607700" y="6371964"/>
            <a:ext cx="1414589" cy="14299"/>
          </a:xfrm>
          <a:prstGeom prst="straightConnector1">
            <a:avLst/>
          </a:prstGeom>
          <a:noFill/>
          <a:ln w="6350" cap="flat" cmpd="sng" algn="ctr">
            <a:solidFill>
              <a:srgbClr val="FFBF00"/>
            </a:solidFill>
            <a:prstDash val="solid"/>
            <a:miter lim="800000"/>
            <a:tailEnd type="triangle"/>
          </a:ln>
          <a:effectLst/>
        </p:spPr>
      </p:cxnSp>
      <p:sp>
        <p:nvSpPr>
          <p:cNvPr id="63" name="矩形 139"/>
          <p:cNvSpPr/>
          <p:nvPr/>
        </p:nvSpPr>
        <p:spPr>
          <a:xfrm>
            <a:off x="1259271" y="145060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244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4" name="矩形 156"/>
          <p:cNvSpPr/>
          <p:nvPr/>
        </p:nvSpPr>
        <p:spPr>
          <a:xfrm>
            <a:off x="1259271" y="1907930"/>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464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5" name="矩形 157"/>
          <p:cNvSpPr/>
          <p:nvPr/>
        </p:nvSpPr>
        <p:spPr>
          <a:xfrm>
            <a:off x="1259271" y="2365253"/>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6" name="矩形 158"/>
          <p:cNvSpPr/>
          <p:nvPr/>
        </p:nvSpPr>
        <p:spPr>
          <a:xfrm>
            <a:off x="1259271" y="2822576"/>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78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7" name="矩形 159"/>
          <p:cNvSpPr/>
          <p:nvPr/>
        </p:nvSpPr>
        <p:spPr>
          <a:xfrm>
            <a:off x="1259271" y="3279899"/>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458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8" name="矩形 160"/>
          <p:cNvSpPr/>
          <p:nvPr/>
        </p:nvSpPr>
        <p:spPr>
          <a:xfrm>
            <a:off x="1259271" y="3737222"/>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9" name="矩形 161"/>
          <p:cNvSpPr/>
          <p:nvPr/>
        </p:nvSpPr>
        <p:spPr>
          <a:xfrm>
            <a:off x="1259271" y="4194545"/>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0" name="矩形 162"/>
          <p:cNvSpPr/>
          <p:nvPr/>
        </p:nvSpPr>
        <p:spPr>
          <a:xfrm>
            <a:off x="1259271" y="4686625"/>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1" name="矩形 164"/>
          <p:cNvSpPr/>
          <p:nvPr/>
        </p:nvSpPr>
        <p:spPr>
          <a:xfrm>
            <a:off x="1259271" y="5146191"/>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2" name="矩形 165"/>
          <p:cNvSpPr/>
          <p:nvPr/>
        </p:nvSpPr>
        <p:spPr>
          <a:xfrm>
            <a:off x="1259271" y="560575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97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3" name="矩形 166"/>
          <p:cNvSpPr/>
          <p:nvPr/>
        </p:nvSpPr>
        <p:spPr>
          <a:xfrm>
            <a:off x="1259271" y="6065323"/>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4" name="矩形 167"/>
          <p:cNvSpPr/>
          <p:nvPr/>
        </p:nvSpPr>
        <p:spPr>
          <a:xfrm>
            <a:off x="1259271" y="653095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188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5" name="矩形 168"/>
          <p:cNvSpPr/>
          <p:nvPr/>
        </p:nvSpPr>
        <p:spPr>
          <a:xfrm>
            <a:off x="2620634" y="1666838"/>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6" name="矩形 169"/>
          <p:cNvSpPr/>
          <p:nvPr/>
        </p:nvSpPr>
        <p:spPr>
          <a:xfrm>
            <a:off x="2620634" y="2123741"/>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125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7" name="矩形 170"/>
          <p:cNvSpPr/>
          <p:nvPr/>
        </p:nvSpPr>
        <p:spPr>
          <a:xfrm>
            <a:off x="2620634" y="2580644"/>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146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8" name="矩形 171"/>
          <p:cNvSpPr/>
          <p:nvPr/>
        </p:nvSpPr>
        <p:spPr>
          <a:xfrm>
            <a:off x="2620634" y="3037547"/>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9" name="矩形 172"/>
          <p:cNvSpPr/>
          <p:nvPr/>
        </p:nvSpPr>
        <p:spPr>
          <a:xfrm>
            <a:off x="2620634" y="3494450"/>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0" name="矩形 173"/>
          <p:cNvSpPr/>
          <p:nvPr/>
        </p:nvSpPr>
        <p:spPr>
          <a:xfrm>
            <a:off x="2620634" y="3974068"/>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1" name="矩形 174"/>
          <p:cNvSpPr/>
          <p:nvPr/>
        </p:nvSpPr>
        <p:spPr>
          <a:xfrm>
            <a:off x="2620634" y="4440986"/>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2" name="矩形 175"/>
          <p:cNvSpPr/>
          <p:nvPr/>
        </p:nvSpPr>
        <p:spPr>
          <a:xfrm>
            <a:off x="2620634" y="4899913"/>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174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3" name="矩形 176"/>
          <p:cNvSpPr/>
          <p:nvPr/>
        </p:nvSpPr>
        <p:spPr>
          <a:xfrm>
            <a:off x="2620634" y="5355396"/>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4" name="矩形 177"/>
          <p:cNvSpPr/>
          <p:nvPr/>
        </p:nvSpPr>
        <p:spPr>
          <a:xfrm>
            <a:off x="2620634" y="5810879"/>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5" name="矩形 178"/>
          <p:cNvSpPr/>
          <p:nvPr/>
        </p:nvSpPr>
        <p:spPr>
          <a:xfrm>
            <a:off x="2620634" y="6266362"/>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505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cxnSp>
        <p:nvCxnSpPr>
          <p:cNvPr id="86" name="直接箭头连接符 181"/>
          <p:cNvCxnSpPr/>
          <p:nvPr/>
        </p:nvCxnSpPr>
        <p:spPr>
          <a:xfrm>
            <a:off x="7383296" y="2528714"/>
            <a:ext cx="496987" cy="0"/>
          </a:xfrm>
          <a:prstGeom prst="straightConnector1">
            <a:avLst/>
          </a:prstGeom>
          <a:noFill/>
          <a:ln w="6350" cap="flat" cmpd="sng" algn="ctr">
            <a:solidFill>
              <a:srgbClr val="FFBF00"/>
            </a:solidFill>
            <a:prstDash val="solid"/>
            <a:miter lim="800000"/>
            <a:tailEnd type="triangle"/>
          </a:ln>
          <a:effectLst/>
        </p:spPr>
      </p:cxnSp>
      <p:sp>
        <p:nvSpPr>
          <p:cNvPr id="87" name="矩形 235"/>
          <p:cNvSpPr/>
          <p:nvPr/>
        </p:nvSpPr>
        <p:spPr>
          <a:xfrm>
            <a:off x="7891168" y="2401020"/>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一张表流程</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88" name="直接箭头连接符 134"/>
          <p:cNvCxnSpPr/>
          <p:nvPr/>
        </p:nvCxnSpPr>
        <p:spPr>
          <a:xfrm>
            <a:off x="7383296" y="3530187"/>
            <a:ext cx="496987" cy="0"/>
          </a:xfrm>
          <a:prstGeom prst="straightConnector1">
            <a:avLst/>
          </a:prstGeom>
          <a:noFill/>
          <a:ln w="6350" cap="flat" cmpd="sng" algn="ctr">
            <a:solidFill>
              <a:srgbClr val="FFBF00"/>
            </a:solidFill>
            <a:prstDash val="solid"/>
            <a:miter lim="800000"/>
            <a:tailEnd type="triangle"/>
          </a:ln>
          <a:effectLst/>
        </p:spPr>
      </p:cxnSp>
      <p:sp>
        <p:nvSpPr>
          <p:cNvPr id="89" name="矩形 135"/>
          <p:cNvSpPr/>
          <p:nvPr/>
        </p:nvSpPr>
        <p:spPr>
          <a:xfrm>
            <a:off x="7891168" y="3402493"/>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决策支持</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0" name="直接箭头连接符 136"/>
          <p:cNvCxnSpPr/>
          <p:nvPr/>
        </p:nvCxnSpPr>
        <p:spPr>
          <a:xfrm>
            <a:off x="7383296" y="4535409"/>
            <a:ext cx="496987" cy="0"/>
          </a:xfrm>
          <a:prstGeom prst="straightConnector1">
            <a:avLst/>
          </a:prstGeom>
          <a:noFill/>
          <a:ln w="6350" cap="flat" cmpd="sng" algn="ctr">
            <a:solidFill>
              <a:srgbClr val="FFBF00"/>
            </a:solidFill>
            <a:prstDash val="solid"/>
            <a:miter lim="800000"/>
            <a:tailEnd type="triangle"/>
          </a:ln>
          <a:effectLst/>
        </p:spPr>
      </p:cxnSp>
      <p:sp>
        <p:nvSpPr>
          <p:cNvPr id="91" name="矩形 137"/>
          <p:cNvSpPr/>
          <p:nvPr/>
        </p:nvSpPr>
        <p:spPr>
          <a:xfrm>
            <a:off x="7891168" y="4407715"/>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微信平台</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2" name="直接箭头连接符 138"/>
          <p:cNvCxnSpPr/>
          <p:nvPr/>
        </p:nvCxnSpPr>
        <p:spPr>
          <a:xfrm>
            <a:off x="7383296" y="5540632"/>
            <a:ext cx="496987" cy="0"/>
          </a:xfrm>
          <a:prstGeom prst="straightConnector1">
            <a:avLst/>
          </a:prstGeom>
          <a:noFill/>
          <a:ln w="6350" cap="flat" cmpd="sng" algn="ctr">
            <a:solidFill>
              <a:srgbClr val="FFBF00"/>
            </a:solidFill>
            <a:prstDash val="solid"/>
            <a:miter lim="800000"/>
            <a:tailEnd type="triangle"/>
          </a:ln>
          <a:effectLst/>
        </p:spPr>
      </p:cxnSp>
      <p:sp>
        <p:nvSpPr>
          <p:cNvPr id="93" name="矩形 140"/>
          <p:cNvSpPr/>
          <p:nvPr/>
        </p:nvSpPr>
        <p:spPr>
          <a:xfrm>
            <a:off x="7891168" y="5412938"/>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一站式门户</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4" name="矩形 141"/>
          <p:cNvSpPr/>
          <p:nvPr/>
        </p:nvSpPr>
        <p:spPr>
          <a:xfrm>
            <a:off x="4351030" y="937421"/>
            <a:ext cx="3057247"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8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微软雅黑" panose="020B0503020204020204" pitchFamily="34" charset="-122"/>
              </a:rPr>
              <a:t>服务于流程和决策</a:t>
            </a:r>
            <a:endParaRPr kumimoji="0" lang="zh-CN" altLang="en-US" sz="2800" b="0" i="0" u="none" strike="noStrike" kern="0" cap="none" spc="0" normalizeH="0" baseline="0" noProof="0" dirty="0">
              <a:ln>
                <a:noFill/>
              </a:ln>
              <a:solidFill>
                <a:srgbClr val="000000"/>
              </a:solidFill>
              <a:effectLst/>
              <a:uLnTx/>
              <a:uFillTx/>
            </a:endParaRPr>
          </a:p>
        </p:txBody>
      </p:sp>
      <p:sp>
        <p:nvSpPr>
          <p:cNvPr id="95" name="文本框 2"/>
          <p:cNvSpPr txBox="1"/>
          <p:nvPr/>
        </p:nvSpPr>
        <p:spPr>
          <a:xfrm>
            <a:off x="9578279" y="1714768"/>
            <a:ext cx="2289115" cy="4611519"/>
          </a:xfrm>
          <a:prstGeom prst="rect">
            <a:avLst/>
          </a:prstGeom>
          <a:solidFill>
            <a:srgbClr val="FFFF00"/>
          </a:solidFill>
          <a:ln w="6350" cap="flat" cmpd="sng" algn="ctr">
            <a:solidFill>
              <a:srgbClr val="FAAF3F"/>
            </a:solidFill>
            <a:prstDash val="solid"/>
            <a:miter lim="800000"/>
          </a:ln>
          <a:effectLst/>
        </p:spPr>
        <p:txBody>
          <a:bodyPr wrap="square" rtlCol="0">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工资查询</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酬金发放查询</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住房补贴查询</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劳务费查询</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项目明细查询</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银行到款查询</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借款查询</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图书欠费查询</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图书借阅查询</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一卡通查询</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网费查询</a:t>
            </a:r>
            <a:endPar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a:t>
            </a:r>
            <a:endPar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cxnSp>
        <p:nvCxnSpPr>
          <p:cNvPr id="96" name="直接箭头连接符 12"/>
          <p:cNvCxnSpPr>
            <a:stCxn id="91" idx="3"/>
            <a:endCxn id="95" idx="1"/>
          </p:cNvCxnSpPr>
          <p:nvPr/>
        </p:nvCxnSpPr>
        <p:spPr>
          <a:xfrm flipV="1">
            <a:off x="8797884" y="4020528"/>
            <a:ext cx="780395" cy="542166"/>
          </a:xfrm>
          <a:prstGeom prst="straightConnector1">
            <a:avLst/>
          </a:prstGeom>
          <a:noFill/>
          <a:ln w="57150" cap="flat" cmpd="sng" algn="ctr">
            <a:solidFill>
              <a:srgbClr val="00B050"/>
            </a:solidFill>
            <a:prstDash val="solid"/>
            <a:miter lim="800000"/>
            <a:tailEnd type="triangle"/>
          </a:ln>
          <a:effectLst/>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xx</a:t>
            </a:r>
            <a:r>
              <a:rPr lang="zh-CN" altLang="en-US" dirty="0"/>
              <a:t>师范大学</a:t>
            </a:r>
            <a:r>
              <a:rPr lang="en-US" altLang="zh-CN" dirty="0"/>
              <a:t> </a:t>
            </a:r>
            <a:endParaRPr lang="zh-CN" altLang="en-US" dirty="0"/>
          </a:p>
        </p:txBody>
      </p:sp>
      <p:sp>
        <p:nvSpPr>
          <p:cNvPr id="3" name="流程图: 磁盘 6"/>
          <p:cNvSpPr/>
          <p:nvPr/>
        </p:nvSpPr>
        <p:spPr>
          <a:xfrm>
            <a:off x="4242675" y="1403159"/>
            <a:ext cx="3218082" cy="4824201"/>
          </a:xfrm>
          <a:prstGeom prst="flowChartMagneticDisk">
            <a:avLst/>
          </a:prstGeom>
          <a:noFill/>
          <a:ln w="9525" cap="flat" cmpd="sng" algn="ctr">
            <a:solidFill>
              <a:srgbClr val="00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4" name="文本框 7"/>
          <p:cNvSpPr txBox="1"/>
          <p:nvPr/>
        </p:nvSpPr>
        <p:spPr>
          <a:xfrm>
            <a:off x="5181883" y="1639731"/>
            <a:ext cx="1415772" cy="461665"/>
          </a:xfrm>
          <a:prstGeom prst="rect">
            <a:avLst/>
          </a:prstGeom>
          <a:solidFill>
            <a:srgbClr val="00B0F0"/>
          </a:solidFill>
          <a:ln>
            <a:noFill/>
          </a:ln>
          <a:effectLst>
            <a:outerShdw blurRad="57150" dist="19050" dir="5400000" algn="ctr" rotWithShape="0">
              <a:srgbClr val="000000">
                <a:alpha val="63000"/>
              </a:srgbClr>
            </a:outerShdw>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数据中心</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nvGrpSpPr>
          <p:cNvPr id="5" name="组合 26"/>
          <p:cNvGrpSpPr/>
          <p:nvPr/>
        </p:nvGrpSpPr>
        <p:grpSpPr>
          <a:xfrm>
            <a:off x="4557616" y="2125635"/>
            <a:ext cx="2664306" cy="3785289"/>
            <a:chOff x="2603084" y="1882809"/>
            <a:chExt cx="2664306" cy="3785289"/>
          </a:xfrm>
        </p:grpSpPr>
        <p:sp>
          <p:nvSpPr>
            <p:cNvPr id="6" name="文本框 8"/>
            <p:cNvSpPr txBox="1"/>
            <p:nvPr/>
          </p:nvSpPr>
          <p:spPr>
            <a:xfrm>
              <a:off x="3164937" y="1882809"/>
              <a:ext cx="700833"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8</a:t>
              </a:r>
              <a:r>
                <a:rPr kumimoji="0" lang="zh-CN" altLang="en-US" sz="1800" b="0" i="0" u="none" strike="noStrike" kern="0" cap="none" spc="0" normalizeH="0" baseline="0" noProof="0" dirty="0">
                  <a:ln>
                    <a:noFill/>
                  </a:ln>
                  <a:solidFill>
                    <a:srgbClr val="92D050"/>
                  </a:solidFill>
                  <a:effectLst/>
                  <a:uLnTx/>
                  <a:uFillTx/>
                </a:rPr>
                <a:t>类</a:t>
              </a:r>
              <a:endParaRPr kumimoji="0" lang="zh-CN" altLang="en-US" sz="1800" b="0" i="0" u="none" strike="noStrike" kern="0" cap="none" spc="0" normalizeH="0" baseline="0" noProof="0" dirty="0">
                <a:ln>
                  <a:noFill/>
                </a:ln>
                <a:solidFill>
                  <a:srgbClr val="92D050"/>
                </a:solidFill>
                <a:effectLst/>
                <a:uLnTx/>
                <a:uFillTx/>
              </a:endParaRPr>
            </a:p>
          </p:txBody>
        </p:sp>
        <p:sp>
          <p:nvSpPr>
            <p:cNvPr id="7" name="矩形 9"/>
            <p:cNvSpPr/>
            <p:nvPr/>
          </p:nvSpPr>
          <p:spPr>
            <a:xfrm>
              <a:off x="4227512" y="2140225"/>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数据集</a:t>
              </a:r>
              <a:endParaRPr kumimoji="0" lang="zh-CN" altLang="en-US" sz="1800" b="0" i="0" u="none" strike="noStrike" kern="0" cap="none" spc="0" normalizeH="0" baseline="0" noProof="0" dirty="0">
                <a:ln>
                  <a:noFill/>
                </a:ln>
                <a:solidFill>
                  <a:srgbClr val="000000"/>
                </a:solidFill>
                <a:effectLst/>
                <a:uLnTx/>
                <a:uFillTx/>
              </a:endParaRPr>
            </a:p>
          </p:txBody>
        </p:sp>
        <p:sp>
          <p:nvSpPr>
            <p:cNvPr id="8" name="文本框 10"/>
            <p:cNvSpPr txBox="1"/>
            <p:nvPr/>
          </p:nvSpPr>
          <p:spPr>
            <a:xfrm>
              <a:off x="3022270" y="2494168"/>
              <a:ext cx="986167"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55</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9" name="矩形 11"/>
            <p:cNvSpPr/>
            <p:nvPr/>
          </p:nvSpPr>
          <p:spPr>
            <a:xfrm>
              <a:off x="4227512" y="275158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数据类</a:t>
              </a:r>
              <a:endParaRPr kumimoji="0" lang="zh-CN" altLang="en-US" sz="1800" b="0" i="0" u="none" strike="noStrike" kern="0" cap="none" spc="0" normalizeH="0" baseline="0" noProof="0" dirty="0">
                <a:ln>
                  <a:noFill/>
                </a:ln>
                <a:solidFill>
                  <a:srgbClr val="000000"/>
                </a:solidFill>
                <a:effectLst/>
                <a:uLnTx/>
                <a:uFillTx/>
              </a:endParaRPr>
            </a:p>
          </p:txBody>
        </p:sp>
        <p:sp>
          <p:nvSpPr>
            <p:cNvPr id="10" name="文本框 18"/>
            <p:cNvSpPr txBox="1"/>
            <p:nvPr/>
          </p:nvSpPr>
          <p:spPr>
            <a:xfrm>
              <a:off x="2879602" y="3090138"/>
              <a:ext cx="127150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296</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1" name="矩形 19"/>
            <p:cNvSpPr/>
            <p:nvPr/>
          </p:nvSpPr>
          <p:spPr>
            <a:xfrm>
              <a:off x="3996679" y="3347554"/>
              <a:ext cx="1107996"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数据子类</a:t>
              </a:r>
              <a:endParaRPr kumimoji="0" lang="zh-CN" altLang="en-US" sz="1800" b="0" i="0" u="none" strike="noStrike" kern="0" cap="none" spc="0" normalizeH="0" baseline="0" noProof="0" dirty="0">
                <a:ln>
                  <a:noFill/>
                </a:ln>
                <a:solidFill>
                  <a:srgbClr val="000000"/>
                </a:solidFill>
                <a:effectLst/>
                <a:uLnTx/>
                <a:uFillTx/>
              </a:endParaRPr>
            </a:p>
          </p:txBody>
        </p:sp>
        <p:sp>
          <p:nvSpPr>
            <p:cNvPr id="12" name="文本框 20"/>
            <p:cNvSpPr txBox="1"/>
            <p:nvPr/>
          </p:nvSpPr>
          <p:spPr>
            <a:xfrm>
              <a:off x="2736935" y="3686108"/>
              <a:ext cx="1556836"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5328</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3" name="矩形 21"/>
            <p:cNvSpPr/>
            <p:nvPr/>
          </p:nvSpPr>
          <p:spPr>
            <a:xfrm>
              <a:off x="4227512" y="394352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数据项</a:t>
              </a:r>
              <a:endParaRPr kumimoji="0" lang="zh-CN" altLang="en-US" sz="1800" b="0" i="0" u="none" strike="noStrike" kern="0" cap="none" spc="0" normalizeH="0" baseline="0" noProof="0" dirty="0">
                <a:ln>
                  <a:noFill/>
                </a:ln>
                <a:solidFill>
                  <a:srgbClr val="000000"/>
                </a:solidFill>
                <a:effectLst/>
                <a:uLnTx/>
                <a:uFillTx/>
              </a:endParaRPr>
            </a:p>
          </p:txBody>
        </p:sp>
        <p:sp>
          <p:nvSpPr>
            <p:cNvPr id="14" name="文本框 22"/>
            <p:cNvSpPr txBox="1"/>
            <p:nvPr/>
          </p:nvSpPr>
          <p:spPr>
            <a:xfrm>
              <a:off x="2603084" y="4960212"/>
              <a:ext cx="177324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2.47</a:t>
              </a:r>
              <a:r>
                <a:rPr kumimoji="0" lang="zh-CN" altLang="en-US" sz="2800" b="0" i="0" u="none" strike="noStrike" kern="0" cap="none" spc="0" normalizeH="0" baseline="0" noProof="0" dirty="0">
                  <a:ln>
                    <a:noFill/>
                  </a:ln>
                  <a:solidFill>
                    <a:srgbClr val="FF0000"/>
                  </a:solidFill>
                  <a:effectLst/>
                  <a:uLnTx/>
                  <a:uFillTx/>
                </a:rPr>
                <a:t>亿</a:t>
              </a:r>
              <a:r>
                <a:rPr kumimoji="0" lang="zh-CN" altLang="en-US" sz="1800" b="0" i="0" u="none" strike="noStrike" kern="0" cap="none" spc="0" normalizeH="0" baseline="0" noProof="0" dirty="0">
                  <a:ln>
                    <a:noFill/>
                  </a:ln>
                  <a:solidFill>
                    <a:srgbClr val="92D050"/>
                  </a:solidFill>
                  <a:effectLst/>
                  <a:uLnTx/>
                  <a:uFillTx/>
                </a:rPr>
                <a:t>条</a:t>
              </a:r>
              <a:endParaRPr kumimoji="0" lang="zh-CN" altLang="en-US" sz="1800" b="0" i="0" u="none" strike="noStrike" kern="0" cap="none" spc="0" normalizeH="0" baseline="0" noProof="0" dirty="0">
                <a:ln>
                  <a:noFill/>
                </a:ln>
                <a:solidFill>
                  <a:srgbClr val="92D050"/>
                </a:solidFill>
                <a:effectLst/>
                <a:uLnTx/>
                <a:uFillTx/>
              </a:endParaRPr>
            </a:p>
          </p:txBody>
        </p:sp>
        <p:sp>
          <p:nvSpPr>
            <p:cNvPr id="15" name="矩形 23"/>
            <p:cNvSpPr/>
            <p:nvPr/>
          </p:nvSpPr>
          <p:spPr>
            <a:xfrm>
              <a:off x="4458344" y="5217628"/>
              <a:ext cx="646331"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记录</a:t>
              </a:r>
              <a:endParaRPr kumimoji="0" lang="zh-CN" altLang="en-US" sz="1800" b="0" i="0" u="none" strike="noStrike" kern="0" cap="none" spc="0" normalizeH="0" baseline="0" noProof="0" dirty="0">
                <a:ln>
                  <a:noFill/>
                </a:ln>
                <a:solidFill>
                  <a:srgbClr val="000000"/>
                </a:solidFill>
                <a:effectLst/>
                <a:uLnTx/>
                <a:uFillTx/>
              </a:endParaRPr>
            </a:p>
          </p:txBody>
        </p:sp>
        <p:sp>
          <p:nvSpPr>
            <p:cNvPr id="16" name="文本框 179"/>
            <p:cNvSpPr txBox="1"/>
            <p:nvPr/>
          </p:nvSpPr>
          <p:spPr>
            <a:xfrm>
              <a:off x="2774400" y="4430673"/>
              <a:ext cx="2492990" cy="492443"/>
            </a:xfrm>
            <a:prstGeom prst="rect">
              <a:avLst/>
            </a:prstGeom>
            <a:solidFill>
              <a:srgbClr val="F0F0F0">
                <a:lumMod val="75000"/>
              </a:srgbClr>
            </a:solidFill>
            <a:ln>
              <a:noFill/>
            </a:ln>
            <a:effectLst>
              <a:outerShdw blurRad="57150" dist="19050" dir="5400000" algn="ctr" rotWithShape="0">
                <a:srgbClr val="000000">
                  <a:alpha val="63000"/>
                </a:srgbClr>
              </a:outerShdw>
            </a:effectLst>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 1146 </a:t>
              </a: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个</a:t>
              </a:r>
              <a:r>
                <a:rPr kumimoji="0" lang="zh-CN" altLang="en-US" sz="1800" b="0" i="0" u="none" strike="noStrike" kern="0" cap="none" spc="0" normalizeH="0" baseline="0" noProof="0" dirty="0">
                  <a:ln>
                    <a:noFill/>
                  </a:ln>
                  <a:solidFill>
                    <a:srgbClr val="92D050"/>
                  </a:solidFill>
                  <a:effectLst/>
                  <a:uLnTx/>
                  <a:uFillTx/>
                  <a:latin typeface="Arial" panose="020B0604020202020204"/>
                  <a:ea typeface="微软雅黑" panose="020B0503020204020204" pitchFamily="34" charset="-122"/>
                  <a:cs typeface="+mn-cs"/>
                </a:rPr>
                <a:t>   </a:t>
              </a:r>
              <a:r>
                <a:rPr kumimoji="0" lang="zh-CN" altLang="en-US" sz="18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待补充</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sp>
        <p:nvSpPr>
          <p:cNvPr id="17" name="矩形 28"/>
          <p:cNvSpPr/>
          <p:nvPr/>
        </p:nvSpPr>
        <p:spPr>
          <a:xfrm>
            <a:off x="492399" y="117806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人事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8" name="直接箭头连接符 61"/>
          <p:cNvCxnSpPr>
            <a:stCxn id="17" idx="3"/>
          </p:cNvCxnSpPr>
          <p:nvPr/>
        </p:nvCxnSpPr>
        <p:spPr>
          <a:xfrm>
            <a:off x="1358970" y="1317656"/>
            <a:ext cx="2773512" cy="14299"/>
          </a:xfrm>
          <a:prstGeom prst="straightConnector1">
            <a:avLst/>
          </a:prstGeom>
          <a:noFill/>
          <a:ln w="6350" cap="flat" cmpd="sng" algn="ctr">
            <a:solidFill>
              <a:srgbClr val="FFBF00"/>
            </a:solidFill>
            <a:prstDash val="solid"/>
            <a:miter lim="800000"/>
            <a:tailEnd type="triangle"/>
          </a:ln>
          <a:effectLst/>
        </p:spPr>
      </p:cxnSp>
      <p:sp>
        <p:nvSpPr>
          <p:cNvPr id="19" name="矩形 90"/>
          <p:cNvSpPr/>
          <p:nvPr/>
        </p:nvSpPr>
        <p:spPr>
          <a:xfrm>
            <a:off x="492399" y="163973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研究生院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0" name="直接箭头连接符 91"/>
          <p:cNvCxnSpPr>
            <a:stCxn id="19" idx="3"/>
          </p:cNvCxnSpPr>
          <p:nvPr/>
        </p:nvCxnSpPr>
        <p:spPr>
          <a:xfrm>
            <a:off x="1358970" y="1779321"/>
            <a:ext cx="2773512" cy="14301"/>
          </a:xfrm>
          <a:prstGeom prst="straightConnector1">
            <a:avLst/>
          </a:prstGeom>
          <a:noFill/>
          <a:ln w="6350" cap="flat" cmpd="sng" algn="ctr">
            <a:solidFill>
              <a:srgbClr val="FFBF00"/>
            </a:solidFill>
            <a:prstDash val="solid"/>
            <a:miter lim="800000"/>
            <a:tailEnd type="triangle"/>
          </a:ln>
          <a:effectLst/>
        </p:spPr>
      </p:cxnSp>
      <p:sp>
        <p:nvSpPr>
          <p:cNvPr id="21" name="矩形 92"/>
          <p:cNvSpPr/>
          <p:nvPr/>
        </p:nvSpPr>
        <p:spPr>
          <a:xfrm>
            <a:off x="492399" y="210139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学工</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2" name="直接箭头连接符 93"/>
          <p:cNvCxnSpPr>
            <a:stCxn id="21" idx="3"/>
          </p:cNvCxnSpPr>
          <p:nvPr/>
        </p:nvCxnSpPr>
        <p:spPr>
          <a:xfrm>
            <a:off x="1358970" y="2240986"/>
            <a:ext cx="2773512" cy="14299"/>
          </a:xfrm>
          <a:prstGeom prst="straightConnector1">
            <a:avLst/>
          </a:prstGeom>
          <a:noFill/>
          <a:ln w="6350" cap="flat" cmpd="sng" algn="ctr">
            <a:solidFill>
              <a:srgbClr val="FFBF00"/>
            </a:solidFill>
            <a:prstDash val="solid"/>
            <a:miter lim="800000"/>
            <a:tailEnd type="triangle"/>
          </a:ln>
          <a:effectLst/>
        </p:spPr>
      </p:cxnSp>
      <p:sp>
        <p:nvSpPr>
          <p:cNvPr id="23" name="矩形 94"/>
          <p:cNvSpPr/>
          <p:nvPr/>
        </p:nvSpPr>
        <p:spPr>
          <a:xfrm>
            <a:off x="492399" y="256306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国资办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4" name="直接箭头连接符 95"/>
          <p:cNvCxnSpPr>
            <a:stCxn id="23" idx="3"/>
          </p:cNvCxnSpPr>
          <p:nvPr/>
        </p:nvCxnSpPr>
        <p:spPr>
          <a:xfrm>
            <a:off x="1358970" y="2702651"/>
            <a:ext cx="2773512" cy="14299"/>
          </a:xfrm>
          <a:prstGeom prst="straightConnector1">
            <a:avLst/>
          </a:prstGeom>
          <a:noFill/>
          <a:ln w="6350" cap="flat" cmpd="sng" algn="ctr">
            <a:solidFill>
              <a:srgbClr val="FFBF00"/>
            </a:solidFill>
            <a:prstDash val="solid"/>
            <a:miter lim="800000"/>
            <a:tailEnd type="triangle"/>
          </a:ln>
          <a:effectLst/>
        </p:spPr>
      </p:cxnSp>
      <p:sp>
        <p:nvSpPr>
          <p:cNvPr id="25" name="矩形 96"/>
          <p:cNvSpPr/>
          <p:nvPr/>
        </p:nvSpPr>
        <p:spPr>
          <a:xfrm>
            <a:off x="492399" y="302472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科研</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6" name="直接箭头连接符 97"/>
          <p:cNvCxnSpPr>
            <a:stCxn id="25" idx="3"/>
          </p:cNvCxnSpPr>
          <p:nvPr/>
        </p:nvCxnSpPr>
        <p:spPr>
          <a:xfrm>
            <a:off x="1358970" y="3164316"/>
            <a:ext cx="2773512" cy="14299"/>
          </a:xfrm>
          <a:prstGeom prst="straightConnector1">
            <a:avLst/>
          </a:prstGeom>
          <a:noFill/>
          <a:ln w="6350" cap="flat" cmpd="sng" algn="ctr">
            <a:solidFill>
              <a:srgbClr val="FFBF00"/>
            </a:solidFill>
            <a:prstDash val="solid"/>
            <a:miter lim="800000"/>
            <a:tailEnd type="triangle"/>
          </a:ln>
          <a:effectLst/>
        </p:spPr>
      </p:cxnSp>
      <p:sp>
        <p:nvSpPr>
          <p:cNvPr id="27" name="矩形 98"/>
          <p:cNvSpPr/>
          <p:nvPr/>
        </p:nvSpPr>
        <p:spPr>
          <a:xfrm>
            <a:off x="492399" y="348639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28" name="直接箭头连接符 99"/>
          <p:cNvCxnSpPr>
            <a:stCxn id="27" idx="3"/>
          </p:cNvCxnSpPr>
          <p:nvPr/>
        </p:nvCxnSpPr>
        <p:spPr>
          <a:xfrm>
            <a:off x="1358970" y="3625981"/>
            <a:ext cx="2773512" cy="14299"/>
          </a:xfrm>
          <a:prstGeom prst="straightConnector1">
            <a:avLst/>
          </a:prstGeom>
          <a:noFill/>
          <a:ln w="6350" cap="flat" cmpd="sng" algn="ctr">
            <a:solidFill>
              <a:srgbClr val="FFBF00"/>
            </a:solidFill>
            <a:prstDash val="solid"/>
            <a:miter lim="800000"/>
            <a:tailEnd type="triangle"/>
          </a:ln>
          <a:effectLst/>
        </p:spPr>
      </p:cxnSp>
      <p:sp>
        <p:nvSpPr>
          <p:cNvPr id="29" name="矩形 100"/>
          <p:cNvSpPr/>
          <p:nvPr/>
        </p:nvSpPr>
        <p:spPr>
          <a:xfrm>
            <a:off x="492399" y="394805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房产办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0" name="直接箭头连接符 101"/>
          <p:cNvCxnSpPr>
            <a:stCxn id="29" idx="3"/>
          </p:cNvCxnSpPr>
          <p:nvPr/>
        </p:nvCxnSpPr>
        <p:spPr>
          <a:xfrm>
            <a:off x="1358970" y="4087646"/>
            <a:ext cx="2773512" cy="14299"/>
          </a:xfrm>
          <a:prstGeom prst="straightConnector1">
            <a:avLst/>
          </a:prstGeom>
          <a:noFill/>
          <a:ln w="6350" cap="flat" cmpd="sng" algn="ctr">
            <a:solidFill>
              <a:srgbClr val="FFBF00"/>
            </a:solidFill>
            <a:prstDash val="solid"/>
            <a:miter lim="800000"/>
            <a:tailEnd type="triangle"/>
          </a:ln>
          <a:effectLst/>
        </p:spPr>
      </p:cxnSp>
      <p:sp>
        <p:nvSpPr>
          <p:cNvPr id="31" name="矩形 102"/>
          <p:cNvSpPr/>
          <p:nvPr/>
        </p:nvSpPr>
        <p:spPr>
          <a:xfrm>
            <a:off x="492399" y="440972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公管学院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2" name="直接箭头连接符 103"/>
          <p:cNvCxnSpPr>
            <a:stCxn id="31" idx="3"/>
          </p:cNvCxnSpPr>
          <p:nvPr/>
        </p:nvCxnSpPr>
        <p:spPr>
          <a:xfrm>
            <a:off x="1358970" y="4549311"/>
            <a:ext cx="2773512" cy="14299"/>
          </a:xfrm>
          <a:prstGeom prst="straightConnector1">
            <a:avLst/>
          </a:prstGeom>
          <a:noFill/>
          <a:ln w="6350" cap="flat" cmpd="sng" algn="ctr">
            <a:solidFill>
              <a:srgbClr val="FFBF00"/>
            </a:solidFill>
            <a:prstDash val="solid"/>
            <a:miter lim="800000"/>
            <a:tailEnd type="triangle"/>
          </a:ln>
          <a:effectLst/>
        </p:spPr>
      </p:cxnSp>
      <p:sp>
        <p:nvSpPr>
          <p:cNvPr id="33" name="矩形 104"/>
          <p:cNvSpPr/>
          <p:nvPr/>
        </p:nvSpPr>
        <p:spPr>
          <a:xfrm>
            <a:off x="492399" y="487138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教师教院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4" name="直接箭头连接符 105"/>
          <p:cNvCxnSpPr>
            <a:stCxn id="33" idx="3"/>
          </p:cNvCxnSpPr>
          <p:nvPr/>
        </p:nvCxnSpPr>
        <p:spPr>
          <a:xfrm>
            <a:off x="1358970" y="5010976"/>
            <a:ext cx="2773512" cy="14299"/>
          </a:xfrm>
          <a:prstGeom prst="straightConnector1">
            <a:avLst/>
          </a:prstGeom>
          <a:noFill/>
          <a:ln w="6350" cap="flat" cmpd="sng" algn="ctr">
            <a:solidFill>
              <a:srgbClr val="FFBF00"/>
            </a:solidFill>
            <a:prstDash val="solid"/>
            <a:miter lim="800000"/>
            <a:tailEnd type="triangle"/>
          </a:ln>
          <a:effectLst/>
        </p:spPr>
      </p:cxnSp>
      <p:sp>
        <p:nvSpPr>
          <p:cNvPr id="35" name="矩形 106"/>
          <p:cNvSpPr/>
          <p:nvPr/>
        </p:nvSpPr>
        <p:spPr>
          <a:xfrm>
            <a:off x="492399" y="533305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就业处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6" name="直接箭头连接符 107"/>
          <p:cNvCxnSpPr>
            <a:stCxn id="35" idx="3"/>
          </p:cNvCxnSpPr>
          <p:nvPr/>
        </p:nvCxnSpPr>
        <p:spPr>
          <a:xfrm>
            <a:off x="1358970" y="5472641"/>
            <a:ext cx="2773512" cy="14299"/>
          </a:xfrm>
          <a:prstGeom prst="straightConnector1">
            <a:avLst/>
          </a:prstGeom>
          <a:noFill/>
          <a:ln w="6350" cap="flat" cmpd="sng" algn="ctr">
            <a:solidFill>
              <a:srgbClr val="FFBF00"/>
            </a:solidFill>
            <a:prstDash val="solid"/>
            <a:miter lim="800000"/>
            <a:tailEnd type="triangle"/>
          </a:ln>
          <a:effectLst/>
        </p:spPr>
      </p:cxnSp>
      <p:sp>
        <p:nvSpPr>
          <p:cNvPr id="37" name="矩形 108"/>
          <p:cNvSpPr/>
          <p:nvPr/>
        </p:nvSpPr>
        <p:spPr>
          <a:xfrm>
            <a:off x="492399" y="579471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离退处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38" name="直接箭头连接符 109"/>
          <p:cNvCxnSpPr>
            <a:stCxn id="37" idx="3"/>
          </p:cNvCxnSpPr>
          <p:nvPr/>
        </p:nvCxnSpPr>
        <p:spPr>
          <a:xfrm>
            <a:off x="1358970" y="5934306"/>
            <a:ext cx="2773512" cy="14299"/>
          </a:xfrm>
          <a:prstGeom prst="straightConnector1">
            <a:avLst/>
          </a:prstGeom>
          <a:noFill/>
          <a:ln w="6350" cap="flat" cmpd="sng" algn="ctr">
            <a:solidFill>
              <a:srgbClr val="FFBF00"/>
            </a:solidFill>
            <a:prstDash val="solid"/>
            <a:miter lim="800000"/>
            <a:tailEnd type="triangle"/>
          </a:ln>
          <a:effectLst/>
        </p:spPr>
      </p:cxnSp>
      <p:sp>
        <p:nvSpPr>
          <p:cNvPr id="39" name="矩形 110"/>
          <p:cNvSpPr/>
          <p:nvPr/>
        </p:nvSpPr>
        <p:spPr>
          <a:xfrm>
            <a:off x="492399" y="625638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设备处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40" name="直接箭头连接符 111"/>
          <p:cNvCxnSpPr>
            <a:stCxn id="39" idx="3"/>
          </p:cNvCxnSpPr>
          <p:nvPr/>
        </p:nvCxnSpPr>
        <p:spPr>
          <a:xfrm>
            <a:off x="1358970" y="6395971"/>
            <a:ext cx="2773512" cy="14299"/>
          </a:xfrm>
          <a:prstGeom prst="straightConnector1">
            <a:avLst/>
          </a:prstGeom>
          <a:noFill/>
          <a:ln w="6350" cap="flat" cmpd="sng" algn="ctr">
            <a:solidFill>
              <a:srgbClr val="FFBF00"/>
            </a:solidFill>
            <a:prstDash val="solid"/>
            <a:miter lim="800000"/>
            <a:tailEnd type="triangle"/>
          </a:ln>
          <a:effectLst/>
        </p:spPr>
      </p:cxnSp>
      <p:sp>
        <p:nvSpPr>
          <p:cNvPr id="41" name="矩形 112"/>
          <p:cNvSpPr/>
          <p:nvPr/>
        </p:nvSpPr>
        <p:spPr>
          <a:xfrm>
            <a:off x="1851322" y="141045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统战</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2" name="矩形 114"/>
          <p:cNvSpPr/>
          <p:nvPr/>
        </p:nvSpPr>
        <p:spPr>
          <a:xfrm>
            <a:off x="1851322" y="187212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图书馆</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3" name="矩形 116"/>
          <p:cNvSpPr/>
          <p:nvPr/>
        </p:nvSpPr>
        <p:spPr>
          <a:xfrm>
            <a:off x="1851322" y="233378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外事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4" name="矩形 118"/>
          <p:cNvSpPr/>
          <p:nvPr/>
        </p:nvSpPr>
        <p:spPr>
          <a:xfrm>
            <a:off x="1851322" y="279545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工会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5" name="矩形 120"/>
          <p:cNvSpPr/>
          <p:nvPr/>
        </p:nvSpPr>
        <p:spPr>
          <a:xfrm>
            <a:off x="1851322" y="325711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校医院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6" name="矩形 122"/>
          <p:cNvSpPr/>
          <p:nvPr/>
        </p:nvSpPr>
        <p:spPr>
          <a:xfrm>
            <a:off x="1851322" y="371878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校友会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7" name="矩形 124"/>
          <p:cNvSpPr/>
          <p:nvPr/>
        </p:nvSpPr>
        <p:spPr>
          <a:xfrm>
            <a:off x="1851322" y="418044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宣传部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8" name="矩形 126"/>
          <p:cNvSpPr/>
          <p:nvPr/>
        </p:nvSpPr>
        <p:spPr>
          <a:xfrm>
            <a:off x="1851322" y="464211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9" name="矩形 128"/>
          <p:cNvSpPr/>
          <p:nvPr/>
        </p:nvSpPr>
        <p:spPr>
          <a:xfrm>
            <a:off x="1851322" y="510377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招标办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0" name="矩形 130"/>
          <p:cNvSpPr/>
          <p:nvPr/>
        </p:nvSpPr>
        <p:spPr>
          <a:xfrm>
            <a:off x="1851322" y="556544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组织部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51" name="矩形 132"/>
          <p:cNvSpPr/>
          <p:nvPr/>
        </p:nvSpPr>
        <p:spPr>
          <a:xfrm>
            <a:off x="1851322" y="602710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财务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52" name="直接箭头连接符 113"/>
          <p:cNvCxnSpPr>
            <a:stCxn id="41" idx="3"/>
          </p:cNvCxnSpPr>
          <p:nvPr/>
        </p:nvCxnSpPr>
        <p:spPr>
          <a:xfrm>
            <a:off x="2717893" y="1550045"/>
            <a:ext cx="1414589" cy="14299"/>
          </a:xfrm>
          <a:prstGeom prst="straightConnector1">
            <a:avLst/>
          </a:prstGeom>
          <a:noFill/>
          <a:ln w="6350" cap="flat" cmpd="sng" algn="ctr">
            <a:solidFill>
              <a:srgbClr val="FFBF00"/>
            </a:solidFill>
            <a:prstDash val="solid"/>
            <a:miter lim="800000"/>
            <a:tailEnd type="triangle"/>
          </a:ln>
          <a:effectLst/>
        </p:spPr>
      </p:cxnSp>
      <p:cxnSp>
        <p:nvCxnSpPr>
          <p:cNvPr id="53" name="直接箭头连接符 115"/>
          <p:cNvCxnSpPr>
            <a:stCxn id="42" idx="3"/>
          </p:cNvCxnSpPr>
          <p:nvPr/>
        </p:nvCxnSpPr>
        <p:spPr>
          <a:xfrm>
            <a:off x="2717893" y="2011710"/>
            <a:ext cx="1414589" cy="14299"/>
          </a:xfrm>
          <a:prstGeom prst="straightConnector1">
            <a:avLst/>
          </a:prstGeom>
          <a:noFill/>
          <a:ln w="6350" cap="flat" cmpd="sng" algn="ctr">
            <a:solidFill>
              <a:srgbClr val="FFBF00"/>
            </a:solidFill>
            <a:prstDash val="solid"/>
            <a:miter lim="800000"/>
            <a:tailEnd type="triangle"/>
          </a:ln>
          <a:effectLst/>
        </p:spPr>
      </p:cxnSp>
      <p:cxnSp>
        <p:nvCxnSpPr>
          <p:cNvPr id="54" name="直接箭头连接符 117"/>
          <p:cNvCxnSpPr>
            <a:stCxn id="43" idx="3"/>
          </p:cNvCxnSpPr>
          <p:nvPr/>
        </p:nvCxnSpPr>
        <p:spPr>
          <a:xfrm>
            <a:off x="2717893" y="2473375"/>
            <a:ext cx="1414589" cy="14299"/>
          </a:xfrm>
          <a:prstGeom prst="straightConnector1">
            <a:avLst/>
          </a:prstGeom>
          <a:noFill/>
          <a:ln w="6350" cap="flat" cmpd="sng" algn="ctr">
            <a:solidFill>
              <a:srgbClr val="FFBF00"/>
            </a:solidFill>
            <a:prstDash val="solid"/>
            <a:miter lim="800000"/>
            <a:tailEnd type="triangle"/>
          </a:ln>
          <a:effectLst/>
        </p:spPr>
      </p:cxnSp>
      <p:cxnSp>
        <p:nvCxnSpPr>
          <p:cNvPr id="55" name="直接箭头连接符 119"/>
          <p:cNvCxnSpPr>
            <a:stCxn id="44" idx="3"/>
          </p:cNvCxnSpPr>
          <p:nvPr/>
        </p:nvCxnSpPr>
        <p:spPr>
          <a:xfrm>
            <a:off x="2717893" y="2935040"/>
            <a:ext cx="1414589" cy="14299"/>
          </a:xfrm>
          <a:prstGeom prst="straightConnector1">
            <a:avLst/>
          </a:prstGeom>
          <a:noFill/>
          <a:ln w="6350" cap="flat" cmpd="sng" algn="ctr">
            <a:solidFill>
              <a:srgbClr val="FFBF00"/>
            </a:solidFill>
            <a:prstDash val="solid"/>
            <a:miter lim="800000"/>
            <a:tailEnd type="triangle"/>
          </a:ln>
          <a:effectLst/>
        </p:spPr>
      </p:cxnSp>
      <p:cxnSp>
        <p:nvCxnSpPr>
          <p:cNvPr id="56" name="直接箭头连接符 121"/>
          <p:cNvCxnSpPr>
            <a:stCxn id="45" idx="3"/>
          </p:cNvCxnSpPr>
          <p:nvPr/>
        </p:nvCxnSpPr>
        <p:spPr>
          <a:xfrm>
            <a:off x="2717893" y="3396705"/>
            <a:ext cx="1414589" cy="14299"/>
          </a:xfrm>
          <a:prstGeom prst="straightConnector1">
            <a:avLst/>
          </a:prstGeom>
          <a:noFill/>
          <a:ln w="6350" cap="flat" cmpd="sng" algn="ctr">
            <a:solidFill>
              <a:srgbClr val="FFBF00"/>
            </a:solidFill>
            <a:prstDash val="solid"/>
            <a:miter lim="800000"/>
            <a:tailEnd type="triangle"/>
          </a:ln>
          <a:effectLst/>
        </p:spPr>
      </p:cxnSp>
      <p:cxnSp>
        <p:nvCxnSpPr>
          <p:cNvPr id="57" name="直接箭头连接符 123"/>
          <p:cNvCxnSpPr>
            <a:stCxn id="46" idx="3"/>
          </p:cNvCxnSpPr>
          <p:nvPr/>
        </p:nvCxnSpPr>
        <p:spPr>
          <a:xfrm>
            <a:off x="2717893" y="3858370"/>
            <a:ext cx="1414589" cy="14299"/>
          </a:xfrm>
          <a:prstGeom prst="straightConnector1">
            <a:avLst/>
          </a:prstGeom>
          <a:noFill/>
          <a:ln w="6350" cap="flat" cmpd="sng" algn="ctr">
            <a:solidFill>
              <a:srgbClr val="FFBF00"/>
            </a:solidFill>
            <a:prstDash val="solid"/>
            <a:miter lim="800000"/>
            <a:tailEnd type="triangle"/>
          </a:ln>
          <a:effectLst/>
        </p:spPr>
      </p:cxnSp>
      <p:cxnSp>
        <p:nvCxnSpPr>
          <p:cNvPr id="58" name="直接箭头连接符 125"/>
          <p:cNvCxnSpPr>
            <a:stCxn id="47" idx="3"/>
          </p:cNvCxnSpPr>
          <p:nvPr/>
        </p:nvCxnSpPr>
        <p:spPr>
          <a:xfrm>
            <a:off x="2717893" y="4320035"/>
            <a:ext cx="1414589" cy="14299"/>
          </a:xfrm>
          <a:prstGeom prst="straightConnector1">
            <a:avLst/>
          </a:prstGeom>
          <a:noFill/>
          <a:ln w="6350" cap="flat" cmpd="sng" algn="ctr">
            <a:solidFill>
              <a:srgbClr val="FFBF00"/>
            </a:solidFill>
            <a:prstDash val="solid"/>
            <a:miter lim="800000"/>
            <a:tailEnd type="triangle"/>
          </a:ln>
          <a:effectLst/>
        </p:spPr>
      </p:cxnSp>
      <p:cxnSp>
        <p:nvCxnSpPr>
          <p:cNvPr id="59" name="直接箭头连接符 127"/>
          <p:cNvCxnSpPr>
            <a:stCxn id="48" idx="3"/>
          </p:cNvCxnSpPr>
          <p:nvPr/>
        </p:nvCxnSpPr>
        <p:spPr>
          <a:xfrm>
            <a:off x="2717893" y="4781700"/>
            <a:ext cx="1414589" cy="14299"/>
          </a:xfrm>
          <a:prstGeom prst="straightConnector1">
            <a:avLst/>
          </a:prstGeom>
          <a:noFill/>
          <a:ln w="6350" cap="flat" cmpd="sng" algn="ctr">
            <a:solidFill>
              <a:srgbClr val="FFBF00"/>
            </a:solidFill>
            <a:prstDash val="solid"/>
            <a:miter lim="800000"/>
            <a:tailEnd type="triangle"/>
          </a:ln>
          <a:effectLst/>
        </p:spPr>
      </p:cxnSp>
      <p:cxnSp>
        <p:nvCxnSpPr>
          <p:cNvPr id="60" name="直接箭头连接符 129"/>
          <p:cNvCxnSpPr>
            <a:stCxn id="49" idx="3"/>
          </p:cNvCxnSpPr>
          <p:nvPr/>
        </p:nvCxnSpPr>
        <p:spPr>
          <a:xfrm>
            <a:off x="2717893" y="5243365"/>
            <a:ext cx="1414589" cy="14299"/>
          </a:xfrm>
          <a:prstGeom prst="straightConnector1">
            <a:avLst/>
          </a:prstGeom>
          <a:noFill/>
          <a:ln w="6350" cap="flat" cmpd="sng" algn="ctr">
            <a:solidFill>
              <a:srgbClr val="FFBF00"/>
            </a:solidFill>
            <a:prstDash val="solid"/>
            <a:miter lim="800000"/>
            <a:tailEnd type="triangle"/>
          </a:ln>
          <a:effectLst/>
        </p:spPr>
      </p:cxnSp>
      <p:cxnSp>
        <p:nvCxnSpPr>
          <p:cNvPr id="61" name="直接箭头连接符 131"/>
          <p:cNvCxnSpPr>
            <a:stCxn id="50" idx="3"/>
          </p:cNvCxnSpPr>
          <p:nvPr/>
        </p:nvCxnSpPr>
        <p:spPr>
          <a:xfrm>
            <a:off x="2717893" y="5705030"/>
            <a:ext cx="1414589" cy="14299"/>
          </a:xfrm>
          <a:prstGeom prst="straightConnector1">
            <a:avLst/>
          </a:prstGeom>
          <a:noFill/>
          <a:ln w="6350" cap="flat" cmpd="sng" algn="ctr">
            <a:solidFill>
              <a:srgbClr val="FFBF00"/>
            </a:solidFill>
            <a:prstDash val="solid"/>
            <a:miter lim="800000"/>
            <a:tailEnd type="triangle"/>
          </a:ln>
          <a:effectLst/>
        </p:spPr>
      </p:cxnSp>
      <p:cxnSp>
        <p:nvCxnSpPr>
          <p:cNvPr id="62" name="直接箭头连接符 133"/>
          <p:cNvCxnSpPr>
            <a:stCxn id="51" idx="3"/>
          </p:cNvCxnSpPr>
          <p:nvPr/>
        </p:nvCxnSpPr>
        <p:spPr>
          <a:xfrm>
            <a:off x="2717893" y="6166695"/>
            <a:ext cx="1414589" cy="14299"/>
          </a:xfrm>
          <a:prstGeom prst="straightConnector1">
            <a:avLst/>
          </a:prstGeom>
          <a:noFill/>
          <a:ln w="6350" cap="flat" cmpd="sng" algn="ctr">
            <a:solidFill>
              <a:srgbClr val="FFBF00"/>
            </a:solidFill>
            <a:prstDash val="solid"/>
            <a:miter lim="800000"/>
            <a:tailEnd type="triangle"/>
          </a:ln>
          <a:effectLst/>
        </p:spPr>
      </p:cxnSp>
      <p:sp>
        <p:nvSpPr>
          <p:cNvPr id="63" name="矩形 139"/>
          <p:cNvSpPr/>
          <p:nvPr/>
        </p:nvSpPr>
        <p:spPr>
          <a:xfrm>
            <a:off x="1369464" y="1245338"/>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244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4" name="矩形 156"/>
          <p:cNvSpPr/>
          <p:nvPr/>
        </p:nvSpPr>
        <p:spPr>
          <a:xfrm>
            <a:off x="1369464" y="1702661"/>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464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5" name="矩形 157"/>
          <p:cNvSpPr/>
          <p:nvPr/>
        </p:nvSpPr>
        <p:spPr>
          <a:xfrm>
            <a:off x="1369464" y="2159984"/>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6" name="矩形 158"/>
          <p:cNvSpPr/>
          <p:nvPr/>
        </p:nvSpPr>
        <p:spPr>
          <a:xfrm>
            <a:off x="1369464" y="261730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78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7" name="矩形 159"/>
          <p:cNvSpPr/>
          <p:nvPr/>
        </p:nvSpPr>
        <p:spPr>
          <a:xfrm>
            <a:off x="1369464" y="3074630"/>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458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8" name="矩形 160"/>
          <p:cNvSpPr/>
          <p:nvPr/>
        </p:nvSpPr>
        <p:spPr>
          <a:xfrm>
            <a:off x="1369464" y="3531953"/>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69" name="矩形 161"/>
          <p:cNvSpPr/>
          <p:nvPr/>
        </p:nvSpPr>
        <p:spPr>
          <a:xfrm>
            <a:off x="1369464" y="3989276"/>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0" name="矩形 162"/>
          <p:cNvSpPr/>
          <p:nvPr/>
        </p:nvSpPr>
        <p:spPr>
          <a:xfrm>
            <a:off x="1369464" y="4481356"/>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1" name="矩形 164"/>
          <p:cNvSpPr/>
          <p:nvPr/>
        </p:nvSpPr>
        <p:spPr>
          <a:xfrm>
            <a:off x="1369464" y="4940922"/>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2" name="矩形 165"/>
          <p:cNvSpPr/>
          <p:nvPr/>
        </p:nvSpPr>
        <p:spPr>
          <a:xfrm>
            <a:off x="1369464" y="5400488"/>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97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3" name="矩形 166"/>
          <p:cNvSpPr/>
          <p:nvPr/>
        </p:nvSpPr>
        <p:spPr>
          <a:xfrm>
            <a:off x="1369464" y="5860054"/>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4" name="矩形 167"/>
          <p:cNvSpPr/>
          <p:nvPr/>
        </p:nvSpPr>
        <p:spPr>
          <a:xfrm>
            <a:off x="1369464" y="6325688"/>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188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5" name="矩形 168"/>
          <p:cNvSpPr/>
          <p:nvPr/>
        </p:nvSpPr>
        <p:spPr>
          <a:xfrm>
            <a:off x="2730827" y="1461569"/>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6" name="矩形 169"/>
          <p:cNvSpPr/>
          <p:nvPr/>
        </p:nvSpPr>
        <p:spPr>
          <a:xfrm>
            <a:off x="2730827" y="1918472"/>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125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7" name="矩形 170"/>
          <p:cNvSpPr/>
          <p:nvPr/>
        </p:nvSpPr>
        <p:spPr>
          <a:xfrm>
            <a:off x="2730827" y="2375375"/>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146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8" name="矩形 171"/>
          <p:cNvSpPr/>
          <p:nvPr/>
        </p:nvSpPr>
        <p:spPr>
          <a:xfrm>
            <a:off x="2730827" y="2832278"/>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9" name="矩形 172"/>
          <p:cNvSpPr/>
          <p:nvPr/>
        </p:nvSpPr>
        <p:spPr>
          <a:xfrm>
            <a:off x="2730827" y="3289181"/>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0" name="矩形 173"/>
          <p:cNvSpPr/>
          <p:nvPr/>
        </p:nvSpPr>
        <p:spPr>
          <a:xfrm>
            <a:off x="2730827" y="3768799"/>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1" name="矩形 174"/>
          <p:cNvSpPr/>
          <p:nvPr/>
        </p:nvSpPr>
        <p:spPr>
          <a:xfrm>
            <a:off x="2730827" y="4235717"/>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2" name="矩形 175"/>
          <p:cNvSpPr/>
          <p:nvPr/>
        </p:nvSpPr>
        <p:spPr>
          <a:xfrm>
            <a:off x="2730827" y="4694644"/>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174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3" name="矩形 176"/>
          <p:cNvSpPr/>
          <p:nvPr/>
        </p:nvSpPr>
        <p:spPr>
          <a:xfrm>
            <a:off x="2730827" y="5150127"/>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4" name="矩形 177"/>
          <p:cNvSpPr/>
          <p:nvPr/>
        </p:nvSpPr>
        <p:spPr>
          <a:xfrm>
            <a:off x="2730827" y="5605610"/>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85" name="矩形 178"/>
          <p:cNvSpPr/>
          <p:nvPr/>
        </p:nvSpPr>
        <p:spPr>
          <a:xfrm>
            <a:off x="2730827" y="6061093"/>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505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cxnSp>
        <p:nvCxnSpPr>
          <p:cNvPr id="86" name="直接箭头连接符 181"/>
          <p:cNvCxnSpPr/>
          <p:nvPr/>
        </p:nvCxnSpPr>
        <p:spPr>
          <a:xfrm>
            <a:off x="7493489" y="2323445"/>
            <a:ext cx="496987" cy="0"/>
          </a:xfrm>
          <a:prstGeom prst="straightConnector1">
            <a:avLst/>
          </a:prstGeom>
          <a:noFill/>
          <a:ln w="6350" cap="flat" cmpd="sng" algn="ctr">
            <a:solidFill>
              <a:srgbClr val="FFBF00"/>
            </a:solidFill>
            <a:prstDash val="solid"/>
            <a:miter lim="800000"/>
            <a:tailEnd type="triangle"/>
          </a:ln>
          <a:effectLst/>
        </p:spPr>
      </p:cxnSp>
      <p:sp>
        <p:nvSpPr>
          <p:cNvPr id="87" name="矩形 235"/>
          <p:cNvSpPr/>
          <p:nvPr/>
        </p:nvSpPr>
        <p:spPr>
          <a:xfrm>
            <a:off x="8001361" y="2195751"/>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一张表流程</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88" name="直接箭头连接符 134"/>
          <p:cNvCxnSpPr/>
          <p:nvPr/>
        </p:nvCxnSpPr>
        <p:spPr>
          <a:xfrm>
            <a:off x="7493489" y="3324918"/>
            <a:ext cx="496987" cy="0"/>
          </a:xfrm>
          <a:prstGeom prst="straightConnector1">
            <a:avLst/>
          </a:prstGeom>
          <a:noFill/>
          <a:ln w="6350" cap="flat" cmpd="sng" algn="ctr">
            <a:solidFill>
              <a:srgbClr val="FFBF00"/>
            </a:solidFill>
            <a:prstDash val="solid"/>
            <a:miter lim="800000"/>
            <a:tailEnd type="triangle"/>
          </a:ln>
          <a:effectLst/>
        </p:spPr>
      </p:cxnSp>
      <p:sp>
        <p:nvSpPr>
          <p:cNvPr id="89" name="矩形 135"/>
          <p:cNvSpPr/>
          <p:nvPr/>
        </p:nvSpPr>
        <p:spPr>
          <a:xfrm>
            <a:off x="8001361" y="3197224"/>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决策支持</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0" name="直接箭头连接符 136"/>
          <p:cNvCxnSpPr/>
          <p:nvPr/>
        </p:nvCxnSpPr>
        <p:spPr>
          <a:xfrm>
            <a:off x="7493489" y="4330140"/>
            <a:ext cx="496987" cy="0"/>
          </a:xfrm>
          <a:prstGeom prst="straightConnector1">
            <a:avLst/>
          </a:prstGeom>
          <a:noFill/>
          <a:ln w="6350" cap="flat" cmpd="sng" algn="ctr">
            <a:solidFill>
              <a:srgbClr val="FFBF00"/>
            </a:solidFill>
            <a:prstDash val="solid"/>
            <a:miter lim="800000"/>
            <a:tailEnd type="triangle"/>
          </a:ln>
          <a:effectLst/>
        </p:spPr>
      </p:cxnSp>
      <p:sp>
        <p:nvSpPr>
          <p:cNvPr id="91" name="矩形 137"/>
          <p:cNvSpPr/>
          <p:nvPr/>
        </p:nvSpPr>
        <p:spPr>
          <a:xfrm>
            <a:off x="8001361" y="4202446"/>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微信平台</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92" name="直接箭头连接符 138"/>
          <p:cNvCxnSpPr/>
          <p:nvPr/>
        </p:nvCxnSpPr>
        <p:spPr>
          <a:xfrm>
            <a:off x="7493489" y="5335363"/>
            <a:ext cx="496987" cy="0"/>
          </a:xfrm>
          <a:prstGeom prst="straightConnector1">
            <a:avLst/>
          </a:prstGeom>
          <a:noFill/>
          <a:ln w="6350" cap="flat" cmpd="sng" algn="ctr">
            <a:solidFill>
              <a:srgbClr val="FFBF00"/>
            </a:solidFill>
            <a:prstDash val="solid"/>
            <a:miter lim="800000"/>
            <a:tailEnd type="triangle"/>
          </a:ln>
          <a:effectLst/>
        </p:spPr>
      </p:cxnSp>
      <p:sp>
        <p:nvSpPr>
          <p:cNvPr id="93" name="矩形 140"/>
          <p:cNvSpPr/>
          <p:nvPr/>
        </p:nvSpPr>
        <p:spPr>
          <a:xfrm>
            <a:off x="8001361" y="5207669"/>
            <a:ext cx="906716" cy="309958"/>
          </a:xfrm>
          <a:prstGeom prst="rect">
            <a:avLst/>
          </a:prstGeom>
          <a:solidFill>
            <a:srgbClr val="00B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一站式门户</a:t>
            </a:r>
            <a:endPar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4" name="文本框 2"/>
          <p:cNvSpPr txBox="1"/>
          <p:nvPr/>
        </p:nvSpPr>
        <p:spPr>
          <a:xfrm>
            <a:off x="9688472" y="1509499"/>
            <a:ext cx="2289115" cy="4519186"/>
          </a:xfrm>
          <a:prstGeom prst="rect">
            <a:avLst/>
          </a:prstGeom>
          <a:solidFill>
            <a:srgbClr val="FFFF00"/>
          </a:solidFill>
          <a:ln w="6350" cap="flat" cmpd="sng" algn="ctr">
            <a:solidFill>
              <a:srgbClr val="FAAF3F"/>
            </a:solidFill>
            <a:prstDash val="solid"/>
            <a:miter lim="800000"/>
          </a:ln>
          <a:effectLst/>
        </p:spPr>
        <p:txBody>
          <a:bodyPr wrap="square" rtlCol="0">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a:t>
            </a:r>
            <a:endPar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a:t>
            </a:r>
            <a:endPar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a:t>
            </a:r>
            <a:endPar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a:t>
            </a:r>
            <a:endPar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a:t>
            </a:r>
            <a:endPar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endPar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endPar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endPar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endPar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endPar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endParaRPr kumimoji="0" lang="en-US" altLang="zh-CN" sz="16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endParaRPr>
          </a:p>
        </p:txBody>
      </p:sp>
      <p:cxnSp>
        <p:nvCxnSpPr>
          <p:cNvPr id="95" name="直接箭头连接符 12"/>
          <p:cNvCxnSpPr>
            <a:stCxn id="93" idx="3"/>
            <a:endCxn id="94" idx="1"/>
          </p:cNvCxnSpPr>
          <p:nvPr/>
        </p:nvCxnSpPr>
        <p:spPr>
          <a:xfrm flipV="1">
            <a:off x="8908077" y="3769092"/>
            <a:ext cx="780395" cy="1593556"/>
          </a:xfrm>
          <a:prstGeom prst="straightConnector1">
            <a:avLst/>
          </a:prstGeom>
          <a:noFill/>
          <a:ln w="57150" cap="flat" cmpd="sng" algn="ctr">
            <a:solidFill>
              <a:srgbClr val="00B050"/>
            </a:solidFill>
            <a:prstDash val="solid"/>
            <a:miter lim="800000"/>
            <a:tailEnd type="triangle"/>
          </a:ln>
          <a:effectLst/>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xx</a:t>
            </a:r>
            <a:r>
              <a:rPr lang="zh-CN" altLang="en-US" dirty="0"/>
              <a:t>师范大学</a:t>
            </a:r>
            <a:r>
              <a:rPr lang="en-US" altLang="zh-CN" dirty="0"/>
              <a:t> </a:t>
            </a:r>
            <a:endParaRPr lang="zh-CN" altLang="en-US" dirty="0"/>
          </a:p>
        </p:txBody>
      </p:sp>
      <p:sp>
        <p:nvSpPr>
          <p:cNvPr id="90" name="流程图: 磁盘 6"/>
          <p:cNvSpPr/>
          <p:nvPr/>
        </p:nvSpPr>
        <p:spPr>
          <a:xfrm>
            <a:off x="4504494" y="1409404"/>
            <a:ext cx="3218082" cy="4824201"/>
          </a:xfrm>
          <a:prstGeom prst="flowChartMagneticDisk">
            <a:avLst/>
          </a:prstGeom>
          <a:noFill/>
          <a:ln w="9525" cap="flat" cmpd="sng" algn="ctr">
            <a:solidFill>
              <a:srgbClr val="00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微软雅黑" panose="020B0503020204020204" pitchFamily="34" charset="-122"/>
              <a:cs typeface="+mn-cs"/>
            </a:endParaRPr>
          </a:p>
        </p:txBody>
      </p:sp>
      <p:sp>
        <p:nvSpPr>
          <p:cNvPr id="91" name="文本框 7"/>
          <p:cNvSpPr txBox="1"/>
          <p:nvPr/>
        </p:nvSpPr>
        <p:spPr>
          <a:xfrm>
            <a:off x="5443702" y="1645976"/>
            <a:ext cx="1415772" cy="461665"/>
          </a:xfrm>
          <a:prstGeom prst="rect">
            <a:avLst/>
          </a:prstGeom>
          <a:solidFill>
            <a:srgbClr val="00B0F0"/>
          </a:solidFill>
          <a:ln>
            <a:noFill/>
          </a:ln>
          <a:effectLst>
            <a:outerShdw blurRad="57150" dist="19050" dir="5400000" algn="ctr" rotWithShape="0">
              <a:srgbClr val="000000">
                <a:alpha val="63000"/>
              </a:srgbClr>
            </a:outerShdw>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数据中心</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nvGrpSpPr>
          <p:cNvPr id="92" name="组合 26"/>
          <p:cNvGrpSpPr/>
          <p:nvPr/>
        </p:nvGrpSpPr>
        <p:grpSpPr>
          <a:xfrm>
            <a:off x="4819435" y="2131880"/>
            <a:ext cx="2664306" cy="3785289"/>
            <a:chOff x="2603084" y="1882809"/>
            <a:chExt cx="2664306" cy="3785289"/>
          </a:xfrm>
        </p:grpSpPr>
        <p:sp>
          <p:nvSpPr>
            <p:cNvPr id="93" name="文本框 8"/>
            <p:cNvSpPr txBox="1"/>
            <p:nvPr/>
          </p:nvSpPr>
          <p:spPr>
            <a:xfrm>
              <a:off x="3164937" y="1882809"/>
              <a:ext cx="700833"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8</a:t>
              </a:r>
              <a:r>
                <a:rPr kumimoji="0" lang="zh-CN" altLang="en-US" sz="1800" b="0" i="0" u="none" strike="noStrike" kern="0" cap="none" spc="0" normalizeH="0" baseline="0" noProof="0" dirty="0">
                  <a:ln>
                    <a:noFill/>
                  </a:ln>
                  <a:solidFill>
                    <a:srgbClr val="92D050"/>
                  </a:solidFill>
                  <a:effectLst/>
                  <a:uLnTx/>
                  <a:uFillTx/>
                </a:rPr>
                <a:t>类</a:t>
              </a:r>
              <a:endParaRPr kumimoji="0" lang="zh-CN" altLang="en-US" sz="1800" b="0" i="0" u="none" strike="noStrike" kern="0" cap="none" spc="0" normalizeH="0" baseline="0" noProof="0" dirty="0">
                <a:ln>
                  <a:noFill/>
                </a:ln>
                <a:solidFill>
                  <a:srgbClr val="92D050"/>
                </a:solidFill>
                <a:effectLst/>
                <a:uLnTx/>
                <a:uFillTx/>
              </a:endParaRPr>
            </a:p>
          </p:txBody>
        </p:sp>
        <p:sp>
          <p:nvSpPr>
            <p:cNvPr id="94" name="矩形 9"/>
            <p:cNvSpPr/>
            <p:nvPr/>
          </p:nvSpPr>
          <p:spPr>
            <a:xfrm>
              <a:off x="4227512" y="2140225"/>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数据集</a:t>
              </a:r>
              <a:endParaRPr kumimoji="0" lang="zh-CN" altLang="en-US" sz="1800" b="0" i="0" u="none" strike="noStrike" kern="0" cap="none" spc="0" normalizeH="0" baseline="0" noProof="0" dirty="0">
                <a:ln>
                  <a:noFill/>
                </a:ln>
                <a:solidFill>
                  <a:srgbClr val="000000"/>
                </a:solidFill>
                <a:effectLst/>
                <a:uLnTx/>
                <a:uFillTx/>
              </a:endParaRPr>
            </a:p>
          </p:txBody>
        </p:sp>
        <p:sp>
          <p:nvSpPr>
            <p:cNvPr id="95" name="文本框 10"/>
            <p:cNvSpPr txBox="1"/>
            <p:nvPr/>
          </p:nvSpPr>
          <p:spPr>
            <a:xfrm>
              <a:off x="3022270" y="2494168"/>
              <a:ext cx="986167"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55</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96" name="矩形 11"/>
            <p:cNvSpPr/>
            <p:nvPr/>
          </p:nvSpPr>
          <p:spPr>
            <a:xfrm>
              <a:off x="4227512" y="275158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数据类</a:t>
              </a:r>
              <a:endParaRPr kumimoji="0" lang="zh-CN" altLang="en-US" sz="1800" b="0" i="0" u="none" strike="noStrike" kern="0" cap="none" spc="0" normalizeH="0" baseline="0" noProof="0" dirty="0">
                <a:ln>
                  <a:noFill/>
                </a:ln>
                <a:solidFill>
                  <a:srgbClr val="000000"/>
                </a:solidFill>
                <a:effectLst/>
                <a:uLnTx/>
                <a:uFillTx/>
              </a:endParaRPr>
            </a:p>
          </p:txBody>
        </p:sp>
        <p:sp>
          <p:nvSpPr>
            <p:cNvPr id="97" name="文本框 18"/>
            <p:cNvSpPr txBox="1"/>
            <p:nvPr/>
          </p:nvSpPr>
          <p:spPr>
            <a:xfrm>
              <a:off x="2879602" y="3090138"/>
              <a:ext cx="127150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296</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98" name="矩形 19"/>
            <p:cNvSpPr/>
            <p:nvPr/>
          </p:nvSpPr>
          <p:spPr>
            <a:xfrm>
              <a:off x="3996679" y="3347554"/>
              <a:ext cx="1107996"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数据子类</a:t>
              </a:r>
              <a:endParaRPr kumimoji="0" lang="zh-CN" altLang="en-US" sz="1800" b="0" i="0" u="none" strike="noStrike" kern="0" cap="none" spc="0" normalizeH="0" baseline="0" noProof="0" dirty="0">
                <a:ln>
                  <a:noFill/>
                </a:ln>
                <a:solidFill>
                  <a:srgbClr val="000000"/>
                </a:solidFill>
                <a:effectLst/>
                <a:uLnTx/>
                <a:uFillTx/>
              </a:endParaRPr>
            </a:p>
          </p:txBody>
        </p:sp>
        <p:sp>
          <p:nvSpPr>
            <p:cNvPr id="99" name="文本框 20"/>
            <p:cNvSpPr txBox="1"/>
            <p:nvPr/>
          </p:nvSpPr>
          <p:spPr>
            <a:xfrm>
              <a:off x="2736935" y="3686108"/>
              <a:ext cx="1556836"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5328</a:t>
              </a:r>
              <a:r>
                <a:rPr kumimoji="0" lang="zh-CN" altLang="en-US" sz="1800" b="0" i="0" u="none" strike="noStrike" kern="0" cap="none" spc="0" normalizeH="0" baseline="0" noProof="0" dirty="0">
                  <a:ln>
                    <a:noFill/>
                  </a:ln>
                  <a:solidFill>
                    <a:srgbClr val="92D050"/>
                  </a:solidFill>
                  <a:effectLst/>
                  <a:uLnTx/>
                  <a:uFillTx/>
                </a:rPr>
                <a:t>个</a:t>
              </a:r>
              <a:endParaRPr kumimoji="0" lang="zh-CN" altLang="en-US" sz="1800" b="0" i="0" u="none" strike="noStrike" kern="0" cap="none" spc="0" normalizeH="0" baseline="0" noProof="0" dirty="0">
                <a:ln>
                  <a:noFill/>
                </a:ln>
                <a:solidFill>
                  <a:srgbClr val="92D050"/>
                </a:solidFill>
                <a:effectLst/>
                <a:uLnTx/>
                <a:uFillTx/>
              </a:endParaRPr>
            </a:p>
          </p:txBody>
        </p:sp>
        <p:sp>
          <p:nvSpPr>
            <p:cNvPr id="100" name="矩形 21"/>
            <p:cNvSpPr/>
            <p:nvPr/>
          </p:nvSpPr>
          <p:spPr>
            <a:xfrm>
              <a:off x="4227512" y="3943524"/>
              <a:ext cx="877163"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数据项</a:t>
              </a:r>
              <a:endParaRPr kumimoji="0" lang="zh-CN" altLang="en-US" sz="1800" b="0" i="0" u="none" strike="noStrike" kern="0" cap="none" spc="0" normalizeH="0" baseline="0" noProof="0" dirty="0">
                <a:ln>
                  <a:noFill/>
                </a:ln>
                <a:solidFill>
                  <a:srgbClr val="000000"/>
                </a:solidFill>
                <a:effectLst/>
                <a:uLnTx/>
                <a:uFillTx/>
              </a:endParaRPr>
            </a:p>
          </p:txBody>
        </p:sp>
        <p:sp>
          <p:nvSpPr>
            <p:cNvPr id="101" name="文本框 22"/>
            <p:cNvSpPr txBox="1"/>
            <p:nvPr/>
          </p:nvSpPr>
          <p:spPr>
            <a:xfrm>
              <a:off x="2603084" y="4960212"/>
              <a:ext cx="177324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dirty="0">
                  <a:ln>
                    <a:noFill/>
                  </a:ln>
                  <a:solidFill>
                    <a:srgbClr val="FF0000"/>
                  </a:solidFill>
                  <a:effectLst/>
                  <a:uLnTx/>
                  <a:uFillTx/>
                </a:rPr>
                <a:t>2.47</a:t>
              </a:r>
              <a:r>
                <a:rPr kumimoji="0" lang="zh-CN" altLang="en-US" sz="2800" b="0" i="0" u="none" strike="noStrike" kern="0" cap="none" spc="0" normalizeH="0" baseline="0" noProof="0" dirty="0">
                  <a:ln>
                    <a:noFill/>
                  </a:ln>
                  <a:solidFill>
                    <a:srgbClr val="FF0000"/>
                  </a:solidFill>
                  <a:effectLst/>
                  <a:uLnTx/>
                  <a:uFillTx/>
                </a:rPr>
                <a:t>亿</a:t>
              </a:r>
              <a:r>
                <a:rPr kumimoji="0" lang="zh-CN" altLang="en-US" sz="1800" b="0" i="0" u="none" strike="noStrike" kern="0" cap="none" spc="0" normalizeH="0" baseline="0" noProof="0" dirty="0">
                  <a:ln>
                    <a:noFill/>
                  </a:ln>
                  <a:solidFill>
                    <a:srgbClr val="92D050"/>
                  </a:solidFill>
                  <a:effectLst/>
                  <a:uLnTx/>
                  <a:uFillTx/>
                </a:rPr>
                <a:t>条</a:t>
              </a:r>
              <a:endParaRPr kumimoji="0" lang="zh-CN" altLang="en-US" sz="1800" b="0" i="0" u="none" strike="noStrike" kern="0" cap="none" spc="0" normalizeH="0" baseline="0" noProof="0" dirty="0">
                <a:ln>
                  <a:noFill/>
                </a:ln>
                <a:solidFill>
                  <a:srgbClr val="92D050"/>
                </a:solidFill>
                <a:effectLst/>
                <a:uLnTx/>
                <a:uFillTx/>
              </a:endParaRPr>
            </a:p>
          </p:txBody>
        </p:sp>
        <p:sp>
          <p:nvSpPr>
            <p:cNvPr id="102" name="矩形 23"/>
            <p:cNvSpPr/>
            <p:nvPr/>
          </p:nvSpPr>
          <p:spPr>
            <a:xfrm>
              <a:off x="4458344" y="5217628"/>
              <a:ext cx="646331"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rPr>
                <a:t>记录</a:t>
              </a:r>
              <a:endParaRPr kumimoji="0" lang="zh-CN" altLang="en-US" sz="1800" b="0" i="0" u="none" strike="noStrike" kern="0" cap="none" spc="0" normalizeH="0" baseline="0" noProof="0" dirty="0">
                <a:ln>
                  <a:noFill/>
                </a:ln>
                <a:solidFill>
                  <a:srgbClr val="000000"/>
                </a:solidFill>
                <a:effectLst/>
                <a:uLnTx/>
                <a:uFillTx/>
              </a:endParaRPr>
            </a:p>
          </p:txBody>
        </p:sp>
        <p:sp>
          <p:nvSpPr>
            <p:cNvPr id="103" name="文本框 179"/>
            <p:cNvSpPr txBox="1"/>
            <p:nvPr/>
          </p:nvSpPr>
          <p:spPr>
            <a:xfrm>
              <a:off x="2774400" y="4430673"/>
              <a:ext cx="2492990" cy="492443"/>
            </a:xfrm>
            <a:prstGeom prst="rect">
              <a:avLst/>
            </a:prstGeom>
            <a:solidFill>
              <a:srgbClr val="F0F0F0">
                <a:lumMod val="75000"/>
              </a:srgbClr>
            </a:solidFill>
            <a:ln>
              <a:noFill/>
            </a:ln>
            <a:effectLst>
              <a:outerShdw blurRad="57150" dist="19050" dir="5400000" algn="ctr" rotWithShape="0">
                <a:srgbClr val="000000">
                  <a:alpha val="63000"/>
                </a:srgbClr>
              </a:outerShdw>
            </a:effectLst>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32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 1146 </a:t>
              </a:r>
              <a:r>
                <a:rPr kumimoji="0" lang="zh-CN" altLang="en-US" sz="1800" b="0" i="0" u="none" strike="noStrike" kern="0" cap="none" spc="0" normalizeH="0" baseline="0" noProof="0" dirty="0">
                  <a:ln>
                    <a:noFill/>
                  </a:ln>
                  <a:solidFill>
                    <a:srgbClr val="000000"/>
                  </a:solidFill>
                  <a:effectLst/>
                  <a:uLnTx/>
                  <a:uFillTx/>
                  <a:latin typeface="Arial" panose="020B0604020202020204"/>
                  <a:ea typeface="微软雅黑" panose="020B0503020204020204" pitchFamily="34" charset="-122"/>
                  <a:cs typeface="+mn-cs"/>
                </a:rPr>
                <a:t>个</a:t>
              </a:r>
              <a:r>
                <a:rPr kumimoji="0" lang="zh-CN" altLang="en-US" sz="1800" b="0" i="0" u="none" strike="noStrike" kern="0" cap="none" spc="0" normalizeH="0" baseline="0" noProof="0" dirty="0">
                  <a:ln>
                    <a:noFill/>
                  </a:ln>
                  <a:solidFill>
                    <a:srgbClr val="92D050"/>
                  </a:solidFill>
                  <a:effectLst/>
                  <a:uLnTx/>
                  <a:uFillTx/>
                  <a:latin typeface="Arial" panose="020B0604020202020204"/>
                  <a:ea typeface="微软雅黑" panose="020B0503020204020204" pitchFamily="34" charset="-122"/>
                  <a:cs typeface="+mn-cs"/>
                </a:rPr>
                <a:t>   </a:t>
              </a:r>
              <a:r>
                <a:rPr kumimoji="0" lang="zh-CN" altLang="en-US" sz="1800" b="0" i="0" u="none" strike="noStrike" kern="0" cap="none" spc="0" normalizeH="0" baseline="0" noProof="0" dirty="0">
                  <a:ln w="0"/>
                  <a:solidFill>
                    <a:srgbClr val="000000"/>
                  </a:solidFill>
                  <a:effectLst/>
                  <a:uLnTx/>
                  <a:uFillTx/>
                  <a:latin typeface="Arial" panose="020B0604020202020204"/>
                  <a:ea typeface="微软雅黑" panose="020B0503020204020204" pitchFamily="34" charset="-122"/>
                  <a:cs typeface="+mn-cs"/>
                </a:rPr>
                <a:t>待补充</a:t>
              </a: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pSp>
      <p:sp>
        <p:nvSpPr>
          <p:cNvPr id="104" name="矩形 28"/>
          <p:cNvSpPr/>
          <p:nvPr/>
        </p:nvSpPr>
        <p:spPr>
          <a:xfrm>
            <a:off x="754218" y="118431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人事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05" name="直接箭头连接符 61"/>
          <p:cNvCxnSpPr>
            <a:stCxn id="104" idx="3"/>
          </p:cNvCxnSpPr>
          <p:nvPr/>
        </p:nvCxnSpPr>
        <p:spPr>
          <a:xfrm>
            <a:off x="1620789" y="1323901"/>
            <a:ext cx="2773512" cy="14299"/>
          </a:xfrm>
          <a:prstGeom prst="straightConnector1">
            <a:avLst/>
          </a:prstGeom>
          <a:noFill/>
          <a:ln w="6350" cap="flat" cmpd="sng" algn="ctr">
            <a:solidFill>
              <a:srgbClr val="FFBF00"/>
            </a:solidFill>
            <a:prstDash val="solid"/>
            <a:miter lim="800000"/>
            <a:tailEnd type="triangle"/>
          </a:ln>
          <a:effectLst/>
        </p:spPr>
      </p:cxnSp>
      <p:sp>
        <p:nvSpPr>
          <p:cNvPr id="106" name="矩形 90"/>
          <p:cNvSpPr/>
          <p:nvPr/>
        </p:nvSpPr>
        <p:spPr>
          <a:xfrm>
            <a:off x="754218" y="164597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研究生院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07" name="直接箭头连接符 91"/>
          <p:cNvCxnSpPr>
            <a:stCxn id="106" idx="3"/>
          </p:cNvCxnSpPr>
          <p:nvPr/>
        </p:nvCxnSpPr>
        <p:spPr>
          <a:xfrm>
            <a:off x="1620789" y="1785566"/>
            <a:ext cx="2773512" cy="14301"/>
          </a:xfrm>
          <a:prstGeom prst="straightConnector1">
            <a:avLst/>
          </a:prstGeom>
          <a:noFill/>
          <a:ln w="6350" cap="flat" cmpd="sng" algn="ctr">
            <a:solidFill>
              <a:srgbClr val="FFBF00"/>
            </a:solidFill>
            <a:prstDash val="solid"/>
            <a:miter lim="800000"/>
            <a:tailEnd type="triangle"/>
          </a:ln>
          <a:effectLst/>
        </p:spPr>
      </p:cxnSp>
      <p:sp>
        <p:nvSpPr>
          <p:cNvPr id="108" name="矩形 92"/>
          <p:cNvSpPr/>
          <p:nvPr/>
        </p:nvSpPr>
        <p:spPr>
          <a:xfrm>
            <a:off x="754218" y="210764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学工</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09" name="直接箭头连接符 93"/>
          <p:cNvCxnSpPr>
            <a:stCxn id="108" idx="3"/>
          </p:cNvCxnSpPr>
          <p:nvPr/>
        </p:nvCxnSpPr>
        <p:spPr>
          <a:xfrm>
            <a:off x="1620789" y="2247231"/>
            <a:ext cx="2773512" cy="14299"/>
          </a:xfrm>
          <a:prstGeom prst="straightConnector1">
            <a:avLst/>
          </a:prstGeom>
          <a:noFill/>
          <a:ln w="6350" cap="flat" cmpd="sng" algn="ctr">
            <a:solidFill>
              <a:srgbClr val="FFBF00"/>
            </a:solidFill>
            <a:prstDash val="solid"/>
            <a:miter lim="800000"/>
            <a:tailEnd type="triangle"/>
          </a:ln>
          <a:effectLst/>
        </p:spPr>
      </p:cxnSp>
      <p:sp>
        <p:nvSpPr>
          <p:cNvPr id="110" name="矩形 94"/>
          <p:cNvSpPr/>
          <p:nvPr/>
        </p:nvSpPr>
        <p:spPr>
          <a:xfrm>
            <a:off x="754218" y="256930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国资办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11" name="直接箭头连接符 95"/>
          <p:cNvCxnSpPr>
            <a:stCxn id="110" idx="3"/>
          </p:cNvCxnSpPr>
          <p:nvPr/>
        </p:nvCxnSpPr>
        <p:spPr>
          <a:xfrm>
            <a:off x="1620789" y="2708896"/>
            <a:ext cx="2773512" cy="14299"/>
          </a:xfrm>
          <a:prstGeom prst="straightConnector1">
            <a:avLst/>
          </a:prstGeom>
          <a:noFill/>
          <a:ln w="6350" cap="flat" cmpd="sng" algn="ctr">
            <a:solidFill>
              <a:srgbClr val="FFBF00"/>
            </a:solidFill>
            <a:prstDash val="solid"/>
            <a:miter lim="800000"/>
            <a:tailEnd type="triangle"/>
          </a:ln>
          <a:effectLst/>
        </p:spPr>
      </p:cxnSp>
      <p:sp>
        <p:nvSpPr>
          <p:cNvPr id="112" name="矩形 96"/>
          <p:cNvSpPr/>
          <p:nvPr/>
        </p:nvSpPr>
        <p:spPr>
          <a:xfrm>
            <a:off x="754218" y="303097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科研</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13" name="直接箭头连接符 97"/>
          <p:cNvCxnSpPr>
            <a:stCxn id="112" idx="3"/>
          </p:cNvCxnSpPr>
          <p:nvPr/>
        </p:nvCxnSpPr>
        <p:spPr>
          <a:xfrm>
            <a:off x="1620789" y="3170561"/>
            <a:ext cx="2773512" cy="14299"/>
          </a:xfrm>
          <a:prstGeom prst="straightConnector1">
            <a:avLst/>
          </a:prstGeom>
          <a:noFill/>
          <a:ln w="6350" cap="flat" cmpd="sng" algn="ctr">
            <a:solidFill>
              <a:srgbClr val="FFBF00"/>
            </a:solidFill>
            <a:prstDash val="solid"/>
            <a:miter lim="800000"/>
            <a:tailEnd type="triangle"/>
          </a:ln>
          <a:effectLst/>
        </p:spPr>
      </p:cxnSp>
      <p:sp>
        <p:nvSpPr>
          <p:cNvPr id="114" name="矩形 98"/>
          <p:cNvSpPr/>
          <p:nvPr/>
        </p:nvSpPr>
        <p:spPr>
          <a:xfrm>
            <a:off x="754218" y="349263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15" name="直接箭头连接符 99"/>
          <p:cNvCxnSpPr>
            <a:stCxn id="114" idx="3"/>
          </p:cNvCxnSpPr>
          <p:nvPr/>
        </p:nvCxnSpPr>
        <p:spPr>
          <a:xfrm>
            <a:off x="1620789" y="3632226"/>
            <a:ext cx="2773512" cy="14299"/>
          </a:xfrm>
          <a:prstGeom prst="straightConnector1">
            <a:avLst/>
          </a:prstGeom>
          <a:noFill/>
          <a:ln w="6350" cap="flat" cmpd="sng" algn="ctr">
            <a:solidFill>
              <a:srgbClr val="FFBF00"/>
            </a:solidFill>
            <a:prstDash val="solid"/>
            <a:miter lim="800000"/>
            <a:tailEnd type="triangle"/>
          </a:ln>
          <a:effectLst/>
        </p:spPr>
      </p:cxnSp>
      <p:sp>
        <p:nvSpPr>
          <p:cNvPr id="116" name="矩形 100"/>
          <p:cNvSpPr/>
          <p:nvPr/>
        </p:nvSpPr>
        <p:spPr>
          <a:xfrm>
            <a:off x="754218" y="395430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房产办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17" name="直接箭头连接符 101"/>
          <p:cNvCxnSpPr>
            <a:stCxn id="116" idx="3"/>
          </p:cNvCxnSpPr>
          <p:nvPr/>
        </p:nvCxnSpPr>
        <p:spPr>
          <a:xfrm>
            <a:off x="1620789" y="4093891"/>
            <a:ext cx="2773512" cy="14299"/>
          </a:xfrm>
          <a:prstGeom prst="straightConnector1">
            <a:avLst/>
          </a:prstGeom>
          <a:noFill/>
          <a:ln w="6350" cap="flat" cmpd="sng" algn="ctr">
            <a:solidFill>
              <a:srgbClr val="FFBF00"/>
            </a:solidFill>
            <a:prstDash val="solid"/>
            <a:miter lim="800000"/>
            <a:tailEnd type="triangle"/>
          </a:ln>
          <a:effectLst/>
        </p:spPr>
      </p:cxnSp>
      <p:sp>
        <p:nvSpPr>
          <p:cNvPr id="118" name="矩形 102"/>
          <p:cNvSpPr/>
          <p:nvPr/>
        </p:nvSpPr>
        <p:spPr>
          <a:xfrm>
            <a:off x="754218" y="441596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公管学院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19" name="直接箭头连接符 103"/>
          <p:cNvCxnSpPr>
            <a:stCxn id="118" idx="3"/>
          </p:cNvCxnSpPr>
          <p:nvPr/>
        </p:nvCxnSpPr>
        <p:spPr>
          <a:xfrm>
            <a:off x="1620789" y="4555556"/>
            <a:ext cx="2773512" cy="14299"/>
          </a:xfrm>
          <a:prstGeom prst="straightConnector1">
            <a:avLst/>
          </a:prstGeom>
          <a:noFill/>
          <a:ln w="6350" cap="flat" cmpd="sng" algn="ctr">
            <a:solidFill>
              <a:srgbClr val="FFBF00"/>
            </a:solidFill>
            <a:prstDash val="solid"/>
            <a:miter lim="800000"/>
            <a:tailEnd type="triangle"/>
          </a:ln>
          <a:effectLst/>
        </p:spPr>
      </p:cxnSp>
      <p:sp>
        <p:nvSpPr>
          <p:cNvPr id="120" name="矩形 104"/>
          <p:cNvSpPr/>
          <p:nvPr/>
        </p:nvSpPr>
        <p:spPr>
          <a:xfrm>
            <a:off x="754218" y="487763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教师教院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21" name="直接箭头连接符 105"/>
          <p:cNvCxnSpPr>
            <a:stCxn id="120" idx="3"/>
          </p:cNvCxnSpPr>
          <p:nvPr/>
        </p:nvCxnSpPr>
        <p:spPr>
          <a:xfrm>
            <a:off x="1620789" y="5017221"/>
            <a:ext cx="2773512" cy="14299"/>
          </a:xfrm>
          <a:prstGeom prst="straightConnector1">
            <a:avLst/>
          </a:prstGeom>
          <a:noFill/>
          <a:ln w="6350" cap="flat" cmpd="sng" algn="ctr">
            <a:solidFill>
              <a:srgbClr val="FFBF00"/>
            </a:solidFill>
            <a:prstDash val="solid"/>
            <a:miter lim="800000"/>
            <a:tailEnd type="triangle"/>
          </a:ln>
          <a:effectLst/>
        </p:spPr>
      </p:cxnSp>
      <p:sp>
        <p:nvSpPr>
          <p:cNvPr id="122" name="矩形 106"/>
          <p:cNvSpPr/>
          <p:nvPr/>
        </p:nvSpPr>
        <p:spPr>
          <a:xfrm>
            <a:off x="754218" y="533929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就业处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23" name="直接箭头连接符 107"/>
          <p:cNvCxnSpPr>
            <a:stCxn id="122" idx="3"/>
          </p:cNvCxnSpPr>
          <p:nvPr/>
        </p:nvCxnSpPr>
        <p:spPr>
          <a:xfrm>
            <a:off x="1620789" y="5478886"/>
            <a:ext cx="2773512" cy="14299"/>
          </a:xfrm>
          <a:prstGeom prst="straightConnector1">
            <a:avLst/>
          </a:prstGeom>
          <a:noFill/>
          <a:ln w="6350" cap="flat" cmpd="sng" algn="ctr">
            <a:solidFill>
              <a:srgbClr val="FFBF00"/>
            </a:solidFill>
            <a:prstDash val="solid"/>
            <a:miter lim="800000"/>
            <a:tailEnd type="triangle"/>
          </a:ln>
          <a:effectLst/>
        </p:spPr>
      </p:cxnSp>
      <p:sp>
        <p:nvSpPr>
          <p:cNvPr id="124" name="矩形 108"/>
          <p:cNvSpPr/>
          <p:nvPr/>
        </p:nvSpPr>
        <p:spPr>
          <a:xfrm>
            <a:off x="754218" y="5800961"/>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离退处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25" name="直接箭头连接符 109"/>
          <p:cNvCxnSpPr>
            <a:stCxn id="124" idx="3"/>
          </p:cNvCxnSpPr>
          <p:nvPr/>
        </p:nvCxnSpPr>
        <p:spPr>
          <a:xfrm>
            <a:off x="1620789" y="5940551"/>
            <a:ext cx="2773512" cy="14299"/>
          </a:xfrm>
          <a:prstGeom prst="straightConnector1">
            <a:avLst/>
          </a:prstGeom>
          <a:noFill/>
          <a:ln w="6350" cap="flat" cmpd="sng" algn="ctr">
            <a:solidFill>
              <a:srgbClr val="FFBF00"/>
            </a:solidFill>
            <a:prstDash val="solid"/>
            <a:miter lim="800000"/>
            <a:tailEnd type="triangle"/>
          </a:ln>
          <a:effectLst/>
        </p:spPr>
      </p:cxnSp>
      <p:sp>
        <p:nvSpPr>
          <p:cNvPr id="126" name="矩形 110"/>
          <p:cNvSpPr/>
          <p:nvPr/>
        </p:nvSpPr>
        <p:spPr>
          <a:xfrm>
            <a:off x="754218" y="6262626"/>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设备处</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27" name="直接箭头连接符 111"/>
          <p:cNvCxnSpPr>
            <a:stCxn id="126" idx="3"/>
          </p:cNvCxnSpPr>
          <p:nvPr/>
        </p:nvCxnSpPr>
        <p:spPr>
          <a:xfrm>
            <a:off x="1620789" y="6402216"/>
            <a:ext cx="2773512" cy="14299"/>
          </a:xfrm>
          <a:prstGeom prst="straightConnector1">
            <a:avLst/>
          </a:prstGeom>
          <a:noFill/>
          <a:ln w="6350" cap="flat" cmpd="sng" algn="ctr">
            <a:solidFill>
              <a:srgbClr val="FFBF00"/>
            </a:solidFill>
            <a:prstDash val="solid"/>
            <a:miter lim="800000"/>
            <a:tailEnd type="triangle"/>
          </a:ln>
          <a:effectLst/>
        </p:spPr>
      </p:cxnSp>
      <p:sp>
        <p:nvSpPr>
          <p:cNvPr id="128" name="矩形 112"/>
          <p:cNvSpPr/>
          <p:nvPr/>
        </p:nvSpPr>
        <p:spPr>
          <a:xfrm>
            <a:off x="2113141" y="141670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统战</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29" name="矩形 114"/>
          <p:cNvSpPr/>
          <p:nvPr/>
        </p:nvSpPr>
        <p:spPr>
          <a:xfrm>
            <a:off x="2113141" y="187836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图书馆</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0" name="矩形 116"/>
          <p:cNvSpPr/>
          <p:nvPr/>
        </p:nvSpPr>
        <p:spPr>
          <a:xfrm>
            <a:off x="2113141" y="234003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外事</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1" name="矩形 118"/>
          <p:cNvSpPr/>
          <p:nvPr/>
        </p:nvSpPr>
        <p:spPr>
          <a:xfrm>
            <a:off x="2113141" y="280169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工会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2" name="矩形 120"/>
          <p:cNvSpPr/>
          <p:nvPr/>
        </p:nvSpPr>
        <p:spPr>
          <a:xfrm>
            <a:off x="2113141" y="326336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校医院</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3" name="矩形 122"/>
          <p:cNvSpPr/>
          <p:nvPr/>
        </p:nvSpPr>
        <p:spPr>
          <a:xfrm>
            <a:off x="2113141" y="372502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校友会</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4" name="矩形 124"/>
          <p:cNvSpPr/>
          <p:nvPr/>
        </p:nvSpPr>
        <p:spPr>
          <a:xfrm>
            <a:off x="2113141" y="418669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宣传部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5" name="矩形 126"/>
          <p:cNvSpPr/>
          <p:nvPr/>
        </p:nvSpPr>
        <p:spPr>
          <a:xfrm>
            <a:off x="2113141" y="464835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校办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6" name="矩形 128"/>
          <p:cNvSpPr/>
          <p:nvPr/>
        </p:nvSpPr>
        <p:spPr>
          <a:xfrm>
            <a:off x="2113141" y="511002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招标办</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7" name="矩形 130"/>
          <p:cNvSpPr/>
          <p:nvPr/>
        </p:nvSpPr>
        <p:spPr>
          <a:xfrm>
            <a:off x="2113141" y="5571685"/>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组织部</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38" name="矩形 132"/>
          <p:cNvSpPr/>
          <p:nvPr/>
        </p:nvSpPr>
        <p:spPr>
          <a:xfrm>
            <a:off x="2113141" y="6033350"/>
            <a:ext cx="866571" cy="279180"/>
          </a:xfrm>
          <a:prstGeom prst="rect">
            <a:avLst/>
          </a:prstGeom>
          <a:solidFill>
            <a:srgbClr val="92D050"/>
          </a:solidFill>
          <a:ln w="6350" cap="flat" cmpd="sng" algn="ctr">
            <a:solidFill>
              <a:srgbClr val="727272"/>
            </a:solidFill>
            <a:prstDash val="solid"/>
            <a:miter lim="800000"/>
          </a:ln>
          <a:effectLst/>
        </p:spPr>
        <p:txBody>
          <a:bodyPr wrap="square" lIns="0" tIns="46800" rIns="0" bIns="46800">
            <a:spAutoFit/>
          </a:bodyPr>
          <a:lstStyle/>
          <a:p>
            <a:pPr marL="0" marR="0" lvl="0" indent="0" algn="ctr" defTabSz="914400" eaLnBrk="1" fontAlgn="b"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财务</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cxnSp>
        <p:nvCxnSpPr>
          <p:cNvPr id="139" name="直接箭头连接符 113"/>
          <p:cNvCxnSpPr>
            <a:stCxn id="128" idx="3"/>
          </p:cNvCxnSpPr>
          <p:nvPr/>
        </p:nvCxnSpPr>
        <p:spPr>
          <a:xfrm>
            <a:off x="2979712" y="1556290"/>
            <a:ext cx="1414589" cy="14299"/>
          </a:xfrm>
          <a:prstGeom prst="straightConnector1">
            <a:avLst/>
          </a:prstGeom>
          <a:noFill/>
          <a:ln w="6350" cap="flat" cmpd="sng" algn="ctr">
            <a:solidFill>
              <a:srgbClr val="FFBF00"/>
            </a:solidFill>
            <a:prstDash val="solid"/>
            <a:miter lim="800000"/>
            <a:tailEnd type="triangle"/>
          </a:ln>
          <a:effectLst/>
        </p:spPr>
      </p:cxnSp>
      <p:cxnSp>
        <p:nvCxnSpPr>
          <p:cNvPr id="140" name="直接箭头连接符 115"/>
          <p:cNvCxnSpPr>
            <a:stCxn id="129" idx="3"/>
          </p:cNvCxnSpPr>
          <p:nvPr/>
        </p:nvCxnSpPr>
        <p:spPr>
          <a:xfrm>
            <a:off x="2979712" y="2017955"/>
            <a:ext cx="1414589" cy="14299"/>
          </a:xfrm>
          <a:prstGeom prst="straightConnector1">
            <a:avLst/>
          </a:prstGeom>
          <a:noFill/>
          <a:ln w="6350" cap="flat" cmpd="sng" algn="ctr">
            <a:solidFill>
              <a:srgbClr val="FFBF00"/>
            </a:solidFill>
            <a:prstDash val="solid"/>
            <a:miter lim="800000"/>
            <a:tailEnd type="triangle"/>
          </a:ln>
          <a:effectLst/>
        </p:spPr>
      </p:cxnSp>
      <p:cxnSp>
        <p:nvCxnSpPr>
          <p:cNvPr id="141" name="直接箭头连接符 117"/>
          <p:cNvCxnSpPr>
            <a:stCxn id="130" idx="3"/>
          </p:cNvCxnSpPr>
          <p:nvPr/>
        </p:nvCxnSpPr>
        <p:spPr>
          <a:xfrm>
            <a:off x="2979712" y="2479620"/>
            <a:ext cx="1414589" cy="14299"/>
          </a:xfrm>
          <a:prstGeom prst="straightConnector1">
            <a:avLst/>
          </a:prstGeom>
          <a:noFill/>
          <a:ln w="6350" cap="flat" cmpd="sng" algn="ctr">
            <a:solidFill>
              <a:srgbClr val="FFBF00"/>
            </a:solidFill>
            <a:prstDash val="solid"/>
            <a:miter lim="800000"/>
            <a:tailEnd type="triangle"/>
          </a:ln>
          <a:effectLst/>
        </p:spPr>
      </p:cxnSp>
      <p:cxnSp>
        <p:nvCxnSpPr>
          <p:cNvPr id="142" name="直接箭头连接符 119"/>
          <p:cNvCxnSpPr>
            <a:stCxn id="131" idx="3"/>
          </p:cNvCxnSpPr>
          <p:nvPr/>
        </p:nvCxnSpPr>
        <p:spPr>
          <a:xfrm>
            <a:off x="2979712" y="2941285"/>
            <a:ext cx="1414589" cy="14299"/>
          </a:xfrm>
          <a:prstGeom prst="straightConnector1">
            <a:avLst/>
          </a:prstGeom>
          <a:noFill/>
          <a:ln w="6350" cap="flat" cmpd="sng" algn="ctr">
            <a:solidFill>
              <a:srgbClr val="FFBF00"/>
            </a:solidFill>
            <a:prstDash val="solid"/>
            <a:miter lim="800000"/>
            <a:tailEnd type="triangle"/>
          </a:ln>
          <a:effectLst/>
        </p:spPr>
      </p:cxnSp>
      <p:cxnSp>
        <p:nvCxnSpPr>
          <p:cNvPr id="143" name="直接箭头连接符 121"/>
          <p:cNvCxnSpPr>
            <a:stCxn id="132" idx="3"/>
          </p:cNvCxnSpPr>
          <p:nvPr/>
        </p:nvCxnSpPr>
        <p:spPr>
          <a:xfrm>
            <a:off x="2979712" y="3402950"/>
            <a:ext cx="1414589" cy="14299"/>
          </a:xfrm>
          <a:prstGeom prst="straightConnector1">
            <a:avLst/>
          </a:prstGeom>
          <a:noFill/>
          <a:ln w="6350" cap="flat" cmpd="sng" algn="ctr">
            <a:solidFill>
              <a:srgbClr val="FFBF00"/>
            </a:solidFill>
            <a:prstDash val="solid"/>
            <a:miter lim="800000"/>
            <a:tailEnd type="triangle"/>
          </a:ln>
          <a:effectLst/>
        </p:spPr>
      </p:cxnSp>
      <p:cxnSp>
        <p:nvCxnSpPr>
          <p:cNvPr id="144" name="直接箭头连接符 123"/>
          <p:cNvCxnSpPr>
            <a:stCxn id="133" idx="3"/>
          </p:cNvCxnSpPr>
          <p:nvPr/>
        </p:nvCxnSpPr>
        <p:spPr>
          <a:xfrm>
            <a:off x="2979712" y="3864615"/>
            <a:ext cx="1414589" cy="14299"/>
          </a:xfrm>
          <a:prstGeom prst="straightConnector1">
            <a:avLst/>
          </a:prstGeom>
          <a:noFill/>
          <a:ln w="6350" cap="flat" cmpd="sng" algn="ctr">
            <a:solidFill>
              <a:srgbClr val="FFBF00"/>
            </a:solidFill>
            <a:prstDash val="solid"/>
            <a:miter lim="800000"/>
            <a:tailEnd type="triangle"/>
          </a:ln>
          <a:effectLst/>
        </p:spPr>
      </p:cxnSp>
      <p:cxnSp>
        <p:nvCxnSpPr>
          <p:cNvPr id="145" name="直接箭头连接符 125"/>
          <p:cNvCxnSpPr>
            <a:stCxn id="134" idx="3"/>
          </p:cNvCxnSpPr>
          <p:nvPr/>
        </p:nvCxnSpPr>
        <p:spPr>
          <a:xfrm>
            <a:off x="2979712" y="4326280"/>
            <a:ext cx="1414589" cy="14299"/>
          </a:xfrm>
          <a:prstGeom prst="straightConnector1">
            <a:avLst/>
          </a:prstGeom>
          <a:noFill/>
          <a:ln w="6350" cap="flat" cmpd="sng" algn="ctr">
            <a:solidFill>
              <a:srgbClr val="FFBF00"/>
            </a:solidFill>
            <a:prstDash val="solid"/>
            <a:miter lim="800000"/>
            <a:tailEnd type="triangle"/>
          </a:ln>
          <a:effectLst/>
        </p:spPr>
      </p:cxnSp>
      <p:cxnSp>
        <p:nvCxnSpPr>
          <p:cNvPr id="146" name="直接箭头连接符 127"/>
          <p:cNvCxnSpPr>
            <a:stCxn id="135" idx="3"/>
          </p:cNvCxnSpPr>
          <p:nvPr/>
        </p:nvCxnSpPr>
        <p:spPr>
          <a:xfrm>
            <a:off x="2979712" y="4787945"/>
            <a:ext cx="1414589" cy="14299"/>
          </a:xfrm>
          <a:prstGeom prst="straightConnector1">
            <a:avLst/>
          </a:prstGeom>
          <a:noFill/>
          <a:ln w="6350" cap="flat" cmpd="sng" algn="ctr">
            <a:solidFill>
              <a:srgbClr val="FFBF00"/>
            </a:solidFill>
            <a:prstDash val="solid"/>
            <a:miter lim="800000"/>
            <a:tailEnd type="triangle"/>
          </a:ln>
          <a:effectLst/>
        </p:spPr>
      </p:cxnSp>
      <p:cxnSp>
        <p:nvCxnSpPr>
          <p:cNvPr id="147" name="直接箭头连接符 129"/>
          <p:cNvCxnSpPr>
            <a:stCxn id="136" idx="3"/>
          </p:cNvCxnSpPr>
          <p:nvPr/>
        </p:nvCxnSpPr>
        <p:spPr>
          <a:xfrm>
            <a:off x="2979712" y="5249610"/>
            <a:ext cx="1414589" cy="14299"/>
          </a:xfrm>
          <a:prstGeom prst="straightConnector1">
            <a:avLst/>
          </a:prstGeom>
          <a:noFill/>
          <a:ln w="6350" cap="flat" cmpd="sng" algn="ctr">
            <a:solidFill>
              <a:srgbClr val="FFBF00"/>
            </a:solidFill>
            <a:prstDash val="solid"/>
            <a:miter lim="800000"/>
            <a:tailEnd type="triangle"/>
          </a:ln>
          <a:effectLst/>
        </p:spPr>
      </p:cxnSp>
      <p:cxnSp>
        <p:nvCxnSpPr>
          <p:cNvPr id="148" name="直接箭头连接符 131"/>
          <p:cNvCxnSpPr>
            <a:stCxn id="137" idx="3"/>
          </p:cNvCxnSpPr>
          <p:nvPr/>
        </p:nvCxnSpPr>
        <p:spPr>
          <a:xfrm>
            <a:off x="2979712" y="5711275"/>
            <a:ext cx="1414589" cy="14299"/>
          </a:xfrm>
          <a:prstGeom prst="straightConnector1">
            <a:avLst/>
          </a:prstGeom>
          <a:noFill/>
          <a:ln w="6350" cap="flat" cmpd="sng" algn="ctr">
            <a:solidFill>
              <a:srgbClr val="FFBF00"/>
            </a:solidFill>
            <a:prstDash val="solid"/>
            <a:miter lim="800000"/>
            <a:tailEnd type="triangle"/>
          </a:ln>
          <a:effectLst/>
        </p:spPr>
      </p:cxnSp>
      <p:cxnSp>
        <p:nvCxnSpPr>
          <p:cNvPr id="149" name="直接箭头连接符 133"/>
          <p:cNvCxnSpPr>
            <a:stCxn id="138" idx="3"/>
          </p:cNvCxnSpPr>
          <p:nvPr/>
        </p:nvCxnSpPr>
        <p:spPr>
          <a:xfrm>
            <a:off x="2979712" y="6172940"/>
            <a:ext cx="1414589" cy="14299"/>
          </a:xfrm>
          <a:prstGeom prst="straightConnector1">
            <a:avLst/>
          </a:prstGeom>
          <a:noFill/>
          <a:ln w="6350" cap="flat" cmpd="sng" algn="ctr">
            <a:solidFill>
              <a:srgbClr val="FFBF00"/>
            </a:solidFill>
            <a:prstDash val="solid"/>
            <a:miter lim="800000"/>
            <a:tailEnd type="triangle"/>
          </a:ln>
          <a:effectLst/>
        </p:spPr>
      </p:cxnSp>
      <p:sp>
        <p:nvSpPr>
          <p:cNvPr id="150" name="矩形 139"/>
          <p:cNvSpPr/>
          <p:nvPr/>
        </p:nvSpPr>
        <p:spPr>
          <a:xfrm>
            <a:off x="1631283" y="1251583"/>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244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51" name="矩形 156"/>
          <p:cNvSpPr/>
          <p:nvPr/>
        </p:nvSpPr>
        <p:spPr>
          <a:xfrm>
            <a:off x="1631283" y="1708906"/>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464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52" name="矩形 157"/>
          <p:cNvSpPr/>
          <p:nvPr/>
        </p:nvSpPr>
        <p:spPr>
          <a:xfrm>
            <a:off x="1631283" y="2166229"/>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53" name="矩形 158"/>
          <p:cNvSpPr/>
          <p:nvPr/>
        </p:nvSpPr>
        <p:spPr>
          <a:xfrm>
            <a:off x="1631283" y="2623552"/>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78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54" name="矩形 159"/>
          <p:cNvSpPr/>
          <p:nvPr/>
        </p:nvSpPr>
        <p:spPr>
          <a:xfrm>
            <a:off x="1631283" y="3080875"/>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458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55" name="矩形 160"/>
          <p:cNvSpPr/>
          <p:nvPr/>
        </p:nvSpPr>
        <p:spPr>
          <a:xfrm>
            <a:off x="1631283" y="3538198"/>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56" name="矩形 161"/>
          <p:cNvSpPr/>
          <p:nvPr/>
        </p:nvSpPr>
        <p:spPr>
          <a:xfrm>
            <a:off x="1631283" y="3995521"/>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57" name="矩形 162"/>
          <p:cNvSpPr/>
          <p:nvPr/>
        </p:nvSpPr>
        <p:spPr>
          <a:xfrm>
            <a:off x="1631283" y="4487601"/>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58" name="矩形 164"/>
          <p:cNvSpPr/>
          <p:nvPr/>
        </p:nvSpPr>
        <p:spPr>
          <a:xfrm>
            <a:off x="1631283" y="4947167"/>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59" name="矩形 165"/>
          <p:cNvSpPr/>
          <p:nvPr/>
        </p:nvSpPr>
        <p:spPr>
          <a:xfrm>
            <a:off x="1631283" y="5406733"/>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97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60" name="矩形 166"/>
          <p:cNvSpPr/>
          <p:nvPr/>
        </p:nvSpPr>
        <p:spPr>
          <a:xfrm>
            <a:off x="1631283" y="5866299"/>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43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61" name="矩形 167"/>
          <p:cNvSpPr/>
          <p:nvPr/>
        </p:nvSpPr>
        <p:spPr>
          <a:xfrm>
            <a:off x="1631283" y="6331933"/>
            <a:ext cx="361741" cy="190746"/>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188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62" name="矩形 168"/>
          <p:cNvSpPr/>
          <p:nvPr/>
        </p:nvSpPr>
        <p:spPr>
          <a:xfrm>
            <a:off x="2992646" y="1467814"/>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63" name="矩形 169"/>
          <p:cNvSpPr/>
          <p:nvPr/>
        </p:nvSpPr>
        <p:spPr>
          <a:xfrm>
            <a:off x="2992646" y="1924717"/>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125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64" name="矩形 170"/>
          <p:cNvSpPr/>
          <p:nvPr/>
        </p:nvSpPr>
        <p:spPr>
          <a:xfrm>
            <a:off x="2992646" y="2381620"/>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146</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65" name="矩形 171"/>
          <p:cNvSpPr/>
          <p:nvPr/>
        </p:nvSpPr>
        <p:spPr>
          <a:xfrm>
            <a:off x="2992646" y="2838523"/>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159</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66" name="矩形 172"/>
          <p:cNvSpPr/>
          <p:nvPr/>
        </p:nvSpPr>
        <p:spPr>
          <a:xfrm>
            <a:off x="2992646" y="3295426"/>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68</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67" name="矩形 173"/>
          <p:cNvSpPr/>
          <p:nvPr/>
        </p:nvSpPr>
        <p:spPr>
          <a:xfrm>
            <a:off x="2992646" y="3775044"/>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63</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68" name="矩形 174"/>
          <p:cNvSpPr/>
          <p:nvPr/>
        </p:nvSpPr>
        <p:spPr>
          <a:xfrm>
            <a:off x="2992646" y="4241962"/>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69" name="矩形 175"/>
          <p:cNvSpPr/>
          <p:nvPr/>
        </p:nvSpPr>
        <p:spPr>
          <a:xfrm>
            <a:off x="2992646" y="4700889"/>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174</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70" name="矩形 176"/>
          <p:cNvSpPr/>
          <p:nvPr/>
        </p:nvSpPr>
        <p:spPr>
          <a:xfrm>
            <a:off x="2992646" y="5156372"/>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32</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71" name="矩形 177"/>
          <p:cNvSpPr/>
          <p:nvPr/>
        </p:nvSpPr>
        <p:spPr>
          <a:xfrm>
            <a:off x="2992646" y="5611855"/>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37</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172" name="矩形 178"/>
          <p:cNvSpPr/>
          <p:nvPr/>
        </p:nvSpPr>
        <p:spPr>
          <a:xfrm>
            <a:off x="2992646" y="6067338"/>
            <a:ext cx="361741" cy="188098"/>
          </a:xfrm>
          <a:prstGeom prst="rect">
            <a:avLst/>
          </a:prstGeom>
          <a:solidFill>
            <a:srgbClr val="00B0F0"/>
          </a:solidFill>
          <a:ln>
            <a:noFill/>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rPr>
              <a:t>505</a:t>
            </a:r>
            <a:endParaRPr kumimoji="0" lang="zh-CN" altLang="en-US" sz="10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graphicFrame>
        <p:nvGraphicFramePr>
          <p:cNvPr id="173" name="图示 5"/>
          <p:cNvGraphicFramePr/>
          <p:nvPr/>
        </p:nvGraphicFramePr>
        <p:xfrm>
          <a:off x="6817667" y="2271488"/>
          <a:ext cx="6028801" cy="317258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cxnSp>
        <p:nvCxnSpPr>
          <p:cNvPr id="174" name="直接箭头连接符 192"/>
          <p:cNvCxnSpPr/>
          <p:nvPr/>
        </p:nvCxnSpPr>
        <p:spPr>
          <a:xfrm>
            <a:off x="7798984" y="3099493"/>
            <a:ext cx="353636" cy="1823"/>
          </a:xfrm>
          <a:prstGeom prst="straightConnector1">
            <a:avLst/>
          </a:prstGeom>
          <a:noFill/>
          <a:ln w="6350" cap="flat" cmpd="sng" algn="ctr">
            <a:solidFill>
              <a:srgbClr val="FFBF00"/>
            </a:solidFill>
            <a:prstDash val="solid"/>
            <a:miter lim="800000"/>
            <a:tailEnd type="triangle"/>
          </a:ln>
          <a:effectLst/>
        </p:spPr>
      </p:cxnSp>
      <p:cxnSp>
        <p:nvCxnSpPr>
          <p:cNvPr id="175" name="直接箭头连接符 193"/>
          <p:cNvCxnSpPr/>
          <p:nvPr/>
        </p:nvCxnSpPr>
        <p:spPr>
          <a:xfrm>
            <a:off x="7798984" y="4155437"/>
            <a:ext cx="353636" cy="1823"/>
          </a:xfrm>
          <a:prstGeom prst="straightConnector1">
            <a:avLst/>
          </a:prstGeom>
          <a:noFill/>
          <a:ln w="6350" cap="flat" cmpd="sng" algn="ctr">
            <a:solidFill>
              <a:srgbClr val="FFBF00"/>
            </a:solidFill>
            <a:prstDash val="solid"/>
            <a:miter lim="800000"/>
            <a:tailEnd type="triangle"/>
          </a:ln>
          <a:effectLst/>
        </p:spPr>
      </p:cxnSp>
      <p:cxnSp>
        <p:nvCxnSpPr>
          <p:cNvPr id="176" name="直接箭头连接符 194"/>
          <p:cNvCxnSpPr/>
          <p:nvPr/>
        </p:nvCxnSpPr>
        <p:spPr>
          <a:xfrm>
            <a:off x="7798984" y="4695146"/>
            <a:ext cx="353636" cy="1823"/>
          </a:xfrm>
          <a:prstGeom prst="straightConnector1">
            <a:avLst/>
          </a:prstGeom>
          <a:noFill/>
          <a:ln w="6350" cap="flat" cmpd="sng" algn="ctr">
            <a:solidFill>
              <a:srgbClr val="FFBF00"/>
            </a:solidFill>
            <a:prstDash val="solid"/>
            <a:miter lim="800000"/>
            <a:tailEnd type="triangle"/>
          </a:ln>
          <a:effectLst/>
        </p:spPr>
      </p:cxnSp>
      <p:cxnSp>
        <p:nvCxnSpPr>
          <p:cNvPr id="177" name="直接箭头连接符 195"/>
          <p:cNvCxnSpPr/>
          <p:nvPr/>
        </p:nvCxnSpPr>
        <p:spPr>
          <a:xfrm>
            <a:off x="7798984" y="5230437"/>
            <a:ext cx="353636" cy="1823"/>
          </a:xfrm>
          <a:prstGeom prst="straightConnector1">
            <a:avLst/>
          </a:prstGeom>
          <a:noFill/>
          <a:ln w="6350" cap="flat" cmpd="sng" algn="ctr">
            <a:solidFill>
              <a:srgbClr val="FFBF00"/>
            </a:solidFill>
            <a:prstDash val="solid"/>
            <a:miter lim="800000"/>
            <a:tailEnd type="triangle"/>
          </a:ln>
          <a:effectLst/>
        </p:spPr>
      </p:cxnSp>
      <p:sp>
        <p:nvSpPr>
          <p:cNvPr id="178" name="矩形 141"/>
          <p:cNvSpPr/>
          <p:nvPr/>
        </p:nvSpPr>
        <p:spPr>
          <a:xfrm>
            <a:off x="4529086" y="822209"/>
            <a:ext cx="3416320" cy="523220"/>
          </a:xfrm>
          <a:prstGeom prst="rect">
            <a:avLst/>
          </a:prstGeom>
        </p:spPr>
        <p:txBody>
          <a:bodyPr wrap="none">
            <a:spAutoFit/>
          </a:bodyPr>
          <a:lstStyle/>
          <a:p>
            <a:r>
              <a:rPr lang="zh-CN" altLang="en-US" sz="2800" dirty="0">
                <a:solidFill>
                  <a:srgbClr val="FF0000"/>
                </a:solidFill>
                <a:latin typeface="宋体" panose="02010600030101010101" pitchFamily="2" charset="-122"/>
                <a:ea typeface="宋体" panose="02010600030101010101" pitchFamily="2" charset="-122"/>
                <a:cs typeface="微软雅黑" panose="020B0503020204020204" pitchFamily="34" charset="-122"/>
              </a:rPr>
              <a:t>服务于院系日常工作</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a:t>
            </a:r>
            <a:r>
              <a:rPr lang="en-US" altLang="zh-CN" dirty="0">
                <a:sym typeface="+mn-ea"/>
              </a:rPr>
              <a:t>xx</a:t>
            </a:r>
            <a:r>
              <a:rPr lang="zh-CN" altLang="en-US" dirty="0"/>
              <a:t>师范大学</a:t>
            </a:r>
            <a:r>
              <a:rPr lang="en-US" altLang="zh-CN" dirty="0"/>
              <a:t> </a:t>
            </a:r>
            <a:endParaRPr lang="zh-CN" altLang="en-US" dirty="0"/>
          </a:p>
        </p:txBody>
      </p:sp>
      <p:pic>
        <p:nvPicPr>
          <p:cNvPr id="3" name="图片 2"/>
          <p:cNvPicPr>
            <a:picLocks noChangeAspect="1"/>
          </p:cNvPicPr>
          <p:nvPr/>
        </p:nvPicPr>
        <p:blipFill>
          <a:blip r:embed="rId1"/>
          <a:stretch>
            <a:fillRect/>
          </a:stretch>
        </p:blipFill>
        <p:spPr>
          <a:xfrm>
            <a:off x="517588" y="1879077"/>
            <a:ext cx="4987513" cy="3592699"/>
          </a:xfrm>
          <a:prstGeom prst="rect">
            <a:avLst/>
          </a:prstGeom>
        </p:spPr>
      </p:pic>
      <p:sp>
        <p:nvSpPr>
          <p:cNvPr id="4" name="灯片编号占位符 3"/>
          <p:cNvSpPr txBox="1"/>
          <p:nvPr/>
        </p:nvSpPr>
        <p:spPr>
          <a:xfrm>
            <a:off x="8610599" y="6240465"/>
            <a:ext cx="2909888" cy="206381"/>
          </a:xfrm>
          <a:prstGeom prst="rect">
            <a:avLst/>
          </a:prstGeom>
        </p:spPr>
        <p:txBody>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fld id="{5DD3DB80-B894-403A-B48E-6FDC1A72010E}" type="slidenum">
              <a:rPr lang="zh-CN" altLang="en-US" smtClean="0"/>
            </a:fld>
            <a:endParaRPr lang="zh-CN" altLang="en-US"/>
          </a:p>
        </p:txBody>
      </p:sp>
      <p:sp>
        <p:nvSpPr>
          <p:cNvPr id="5" name="矩形 6"/>
          <p:cNvSpPr/>
          <p:nvPr/>
        </p:nvSpPr>
        <p:spPr>
          <a:xfrm>
            <a:off x="264939" y="990685"/>
            <a:ext cx="11665296" cy="830997"/>
          </a:xfrm>
          <a:prstGeom prst="rect">
            <a:avLst/>
          </a:prstGeom>
        </p:spPr>
        <p:txBody>
          <a:bodyPr wrap="square">
            <a:spAutoFit/>
          </a:bodyPr>
          <a:lstStyle/>
          <a:p>
            <a:pPr marL="285750" indent="-285750">
              <a:buFont typeface="Wingdings" panose="05000000000000000000" pitchFamily="2" charset="2"/>
              <a:buChar char="ü"/>
            </a:pPr>
            <a:r>
              <a:rPr lang="zh-CN" altLang="en-US" sz="2400" dirty="0"/>
              <a:t>实施成果</a:t>
            </a:r>
            <a:r>
              <a:rPr lang="en-US" altLang="zh-CN" sz="2400" dirty="0"/>
              <a:t>-</a:t>
            </a:r>
            <a:r>
              <a:rPr lang="zh-CN" altLang="en-US" sz="2400" dirty="0"/>
              <a:t>制度和规范：</a:t>
            </a:r>
            <a:endParaRPr lang="zh-CN" altLang="en-US" sz="2400" dirty="0"/>
          </a:p>
          <a:p>
            <a:r>
              <a:rPr lang="zh-CN" altLang="en-US" sz="2400" dirty="0"/>
              <a:t>数据质量评价、数据管理的相关制度、办法和标准实施措施等。</a:t>
            </a:r>
            <a:endParaRPr lang="zh-CN" altLang="en-US" sz="2400" dirty="0"/>
          </a:p>
        </p:txBody>
      </p:sp>
      <p:pic>
        <p:nvPicPr>
          <p:cNvPr id="6" name="图片 5"/>
          <p:cNvPicPr>
            <a:picLocks noChangeAspect="1"/>
          </p:cNvPicPr>
          <p:nvPr/>
        </p:nvPicPr>
        <p:blipFill>
          <a:blip r:embed="rId2"/>
          <a:stretch>
            <a:fillRect/>
          </a:stretch>
        </p:blipFill>
        <p:spPr>
          <a:xfrm>
            <a:off x="674688" y="1836320"/>
            <a:ext cx="9171374" cy="4688537"/>
          </a:xfrm>
          <a:prstGeom prst="rect">
            <a:avLst/>
          </a:prstGeom>
        </p:spPr>
      </p:pic>
      <p:pic>
        <p:nvPicPr>
          <p:cNvPr id="7" name="图片 8"/>
          <p:cNvPicPr>
            <a:picLocks noChangeAspect="1"/>
          </p:cNvPicPr>
          <p:nvPr/>
        </p:nvPicPr>
        <p:blipFill>
          <a:blip r:embed="rId3"/>
          <a:stretch>
            <a:fillRect/>
          </a:stretch>
        </p:blipFill>
        <p:spPr>
          <a:xfrm>
            <a:off x="688362" y="1879077"/>
            <a:ext cx="9403988" cy="46359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成功案例介绍 </a:t>
            </a:r>
            <a:r>
              <a:rPr lang="en-US" altLang="zh-CN" dirty="0"/>
              <a:t>– </a:t>
            </a:r>
            <a:r>
              <a:rPr lang="zh-CN" altLang="en-US" dirty="0"/>
              <a:t>xx</a:t>
            </a:r>
            <a:r>
              <a:rPr lang="zh-CN" altLang="en-US" dirty="0"/>
              <a:t>师范大学</a:t>
            </a:r>
            <a:r>
              <a:rPr lang="en-US" altLang="zh-CN" dirty="0"/>
              <a:t> </a:t>
            </a:r>
            <a:endParaRPr lang="zh-CN" altLang="en-US" dirty="0"/>
          </a:p>
        </p:txBody>
      </p:sp>
      <p:sp>
        <p:nvSpPr>
          <p:cNvPr id="3" name="灯片编号占位符 3"/>
          <p:cNvSpPr txBox="1"/>
          <p:nvPr/>
        </p:nvSpPr>
        <p:spPr>
          <a:xfrm>
            <a:off x="8610599" y="6240465"/>
            <a:ext cx="2909888" cy="206381"/>
          </a:xfrm>
          <a:prstGeom prst="rect">
            <a:avLst/>
          </a:prstGeom>
        </p:spPr>
        <p:txBody>
          <a:bodyPr/>
          <a:ls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a:lstStyle>
          <a:p>
            <a:fld id="{5DD3DB80-B894-403A-B48E-6FDC1A72010E}" type="slidenum">
              <a:rPr lang="zh-CN" altLang="en-US" smtClean="0"/>
            </a:fld>
            <a:endParaRPr lang="zh-CN" altLang="en-US"/>
          </a:p>
        </p:txBody>
      </p:sp>
      <p:pic>
        <p:nvPicPr>
          <p:cNvPr id="4" name="图片 5"/>
          <p:cNvPicPr>
            <a:picLocks noChangeAspect="1"/>
          </p:cNvPicPr>
          <p:nvPr/>
        </p:nvPicPr>
        <p:blipFill>
          <a:blip r:embed="rId1"/>
          <a:stretch>
            <a:fillRect/>
          </a:stretch>
        </p:blipFill>
        <p:spPr>
          <a:xfrm>
            <a:off x="2065139" y="1409438"/>
            <a:ext cx="7180445" cy="5348363"/>
          </a:xfrm>
          <a:prstGeom prst="rect">
            <a:avLst/>
          </a:prstGeom>
        </p:spPr>
      </p:pic>
      <p:sp>
        <p:nvSpPr>
          <p:cNvPr id="5" name="矩形 6"/>
          <p:cNvSpPr/>
          <p:nvPr/>
        </p:nvSpPr>
        <p:spPr>
          <a:xfrm>
            <a:off x="517588" y="969342"/>
            <a:ext cx="11412647" cy="461665"/>
          </a:xfrm>
          <a:prstGeom prst="rect">
            <a:avLst/>
          </a:prstGeom>
        </p:spPr>
        <p:txBody>
          <a:bodyPr wrap="square">
            <a:spAutoFit/>
          </a:bodyPr>
          <a:lstStyle/>
          <a:p>
            <a:pPr marL="285750" indent="-285750">
              <a:buFont typeface="Wingdings" panose="05000000000000000000" pitchFamily="2" charset="2"/>
              <a:buChar char="ü"/>
            </a:pPr>
            <a:r>
              <a:rPr lang="zh-CN" altLang="en-US" sz="2400" dirty="0"/>
              <a:t>实施成果</a:t>
            </a:r>
            <a:r>
              <a:rPr lang="en-US" altLang="zh-CN" sz="2400" dirty="0"/>
              <a:t>-</a:t>
            </a:r>
            <a:r>
              <a:rPr lang="zh-CN" altLang="en-US" sz="2400" dirty="0"/>
              <a:t>编码规范：对学号、工号、部门、资产、课程等对象进行编码规则设计。</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UNIT_TABLE_BEAUTIFY" val="smartTable{5ca80e90-97d0-43a6-b09c-42df300329a1}"/>
</p:tagLst>
</file>

<file path=ppt/tags/tag2.xml><?xml version="1.0" encoding="utf-8"?>
<p:tagLst xmlns:p="http://schemas.openxmlformats.org/presentationml/2006/main">
  <p:tag name="KSO_WM_UNIT_TABLE_BEAUTIFY" val="smartTable{9ae720ae-44b0-4e5f-96ff-e9014b61719f}"/>
</p:tagLst>
</file>

<file path=ppt/tags/tag3.xml><?xml version="1.0" encoding="utf-8"?>
<p:tagLst xmlns:p="http://schemas.openxmlformats.org/presentationml/2006/main">
  <p:tag name="KSO_WM_UNIT_TABLE_BEAUTIFY" val="smartTable{082531ff-f6f0-418f-b467-ed926d21cf95}"/>
</p:tagLst>
</file>

<file path=ppt/tags/tag4.xml><?xml version="1.0" encoding="utf-8"?>
<p:tagLst xmlns:p="http://schemas.openxmlformats.org/presentationml/2006/main">
  <p:tag name="KSO_WPP_MARK_KEY" val="91b4cc18-604a-4457-b949-df03fec4eb73"/>
  <p:tag name="COMMONDATA" val="eyJoZGlkIjoiMzEwNTM5NzYwMDRjMzkwZTVkZjY2ODkwMGIxNGU0OTUifQ=="/>
  <p:tag name="commondata" val="eyJoZGlkIjoiYjk5ODM0YmMxOWJiYWQyNDU4MGIzYWRmYTA0ZmI5NDcifQ=="/>
</p:tagLst>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自定义 1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spPr>
      <a:bodyPr vert="horz" wrap="squar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6">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ank yo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CW PP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房利美">
    <a:dk1>
      <a:srgbClr val="000000"/>
    </a:dk1>
    <a:lt1>
      <a:srgbClr val="FFFFFF"/>
    </a:lt1>
    <a:dk2>
      <a:srgbClr val="768394"/>
    </a:dk2>
    <a:lt2>
      <a:srgbClr val="F0F0F0"/>
    </a:lt2>
    <a:accent1>
      <a:srgbClr val="FFBF00"/>
    </a:accent1>
    <a:accent2>
      <a:srgbClr val="FAAF3F"/>
    </a:accent2>
    <a:accent3>
      <a:srgbClr val="000000"/>
    </a:accent3>
    <a:accent4>
      <a:srgbClr val="727272"/>
    </a:accent4>
    <a:accent5>
      <a:srgbClr val="595959"/>
    </a:accent5>
    <a:accent6>
      <a:srgbClr val="666666"/>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12168</Words>
  <Application>WPS 演示</Application>
  <PresentationFormat>自定义</PresentationFormat>
  <Paragraphs>2784</Paragraphs>
  <Slides>46</Slides>
  <Notes>17</Notes>
  <HiddenSlides>0</HiddenSlides>
  <MMClips>0</MMClips>
  <ScaleCrop>false</ScaleCrop>
  <HeadingPairs>
    <vt:vector size="6" baseType="variant">
      <vt:variant>
        <vt:lpstr>已用的字体</vt:lpstr>
      </vt:variant>
      <vt:variant>
        <vt:i4>24</vt:i4>
      </vt:variant>
      <vt:variant>
        <vt:lpstr>主题</vt:lpstr>
      </vt:variant>
      <vt:variant>
        <vt:i4>4</vt:i4>
      </vt:variant>
      <vt:variant>
        <vt:lpstr>幻灯片标题</vt:lpstr>
      </vt:variant>
      <vt:variant>
        <vt:i4>46</vt:i4>
      </vt:variant>
    </vt:vector>
  </HeadingPairs>
  <TitlesOfParts>
    <vt:vector size="74" baseType="lpstr">
      <vt:lpstr>Arial</vt:lpstr>
      <vt:lpstr>宋体</vt:lpstr>
      <vt:lpstr>Wingdings</vt:lpstr>
      <vt:lpstr>MS PGothic</vt:lpstr>
      <vt:lpstr>Arial Unicode MS</vt:lpstr>
      <vt:lpstr>黑体</vt:lpstr>
      <vt:lpstr>FrutigerNext LT Medium</vt:lpstr>
      <vt:lpstr>华文细黑</vt:lpstr>
      <vt:lpstr>FrutigerNext LT Light</vt:lpstr>
      <vt:lpstr>Helvetica Light</vt:lpstr>
      <vt:lpstr>微软雅黑</vt:lpstr>
      <vt:lpstr>等线</vt:lpstr>
      <vt:lpstr>Times New Roman</vt:lpstr>
      <vt:lpstr>华文楷体</vt:lpstr>
      <vt:lpstr>Calibri</vt:lpstr>
      <vt:lpstr>Lato Light</vt:lpstr>
      <vt:lpstr>Segoe Print</vt:lpstr>
      <vt:lpstr>华文中宋</vt:lpstr>
      <vt:lpstr>Calibri</vt:lpstr>
      <vt:lpstr>楷体</vt:lpstr>
      <vt:lpstr>Malgun Gothic</vt:lpstr>
      <vt:lpstr>GungsuhChe</vt:lpstr>
      <vt:lpstr>Old English Text MT</vt:lpstr>
      <vt:lpstr>Arial</vt:lpstr>
      <vt:lpstr>Blank</vt:lpstr>
      <vt:lpstr>内容Copytext </vt:lpstr>
      <vt:lpstr>1_内容Copytext </vt:lpstr>
      <vt:lpstr>Thank you</vt:lpstr>
      <vt:lpstr>数据治理解决方案主打胶片               -xx 大学案例-  </vt:lpstr>
      <vt:lpstr>目录</vt:lpstr>
      <vt:lpstr>数据治理领域及功能</vt:lpstr>
      <vt:lpstr>数据治理的必要性</vt:lpstr>
      <vt:lpstr>市场空间</vt:lpstr>
      <vt:lpstr>政策</vt:lpstr>
      <vt:lpstr>政策解读</vt:lpstr>
      <vt:lpstr>不同层级用户的需求层次</vt:lpstr>
      <vt:lpstr>我们的客户是谁？</vt:lpstr>
      <vt:lpstr>我们的客户是谁？</vt:lpstr>
      <vt:lpstr>客户需求：他们关注什么？</vt:lpstr>
      <vt:lpstr>客户需求：他们为什么关注？</vt:lpstr>
      <vt:lpstr>客户痛点：</vt:lpstr>
      <vt:lpstr>客户痛点：</vt:lpstr>
      <vt:lpstr>客户需求：我们如何帮助他们解决问题？</vt:lpstr>
      <vt:lpstr>目录</vt:lpstr>
      <vt:lpstr>数据治理解决方案 – 总体方案架构</vt:lpstr>
      <vt:lpstr>数据治理解决方案 – 数据治理软件功能</vt:lpstr>
      <vt:lpstr>数据治理解决方案 – 数据治理软件功能</vt:lpstr>
      <vt:lpstr>数据治理解决方案 – 数据治理软件功能</vt:lpstr>
      <vt:lpstr>数据治理解决方案 – 数据治理软件功能</vt:lpstr>
      <vt:lpstr>数据治理解决方案 – 数据治理软件功能</vt:lpstr>
      <vt:lpstr>数据治理解决方案 – 数据治理服务内容</vt:lpstr>
      <vt:lpstr>数据治理解决方案 – 数据治理工作内容</vt:lpstr>
      <vt:lpstr>数据治理解决方案 – 数据治理工作流程</vt:lpstr>
      <vt:lpstr>数据治理解决方案 – 数据治理交付成果</vt:lpstr>
      <vt:lpstr>数据治理解决方案 – 数据治理软件功能</vt:lpstr>
      <vt:lpstr>目录</vt:lpstr>
      <vt:lpstr>方案价值：</vt:lpstr>
      <vt:lpstr>云端数据治理解决方案 – 数据治理方案特色</vt:lpstr>
      <vt:lpstr>目录</vt:lpstr>
      <vt:lpstr>成功案例介绍 – xx师范大学 </vt:lpstr>
      <vt:lpstr>成功案例介绍 – xx师范大学 </vt:lpstr>
      <vt:lpstr>成功案例介绍 – xx师范大学 </vt:lpstr>
      <vt:lpstr>成功案例介绍 – xx师范大学 </vt:lpstr>
      <vt:lpstr>成功案例介绍 – xx师范大学 </vt:lpstr>
      <vt:lpstr>成功案例介绍 – xx师范大学 </vt:lpstr>
      <vt:lpstr>成功案例介绍 – xx师范大学 </vt:lpstr>
      <vt:lpstr>成功案例介绍 – xx师范大学 </vt:lpstr>
      <vt:lpstr>成功案例介绍 – xx师范大学 </vt:lpstr>
      <vt:lpstr>成功案例介绍 – xx师范大学 </vt:lpstr>
      <vt:lpstr>成功案例介绍 – xx师范大学 </vt:lpstr>
      <vt:lpstr>成功案例介绍 – xx师范大学 </vt:lpstr>
      <vt:lpstr>成功案例介绍 – xx师范大学 </vt:lpstr>
      <vt:lpstr>成功案例介绍 – xx师范大学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Zhouchuan (Luc)</dc:creator>
  <cp:lastModifiedBy>Young Z</cp:lastModifiedBy>
  <cp:revision>293</cp:revision>
  <dcterms:created xsi:type="dcterms:W3CDTF">2014-09-24T01:01:00Z</dcterms:created>
  <dcterms:modified xsi:type="dcterms:W3CDTF">2024-04-18T13:23:58Z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_ms_pID_72543">
    <vt:lpwstr>(3)LnZC7oz8To7Y22xH3O/e8/X6gkcAfRUeHpPKe9auJUq9yzXFzrGV+j1DVZzgI0EDzC0+5uAn
JRM3s2IrrRCN1xLLc5QCYMfFYASWKQEv6iy1EnUE8rYaLKTG6HQjCqbkdbEQ9AilA4wlcUGp
M+k9aV/YBB7bikGlSXRZgKrcuKUoPTRW/pwdIjDDNwoeATG48Nbp4PibsYPQdwtvyHcMCRzq
oFE7OBQURzIUP5l6z3</vt:lpwstr>
  </property>
  <property fmtid="{D5CDD505-2E9C-101B-9397-08002B2CF9AE}" pid="3" name="_new_ms_pID_725431">
    <vt:lpwstr>HT427Rj6lAztVHZEJkxSciTysHWHm3pp5pN5bdc8jI+R61LnM43/Id
OJR/5SFPGpxMNY+Ik687ggiaLVMQscvYPOkYpYvR1VHcjWO8LpQ8Jk53dz+OU+dlYUxEyVKl
nYzFJYTuHXU49As1XFzB/2i2wAX+Yjn1QhbYw+qyfxCE4z7K7zPku/WWV3NPVhG2wti/wSUD
AM0CoU+WY5x1lW5yWyWZ3mYynTqhsmvMoz2Q</vt:lpwstr>
  </property>
  <property fmtid="{D5CDD505-2E9C-101B-9397-08002B2CF9AE}" pid="4" name="_new_ms_pID_725432">
    <vt:lpwstr>of/ts7Wz4tkV5CWwOAx2QBtKm6tC/Xu4PptY
e8yjtgJI/F4gvLnqMJLIFc4L3zL3adNOX5ClTsL7BprpsyLPcNPaVLnaJJkx23gviqr0Df3e
</vt:lpwstr>
  </property>
  <property fmtid="{D5CDD505-2E9C-101B-9397-08002B2CF9AE}" pid="5" name="_2015_ms_pID_725343">
    <vt:lpwstr>(3)RVzWkA3wo5o46LUZi6zJV+CprBlxh3FU0fwWZPTLFZ5jeuhQ5HtkddoItdOAXVJ8602xZ/+c
PWrNZb/LWN8ersGsBXbhbLO9ktxEnLZzedFsSxsb42DsEDFgcCajo11QNL3xdtx2nZVY3qzM
6qBqTL98VPIXQhVaaJaRDDAztoUdClQewS4Bht2cauOYvCzg2OyhHF78iawYm+fUVXkFjewq
dfSqHJOQhoZ5i/ECUR</vt:lpwstr>
  </property>
  <property fmtid="{D5CDD505-2E9C-101B-9397-08002B2CF9AE}" pid="6" name="_2015_ms_pID_7253431">
    <vt:lpwstr>ipFJJDJQqoWq6RWVffcDPY1CBqAQqLBMi3rNrtSNAsIGf0fG/NKcO2
3GRk/twMxo0NJTcbzpQYZsFI+H1MkL1V7Wgv+5KBEdRw8TkntNoOq6KTUllpt34t2sXGw18v
T+/5DcjNa0MpmBPaCn6vZqy+SqPj7IZ+EQkksn+bJxs36+DFOi2cMaUsozMRVUVLPUD2zzaQ
JDeXLxr4DMfURCbZNc8ETe3Ddp7NQs+i9+Cv</vt:lpwstr>
  </property>
  <property fmtid="{D5CDD505-2E9C-101B-9397-08002B2CF9AE}" pid="7" name="_2015_ms_pID_7253432">
    <vt:lpwstr>AgK8GDeO8sPKjxTYobARM0de1rVFDWyHf0/c
OaIgiu25zBBgtiKRtiTZlGlKGE2ZqA==</vt:lpwstr>
  </property>
  <property fmtid="{D5CDD505-2E9C-101B-9397-08002B2CF9AE}" pid="8" name="_readonly">
    <vt:lpwstr/>
  </property>
  <property fmtid="{D5CDD505-2E9C-101B-9397-08002B2CF9AE}" pid="9" name="_change">
    <vt:lpwstr/>
  </property>
  <property fmtid="{D5CDD505-2E9C-101B-9397-08002B2CF9AE}" pid="10" name="_full-control">
    <vt:lpwstr/>
  </property>
  <property fmtid="{D5CDD505-2E9C-101B-9397-08002B2CF9AE}" pid="11" name="sflag">
    <vt:lpwstr>1552870527</vt:lpwstr>
  </property>
  <property fmtid="{D5CDD505-2E9C-101B-9397-08002B2CF9AE}" pid="12" name="KSOProductBuildVer">
    <vt:lpwstr>2052-12.1.0.16364</vt:lpwstr>
  </property>
  <property fmtid="{D5CDD505-2E9C-101B-9397-08002B2CF9AE}" pid="13" name="ICV">
    <vt:lpwstr>B1B3C91A77E840BDB835ADAFDAC3DC93</vt:lpwstr>
  </property>
</Properties>
</file>