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80" r:id="rId4"/>
    <p:sldId id="282" r:id="rId5"/>
    <p:sldId id="283" r:id="rId6"/>
    <p:sldId id="284" r:id="rId7"/>
    <p:sldId id="286" r:id="rId8"/>
    <p:sldId id="293" r:id="rId9"/>
    <p:sldId id="287" r:id="rId10"/>
    <p:sldId id="294" r:id="rId11"/>
    <p:sldId id="288" r:id="rId12"/>
    <p:sldId id="295" r:id="rId13"/>
    <p:sldId id="289" r:id="rId14"/>
    <p:sldId id="290" r:id="rId15"/>
    <p:sldId id="291" r:id="rId16"/>
    <p:sldId id="292" r:id="rId17"/>
    <p:sldId id="281" r:id="rId18"/>
    <p:sldId id="285" r:id="rId19"/>
    <p:sldId id="296" r:id="rId20"/>
    <p:sldId id="297" r:id="rId21"/>
    <p:sldId id="298" r:id="rId22"/>
    <p:sldId id="299"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68" autoAdjust="0"/>
    <p:restoredTop sz="94660"/>
  </p:normalViewPr>
  <p:slideViewPr>
    <p:cSldViewPr snapToGrid="0">
      <p:cViewPr varScale="1">
        <p:scale>
          <a:sx n="90" d="100"/>
          <a:sy n="90" d="100"/>
        </p:scale>
        <p:origin x="10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F98A8D-229D-F87A-EC5C-A4CDE963221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B57FAB2-D955-E412-145F-006051FBD7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9B611DA-2C9F-38CB-6A6C-6C5BD0D74502}"/>
              </a:ext>
            </a:extLst>
          </p:cNvPr>
          <p:cNvSpPr>
            <a:spLocks noGrp="1"/>
          </p:cNvSpPr>
          <p:nvPr>
            <p:ph type="dt" sz="half" idx="10"/>
          </p:nvPr>
        </p:nvSpPr>
        <p:spPr/>
        <p:txBody>
          <a:bodyPr/>
          <a:lstStyle/>
          <a:p>
            <a:fld id="{4E4821CD-04B5-437E-B7C3-11AF451F003C}" type="datetimeFigureOut">
              <a:rPr lang="zh-CN" altLang="en-US" smtClean="0"/>
              <a:t>2026/3/24</a:t>
            </a:fld>
            <a:endParaRPr lang="zh-CN" altLang="en-US"/>
          </a:p>
        </p:txBody>
      </p:sp>
      <p:sp>
        <p:nvSpPr>
          <p:cNvPr id="5" name="页脚占位符 4">
            <a:extLst>
              <a:ext uri="{FF2B5EF4-FFF2-40B4-BE49-F238E27FC236}">
                <a16:creationId xmlns:a16="http://schemas.microsoft.com/office/drawing/2014/main" id="{73C938C6-3462-4718-8F17-3435301F86E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7714D45-EE16-3682-0C42-4F24908EDDA1}"/>
              </a:ext>
            </a:extLst>
          </p:cNvPr>
          <p:cNvSpPr>
            <a:spLocks noGrp="1"/>
          </p:cNvSpPr>
          <p:nvPr>
            <p:ph type="sldNum" sz="quarter" idx="12"/>
          </p:nvPr>
        </p:nvSpPr>
        <p:spPr/>
        <p:txBody>
          <a:bodyPr/>
          <a:lstStyle/>
          <a:p>
            <a:fld id="{6E8ED6A8-2ECA-4604-8C6E-3BA998B917EA}" type="slidenum">
              <a:rPr lang="zh-CN" altLang="en-US" smtClean="0"/>
              <a:t>‹#›</a:t>
            </a:fld>
            <a:endParaRPr lang="zh-CN" altLang="en-US"/>
          </a:p>
        </p:txBody>
      </p:sp>
    </p:spTree>
    <p:extLst>
      <p:ext uri="{BB962C8B-B14F-4D97-AF65-F5344CB8AC3E}">
        <p14:creationId xmlns:p14="http://schemas.microsoft.com/office/powerpoint/2010/main" val="3879757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82B118-D81B-4891-839F-41AF680F10E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839E796-8F28-12CC-4D0D-151FBF5F561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E8D1455-87C8-5832-C14B-BE2912928864}"/>
              </a:ext>
            </a:extLst>
          </p:cNvPr>
          <p:cNvSpPr>
            <a:spLocks noGrp="1"/>
          </p:cNvSpPr>
          <p:nvPr>
            <p:ph type="dt" sz="half" idx="10"/>
          </p:nvPr>
        </p:nvSpPr>
        <p:spPr/>
        <p:txBody>
          <a:bodyPr/>
          <a:lstStyle/>
          <a:p>
            <a:fld id="{4E4821CD-04B5-437E-B7C3-11AF451F003C}" type="datetimeFigureOut">
              <a:rPr lang="zh-CN" altLang="en-US" smtClean="0"/>
              <a:t>2026/3/24</a:t>
            </a:fld>
            <a:endParaRPr lang="zh-CN" altLang="en-US"/>
          </a:p>
        </p:txBody>
      </p:sp>
      <p:sp>
        <p:nvSpPr>
          <p:cNvPr id="5" name="页脚占位符 4">
            <a:extLst>
              <a:ext uri="{FF2B5EF4-FFF2-40B4-BE49-F238E27FC236}">
                <a16:creationId xmlns:a16="http://schemas.microsoft.com/office/drawing/2014/main" id="{A973CDB9-B5BE-1978-673F-BFF1C9D94B3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D37D305-AC26-D420-A111-6B64CB74D651}"/>
              </a:ext>
            </a:extLst>
          </p:cNvPr>
          <p:cNvSpPr>
            <a:spLocks noGrp="1"/>
          </p:cNvSpPr>
          <p:nvPr>
            <p:ph type="sldNum" sz="quarter" idx="12"/>
          </p:nvPr>
        </p:nvSpPr>
        <p:spPr/>
        <p:txBody>
          <a:bodyPr/>
          <a:lstStyle/>
          <a:p>
            <a:fld id="{6E8ED6A8-2ECA-4604-8C6E-3BA998B917EA}" type="slidenum">
              <a:rPr lang="zh-CN" altLang="en-US" smtClean="0"/>
              <a:t>‹#›</a:t>
            </a:fld>
            <a:endParaRPr lang="zh-CN" altLang="en-US"/>
          </a:p>
        </p:txBody>
      </p:sp>
    </p:spTree>
    <p:extLst>
      <p:ext uri="{BB962C8B-B14F-4D97-AF65-F5344CB8AC3E}">
        <p14:creationId xmlns:p14="http://schemas.microsoft.com/office/powerpoint/2010/main" val="4017179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A6574C-0770-62F5-987D-08943814EA8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C8638B5-C58D-E2BA-67D5-BE4FC184AFD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30ECB51-F059-6AC9-E0EC-3DB743DC0EF0}"/>
              </a:ext>
            </a:extLst>
          </p:cNvPr>
          <p:cNvSpPr>
            <a:spLocks noGrp="1"/>
          </p:cNvSpPr>
          <p:nvPr>
            <p:ph type="dt" sz="half" idx="10"/>
          </p:nvPr>
        </p:nvSpPr>
        <p:spPr/>
        <p:txBody>
          <a:bodyPr/>
          <a:lstStyle/>
          <a:p>
            <a:fld id="{4E4821CD-04B5-437E-B7C3-11AF451F003C}" type="datetimeFigureOut">
              <a:rPr lang="zh-CN" altLang="en-US" smtClean="0"/>
              <a:t>2026/3/24</a:t>
            </a:fld>
            <a:endParaRPr lang="zh-CN" altLang="en-US"/>
          </a:p>
        </p:txBody>
      </p:sp>
      <p:sp>
        <p:nvSpPr>
          <p:cNvPr id="5" name="页脚占位符 4">
            <a:extLst>
              <a:ext uri="{FF2B5EF4-FFF2-40B4-BE49-F238E27FC236}">
                <a16:creationId xmlns:a16="http://schemas.microsoft.com/office/drawing/2014/main" id="{66EA0947-E51D-ED0C-BBFC-64CCC41CE75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1C80E2B-38CA-2936-77B6-5F592157A043}"/>
              </a:ext>
            </a:extLst>
          </p:cNvPr>
          <p:cNvSpPr>
            <a:spLocks noGrp="1"/>
          </p:cNvSpPr>
          <p:nvPr>
            <p:ph type="sldNum" sz="quarter" idx="12"/>
          </p:nvPr>
        </p:nvSpPr>
        <p:spPr/>
        <p:txBody>
          <a:bodyPr/>
          <a:lstStyle/>
          <a:p>
            <a:fld id="{6E8ED6A8-2ECA-4604-8C6E-3BA998B917EA}" type="slidenum">
              <a:rPr lang="zh-CN" altLang="en-US" smtClean="0"/>
              <a:t>‹#›</a:t>
            </a:fld>
            <a:endParaRPr lang="zh-CN" altLang="en-US"/>
          </a:p>
        </p:txBody>
      </p:sp>
    </p:spTree>
    <p:extLst>
      <p:ext uri="{BB962C8B-B14F-4D97-AF65-F5344CB8AC3E}">
        <p14:creationId xmlns:p14="http://schemas.microsoft.com/office/powerpoint/2010/main" val="40270513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CBCD7E-D63A-9B04-3E33-E77BCC34F4C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B54B593-D073-4648-1CD8-ABB6EDCDF6C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FE637A4-D4A8-03D3-913F-B014B94491B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BAC8A493-8D65-2F25-87B4-1EA2619F02A0}"/>
              </a:ext>
            </a:extLst>
          </p:cNvPr>
          <p:cNvSpPr>
            <a:spLocks noGrp="1"/>
          </p:cNvSpPr>
          <p:nvPr>
            <p:ph type="dt" sz="half" idx="10"/>
          </p:nvPr>
        </p:nvSpPr>
        <p:spPr/>
        <p:txBody>
          <a:bodyPr/>
          <a:lstStyle/>
          <a:p>
            <a:fld id="{4E4821CD-04B5-437E-B7C3-11AF451F003C}" type="datetimeFigureOut">
              <a:rPr lang="zh-CN" altLang="en-US" smtClean="0"/>
              <a:t>2026/3/24</a:t>
            </a:fld>
            <a:endParaRPr lang="zh-CN" altLang="en-US"/>
          </a:p>
        </p:txBody>
      </p:sp>
      <p:sp>
        <p:nvSpPr>
          <p:cNvPr id="6" name="页脚占位符 5">
            <a:extLst>
              <a:ext uri="{FF2B5EF4-FFF2-40B4-BE49-F238E27FC236}">
                <a16:creationId xmlns:a16="http://schemas.microsoft.com/office/drawing/2014/main" id="{2E2024AC-DC26-C2DB-202C-FA7A6D37A8B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3C8305D-6B7B-43AE-277A-7E27E754C0AA}"/>
              </a:ext>
            </a:extLst>
          </p:cNvPr>
          <p:cNvSpPr>
            <a:spLocks noGrp="1"/>
          </p:cNvSpPr>
          <p:nvPr>
            <p:ph type="sldNum" sz="quarter" idx="12"/>
          </p:nvPr>
        </p:nvSpPr>
        <p:spPr/>
        <p:txBody>
          <a:bodyPr/>
          <a:lstStyle/>
          <a:p>
            <a:fld id="{6E8ED6A8-2ECA-4604-8C6E-3BA998B917EA}" type="slidenum">
              <a:rPr lang="zh-CN" altLang="en-US" smtClean="0"/>
              <a:t>‹#›</a:t>
            </a:fld>
            <a:endParaRPr lang="zh-CN" altLang="en-US"/>
          </a:p>
        </p:txBody>
      </p:sp>
    </p:spTree>
    <p:extLst>
      <p:ext uri="{BB962C8B-B14F-4D97-AF65-F5344CB8AC3E}">
        <p14:creationId xmlns:p14="http://schemas.microsoft.com/office/powerpoint/2010/main" val="1219905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02FFD9-2804-E296-B5A3-0CA9B29B4ED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04CA0D3-E0FC-DF4B-73F3-DCAFB895DD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3891256-E44C-3CD7-43AF-4676975C6D0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16B440A-3005-CC9D-89B2-21AEF05A5B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1901B8C-8626-902A-75F2-0513E0743BD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F2BB83E-DC3E-800A-39F8-26B14FCBB241}"/>
              </a:ext>
            </a:extLst>
          </p:cNvPr>
          <p:cNvSpPr>
            <a:spLocks noGrp="1"/>
          </p:cNvSpPr>
          <p:nvPr>
            <p:ph type="dt" sz="half" idx="10"/>
          </p:nvPr>
        </p:nvSpPr>
        <p:spPr/>
        <p:txBody>
          <a:bodyPr/>
          <a:lstStyle/>
          <a:p>
            <a:fld id="{4E4821CD-04B5-437E-B7C3-11AF451F003C}" type="datetimeFigureOut">
              <a:rPr lang="zh-CN" altLang="en-US" smtClean="0"/>
              <a:t>2026/3/24</a:t>
            </a:fld>
            <a:endParaRPr lang="zh-CN" altLang="en-US"/>
          </a:p>
        </p:txBody>
      </p:sp>
      <p:sp>
        <p:nvSpPr>
          <p:cNvPr id="8" name="页脚占位符 7">
            <a:extLst>
              <a:ext uri="{FF2B5EF4-FFF2-40B4-BE49-F238E27FC236}">
                <a16:creationId xmlns:a16="http://schemas.microsoft.com/office/drawing/2014/main" id="{61F83D55-1491-F60F-2B71-2321349D037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420F8F1-9764-732E-4A92-592A8D7AA188}"/>
              </a:ext>
            </a:extLst>
          </p:cNvPr>
          <p:cNvSpPr>
            <a:spLocks noGrp="1"/>
          </p:cNvSpPr>
          <p:nvPr>
            <p:ph type="sldNum" sz="quarter" idx="12"/>
          </p:nvPr>
        </p:nvSpPr>
        <p:spPr/>
        <p:txBody>
          <a:bodyPr/>
          <a:lstStyle/>
          <a:p>
            <a:fld id="{6E8ED6A8-2ECA-4604-8C6E-3BA998B917EA}" type="slidenum">
              <a:rPr lang="zh-CN" altLang="en-US" smtClean="0"/>
              <a:t>‹#›</a:t>
            </a:fld>
            <a:endParaRPr lang="zh-CN" altLang="en-US"/>
          </a:p>
        </p:txBody>
      </p:sp>
    </p:spTree>
    <p:extLst>
      <p:ext uri="{BB962C8B-B14F-4D97-AF65-F5344CB8AC3E}">
        <p14:creationId xmlns:p14="http://schemas.microsoft.com/office/powerpoint/2010/main" val="341289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6B2CEF-E592-49B9-4B7A-43DE6ECE24B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89819E3-699D-56CA-365E-C58CFD3D9880}"/>
              </a:ext>
            </a:extLst>
          </p:cNvPr>
          <p:cNvSpPr>
            <a:spLocks noGrp="1"/>
          </p:cNvSpPr>
          <p:nvPr>
            <p:ph type="dt" sz="half" idx="10"/>
          </p:nvPr>
        </p:nvSpPr>
        <p:spPr/>
        <p:txBody>
          <a:bodyPr/>
          <a:lstStyle/>
          <a:p>
            <a:fld id="{4E4821CD-04B5-437E-B7C3-11AF451F003C}" type="datetimeFigureOut">
              <a:rPr lang="zh-CN" altLang="en-US" smtClean="0"/>
              <a:t>2026/3/24</a:t>
            </a:fld>
            <a:endParaRPr lang="zh-CN" altLang="en-US"/>
          </a:p>
        </p:txBody>
      </p:sp>
      <p:sp>
        <p:nvSpPr>
          <p:cNvPr id="4" name="页脚占位符 3">
            <a:extLst>
              <a:ext uri="{FF2B5EF4-FFF2-40B4-BE49-F238E27FC236}">
                <a16:creationId xmlns:a16="http://schemas.microsoft.com/office/drawing/2014/main" id="{543D5E7C-7C4A-B6B5-213B-1A73EA52CC1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D77215E-9837-6C39-0D5D-0192C7D9C674}"/>
              </a:ext>
            </a:extLst>
          </p:cNvPr>
          <p:cNvSpPr>
            <a:spLocks noGrp="1"/>
          </p:cNvSpPr>
          <p:nvPr>
            <p:ph type="sldNum" sz="quarter" idx="12"/>
          </p:nvPr>
        </p:nvSpPr>
        <p:spPr/>
        <p:txBody>
          <a:bodyPr/>
          <a:lstStyle/>
          <a:p>
            <a:fld id="{6E8ED6A8-2ECA-4604-8C6E-3BA998B917EA}" type="slidenum">
              <a:rPr lang="zh-CN" altLang="en-US" smtClean="0"/>
              <a:t>‹#›</a:t>
            </a:fld>
            <a:endParaRPr lang="zh-CN" altLang="en-US"/>
          </a:p>
        </p:txBody>
      </p:sp>
    </p:spTree>
    <p:extLst>
      <p:ext uri="{BB962C8B-B14F-4D97-AF65-F5344CB8AC3E}">
        <p14:creationId xmlns:p14="http://schemas.microsoft.com/office/powerpoint/2010/main" val="2785873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108D813-D5F8-D7DA-D3BE-B71DC0232332}"/>
              </a:ext>
            </a:extLst>
          </p:cNvPr>
          <p:cNvSpPr>
            <a:spLocks noGrp="1"/>
          </p:cNvSpPr>
          <p:nvPr>
            <p:ph type="dt" sz="half" idx="10"/>
          </p:nvPr>
        </p:nvSpPr>
        <p:spPr/>
        <p:txBody>
          <a:bodyPr/>
          <a:lstStyle/>
          <a:p>
            <a:fld id="{4E4821CD-04B5-437E-B7C3-11AF451F003C}" type="datetimeFigureOut">
              <a:rPr lang="zh-CN" altLang="en-US" smtClean="0"/>
              <a:t>2026/3/24</a:t>
            </a:fld>
            <a:endParaRPr lang="zh-CN" altLang="en-US"/>
          </a:p>
        </p:txBody>
      </p:sp>
      <p:sp>
        <p:nvSpPr>
          <p:cNvPr id="3" name="页脚占位符 2">
            <a:extLst>
              <a:ext uri="{FF2B5EF4-FFF2-40B4-BE49-F238E27FC236}">
                <a16:creationId xmlns:a16="http://schemas.microsoft.com/office/drawing/2014/main" id="{85C88D87-0325-03D6-A1ED-EBFC40D29DB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7153B97-EDC3-1E62-41E5-F4B0B62DEE80}"/>
              </a:ext>
            </a:extLst>
          </p:cNvPr>
          <p:cNvSpPr>
            <a:spLocks noGrp="1"/>
          </p:cNvSpPr>
          <p:nvPr>
            <p:ph type="sldNum" sz="quarter" idx="12"/>
          </p:nvPr>
        </p:nvSpPr>
        <p:spPr/>
        <p:txBody>
          <a:bodyPr/>
          <a:lstStyle/>
          <a:p>
            <a:fld id="{6E8ED6A8-2ECA-4604-8C6E-3BA998B917EA}" type="slidenum">
              <a:rPr lang="zh-CN" altLang="en-US" smtClean="0"/>
              <a:t>‹#›</a:t>
            </a:fld>
            <a:endParaRPr lang="zh-CN" altLang="en-US"/>
          </a:p>
        </p:txBody>
      </p:sp>
    </p:spTree>
    <p:extLst>
      <p:ext uri="{BB962C8B-B14F-4D97-AF65-F5344CB8AC3E}">
        <p14:creationId xmlns:p14="http://schemas.microsoft.com/office/powerpoint/2010/main" val="2604746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236CEC-EB8A-37FB-B2B1-B1B1D921054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7FD9BFB-E566-2BC5-7542-A658DA09A5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71EF725-5211-766F-F4FF-0007C1502B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8B53C23-B639-DE95-A32E-9DA382FCDFCE}"/>
              </a:ext>
            </a:extLst>
          </p:cNvPr>
          <p:cNvSpPr>
            <a:spLocks noGrp="1"/>
          </p:cNvSpPr>
          <p:nvPr>
            <p:ph type="dt" sz="half" idx="10"/>
          </p:nvPr>
        </p:nvSpPr>
        <p:spPr/>
        <p:txBody>
          <a:bodyPr/>
          <a:lstStyle/>
          <a:p>
            <a:fld id="{4E4821CD-04B5-437E-B7C3-11AF451F003C}" type="datetimeFigureOut">
              <a:rPr lang="zh-CN" altLang="en-US" smtClean="0"/>
              <a:t>2026/3/24</a:t>
            </a:fld>
            <a:endParaRPr lang="zh-CN" altLang="en-US"/>
          </a:p>
        </p:txBody>
      </p:sp>
      <p:sp>
        <p:nvSpPr>
          <p:cNvPr id="6" name="页脚占位符 5">
            <a:extLst>
              <a:ext uri="{FF2B5EF4-FFF2-40B4-BE49-F238E27FC236}">
                <a16:creationId xmlns:a16="http://schemas.microsoft.com/office/drawing/2014/main" id="{4A4034F1-D29C-B49B-DDCE-237AAFD8F3D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FEF4B70-3DB0-F0CB-DCD1-D2F006C9D21A}"/>
              </a:ext>
            </a:extLst>
          </p:cNvPr>
          <p:cNvSpPr>
            <a:spLocks noGrp="1"/>
          </p:cNvSpPr>
          <p:nvPr>
            <p:ph type="sldNum" sz="quarter" idx="12"/>
          </p:nvPr>
        </p:nvSpPr>
        <p:spPr/>
        <p:txBody>
          <a:bodyPr/>
          <a:lstStyle/>
          <a:p>
            <a:fld id="{6E8ED6A8-2ECA-4604-8C6E-3BA998B917EA}" type="slidenum">
              <a:rPr lang="zh-CN" altLang="en-US" smtClean="0"/>
              <a:t>‹#›</a:t>
            </a:fld>
            <a:endParaRPr lang="zh-CN" altLang="en-US"/>
          </a:p>
        </p:txBody>
      </p:sp>
    </p:spTree>
    <p:extLst>
      <p:ext uri="{BB962C8B-B14F-4D97-AF65-F5344CB8AC3E}">
        <p14:creationId xmlns:p14="http://schemas.microsoft.com/office/powerpoint/2010/main" val="55127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807267-3827-94D5-F551-EC8C961DBEF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31C6A73E-2F12-4FDA-C37C-12ECBF73CF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C5872D5-8117-5C38-39AB-D5CE3A3ABF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339AE8A-CFB2-73F3-BCFB-6EB4BD9DA139}"/>
              </a:ext>
            </a:extLst>
          </p:cNvPr>
          <p:cNvSpPr>
            <a:spLocks noGrp="1"/>
          </p:cNvSpPr>
          <p:nvPr>
            <p:ph type="dt" sz="half" idx="10"/>
          </p:nvPr>
        </p:nvSpPr>
        <p:spPr/>
        <p:txBody>
          <a:bodyPr/>
          <a:lstStyle/>
          <a:p>
            <a:fld id="{4E4821CD-04B5-437E-B7C3-11AF451F003C}" type="datetimeFigureOut">
              <a:rPr lang="zh-CN" altLang="en-US" smtClean="0"/>
              <a:t>2026/3/24</a:t>
            </a:fld>
            <a:endParaRPr lang="zh-CN" altLang="en-US"/>
          </a:p>
        </p:txBody>
      </p:sp>
      <p:sp>
        <p:nvSpPr>
          <p:cNvPr id="6" name="页脚占位符 5">
            <a:extLst>
              <a:ext uri="{FF2B5EF4-FFF2-40B4-BE49-F238E27FC236}">
                <a16:creationId xmlns:a16="http://schemas.microsoft.com/office/drawing/2014/main" id="{8598BBC8-9EA2-5CE6-897C-78721AAD22D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3ACA488-1860-E6C4-AE0A-4D255D883362}"/>
              </a:ext>
            </a:extLst>
          </p:cNvPr>
          <p:cNvSpPr>
            <a:spLocks noGrp="1"/>
          </p:cNvSpPr>
          <p:nvPr>
            <p:ph type="sldNum" sz="quarter" idx="12"/>
          </p:nvPr>
        </p:nvSpPr>
        <p:spPr/>
        <p:txBody>
          <a:bodyPr/>
          <a:lstStyle/>
          <a:p>
            <a:fld id="{6E8ED6A8-2ECA-4604-8C6E-3BA998B917EA}" type="slidenum">
              <a:rPr lang="zh-CN" altLang="en-US" smtClean="0"/>
              <a:t>‹#›</a:t>
            </a:fld>
            <a:endParaRPr lang="zh-CN" altLang="en-US"/>
          </a:p>
        </p:txBody>
      </p:sp>
    </p:spTree>
    <p:extLst>
      <p:ext uri="{BB962C8B-B14F-4D97-AF65-F5344CB8AC3E}">
        <p14:creationId xmlns:p14="http://schemas.microsoft.com/office/powerpoint/2010/main" val="667340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6B897F-20B6-BCBE-5AB3-5D9FCE37CC0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A0EB950-BED1-1299-EB2D-A6590AF3ECF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E811EFA-9C6D-37CE-999E-868DA3DE60A1}"/>
              </a:ext>
            </a:extLst>
          </p:cNvPr>
          <p:cNvSpPr>
            <a:spLocks noGrp="1"/>
          </p:cNvSpPr>
          <p:nvPr>
            <p:ph type="dt" sz="half" idx="10"/>
          </p:nvPr>
        </p:nvSpPr>
        <p:spPr/>
        <p:txBody>
          <a:bodyPr/>
          <a:lstStyle/>
          <a:p>
            <a:fld id="{4E4821CD-04B5-437E-B7C3-11AF451F003C}" type="datetimeFigureOut">
              <a:rPr lang="zh-CN" altLang="en-US" smtClean="0"/>
              <a:t>2026/3/24</a:t>
            </a:fld>
            <a:endParaRPr lang="zh-CN" altLang="en-US"/>
          </a:p>
        </p:txBody>
      </p:sp>
      <p:sp>
        <p:nvSpPr>
          <p:cNvPr id="5" name="页脚占位符 4">
            <a:extLst>
              <a:ext uri="{FF2B5EF4-FFF2-40B4-BE49-F238E27FC236}">
                <a16:creationId xmlns:a16="http://schemas.microsoft.com/office/drawing/2014/main" id="{F28288CE-CDFF-85EB-9830-9E63F891F7A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59AAC4-F8F7-2910-5A1F-5C5440741CD5}"/>
              </a:ext>
            </a:extLst>
          </p:cNvPr>
          <p:cNvSpPr>
            <a:spLocks noGrp="1"/>
          </p:cNvSpPr>
          <p:nvPr>
            <p:ph type="sldNum" sz="quarter" idx="12"/>
          </p:nvPr>
        </p:nvSpPr>
        <p:spPr/>
        <p:txBody>
          <a:bodyPr/>
          <a:lstStyle/>
          <a:p>
            <a:fld id="{6E8ED6A8-2ECA-4604-8C6E-3BA998B917EA}" type="slidenum">
              <a:rPr lang="zh-CN" altLang="en-US" smtClean="0"/>
              <a:t>‹#›</a:t>
            </a:fld>
            <a:endParaRPr lang="zh-CN" altLang="en-US"/>
          </a:p>
        </p:txBody>
      </p:sp>
    </p:spTree>
    <p:extLst>
      <p:ext uri="{BB962C8B-B14F-4D97-AF65-F5344CB8AC3E}">
        <p14:creationId xmlns:p14="http://schemas.microsoft.com/office/powerpoint/2010/main" val="529966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FD8B6F1-1C51-2E3D-CADB-58301BD30F8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B334039-E82E-6E60-1915-81508977D9B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11E6C8E-90EA-E597-3B45-DDEA5F081430}"/>
              </a:ext>
            </a:extLst>
          </p:cNvPr>
          <p:cNvSpPr>
            <a:spLocks noGrp="1"/>
          </p:cNvSpPr>
          <p:nvPr>
            <p:ph type="dt" sz="half" idx="10"/>
          </p:nvPr>
        </p:nvSpPr>
        <p:spPr/>
        <p:txBody>
          <a:bodyPr/>
          <a:lstStyle/>
          <a:p>
            <a:fld id="{4E4821CD-04B5-437E-B7C3-11AF451F003C}" type="datetimeFigureOut">
              <a:rPr lang="zh-CN" altLang="en-US" smtClean="0"/>
              <a:t>2026/3/24</a:t>
            </a:fld>
            <a:endParaRPr lang="zh-CN" altLang="en-US"/>
          </a:p>
        </p:txBody>
      </p:sp>
      <p:sp>
        <p:nvSpPr>
          <p:cNvPr id="5" name="页脚占位符 4">
            <a:extLst>
              <a:ext uri="{FF2B5EF4-FFF2-40B4-BE49-F238E27FC236}">
                <a16:creationId xmlns:a16="http://schemas.microsoft.com/office/drawing/2014/main" id="{6B2C32DC-4B9B-D279-957B-99A5A9942D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303CEC8-B4D4-B8CF-A47D-6CA706F419C3}"/>
              </a:ext>
            </a:extLst>
          </p:cNvPr>
          <p:cNvSpPr>
            <a:spLocks noGrp="1"/>
          </p:cNvSpPr>
          <p:nvPr>
            <p:ph type="sldNum" sz="quarter" idx="12"/>
          </p:nvPr>
        </p:nvSpPr>
        <p:spPr/>
        <p:txBody>
          <a:bodyPr/>
          <a:lstStyle/>
          <a:p>
            <a:fld id="{6E8ED6A8-2ECA-4604-8C6E-3BA998B917EA}" type="slidenum">
              <a:rPr lang="zh-CN" altLang="en-US" smtClean="0"/>
              <a:t>‹#›</a:t>
            </a:fld>
            <a:endParaRPr lang="zh-CN" altLang="en-US"/>
          </a:p>
        </p:txBody>
      </p:sp>
    </p:spTree>
    <p:extLst>
      <p:ext uri="{BB962C8B-B14F-4D97-AF65-F5344CB8AC3E}">
        <p14:creationId xmlns:p14="http://schemas.microsoft.com/office/powerpoint/2010/main" val="41472378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DF5605-5DE7-060C-A23B-D43B5ED184F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CE17764-D6DE-FD34-0FF4-5F56736A94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D60ADFA-D0DD-2FF3-87AD-82D1D54197C4}"/>
              </a:ext>
            </a:extLst>
          </p:cNvPr>
          <p:cNvSpPr>
            <a:spLocks noGrp="1"/>
          </p:cNvSpPr>
          <p:nvPr>
            <p:ph type="dt" sz="half" idx="10"/>
          </p:nvPr>
        </p:nvSpPr>
        <p:spPr/>
        <p:txBody>
          <a:bodyPr/>
          <a:lstStyle/>
          <a:p>
            <a:fld id="{91D319E3-30AF-4A84-A152-498608730EB5}" type="datetimeFigureOut">
              <a:rPr lang="zh-CN" altLang="en-US" smtClean="0"/>
              <a:t>2026/3/24</a:t>
            </a:fld>
            <a:endParaRPr lang="zh-CN" altLang="en-US"/>
          </a:p>
        </p:txBody>
      </p:sp>
      <p:sp>
        <p:nvSpPr>
          <p:cNvPr id="5" name="页脚占位符 4">
            <a:extLst>
              <a:ext uri="{FF2B5EF4-FFF2-40B4-BE49-F238E27FC236}">
                <a16:creationId xmlns:a16="http://schemas.microsoft.com/office/drawing/2014/main" id="{57E198D2-5C8E-6154-8105-02686C73596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D5594F0-B84A-5912-5F29-F8619882B947}"/>
              </a:ext>
            </a:extLst>
          </p:cNvPr>
          <p:cNvSpPr>
            <a:spLocks noGrp="1"/>
          </p:cNvSpPr>
          <p:nvPr>
            <p:ph type="sldNum" sz="quarter" idx="12"/>
          </p:nvPr>
        </p:nvSpPr>
        <p:spPr/>
        <p:txBody>
          <a:bodyPr/>
          <a:lstStyle/>
          <a:p>
            <a:fld id="{E0ECE4F8-0101-4654-8AD6-18E8AC4AE190}" type="slidenum">
              <a:rPr lang="zh-CN" altLang="en-US" smtClean="0"/>
              <a:t>‹#›</a:t>
            </a:fld>
            <a:endParaRPr lang="zh-CN" altLang="en-US"/>
          </a:p>
        </p:txBody>
      </p:sp>
    </p:spTree>
    <p:extLst>
      <p:ext uri="{BB962C8B-B14F-4D97-AF65-F5344CB8AC3E}">
        <p14:creationId xmlns:p14="http://schemas.microsoft.com/office/powerpoint/2010/main" val="546459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CD9643-117F-B5A9-2AD2-B70BE843F3A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D6B58E2-75B7-C1DB-EC8D-DC9A545E78D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DE7D91A-C62D-55B7-A815-076A04F63D03}"/>
              </a:ext>
            </a:extLst>
          </p:cNvPr>
          <p:cNvSpPr>
            <a:spLocks noGrp="1"/>
          </p:cNvSpPr>
          <p:nvPr>
            <p:ph type="dt" sz="half" idx="10"/>
          </p:nvPr>
        </p:nvSpPr>
        <p:spPr/>
        <p:txBody>
          <a:bodyPr/>
          <a:lstStyle/>
          <a:p>
            <a:fld id="{91D319E3-30AF-4A84-A152-498608730EB5}" type="datetimeFigureOut">
              <a:rPr lang="zh-CN" altLang="en-US" smtClean="0"/>
              <a:t>2026/3/24</a:t>
            </a:fld>
            <a:endParaRPr lang="zh-CN" altLang="en-US"/>
          </a:p>
        </p:txBody>
      </p:sp>
      <p:sp>
        <p:nvSpPr>
          <p:cNvPr id="5" name="页脚占位符 4">
            <a:extLst>
              <a:ext uri="{FF2B5EF4-FFF2-40B4-BE49-F238E27FC236}">
                <a16:creationId xmlns:a16="http://schemas.microsoft.com/office/drawing/2014/main" id="{4EBFD7F4-965D-3800-3063-B328A01BF26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C3AED54-3216-8287-A2E0-474B8182208F}"/>
              </a:ext>
            </a:extLst>
          </p:cNvPr>
          <p:cNvSpPr>
            <a:spLocks noGrp="1"/>
          </p:cNvSpPr>
          <p:nvPr>
            <p:ph type="sldNum" sz="quarter" idx="12"/>
          </p:nvPr>
        </p:nvSpPr>
        <p:spPr/>
        <p:txBody>
          <a:bodyPr/>
          <a:lstStyle/>
          <a:p>
            <a:fld id="{E0ECE4F8-0101-4654-8AD6-18E8AC4AE190}" type="slidenum">
              <a:rPr lang="zh-CN" altLang="en-US" smtClean="0"/>
              <a:t>‹#›</a:t>
            </a:fld>
            <a:endParaRPr lang="zh-CN" altLang="en-US"/>
          </a:p>
        </p:txBody>
      </p:sp>
    </p:spTree>
    <p:extLst>
      <p:ext uri="{BB962C8B-B14F-4D97-AF65-F5344CB8AC3E}">
        <p14:creationId xmlns:p14="http://schemas.microsoft.com/office/powerpoint/2010/main" val="19424748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40CC73-FC7B-15DA-0D8A-91B89DD8C9D4}"/>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034BB73-9EC6-5311-47F7-6F07B7F91B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0DA050D-E174-43CA-7539-FC72BFE52768}"/>
              </a:ext>
            </a:extLst>
          </p:cNvPr>
          <p:cNvSpPr>
            <a:spLocks noGrp="1"/>
          </p:cNvSpPr>
          <p:nvPr>
            <p:ph type="dt" sz="half" idx="10"/>
          </p:nvPr>
        </p:nvSpPr>
        <p:spPr/>
        <p:txBody>
          <a:bodyPr/>
          <a:lstStyle/>
          <a:p>
            <a:fld id="{91D319E3-30AF-4A84-A152-498608730EB5}" type="datetimeFigureOut">
              <a:rPr lang="zh-CN" altLang="en-US" smtClean="0"/>
              <a:t>2026/3/24</a:t>
            </a:fld>
            <a:endParaRPr lang="zh-CN" altLang="en-US"/>
          </a:p>
        </p:txBody>
      </p:sp>
      <p:sp>
        <p:nvSpPr>
          <p:cNvPr id="5" name="页脚占位符 4">
            <a:extLst>
              <a:ext uri="{FF2B5EF4-FFF2-40B4-BE49-F238E27FC236}">
                <a16:creationId xmlns:a16="http://schemas.microsoft.com/office/drawing/2014/main" id="{15E9DBE0-CAD5-5955-DE6D-E2AD0B6B14D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308A23C-43A0-CC09-435C-D7FEDF6C858F}"/>
              </a:ext>
            </a:extLst>
          </p:cNvPr>
          <p:cNvSpPr>
            <a:spLocks noGrp="1"/>
          </p:cNvSpPr>
          <p:nvPr>
            <p:ph type="sldNum" sz="quarter" idx="12"/>
          </p:nvPr>
        </p:nvSpPr>
        <p:spPr/>
        <p:txBody>
          <a:bodyPr/>
          <a:lstStyle/>
          <a:p>
            <a:fld id="{E0ECE4F8-0101-4654-8AD6-18E8AC4AE190}" type="slidenum">
              <a:rPr lang="zh-CN" altLang="en-US" smtClean="0"/>
              <a:t>‹#›</a:t>
            </a:fld>
            <a:endParaRPr lang="zh-CN" altLang="en-US"/>
          </a:p>
        </p:txBody>
      </p:sp>
    </p:spTree>
    <p:extLst>
      <p:ext uri="{BB962C8B-B14F-4D97-AF65-F5344CB8AC3E}">
        <p14:creationId xmlns:p14="http://schemas.microsoft.com/office/powerpoint/2010/main" val="35403462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356DE8-6512-EFD6-0F93-1FD267981EA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E1FD1D7-3AA0-D801-F03B-576A56D5BE4F}"/>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B182997-738D-1EF0-7560-C73249720B6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8FF732F-0727-3FCA-5BEE-B886BF0930C6}"/>
              </a:ext>
            </a:extLst>
          </p:cNvPr>
          <p:cNvSpPr>
            <a:spLocks noGrp="1"/>
          </p:cNvSpPr>
          <p:nvPr>
            <p:ph type="dt" sz="half" idx="10"/>
          </p:nvPr>
        </p:nvSpPr>
        <p:spPr/>
        <p:txBody>
          <a:bodyPr/>
          <a:lstStyle/>
          <a:p>
            <a:fld id="{91D319E3-30AF-4A84-A152-498608730EB5}" type="datetimeFigureOut">
              <a:rPr lang="zh-CN" altLang="en-US" smtClean="0"/>
              <a:t>2026/3/24</a:t>
            </a:fld>
            <a:endParaRPr lang="zh-CN" altLang="en-US"/>
          </a:p>
        </p:txBody>
      </p:sp>
      <p:sp>
        <p:nvSpPr>
          <p:cNvPr id="6" name="页脚占位符 5">
            <a:extLst>
              <a:ext uri="{FF2B5EF4-FFF2-40B4-BE49-F238E27FC236}">
                <a16:creationId xmlns:a16="http://schemas.microsoft.com/office/drawing/2014/main" id="{9A25C089-4A5A-949F-65F9-EBB6B904B98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5CCA101-6E17-A270-A6C7-BD4A2E1D5E30}"/>
              </a:ext>
            </a:extLst>
          </p:cNvPr>
          <p:cNvSpPr>
            <a:spLocks noGrp="1"/>
          </p:cNvSpPr>
          <p:nvPr>
            <p:ph type="sldNum" sz="quarter" idx="12"/>
          </p:nvPr>
        </p:nvSpPr>
        <p:spPr/>
        <p:txBody>
          <a:bodyPr/>
          <a:lstStyle/>
          <a:p>
            <a:fld id="{E0ECE4F8-0101-4654-8AD6-18E8AC4AE190}" type="slidenum">
              <a:rPr lang="zh-CN" altLang="en-US" smtClean="0"/>
              <a:t>‹#›</a:t>
            </a:fld>
            <a:endParaRPr lang="zh-CN" altLang="en-US"/>
          </a:p>
        </p:txBody>
      </p:sp>
    </p:spTree>
    <p:extLst>
      <p:ext uri="{BB962C8B-B14F-4D97-AF65-F5344CB8AC3E}">
        <p14:creationId xmlns:p14="http://schemas.microsoft.com/office/powerpoint/2010/main" val="26785480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2B0D9A-F9FD-94BE-47B9-4975C203374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78731AC-9917-B141-A285-79F7491F56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0F0C969-A0E2-A2E8-3849-C87BB5A6FEE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E37DDEF-334A-7038-1757-75326CAEBC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B31B86A-2668-0D81-8FA7-42899875AD4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2F45D38-2FD0-E5E7-1349-9BFCD6C78620}"/>
              </a:ext>
            </a:extLst>
          </p:cNvPr>
          <p:cNvSpPr>
            <a:spLocks noGrp="1"/>
          </p:cNvSpPr>
          <p:nvPr>
            <p:ph type="dt" sz="half" idx="10"/>
          </p:nvPr>
        </p:nvSpPr>
        <p:spPr/>
        <p:txBody>
          <a:bodyPr/>
          <a:lstStyle/>
          <a:p>
            <a:fld id="{91D319E3-30AF-4A84-A152-498608730EB5}" type="datetimeFigureOut">
              <a:rPr lang="zh-CN" altLang="en-US" smtClean="0"/>
              <a:t>2026/3/24</a:t>
            </a:fld>
            <a:endParaRPr lang="zh-CN" altLang="en-US"/>
          </a:p>
        </p:txBody>
      </p:sp>
      <p:sp>
        <p:nvSpPr>
          <p:cNvPr id="8" name="页脚占位符 7">
            <a:extLst>
              <a:ext uri="{FF2B5EF4-FFF2-40B4-BE49-F238E27FC236}">
                <a16:creationId xmlns:a16="http://schemas.microsoft.com/office/drawing/2014/main" id="{5AD517F9-8A23-EAA9-9A1E-06F8F672C78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D04D8883-3DE3-95F0-9735-63A6AC90E9FE}"/>
              </a:ext>
            </a:extLst>
          </p:cNvPr>
          <p:cNvSpPr>
            <a:spLocks noGrp="1"/>
          </p:cNvSpPr>
          <p:nvPr>
            <p:ph type="sldNum" sz="quarter" idx="12"/>
          </p:nvPr>
        </p:nvSpPr>
        <p:spPr/>
        <p:txBody>
          <a:bodyPr/>
          <a:lstStyle/>
          <a:p>
            <a:fld id="{E0ECE4F8-0101-4654-8AD6-18E8AC4AE190}" type="slidenum">
              <a:rPr lang="zh-CN" altLang="en-US" smtClean="0"/>
              <a:t>‹#›</a:t>
            </a:fld>
            <a:endParaRPr lang="zh-CN" altLang="en-US"/>
          </a:p>
        </p:txBody>
      </p:sp>
    </p:spTree>
    <p:extLst>
      <p:ext uri="{BB962C8B-B14F-4D97-AF65-F5344CB8AC3E}">
        <p14:creationId xmlns:p14="http://schemas.microsoft.com/office/powerpoint/2010/main" val="25432587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1DE95E-994A-B6D4-5940-D2A1C4C0EC5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254F7A5-6B22-AD24-D003-93A493E23E29}"/>
              </a:ext>
            </a:extLst>
          </p:cNvPr>
          <p:cNvSpPr>
            <a:spLocks noGrp="1"/>
          </p:cNvSpPr>
          <p:nvPr>
            <p:ph type="dt" sz="half" idx="10"/>
          </p:nvPr>
        </p:nvSpPr>
        <p:spPr/>
        <p:txBody>
          <a:bodyPr/>
          <a:lstStyle/>
          <a:p>
            <a:fld id="{91D319E3-30AF-4A84-A152-498608730EB5}" type="datetimeFigureOut">
              <a:rPr lang="zh-CN" altLang="en-US" smtClean="0"/>
              <a:t>2026/3/24</a:t>
            </a:fld>
            <a:endParaRPr lang="zh-CN" altLang="en-US"/>
          </a:p>
        </p:txBody>
      </p:sp>
      <p:sp>
        <p:nvSpPr>
          <p:cNvPr id="4" name="页脚占位符 3">
            <a:extLst>
              <a:ext uri="{FF2B5EF4-FFF2-40B4-BE49-F238E27FC236}">
                <a16:creationId xmlns:a16="http://schemas.microsoft.com/office/drawing/2014/main" id="{366DED7C-3CD2-7229-0550-A6518E36AFA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F23D481-1692-A413-6663-4C255C309ACF}"/>
              </a:ext>
            </a:extLst>
          </p:cNvPr>
          <p:cNvSpPr>
            <a:spLocks noGrp="1"/>
          </p:cNvSpPr>
          <p:nvPr>
            <p:ph type="sldNum" sz="quarter" idx="12"/>
          </p:nvPr>
        </p:nvSpPr>
        <p:spPr/>
        <p:txBody>
          <a:bodyPr/>
          <a:lstStyle/>
          <a:p>
            <a:fld id="{E0ECE4F8-0101-4654-8AD6-18E8AC4AE190}" type="slidenum">
              <a:rPr lang="zh-CN" altLang="en-US" smtClean="0"/>
              <a:t>‹#›</a:t>
            </a:fld>
            <a:endParaRPr lang="zh-CN" altLang="en-US"/>
          </a:p>
        </p:txBody>
      </p:sp>
    </p:spTree>
    <p:extLst>
      <p:ext uri="{BB962C8B-B14F-4D97-AF65-F5344CB8AC3E}">
        <p14:creationId xmlns:p14="http://schemas.microsoft.com/office/powerpoint/2010/main" val="22895437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8011EBB-41F7-0781-F459-3FD358704A62}"/>
              </a:ext>
            </a:extLst>
          </p:cNvPr>
          <p:cNvSpPr>
            <a:spLocks noGrp="1"/>
          </p:cNvSpPr>
          <p:nvPr>
            <p:ph type="dt" sz="half" idx="10"/>
          </p:nvPr>
        </p:nvSpPr>
        <p:spPr/>
        <p:txBody>
          <a:bodyPr/>
          <a:lstStyle/>
          <a:p>
            <a:fld id="{91D319E3-30AF-4A84-A152-498608730EB5}" type="datetimeFigureOut">
              <a:rPr lang="zh-CN" altLang="en-US" smtClean="0"/>
              <a:t>2026/3/24</a:t>
            </a:fld>
            <a:endParaRPr lang="zh-CN" altLang="en-US"/>
          </a:p>
        </p:txBody>
      </p:sp>
      <p:sp>
        <p:nvSpPr>
          <p:cNvPr id="3" name="页脚占位符 2">
            <a:extLst>
              <a:ext uri="{FF2B5EF4-FFF2-40B4-BE49-F238E27FC236}">
                <a16:creationId xmlns:a16="http://schemas.microsoft.com/office/drawing/2014/main" id="{CF1457AD-7DC7-341D-EA34-ACB6AAFC74F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D08B60B-5FB7-D50F-AD34-94A0413FE07F}"/>
              </a:ext>
            </a:extLst>
          </p:cNvPr>
          <p:cNvSpPr>
            <a:spLocks noGrp="1"/>
          </p:cNvSpPr>
          <p:nvPr>
            <p:ph type="sldNum" sz="quarter" idx="12"/>
          </p:nvPr>
        </p:nvSpPr>
        <p:spPr/>
        <p:txBody>
          <a:bodyPr/>
          <a:lstStyle/>
          <a:p>
            <a:fld id="{E0ECE4F8-0101-4654-8AD6-18E8AC4AE190}" type="slidenum">
              <a:rPr lang="zh-CN" altLang="en-US" smtClean="0"/>
              <a:t>‹#›</a:t>
            </a:fld>
            <a:endParaRPr lang="zh-CN" altLang="en-US"/>
          </a:p>
        </p:txBody>
      </p:sp>
    </p:spTree>
    <p:extLst>
      <p:ext uri="{BB962C8B-B14F-4D97-AF65-F5344CB8AC3E}">
        <p14:creationId xmlns:p14="http://schemas.microsoft.com/office/powerpoint/2010/main" val="25523249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EB8E8C-6A17-EB34-A961-C3534E09D9A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8E09B89-F8EE-EA14-14DF-5EEB9C8F55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AF83BAC-E40F-7752-2B42-BAFFB4ABF6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199BBE4-5196-C409-C5CF-A2DA4531A516}"/>
              </a:ext>
            </a:extLst>
          </p:cNvPr>
          <p:cNvSpPr>
            <a:spLocks noGrp="1"/>
          </p:cNvSpPr>
          <p:nvPr>
            <p:ph type="dt" sz="half" idx="10"/>
          </p:nvPr>
        </p:nvSpPr>
        <p:spPr/>
        <p:txBody>
          <a:bodyPr/>
          <a:lstStyle/>
          <a:p>
            <a:fld id="{91D319E3-30AF-4A84-A152-498608730EB5}" type="datetimeFigureOut">
              <a:rPr lang="zh-CN" altLang="en-US" smtClean="0"/>
              <a:t>2026/3/24</a:t>
            </a:fld>
            <a:endParaRPr lang="zh-CN" altLang="en-US"/>
          </a:p>
        </p:txBody>
      </p:sp>
      <p:sp>
        <p:nvSpPr>
          <p:cNvPr id="6" name="页脚占位符 5">
            <a:extLst>
              <a:ext uri="{FF2B5EF4-FFF2-40B4-BE49-F238E27FC236}">
                <a16:creationId xmlns:a16="http://schemas.microsoft.com/office/drawing/2014/main" id="{6998930A-5637-3129-7615-81593A65F97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A2D5555-B8B3-5B9E-82D8-422EF09B0147}"/>
              </a:ext>
            </a:extLst>
          </p:cNvPr>
          <p:cNvSpPr>
            <a:spLocks noGrp="1"/>
          </p:cNvSpPr>
          <p:nvPr>
            <p:ph type="sldNum" sz="quarter" idx="12"/>
          </p:nvPr>
        </p:nvSpPr>
        <p:spPr/>
        <p:txBody>
          <a:bodyPr/>
          <a:lstStyle/>
          <a:p>
            <a:fld id="{E0ECE4F8-0101-4654-8AD6-18E8AC4AE190}" type="slidenum">
              <a:rPr lang="zh-CN" altLang="en-US" smtClean="0"/>
              <a:t>‹#›</a:t>
            </a:fld>
            <a:endParaRPr lang="zh-CN" altLang="en-US"/>
          </a:p>
        </p:txBody>
      </p:sp>
    </p:spTree>
    <p:extLst>
      <p:ext uri="{BB962C8B-B14F-4D97-AF65-F5344CB8AC3E}">
        <p14:creationId xmlns:p14="http://schemas.microsoft.com/office/powerpoint/2010/main" val="40015463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A5F66F-E958-81CE-9B1C-F07650F723B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DB5C426-9EC4-6E0E-02FB-F5BFDE8729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286F0AF-5D9F-17DF-9070-AA4FB7BBE8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0E847DC-C038-79B6-932D-9A6E1939675C}"/>
              </a:ext>
            </a:extLst>
          </p:cNvPr>
          <p:cNvSpPr>
            <a:spLocks noGrp="1"/>
          </p:cNvSpPr>
          <p:nvPr>
            <p:ph type="dt" sz="half" idx="10"/>
          </p:nvPr>
        </p:nvSpPr>
        <p:spPr/>
        <p:txBody>
          <a:bodyPr/>
          <a:lstStyle/>
          <a:p>
            <a:fld id="{91D319E3-30AF-4A84-A152-498608730EB5}" type="datetimeFigureOut">
              <a:rPr lang="zh-CN" altLang="en-US" smtClean="0"/>
              <a:t>2026/3/24</a:t>
            </a:fld>
            <a:endParaRPr lang="zh-CN" altLang="en-US"/>
          </a:p>
        </p:txBody>
      </p:sp>
      <p:sp>
        <p:nvSpPr>
          <p:cNvPr id="6" name="页脚占位符 5">
            <a:extLst>
              <a:ext uri="{FF2B5EF4-FFF2-40B4-BE49-F238E27FC236}">
                <a16:creationId xmlns:a16="http://schemas.microsoft.com/office/drawing/2014/main" id="{8C13946A-DB91-31CE-0D84-882D4C878EE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8972D42-08B2-3C33-F6B5-38FACF018B07}"/>
              </a:ext>
            </a:extLst>
          </p:cNvPr>
          <p:cNvSpPr>
            <a:spLocks noGrp="1"/>
          </p:cNvSpPr>
          <p:nvPr>
            <p:ph type="sldNum" sz="quarter" idx="12"/>
          </p:nvPr>
        </p:nvSpPr>
        <p:spPr/>
        <p:txBody>
          <a:bodyPr/>
          <a:lstStyle/>
          <a:p>
            <a:fld id="{E0ECE4F8-0101-4654-8AD6-18E8AC4AE190}" type="slidenum">
              <a:rPr lang="zh-CN" altLang="en-US" smtClean="0"/>
              <a:t>‹#›</a:t>
            </a:fld>
            <a:endParaRPr lang="zh-CN" altLang="en-US"/>
          </a:p>
        </p:txBody>
      </p:sp>
    </p:spTree>
    <p:extLst>
      <p:ext uri="{BB962C8B-B14F-4D97-AF65-F5344CB8AC3E}">
        <p14:creationId xmlns:p14="http://schemas.microsoft.com/office/powerpoint/2010/main" val="12820785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2AF1CD-23CB-F1FA-2A4E-A9ADA170BF9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7CBF6D8-9721-E66D-0E64-358EF774B30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D6F1736-E350-8D94-5DEA-2097470FDAA5}"/>
              </a:ext>
            </a:extLst>
          </p:cNvPr>
          <p:cNvSpPr>
            <a:spLocks noGrp="1"/>
          </p:cNvSpPr>
          <p:nvPr>
            <p:ph type="dt" sz="half" idx="10"/>
          </p:nvPr>
        </p:nvSpPr>
        <p:spPr/>
        <p:txBody>
          <a:bodyPr/>
          <a:lstStyle/>
          <a:p>
            <a:fld id="{91D319E3-30AF-4A84-A152-498608730EB5}" type="datetimeFigureOut">
              <a:rPr lang="zh-CN" altLang="en-US" smtClean="0"/>
              <a:t>2026/3/24</a:t>
            </a:fld>
            <a:endParaRPr lang="zh-CN" altLang="en-US"/>
          </a:p>
        </p:txBody>
      </p:sp>
      <p:sp>
        <p:nvSpPr>
          <p:cNvPr id="5" name="页脚占位符 4">
            <a:extLst>
              <a:ext uri="{FF2B5EF4-FFF2-40B4-BE49-F238E27FC236}">
                <a16:creationId xmlns:a16="http://schemas.microsoft.com/office/drawing/2014/main" id="{ED27C558-A405-8D00-4F05-2A069BF93C6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7799A4-B572-6FA7-CA0C-B524AF308BBC}"/>
              </a:ext>
            </a:extLst>
          </p:cNvPr>
          <p:cNvSpPr>
            <a:spLocks noGrp="1"/>
          </p:cNvSpPr>
          <p:nvPr>
            <p:ph type="sldNum" sz="quarter" idx="12"/>
          </p:nvPr>
        </p:nvSpPr>
        <p:spPr/>
        <p:txBody>
          <a:bodyPr/>
          <a:lstStyle/>
          <a:p>
            <a:fld id="{E0ECE4F8-0101-4654-8AD6-18E8AC4AE190}" type="slidenum">
              <a:rPr lang="zh-CN" altLang="en-US" smtClean="0"/>
              <a:t>‹#›</a:t>
            </a:fld>
            <a:endParaRPr lang="zh-CN" altLang="en-US"/>
          </a:p>
        </p:txBody>
      </p:sp>
    </p:spTree>
    <p:extLst>
      <p:ext uri="{BB962C8B-B14F-4D97-AF65-F5344CB8AC3E}">
        <p14:creationId xmlns:p14="http://schemas.microsoft.com/office/powerpoint/2010/main" val="23583125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7FDDA26-97C1-1BB5-5288-7137B3B41D5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0176FF1-31C8-210B-5D29-B761D542A5A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4E8E7A1-5C0D-97F4-83FC-2EC001A1F63E}"/>
              </a:ext>
            </a:extLst>
          </p:cNvPr>
          <p:cNvSpPr>
            <a:spLocks noGrp="1"/>
          </p:cNvSpPr>
          <p:nvPr>
            <p:ph type="dt" sz="half" idx="10"/>
          </p:nvPr>
        </p:nvSpPr>
        <p:spPr/>
        <p:txBody>
          <a:bodyPr/>
          <a:lstStyle/>
          <a:p>
            <a:fld id="{91D319E3-30AF-4A84-A152-498608730EB5}" type="datetimeFigureOut">
              <a:rPr lang="zh-CN" altLang="en-US" smtClean="0"/>
              <a:t>2026/3/24</a:t>
            </a:fld>
            <a:endParaRPr lang="zh-CN" altLang="en-US"/>
          </a:p>
        </p:txBody>
      </p:sp>
      <p:sp>
        <p:nvSpPr>
          <p:cNvPr id="5" name="页脚占位符 4">
            <a:extLst>
              <a:ext uri="{FF2B5EF4-FFF2-40B4-BE49-F238E27FC236}">
                <a16:creationId xmlns:a16="http://schemas.microsoft.com/office/drawing/2014/main" id="{F27EF08C-F17B-A4DF-0BE2-D80EF04DF5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1D1916C-C13C-ADB7-2436-1EEA5AD94162}"/>
              </a:ext>
            </a:extLst>
          </p:cNvPr>
          <p:cNvSpPr>
            <a:spLocks noGrp="1"/>
          </p:cNvSpPr>
          <p:nvPr>
            <p:ph type="sldNum" sz="quarter" idx="12"/>
          </p:nvPr>
        </p:nvSpPr>
        <p:spPr/>
        <p:txBody>
          <a:bodyPr/>
          <a:lstStyle/>
          <a:p>
            <a:fld id="{E0ECE4F8-0101-4654-8AD6-18E8AC4AE190}" type="slidenum">
              <a:rPr lang="zh-CN" altLang="en-US" smtClean="0"/>
              <a:t>‹#›</a:t>
            </a:fld>
            <a:endParaRPr lang="zh-CN" altLang="en-US"/>
          </a:p>
        </p:txBody>
      </p:sp>
    </p:spTree>
    <p:extLst>
      <p:ext uri="{BB962C8B-B14F-4D97-AF65-F5344CB8AC3E}">
        <p14:creationId xmlns:p14="http://schemas.microsoft.com/office/powerpoint/2010/main" val="4185827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BF9D872-5926-B0CC-824E-6CCABE2364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F99DD0F-D8F6-E3C6-84EA-C22F5C7379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365C6F3-3828-29D7-E163-B7C5EFDBA7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4821CD-04B5-437E-B7C3-11AF451F003C}" type="datetimeFigureOut">
              <a:rPr lang="zh-CN" altLang="en-US" smtClean="0"/>
              <a:t>2026/3/24</a:t>
            </a:fld>
            <a:endParaRPr lang="zh-CN" altLang="en-US"/>
          </a:p>
        </p:txBody>
      </p:sp>
      <p:sp>
        <p:nvSpPr>
          <p:cNvPr id="5" name="页脚占位符 4">
            <a:extLst>
              <a:ext uri="{FF2B5EF4-FFF2-40B4-BE49-F238E27FC236}">
                <a16:creationId xmlns:a16="http://schemas.microsoft.com/office/drawing/2014/main" id="{BB64E1D8-CBE4-6ED2-7157-AB17B6A29B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247F4043-95DC-7783-761D-911C99D64D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8ED6A8-2ECA-4604-8C6E-3BA998B917EA}" type="slidenum">
              <a:rPr lang="zh-CN" altLang="en-US" smtClean="0"/>
              <a:t>‹#›</a:t>
            </a:fld>
            <a:endParaRPr lang="zh-CN" altLang="en-US"/>
          </a:p>
        </p:txBody>
      </p:sp>
    </p:spTree>
    <p:extLst>
      <p:ext uri="{BB962C8B-B14F-4D97-AF65-F5344CB8AC3E}">
        <p14:creationId xmlns:p14="http://schemas.microsoft.com/office/powerpoint/2010/main" val="2647330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7D10690-87D6-D729-3653-CF696E3DD9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E82AA026-8783-5A76-8C52-7FA3299E4C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DD1E4E4-A330-A220-9BD4-40182370BD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1D319E3-30AF-4A84-A152-498608730EB5}" type="datetimeFigureOut">
              <a:rPr lang="zh-CN" altLang="en-US" smtClean="0"/>
              <a:t>2026/3/24</a:t>
            </a:fld>
            <a:endParaRPr lang="zh-CN" altLang="en-US"/>
          </a:p>
        </p:txBody>
      </p:sp>
      <p:sp>
        <p:nvSpPr>
          <p:cNvPr id="5" name="页脚占位符 4">
            <a:extLst>
              <a:ext uri="{FF2B5EF4-FFF2-40B4-BE49-F238E27FC236}">
                <a16:creationId xmlns:a16="http://schemas.microsoft.com/office/drawing/2014/main" id="{FEEA0B45-C96C-456E-0F82-169607781F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D21C74C5-D939-60A1-AE79-4109985F5E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0ECE4F8-0101-4654-8AD6-18E8AC4AE190}" type="slidenum">
              <a:rPr lang="zh-CN" altLang="en-US" smtClean="0"/>
              <a:t>‹#›</a:t>
            </a:fld>
            <a:endParaRPr lang="zh-CN" altLang="en-US"/>
          </a:p>
        </p:txBody>
      </p:sp>
    </p:spTree>
    <p:extLst>
      <p:ext uri="{BB962C8B-B14F-4D97-AF65-F5344CB8AC3E}">
        <p14:creationId xmlns:p14="http://schemas.microsoft.com/office/powerpoint/2010/main" val="27271362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735F08-0A29-3BF5-E11B-8238C3B94AE5}"/>
              </a:ext>
            </a:extLst>
          </p:cNvPr>
          <p:cNvSpPr>
            <a:spLocks noGrp="1"/>
          </p:cNvSpPr>
          <p:nvPr>
            <p:ph type="ctrTitle"/>
          </p:nvPr>
        </p:nvSpPr>
        <p:spPr/>
        <p:txBody>
          <a:bodyPr>
            <a:noAutofit/>
          </a:bodyPr>
          <a:lstStyle/>
          <a:p>
            <a:endParaRPr lang="zh-CN" altLang="en-US" sz="2000"/>
          </a:p>
        </p:txBody>
      </p:sp>
      <p:sp>
        <p:nvSpPr>
          <p:cNvPr id="3" name="副标题 2">
            <a:extLst>
              <a:ext uri="{FF2B5EF4-FFF2-40B4-BE49-F238E27FC236}">
                <a16:creationId xmlns:a16="http://schemas.microsoft.com/office/drawing/2014/main" id="{C0C2A83C-22B9-14B0-6964-2E95C280EFDF}"/>
              </a:ext>
            </a:extLst>
          </p:cNvPr>
          <p:cNvSpPr>
            <a:spLocks noGrp="1"/>
          </p:cNvSpPr>
          <p:nvPr>
            <p:ph type="subTitle" idx="1"/>
          </p:nvPr>
        </p:nvSpPr>
        <p:spPr/>
        <p:txBody>
          <a:bodyPr/>
          <a:lstStyle/>
          <a:p>
            <a:r>
              <a:rPr lang="zh-CN" altLang="en-US"/>
              <a:t>报价单不需要草稿状态，都是正常状态</a:t>
            </a:r>
          </a:p>
        </p:txBody>
      </p:sp>
    </p:spTree>
    <p:extLst>
      <p:ext uri="{BB962C8B-B14F-4D97-AF65-F5344CB8AC3E}">
        <p14:creationId xmlns:p14="http://schemas.microsoft.com/office/powerpoint/2010/main" val="19341373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473BE6-93B4-618C-D208-141ABED281C8}"/>
              </a:ext>
            </a:extLst>
          </p:cNvPr>
          <p:cNvSpPr>
            <a:spLocks noGrp="1"/>
          </p:cNvSpPr>
          <p:nvPr>
            <p:ph type="title"/>
          </p:nvPr>
        </p:nvSpPr>
        <p:spPr>
          <a:xfrm>
            <a:off x="769374" y="2016945"/>
            <a:ext cx="10515600" cy="1325563"/>
          </a:xfrm>
        </p:spPr>
        <p:txBody>
          <a:bodyPr>
            <a:normAutofit/>
          </a:bodyPr>
          <a:lstStyle/>
          <a:p>
            <a:pPr algn="ctr"/>
            <a:r>
              <a:rPr lang="zh-CN" altLang="en-US" sz="4000" b="1">
                <a:solidFill>
                  <a:srgbClr val="0070C0"/>
                </a:solidFill>
                <a:latin typeface="微软雅黑" panose="020B0503020204020204" pitchFamily="34" charset="-122"/>
                <a:ea typeface="微软雅黑" panose="020B0503020204020204" pitchFamily="34" charset="-122"/>
              </a:rPr>
              <a:t>数据治理</a:t>
            </a:r>
            <a:r>
              <a:rPr lang="en-US" altLang="zh-CN" sz="4000" b="1">
                <a:solidFill>
                  <a:srgbClr val="0070C0"/>
                </a:solidFill>
                <a:latin typeface="微软雅黑" panose="020B0503020204020204" pitchFamily="34" charset="-122"/>
                <a:ea typeface="微软雅黑" panose="020B0503020204020204" pitchFamily="34" charset="-122"/>
              </a:rPr>
              <a:t>AI</a:t>
            </a:r>
            <a:r>
              <a:rPr lang="zh-CN" altLang="en-US" sz="4000" b="1">
                <a:solidFill>
                  <a:srgbClr val="0070C0"/>
                </a:solidFill>
                <a:latin typeface="微软雅黑" panose="020B0503020204020204" pitchFamily="34" charset="-122"/>
                <a:ea typeface="微软雅黑" panose="020B0503020204020204" pitchFamily="34" charset="-122"/>
              </a:rPr>
              <a:t>助手</a:t>
            </a:r>
          </a:p>
        </p:txBody>
      </p:sp>
      <p:sp>
        <p:nvSpPr>
          <p:cNvPr id="3" name="内容占位符 2">
            <a:extLst>
              <a:ext uri="{FF2B5EF4-FFF2-40B4-BE49-F238E27FC236}">
                <a16:creationId xmlns:a16="http://schemas.microsoft.com/office/drawing/2014/main" id="{63EA9276-3478-EE20-DCCE-2E320BEFFDE7}"/>
              </a:ext>
            </a:extLst>
          </p:cNvPr>
          <p:cNvSpPr>
            <a:spLocks noGrp="1"/>
          </p:cNvSpPr>
          <p:nvPr>
            <p:ph idx="1"/>
          </p:nvPr>
        </p:nvSpPr>
        <p:spPr>
          <a:xfrm>
            <a:off x="838200" y="5810865"/>
            <a:ext cx="10515600" cy="366097"/>
          </a:xfrm>
        </p:spPr>
        <p:txBody>
          <a:bodyPr>
            <a:normAutofit/>
          </a:bodyPr>
          <a:lstStyle/>
          <a:p>
            <a:pPr marL="0" indent="0" algn="ctr">
              <a:buNone/>
            </a:pPr>
            <a:r>
              <a:rPr lang="zh-CN" altLang="en-US" sz="1800"/>
              <a:t>中数通云领咨询 赵军军</a:t>
            </a:r>
          </a:p>
        </p:txBody>
      </p:sp>
    </p:spTree>
    <p:extLst>
      <p:ext uri="{BB962C8B-B14F-4D97-AF65-F5344CB8AC3E}">
        <p14:creationId xmlns:p14="http://schemas.microsoft.com/office/powerpoint/2010/main" val="735813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F9566D71-B57E-0EDA-4D57-CD2EBED3D1F2}"/>
              </a:ext>
            </a:extLst>
          </p:cNvPr>
          <p:cNvSpPr txBox="1"/>
          <p:nvPr/>
        </p:nvSpPr>
        <p:spPr>
          <a:xfrm>
            <a:off x="462117" y="388106"/>
            <a:ext cx="60960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问题发现</a:t>
            </a:r>
            <a:r>
              <a:rPr kumimoji="0" lang="en-US" altLang="zh-CN" sz="24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  AI</a:t>
            </a:r>
            <a:r>
              <a:rPr kumimoji="0" lang="zh-CN" altLang="en-US" sz="24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为何总是答非所问</a:t>
            </a:r>
            <a:r>
              <a:rPr kumimoji="0" lang="en-US" altLang="zh-CN" sz="24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a:t>
            </a:r>
            <a:endParaRPr kumimoji="0" lang="zh-CN" altLang="en-US" sz="24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7" name="文本框 6">
            <a:extLst>
              <a:ext uri="{FF2B5EF4-FFF2-40B4-BE49-F238E27FC236}">
                <a16:creationId xmlns:a16="http://schemas.microsoft.com/office/drawing/2014/main" id="{721CFA27-412F-5974-0D94-523EE98C9CDE}"/>
              </a:ext>
            </a:extLst>
          </p:cNvPr>
          <p:cNvSpPr txBox="1"/>
          <p:nvPr/>
        </p:nvSpPr>
        <p:spPr>
          <a:xfrm>
            <a:off x="1297858" y="1188459"/>
            <a:ext cx="9596284" cy="181588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明明已经把数据库的表结构、字段定义都投喂给了</a:t>
            </a: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AI,</a:t>
            </a: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但</a:t>
            </a: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AI</a:t>
            </a: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的回答仍然频繁出错</a:t>
            </a: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甚至产生严重的幻觉。</a:t>
            </a:r>
            <a:endPar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比如如下的典型场景：</a:t>
            </a:r>
            <a:endPar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问</a:t>
            </a: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上个月的采购订单准时率是多少</a:t>
            </a: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AI</a:t>
            </a: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回答</a:t>
            </a: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准时率</a:t>
            </a: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85%“</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追问</a:t>
            </a: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这个准时率是怎么算的</a:t>
            </a: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AI</a:t>
            </a: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答</a:t>
            </a: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呃</a:t>
            </a: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按发货时间算的</a:t>
            </a: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实际情况</a:t>
            </a: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我们需要的是收货准时率</a:t>
            </a: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不是发货准时率</a:t>
            </a: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t>
            </a:r>
            <a:endPar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endParaRPr>
          </a:p>
        </p:txBody>
      </p:sp>
      <p:pic>
        <p:nvPicPr>
          <p:cNvPr id="9" name="图片 8">
            <a:extLst>
              <a:ext uri="{FF2B5EF4-FFF2-40B4-BE49-F238E27FC236}">
                <a16:creationId xmlns:a16="http://schemas.microsoft.com/office/drawing/2014/main" id="{D3330BF2-9345-8B7B-24A4-53DC248A5555}"/>
              </a:ext>
            </a:extLst>
          </p:cNvPr>
          <p:cNvPicPr>
            <a:picLocks noChangeAspect="1"/>
          </p:cNvPicPr>
          <p:nvPr/>
        </p:nvPicPr>
        <p:blipFill>
          <a:blip r:embed="rId2"/>
          <a:stretch>
            <a:fillRect/>
          </a:stretch>
        </p:blipFill>
        <p:spPr>
          <a:xfrm>
            <a:off x="1297858" y="3182224"/>
            <a:ext cx="9323809" cy="1904762"/>
          </a:xfrm>
          <a:prstGeom prst="rect">
            <a:avLst/>
          </a:prstGeom>
        </p:spPr>
      </p:pic>
      <p:sp>
        <p:nvSpPr>
          <p:cNvPr id="11" name="文本框 10">
            <a:extLst>
              <a:ext uri="{FF2B5EF4-FFF2-40B4-BE49-F238E27FC236}">
                <a16:creationId xmlns:a16="http://schemas.microsoft.com/office/drawing/2014/main" id="{9F63B6F0-11E2-9581-7BDB-A019C623CD13}"/>
              </a:ext>
            </a:extLst>
          </p:cNvPr>
          <p:cNvSpPr txBox="1"/>
          <p:nvPr/>
        </p:nvSpPr>
        <p:spPr>
          <a:xfrm>
            <a:off x="1179184" y="5350834"/>
            <a:ext cx="8495071" cy="793487"/>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简单来说就是这些静态的数据结构并不能很好的体现数据本身的动态的来龙去脉。</a:t>
            </a:r>
            <a:endPar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AI</a:t>
            </a: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只能看到静态的数据表，数据字段含义，但是无法真正理解数据背后的业务语义。</a:t>
            </a:r>
          </a:p>
        </p:txBody>
      </p:sp>
    </p:spTree>
    <p:extLst>
      <p:ext uri="{BB962C8B-B14F-4D97-AF65-F5344CB8AC3E}">
        <p14:creationId xmlns:p14="http://schemas.microsoft.com/office/powerpoint/2010/main" val="709260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A7CCF-5912-E56E-7C48-F83C1C4C0950}"/>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A2CB56B1-DE3F-D6B8-E151-43E9EF943037}"/>
              </a:ext>
            </a:extLst>
          </p:cNvPr>
          <p:cNvPicPr>
            <a:picLocks noChangeAspect="1"/>
          </p:cNvPicPr>
          <p:nvPr/>
        </p:nvPicPr>
        <p:blipFill>
          <a:blip r:embed="rId2"/>
          <a:stretch>
            <a:fillRect/>
          </a:stretch>
        </p:blipFill>
        <p:spPr>
          <a:xfrm>
            <a:off x="586476" y="371857"/>
            <a:ext cx="11019047" cy="6114286"/>
          </a:xfrm>
          <a:prstGeom prst="rect">
            <a:avLst/>
          </a:prstGeom>
        </p:spPr>
      </p:pic>
    </p:spTree>
    <p:extLst>
      <p:ext uri="{BB962C8B-B14F-4D97-AF65-F5344CB8AC3E}">
        <p14:creationId xmlns:p14="http://schemas.microsoft.com/office/powerpoint/2010/main" val="1048716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BF62A7D-937C-CAC9-F846-AA913243487C}"/>
              </a:ext>
            </a:extLst>
          </p:cNvPr>
          <p:cNvSpPr txBox="1"/>
          <p:nvPr/>
        </p:nvSpPr>
        <p:spPr>
          <a:xfrm>
            <a:off x="471948" y="346276"/>
            <a:ext cx="7905135"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解决思路</a:t>
            </a:r>
            <a:r>
              <a:rPr kumimoji="0" lang="en-US" altLang="zh-CN" sz="24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  </a:t>
            </a:r>
            <a:r>
              <a:rPr kumimoji="0" lang="zh-CN" altLang="en-US" sz="24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n-cs"/>
              </a:rPr>
              <a:t>通过七层元模型，构建业务知识图谱</a:t>
            </a:r>
          </a:p>
        </p:txBody>
      </p:sp>
      <p:sp>
        <p:nvSpPr>
          <p:cNvPr id="7" name="文本框 6">
            <a:extLst>
              <a:ext uri="{FF2B5EF4-FFF2-40B4-BE49-F238E27FC236}">
                <a16:creationId xmlns:a16="http://schemas.microsoft.com/office/drawing/2014/main" id="{AA57E8F0-2D84-04EF-2729-EF0524D04462}"/>
              </a:ext>
            </a:extLst>
          </p:cNvPr>
          <p:cNvSpPr txBox="1"/>
          <p:nvPr/>
        </p:nvSpPr>
        <p:spPr>
          <a:xfrm>
            <a:off x="471948" y="974693"/>
            <a:ext cx="990108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不仅告诉</a:t>
            </a:r>
            <a:r>
              <a:rPr kumimoji="0" lang="en-US" altLang="zh-CN" sz="18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AI</a:t>
            </a:r>
            <a:r>
              <a:rPr kumimoji="0" lang="zh-CN" altLang="en-US" sz="18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数据</a:t>
            </a:r>
            <a:r>
              <a:rPr kumimoji="0" lang="en-US" altLang="zh-CN" sz="18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18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是什么</a:t>
            </a:r>
            <a:r>
              <a:rPr kumimoji="0" lang="en-US" altLang="zh-CN" sz="18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18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还要告诉</a:t>
            </a:r>
            <a:r>
              <a:rPr kumimoji="0" lang="en-US" altLang="zh-CN" sz="18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AI</a:t>
            </a:r>
            <a:r>
              <a:rPr kumimoji="0" lang="zh-CN" altLang="en-US" sz="18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数据</a:t>
            </a:r>
            <a:r>
              <a:rPr kumimoji="0" lang="en-US" altLang="zh-CN" sz="18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18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从哪来</a:t>
            </a:r>
            <a:r>
              <a:rPr kumimoji="0" lang="en-US" altLang="zh-CN" sz="18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18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到哪去</a:t>
            </a:r>
            <a:r>
              <a:rPr kumimoji="0" lang="en-US" altLang="zh-CN" sz="18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18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为什么</a:t>
            </a:r>
            <a:r>
              <a:rPr kumimoji="0" lang="en-US" altLang="zh-CN" sz="18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18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t>
            </a:r>
          </a:p>
        </p:txBody>
      </p:sp>
      <p:sp>
        <p:nvSpPr>
          <p:cNvPr id="8" name="矩形: 圆角 7">
            <a:extLst>
              <a:ext uri="{FF2B5EF4-FFF2-40B4-BE49-F238E27FC236}">
                <a16:creationId xmlns:a16="http://schemas.microsoft.com/office/drawing/2014/main" id="{64F488F1-BE0F-CA93-445E-2636C68E4E5D}"/>
              </a:ext>
            </a:extLst>
          </p:cNvPr>
          <p:cNvSpPr/>
          <p:nvPr/>
        </p:nvSpPr>
        <p:spPr>
          <a:xfrm>
            <a:off x="5422489" y="2982339"/>
            <a:ext cx="6013182"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通过定义“术语”、增强“规则”、追溯“流程”，我们为</a:t>
            </a:r>
            <a:r>
              <a:rPr kumimoji="0" lang="en-US" altLang="zh-CN"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AI</a:t>
            </a:r>
            <a:r>
              <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构建了坚实的业务事务的事实基础</a:t>
            </a:r>
          </a:p>
        </p:txBody>
      </p:sp>
      <p:sp>
        <p:nvSpPr>
          <p:cNvPr id="9" name="矩形: 圆角 8">
            <a:extLst>
              <a:ext uri="{FF2B5EF4-FFF2-40B4-BE49-F238E27FC236}">
                <a16:creationId xmlns:a16="http://schemas.microsoft.com/office/drawing/2014/main" id="{1E02E17D-DF4F-3F8A-BD39-15C91DA6B17F}"/>
              </a:ext>
            </a:extLst>
          </p:cNvPr>
          <p:cNvSpPr/>
          <p:nvPr/>
        </p:nvSpPr>
        <p:spPr>
          <a:xfrm>
            <a:off x="5422489" y="1989055"/>
            <a:ext cx="6013182"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我们提出七层元模型，构建</a:t>
            </a:r>
            <a:r>
              <a:rPr kumimoji="0" lang="en-US" altLang="zh-CN"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AI</a:t>
            </a:r>
            <a:r>
              <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可理解的“业务百科全书”，实现从“猜测”到“精准认知”的飞跃</a:t>
            </a:r>
          </a:p>
        </p:txBody>
      </p:sp>
      <p:sp>
        <p:nvSpPr>
          <p:cNvPr id="10" name="矩形: 圆角 9">
            <a:extLst>
              <a:ext uri="{FF2B5EF4-FFF2-40B4-BE49-F238E27FC236}">
                <a16:creationId xmlns:a16="http://schemas.microsoft.com/office/drawing/2014/main" id="{B0B495DD-9F31-C38F-5CA5-F595B8F60BBD}"/>
              </a:ext>
            </a:extLst>
          </p:cNvPr>
          <p:cNvSpPr/>
          <p:nvPr/>
        </p:nvSpPr>
        <p:spPr>
          <a:xfrm>
            <a:off x="5422489" y="3975623"/>
            <a:ext cx="6013182"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指标推理模型将</a:t>
            </a:r>
            <a:r>
              <a:rPr kumimoji="0" lang="en-US" altLang="zh-CN"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如何计算</a:t>
            </a:r>
            <a:r>
              <a:rPr kumimoji="0" lang="en-US" altLang="zh-CN"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与</a:t>
            </a:r>
            <a:r>
              <a:rPr kumimoji="0" lang="en-US" altLang="zh-CN"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为何如此</a:t>
            </a:r>
            <a:r>
              <a:rPr kumimoji="0" lang="en-US" altLang="zh-CN"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相关联，赋予</a:t>
            </a:r>
            <a:r>
              <a:rPr kumimoji="0" lang="en-US" altLang="zh-CN"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AI</a:t>
            </a:r>
            <a:r>
              <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进行根因分析和解释的能力</a:t>
            </a:r>
          </a:p>
        </p:txBody>
      </p:sp>
      <p:sp>
        <p:nvSpPr>
          <p:cNvPr id="11" name="矩形: 圆角 10">
            <a:extLst>
              <a:ext uri="{FF2B5EF4-FFF2-40B4-BE49-F238E27FC236}">
                <a16:creationId xmlns:a16="http://schemas.microsoft.com/office/drawing/2014/main" id="{80295E2F-D906-C790-364D-29C9CCF35346}"/>
              </a:ext>
            </a:extLst>
          </p:cNvPr>
          <p:cNvSpPr/>
          <p:nvPr/>
        </p:nvSpPr>
        <p:spPr>
          <a:xfrm>
            <a:off x="5422489" y="4968907"/>
            <a:ext cx="6013182"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108000" r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采用图数据库与向量数据库相结合的存储方案，并通过</a:t>
            </a:r>
            <a:r>
              <a:rPr kumimoji="0" lang="en-US" altLang="zh-CN"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RAG</a:t>
            </a:r>
            <a:r>
              <a:rPr kumimoji="0" lang="zh-CN" altLang="en-US" sz="18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模式进行精准检索，实现高效、可解释的智能问答</a:t>
            </a:r>
          </a:p>
        </p:txBody>
      </p:sp>
      <p:sp>
        <p:nvSpPr>
          <p:cNvPr id="16" name="文本框 15">
            <a:extLst>
              <a:ext uri="{FF2B5EF4-FFF2-40B4-BE49-F238E27FC236}">
                <a16:creationId xmlns:a16="http://schemas.microsoft.com/office/drawing/2014/main" id="{21DACAF9-28F4-65D4-993A-B6ED774E8CA4}"/>
              </a:ext>
            </a:extLst>
          </p:cNvPr>
          <p:cNvSpPr txBox="1"/>
          <p:nvPr/>
        </p:nvSpPr>
        <p:spPr>
          <a:xfrm>
            <a:off x="535856" y="1441349"/>
            <a:ext cx="4886633" cy="4989956"/>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第一层：领域术语词典 </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消除歧义</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第二层：静态数据模型 </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数据存储</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第三层：过程模型 </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数据如何产生</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第四层：指标推理模型 </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数据如何使用</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第五层：呈现约束模型 </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数据如何展示</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第六层：上下文感知 </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理解用户意图</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第七层：元模型治理 </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持续优化</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endPar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1846005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9958B2-539E-F75A-2EA8-49273CCB768A}"/>
              </a:ext>
            </a:extLst>
          </p:cNvPr>
          <p:cNvSpPr>
            <a:spLocks noGrp="1"/>
          </p:cNvSpPr>
          <p:nvPr>
            <p:ph type="title"/>
          </p:nvPr>
        </p:nvSpPr>
        <p:spPr>
          <a:xfrm>
            <a:off x="395748" y="161259"/>
            <a:ext cx="10515600" cy="519778"/>
          </a:xfrm>
        </p:spPr>
        <p:txBody>
          <a:bodyPr>
            <a:normAutofit/>
          </a:bodyPr>
          <a:lstStyle/>
          <a:p>
            <a:r>
              <a:rPr lang="zh-CN" altLang="en-US" sz="2200" b="1">
                <a:solidFill>
                  <a:srgbClr val="0070C0"/>
                </a:solidFill>
                <a:latin typeface="微软雅黑" panose="020B0503020204020204" pitchFamily="34" charset="-122"/>
                <a:ea typeface="微软雅黑" panose="020B0503020204020204" pitchFamily="34" charset="-122"/>
              </a:rPr>
              <a:t>第一层：领域术语词典 </a:t>
            </a:r>
            <a:r>
              <a:rPr lang="en-US" altLang="zh-CN" sz="2200" b="1">
                <a:solidFill>
                  <a:srgbClr val="0070C0"/>
                </a:solidFill>
                <a:latin typeface="微软雅黑" panose="020B0503020204020204" pitchFamily="34" charset="-122"/>
                <a:ea typeface="微软雅黑" panose="020B0503020204020204" pitchFamily="34" charset="-122"/>
              </a:rPr>
              <a:t>- </a:t>
            </a:r>
            <a:r>
              <a:rPr lang="zh-CN" altLang="en-US" sz="2200" b="1">
                <a:solidFill>
                  <a:srgbClr val="0070C0"/>
                </a:solidFill>
                <a:latin typeface="微软雅黑" panose="020B0503020204020204" pitchFamily="34" charset="-122"/>
                <a:ea typeface="微软雅黑" panose="020B0503020204020204" pitchFamily="34" charset="-122"/>
              </a:rPr>
              <a:t>让</a:t>
            </a:r>
            <a:r>
              <a:rPr lang="en-US" altLang="zh-CN" sz="2200" b="1">
                <a:solidFill>
                  <a:srgbClr val="0070C0"/>
                </a:solidFill>
                <a:latin typeface="微软雅黑" panose="020B0503020204020204" pitchFamily="34" charset="-122"/>
                <a:ea typeface="微软雅黑" panose="020B0503020204020204" pitchFamily="34" charset="-122"/>
              </a:rPr>
              <a:t>AI</a:t>
            </a:r>
            <a:r>
              <a:rPr lang="zh-CN" altLang="en-US" sz="2200" b="1">
                <a:solidFill>
                  <a:srgbClr val="0070C0"/>
                </a:solidFill>
                <a:latin typeface="微软雅黑" panose="020B0503020204020204" pitchFamily="34" charset="-122"/>
                <a:ea typeface="微软雅黑" panose="020B0503020204020204" pitchFamily="34" charset="-122"/>
              </a:rPr>
              <a:t>说</a:t>
            </a:r>
            <a:r>
              <a:rPr lang="en-US" altLang="zh-CN" sz="2200" b="1">
                <a:solidFill>
                  <a:srgbClr val="0070C0"/>
                </a:solidFill>
                <a:latin typeface="微软雅黑" panose="020B0503020204020204" pitchFamily="34" charset="-122"/>
                <a:ea typeface="微软雅黑" panose="020B0503020204020204" pitchFamily="34" charset="-122"/>
              </a:rPr>
              <a:t>"</a:t>
            </a:r>
            <a:r>
              <a:rPr lang="zh-CN" altLang="en-US" sz="2200" b="1">
                <a:solidFill>
                  <a:srgbClr val="0070C0"/>
                </a:solidFill>
                <a:latin typeface="微软雅黑" panose="020B0503020204020204" pitchFamily="34" charset="-122"/>
                <a:ea typeface="微软雅黑" panose="020B0503020204020204" pitchFamily="34" charset="-122"/>
              </a:rPr>
              <a:t>人话</a:t>
            </a:r>
            <a:r>
              <a:rPr lang="en-US" altLang="zh-CN" sz="2200" b="1">
                <a:solidFill>
                  <a:srgbClr val="0070C0"/>
                </a:solidFill>
                <a:latin typeface="微软雅黑" panose="020B0503020204020204" pitchFamily="34" charset="-122"/>
                <a:ea typeface="微软雅黑" panose="020B0503020204020204" pitchFamily="34" charset="-122"/>
              </a:rPr>
              <a:t>"</a:t>
            </a:r>
            <a:endParaRPr lang="zh-CN" altLang="en-US" sz="2200" b="1">
              <a:solidFill>
                <a:srgbClr val="0070C0"/>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D44BC91A-1454-64F2-71C8-E2C6AC3DE3BD}"/>
              </a:ext>
            </a:extLst>
          </p:cNvPr>
          <p:cNvSpPr txBox="1"/>
          <p:nvPr/>
        </p:nvSpPr>
        <p:spPr>
          <a:xfrm>
            <a:off x="395748" y="681037"/>
            <a:ext cx="11107994"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目的</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解决最常见的</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同词不同义</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和</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同义不同词</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问题。</a:t>
            </a:r>
            <a:endPar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在采购领域</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准时</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这个词就有多种理解</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发货准时</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到货准时</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入库准时</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质检合格准时</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我的做法</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为每个核心术语建立</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身份证</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pic>
        <p:nvPicPr>
          <p:cNvPr id="7" name="图片 6">
            <a:extLst>
              <a:ext uri="{FF2B5EF4-FFF2-40B4-BE49-F238E27FC236}">
                <a16:creationId xmlns:a16="http://schemas.microsoft.com/office/drawing/2014/main" id="{F5D744CF-C824-BD43-5A10-6ED129D544E4}"/>
              </a:ext>
            </a:extLst>
          </p:cNvPr>
          <p:cNvPicPr>
            <a:picLocks noChangeAspect="1"/>
          </p:cNvPicPr>
          <p:nvPr/>
        </p:nvPicPr>
        <p:blipFill>
          <a:blip r:embed="rId2"/>
          <a:stretch>
            <a:fillRect/>
          </a:stretch>
        </p:blipFill>
        <p:spPr>
          <a:xfrm>
            <a:off x="524613" y="1779434"/>
            <a:ext cx="6895238" cy="4085714"/>
          </a:xfrm>
          <a:prstGeom prst="rect">
            <a:avLst/>
          </a:prstGeom>
        </p:spPr>
      </p:pic>
      <p:sp>
        <p:nvSpPr>
          <p:cNvPr id="9" name="文本框 8">
            <a:extLst>
              <a:ext uri="{FF2B5EF4-FFF2-40B4-BE49-F238E27FC236}">
                <a16:creationId xmlns:a16="http://schemas.microsoft.com/office/drawing/2014/main" id="{C21FD85C-C5F7-BFDA-C961-77662A009BEB}"/>
              </a:ext>
            </a:extLst>
          </p:cNvPr>
          <p:cNvSpPr txBox="1"/>
          <p:nvPr/>
        </p:nvSpPr>
        <p:spPr>
          <a:xfrm>
            <a:off x="7610167" y="1757311"/>
            <a:ext cx="4375356" cy="2958630"/>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关键点</a:t>
            </a:r>
            <a:r>
              <a:rPr kumimoji="0" lang="en-US" altLang="zh-CN"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1</a:t>
            </a:r>
            <a:r>
              <a:rPr kumimoji="0" lang="zh-CN" altLang="en-US"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）显式定义</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不要让</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AI</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猜</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明确告诉它</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准时</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的唯一定义</a:t>
            </a:r>
            <a:endPar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2</a:t>
            </a:r>
            <a:r>
              <a:rPr kumimoji="0" lang="zh-CN" altLang="en-US"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）列出易混淆点</a:t>
            </a:r>
            <a:r>
              <a:rPr kumimoji="0" lang="en-US" altLang="zh-CN"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提前告诉</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AI"</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这不是那个</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3</a:t>
            </a:r>
            <a:r>
              <a:rPr kumimoji="0" lang="zh-CN" altLang="en-US"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）关联使用场景</a:t>
            </a:r>
            <a:r>
              <a:rPr kumimoji="0" lang="en-US" altLang="zh-CN"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让</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AI</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知道什么时候该用这个术语</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11" name="文本框 10">
            <a:extLst>
              <a:ext uri="{FF2B5EF4-FFF2-40B4-BE49-F238E27FC236}">
                <a16:creationId xmlns:a16="http://schemas.microsoft.com/office/drawing/2014/main" id="{071F4C4D-C005-0876-3FF8-5B7C0AB639C2}"/>
              </a:ext>
            </a:extLst>
          </p:cNvPr>
          <p:cNvSpPr txBox="1"/>
          <p:nvPr/>
        </p:nvSpPr>
        <p:spPr>
          <a:xfrm>
            <a:off x="7610167" y="4868885"/>
            <a:ext cx="4581833" cy="1296637"/>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给</a:t>
            </a:r>
            <a:r>
              <a:rPr kumimoji="0" lang="en-US" altLang="zh-CN"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AI</a:t>
            </a:r>
            <a:r>
              <a:rPr kumimoji="0" lang="zh-CN" altLang="en-US"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的价值</a:t>
            </a:r>
            <a:r>
              <a:rPr kumimoji="0" lang="en-US" altLang="zh-CN"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当用户问</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上个月准时率多少</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时</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AI</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可以明确回答</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您问的是到货准时率</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统计标准是</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endPar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2015717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a:extLst>
            <a:ext uri="{FF2B5EF4-FFF2-40B4-BE49-F238E27FC236}">
              <a16:creationId xmlns:a16="http://schemas.microsoft.com/office/drawing/2014/main" id="{E9A6E032-60D3-014B-9773-C78B7D64A7F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C74176A-ED48-AA46-BCB4-E1D740BA16CB}"/>
              </a:ext>
            </a:extLst>
          </p:cNvPr>
          <p:cNvSpPr>
            <a:spLocks noGrp="1"/>
          </p:cNvSpPr>
          <p:nvPr>
            <p:ph type="title"/>
          </p:nvPr>
        </p:nvSpPr>
        <p:spPr>
          <a:xfrm>
            <a:off x="395748" y="161259"/>
            <a:ext cx="10515600" cy="519778"/>
          </a:xfrm>
        </p:spPr>
        <p:txBody>
          <a:bodyPr>
            <a:normAutofit/>
          </a:bodyPr>
          <a:lstStyle/>
          <a:p>
            <a:r>
              <a:rPr lang="zh-CN" altLang="en-US" sz="2200" b="1">
                <a:solidFill>
                  <a:srgbClr val="0070C0"/>
                </a:solidFill>
                <a:latin typeface="微软雅黑" panose="020B0503020204020204" pitchFamily="34" charset="-122"/>
                <a:ea typeface="微软雅黑" panose="020B0503020204020204" pitchFamily="34" charset="-122"/>
              </a:rPr>
              <a:t>第二层：静态数据模型 </a:t>
            </a:r>
            <a:r>
              <a:rPr lang="en-US" altLang="zh-CN" sz="2200" b="1">
                <a:solidFill>
                  <a:srgbClr val="0070C0"/>
                </a:solidFill>
                <a:latin typeface="微软雅黑" panose="020B0503020204020204" pitchFamily="34" charset="-122"/>
                <a:ea typeface="微软雅黑" panose="020B0503020204020204" pitchFamily="34" charset="-122"/>
              </a:rPr>
              <a:t>- </a:t>
            </a:r>
            <a:r>
              <a:rPr lang="zh-CN" altLang="en-US" sz="2200" b="1">
                <a:solidFill>
                  <a:srgbClr val="0070C0"/>
                </a:solidFill>
                <a:latin typeface="微软雅黑" panose="020B0503020204020204" pitchFamily="34" charset="-122"/>
                <a:ea typeface="微软雅黑" panose="020B0503020204020204" pitchFamily="34" charset="-122"/>
              </a:rPr>
              <a:t>传统的</a:t>
            </a:r>
            <a:r>
              <a:rPr lang="en-US" altLang="zh-CN" sz="2200" b="1">
                <a:solidFill>
                  <a:srgbClr val="0070C0"/>
                </a:solidFill>
                <a:latin typeface="微软雅黑" panose="020B0503020204020204" pitchFamily="34" charset="-122"/>
                <a:ea typeface="微软雅黑" panose="020B0503020204020204" pitchFamily="34" charset="-122"/>
              </a:rPr>
              <a:t>"</a:t>
            </a:r>
            <a:r>
              <a:rPr lang="zh-CN" altLang="en-US" sz="2200" b="1">
                <a:solidFill>
                  <a:srgbClr val="0070C0"/>
                </a:solidFill>
                <a:latin typeface="微软雅黑" panose="020B0503020204020204" pitchFamily="34" charset="-122"/>
                <a:ea typeface="微软雅黑" panose="020B0503020204020204" pitchFamily="34" charset="-122"/>
              </a:rPr>
              <a:t>地基</a:t>
            </a:r>
            <a:r>
              <a:rPr lang="en-US" altLang="zh-CN" sz="2200" b="1">
                <a:solidFill>
                  <a:srgbClr val="0070C0"/>
                </a:solidFill>
                <a:latin typeface="微软雅黑" panose="020B0503020204020204" pitchFamily="34" charset="-122"/>
                <a:ea typeface="微软雅黑" panose="020B0503020204020204" pitchFamily="34" charset="-122"/>
              </a:rPr>
              <a:t>"</a:t>
            </a:r>
            <a:endParaRPr lang="zh-CN" altLang="en-US" sz="2200" b="1">
              <a:solidFill>
                <a:srgbClr val="0070C0"/>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BDBD7A7D-0ADC-F6E1-94B9-654011DF7379}"/>
              </a:ext>
            </a:extLst>
          </p:cNvPr>
          <p:cNvSpPr txBox="1"/>
          <p:nvPr/>
        </p:nvSpPr>
        <p:spPr>
          <a:xfrm>
            <a:off x="395748" y="681037"/>
            <a:ext cx="11107994"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目的</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增加字段背后隐藏业务含义和规则的说明。</a:t>
            </a:r>
            <a:endPar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11" name="文本框 10">
            <a:extLst>
              <a:ext uri="{FF2B5EF4-FFF2-40B4-BE49-F238E27FC236}">
                <a16:creationId xmlns:a16="http://schemas.microsoft.com/office/drawing/2014/main" id="{10B27C5D-1665-3E79-0848-3CEED321E9BB}"/>
              </a:ext>
            </a:extLst>
          </p:cNvPr>
          <p:cNvSpPr txBox="1"/>
          <p:nvPr/>
        </p:nvSpPr>
        <p:spPr>
          <a:xfrm>
            <a:off x="7206305" y="3820255"/>
            <a:ext cx="4581833" cy="1296637"/>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给</a:t>
            </a:r>
            <a:r>
              <a:rPr kumimoji="0" lang="en-US" altLang="zh-CN"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AI</a:t>
            </a:r>
            <a:r>
              <a:rPr kumimoji="0" lang="zh-CN" altLang="en-US"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的价值</a:t>
            </a:r>
            <a:r>
              <a:rPr kumimoji="0" lang="en-US" altLang="zh-CN"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AI</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知道这个字段</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可以改</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且</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改动需要审批</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在解释数据异常时能给出合理推测。</a:t>
            </a:r>
          </a:p>
        </p:txBody>
      </p:sp>
      <p:pic>
        <p:nvPicPr>
          <p:cNvPr id="4" name="图片 3">
            <a:extLst>
              <a:ext uri="{FF2B5EF4-FFF2-40B4-BE49-F238E27FC236}">
                <a16:creationId xmlns:a16="http://schemas.microsoft.com/office/drawing/2014/main" id="{9079C564-89F6-DAC7-0A90-94B39C6682DA}"/>
              </a:ext>
            </a:extLst>
          </p:cNvPr>
          <p:cNvPicPr>
            <a:picLocks noChangeAspect="1"/>
          </p:cNvPicPr>
          <p:nvPr/>
        </p:nvPicPr>
        <p:blipFill>
          <a:blip r:embed="rId2"/>
          <a:stretch>
            <a:fillRect/>
          </a:stretch>
        </p:blipFill>
        <p:spPr>
          <a:xfrm>
            <a:off x="512756" y="1757311"/>
            <a:ext cx="6466667" cy="3800000"/>
          </a:xfrm>
          <a:prstGeom prst="rect">
            <a:avLst/>
          </a:prstGeom>
        </p:spPr>
      </p:pic>
      <p:sp>
        <p:nvSpPr>
          <p:cNvPr id="6" name="Rectangle 2">
            <a:extLst>
              <a:ext uri="{FF2B5EF4-FFF2-40B4-BE49-F238E27FC236}">
                <a16:creationId xmlns:a16="http://schemas.microsoft.com/office/drawing/2014/main" id="{B69421D2-3EC3-FBBC-72E0-2353F0DCDD60}"/>
              </a:ext>
            </a:extLst>
          </p:cNvPr>
          <p:cNvSpPr>
            <a:spLocks noChangeArrowheads="1"/>
          </p:cNvSpPr>
          <p:nvPr/>
        </p:nvSpPr>
        <p:spPr bwMode="auto">
          <a:xfrm>
            <a:off x="7315200" y="1757311"/>
            <a:ext cx="4364044" cy="1576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696" tIns="0" rIns="12696" bIns="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zh-CN" altLang="zh-CN" sz="1800" b="1" i="0" u="none" strike="noStrike" kern="120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mn-cs"/>
              </a:rPr>
              <a:t>与传统模型的区别</a:t>
            </a:r>
            <a:r>
              <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mn-cs"/>
              </a:rPr>
              <a:t>:</a:t>
            </a:r>
            <a:endParaRPr kumimoji="0" lang="zh-CN" altLang="zh-CN" sz="1800" b="0" i="0" u="none" strike="noStrike" kern="1200" cap="none" spc="0" normalizeH="0" baseline="0" noProof="0">
              <a:ln>
                <a:noFill/>
              </a:ln>
              <a:solidFill>
                <a:prstClr val="black"/>
              </a:solidFill>
              <a:effectLst/>
              <a:uLnTx/>
              <a:uFillTx/>
              <a:latin typeface="Arial" panose="020B0604020202020204" pitchFamily="34" charset="0"/>
              <a:ea typeface="等线" panose="02010600030101010101" pitchFamily="2" charset="-122"/>
              <a:cs typeface="+mn-cs"/>
            </a:endParaRPr>
          </a:p>
          <a:p>
            <a:pPr marL="0" marR="0" lvl="0" indent="0" algn="l" defTabSz="914400" rtl="0" eaLnBrk="0" fontAlgn="base" latinLnBrk="0" hangingPunct="0">
              <a:lnSpc>
                <a:spcPct val="150000"/>
              </a:lnSpc>
              <a:spcBef>
                <a:spcPct val="0"/>
              </a:spcBef>
              <a:spcAft>
                <a:spcPct val="0"/>
              </a:spcAft>
              <a:buClrTx/>
              <a:buSzTx/>
              <a:buFontTx/>
              <a:buChar char="•"/>
              <a:tabLst/>
              <a:defRPr/>
            </a:pPr>
            <a:r>
              <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mn-cs"/>
              </a:rPr>
              <a:t>❌ 传统:</a:t>
            </a:r>
            <a:r>
              <a:rPr kumimoji="0" lang="zh-CN" altLang="zh-CN" sz="1600" b="0" i="0" u="none" strike="noStrike" kern="1200" cap="none" spc="0" normalizeH="0" baseline="0" noProof="0">
                <a:ln>
                  <a:noFill/>
                </a:ln>
                <a:solidFill>
                  <a:srgbClr val="1E6BB8"/>
                </a:solidFill>
                <a:effectLst/>
                <a:uLnTx/>
                <a:uFillTx/>
                <a:latin typeface="Consolas" panose="020B0609020204030204" pitchFamily="49" charset="0"/>
                <a:ea typeface="等线" panose="02010600030101010101" pitchFamily="2" charset="-122"/>
                <a:cs typeface="+mn-cs"/>
              </a:rPr>
              <a:t>promised_date DATE</a:t>
            </a:r>
            <a:r>
              <a:rPr kumimoji="0" lang="zh-CN" altLang="zh-CN" sz="1600" b="0" i="0" u="none" strike="noStrike" kern="1200" cap="none" spc="0" normalizeH="0" baseline="0" noProof="0">
                <a:ln>
                  <a:noFill/>
                </a:ln>
                <a:solidFill>
                  <a:srgbClr val="000000"/>
                </a:solidFill>
                <a:effectLst/>
                <a:uLnTx/>
                <a:uFillTx/>
                <a:latin typeface="等线" panose="02110004020202020204"/>
                <a:ea typeface="等线" panose="02010600030101010101" pitchFamily="2" charset="-122"/>
                <a:cs typeface="+mn-cs"/>
              </a:rPr>
              <a:t> (只知道类型)</a:t>
            </a:r>
            <a:endParaRPr kumimoji="0" lang="zh-CN" altLang="zh-CN" sz="1600" b="0" i="0" u="none" strike="noStrike" kern="120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mn-cs"/>
            </a:endParaRPr>
          </a:p>
          <a:p>
            <a:pPr marL="0" marR="0" lvl="0" indent="0" algn="l" defTabSz="914400" rtl="0" eaLnBrk="0" fontAlgn="base" latinLnBrk="0" hangingPunct="0">
              <a:lnSpc>
                <a:spcPct val="150000"/>
              </a:lnSpc>
              <a:spcBef>
                <a:spcPct val="0"/>
              </a:spcBef>
              <a:spcAft>
                <a:spcPct val="0"/>
              </a:spcAft>
              <a:buClrTx/>
              <a:buSzTx/>
              <a:buFontTx/>
              <a:buChar char="•"/>
              <a:tabLst/>
              <a:defRPr/>
            </a:pPr>
            <a:r>
              <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mn-cs"/>
              </a:rPr>
              <a:t>✅ 改进:</a:t>
            </a:r>
            <a:r>
              <a:rPr kumimoji="0" lang="zh-CN" altLang="zh-CN" sz="1600" b="0" i="0" u="none" strike="noStrike" kern="1200" cap="none" spc="0" normalizeH="0" baseline="0" noProof="0">
                <a:ln>
                  <a:noFill/>
                </a:ln>
                <a:solidFill>
                  <a:srgbClr val="1E6BB8"/>
                </a:solidFill>
                <a:effectLst/>
                <a:uLnTx/>
                <a:uFillTx/>
                <a:latin typeface="Consolas" panose="020B0609020204030204" pitchFamily="49" charset="0"/>
                <a:ea typeface="等线" panose="02010600030101010101" pitchFamily="2" charset="-122"/>
                <a:cs typeface="+mn-cs"/>
              </a:rPr>
              <a:t>promised_date DATE + 3条业务规则</a:t>
            </a:r>
            <a:r>
              <a:rPr kumimoji="0" lang="zh-CN" altLang="zh-CN" sz="1600" b="0" i="0" u="none" strike="noStrike" kern="1200" cap="none" spc="0" normalizeH="0" baseline="0" noProof="0">
                <a:ln>
                  <a:noFill/>
                </a:ln>
                <a:solidFill>
                  <a:srgbClr val="000000"/>
                </a:solidFill>
                <a:effectLst/>
                <a:uLnTx/>
                <a:uFillTx/>
                <a:latin typeface="等线" panose="02110004020202020204"/>
                <a:ea typeface="等线" panose="02010600030101010101" pitchFamily="2" charset="-122"/>
                <a:cs typeface="+mn-cs"/>
              </a:rPr>
              <a:t> (知道含义和约束)</a:t>
            </a:r>
            <a:endParaRPr kumimoji="0" lang="zh-CN" altLang="zh-CN" sz="1600" b="0" i="0" u="none" strike="noStrike" kern="120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mn-cs"/>
            </a:endParaRPr>
          </a:p>
        </p:txBody>
      </p:sp>
    </p:spTree>
    <p:extLst>
      <p:ext uri="{BB962C8B-B14F-4D97-AF65-F5344CB8AC3E}">
        <p14:creationId xmlns:p14="http://schemas.microsoft.com/office/powerpoint/2010/main" val="3148355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F80E0-8C7D-0D4F-1B68-37F8D575172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2F33E88-47B3-85F5-681D-62559BDEB755}"/>
              </a:ext>
            </a:extLst>
          </p:cNvPr>
          <p:cNvSpPr>
            <a:spLocks noGrp="1"/>
          </p:cNvSpPr>
          <p:nvPr>
            <p:ph type="title"/>
          </p:nvPr>
        </p:nvSpPr>
        <p:spPr>
          <a:xfrm>
            <a:off x="395748" y="161259"/>
            <a:ext cx="10515600" cy="519778"/>
          </a:xfrm>
        </p:spPr>
        <p:txBody>
          <a:bodyPr>
            <a:normAutofit/>
          </a:bodyPr>
          <a:lstStyle/>
          <a:p>
            <a:r>
              <a:rPr lang="zh-CN" altLang="en-US" sz="2200" b="1">
                <a:solidFill>
                  <a:srgbClr val="0070C0"/>
                </a:solidFill>
                <a:latin typeface="微软雅黑" panose="020B0503020204020204" pitchFamily="34" charset="-122"/>
                <a:ea typeface="微软雅黑" panose="020B0503020204020204" pitchFamily="34" charset="-122"/>
              </a:rPr>
              <a:t>第三层：过程模型 </a:t>
            </a:r>
            <a:r>
              <a:rPr lang="en-US" altLang="zh-CN" sz="2200" b="1">
                <a:solidFill>
                  <a:srgbClr val="0070C0"/>
                </a:solidFill>
                <a:latin typeface="微软雅黑" panose="020B0503020204020204" pitchFamily="34" charset="-122"/>
                <a:ea typeface="微软雅黑" panose="020B0503020204020204" pitchFamily="34" charset="-122"/>
              </a:rPr>
              <a:t>- </a:t>
            </a:r>
            <a:r>
              <a:rPr lang="zh-CN" altLang="en-US" sz="2200" b="1">
                <a:solidFill>
                  <a:srgbClr val="0070C0"/>
                </a:solidFill>
                <a:latin typeface="微软雅黑" panose="020B0503020204020204" pitchFamily="34" charset="-122"/>
                <a:ea typeface="微软雅黑" panose="020B0503020204020204" pitchFamily="34" charset="-122"/>
              </a:rPr>
              <a:t>数据的</a:t>
            </a:r>
            <a:r>
              <a:rPr lang="en-US" altLang="zh-CN" sz="2200" b="1">
                <a:solidFill>
                  <a:srgbClr val="0070C0"/>
                </a:solidFill>
                <a:latin typeface="微软雅黑" panose="020B0503020204020204" pitchFamily="34" charset="-122"/>
                <a:ea typeface="微软雅黑" panose="020B0503020204020204" pitchFamily="34" charset="-122"/>
              </a:rPr>
              <a:t>"</a:t>
            </a:r>
            <a:r>
              <a:rPr lang="zh-CN" altLang="en-US" sz="2200" b="1">
                <a:solidFill>
                  <a:srgbClr val="0070C0"/>
                </a:solidFill>
                <a:latin typeface="微软雅黑" panose="020B0503020204020204" pitchFamily="34" charset="-122"/>
                <a:ea typeface="微软雅黑" panose="020B0503020204020204" pitchFamily="34" charset="-122"/>
              </a:rPr>
              <a:t>出生证明</a:t>
            </a:r>
            <a:r>
              <a:rPr lang="en-US" altLang="zh-CN" sz="2200" b="1">
                <a:solidFill>
                  <a:srgbClr val="0070C0"/>
                </a:solidFill>
                <a:latin typeface="微软雅黑" panose="020B0503020204020204" pitchFamily="34" charset="-122"/>
                <a:ea typeface="微软雅黑" panose="020B0503020204020204" pitchFamily="34" charset="-122"/>
              </a:rPr>
              <a:t>"</a:t>
            </a:r>
            <a:endParaRPr lang="zh-CN" altLang="en-US" sz="2200" b="1">
              <a:solidFill>
                <a:srgbClr val="0070C0"/>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78901CCF-888A-C36E-4932-B442D956A450}"/>
              </a:ext>
            </a:extLst>
          </p:cNvPr>
          <p:cNvPicPr>
            <a:picLocks noChangeAspect="1"/>
          </p:cNvPicPr>
          <p:nvPr/>
        </p:nvPicPr>
        <p:blipFill>
          <a:blip r:embed="rId2"/>
          <a:stretch>
            <a:fillRect/>
          </a:stretch>
        </p:blipFill>
        <p:spPr>
          <a:xfrm>
            <a:off x="1219200" y="1117498"/>
            <a:ext cx="9753600" cy="5429250"/>
          </a:xfrm>
          <a:prstGeom prst="rect">
            <a:avLst/>
          </a:prstGeom>
        </p:spPr>
      </p:pic>
      <p:sp>
        <p:nvSpPr>
          <p:cNvPr id="5" name="文本框 4">
            <a:extLst>
              <a:ext uri="{FF2B5EF4-FFF2-40B4-BE49-F238E27FC236}">
                <a16:creationId xmlns:a16="http://schemas.microsoft.com/office/drawing/2014/main" id="{A88305F2-B444-B508-DAF0-187E24A9D59C}"/>
              </a:ext>
            </a:extLst>
          </p:cNvPr>
          <p:cNvSpPr txBox="1"/>
          <p:nvPr/>
        </p:nvSpPr>
        <p:spPr>
          <a:xfrm>
            <a:off x="395748" y="580554"/>
            <a:ext cx="10950678"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核心思想</a:t>
            </a:r>
            <a:r>
              <a:rPr kumimoji="0" lang="en-US" altLang="zh-CN"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数据不是凭空产生的</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而是业务流程的产物。简单来说就是对静态的数据结构增加动态的行为特征，将我们的业务流程和业务活动转变为一种显性化的语义定义。</a:t>
            </a:r>
          </a:p>
        </p:txBody>
      </p:sp>
    </p:spTree>
    <p:extLst>
      <p:ext uri="{BB962C8B-B14F-4D97-AF65-F5344CB8AC3E}">
        <p14:creationId xmlns:p14="http://schemas.microsoft.com/office/powerpoint/2010/main" val="2747791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a:extLst>
            <a:ext uri="{FF2B5EF4-FFF2-40B4-BE49-F238E27FC236}">
              <a16:creationId xmlns:a16="http://schemas.microsoft.com/office/drawing/2014/main" id="{F2689E71-5C05-450D-3155-330FE6D41D1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F0D5B05-A078-5005-E4D3-D6BB1276BB97}"/>
              </a:ext>
            </a:extLst>
          </p:cNvPr>
          <p:cNvSpPr>
            <a:spLocks noGrp="1"/>
          </p:cNvSpPr>
          <p:nvPr>
            <p:ph type="title"/>
          </p:nvPr>
        </p:nvSpPr>
        <p:spPr>
          <a:xfrm>
            <a:off x="395748" y="161259"/>
            <a:ext cx="10515600" cy="519778"/>
          </a:xfrm>
        </p:spPr>
        <p:txBody>
          <a:bodyPr>
            <a:normAutofit/>
          </a:bodyPr>
          <a:lstStyle/>
          <a:p>
            <a:r>
              <a:rPr lang="zh-CN" altLang="en-US" sz="2200" b="1">
                <a:solidFill>
                  <a:srgbClr val="0070C0"/>
                </a:solidFill>
                <a:latin typeface="微软雅黑" panose="020B0503020204020204" pitchFamily="34" charset="-122"/>
                <a:ea typeface="微软雅黑" panose="020B0503020204020204" pitchFamily="34" charset="-122"/>
              </a:rPr>
              <a:t>第三层：过程模型 </a:t>
            </a:r>
            <a:r>
              <a:rPr lang="en-US" altLang="zh-CN" sz="2200" b="1">
                <a:solidFill>
                  <a:srgbClr val="0070C0"/>
                </a:solidFill>
                <a:latin typeface="微软雅黑" panose="020B0503020204020204" pitchFamily="34" charset="-122"/>
                <a:ea typeface="微软雅黑" panose="020B0503020204020204" pitchFamily="34" charset="-122"/>
              </a:rPr>
              <a:t>- </a:t>
            </a:r>
            <a:r>
              <a:rPr lang="zh-CN" altLang="en-US" sz="2200" b="1">
                <a:solidFill>
                  <a:srgbClr val="0070C0"/>
                </a:solidFill>
                <a:latin typeface="微软雅黑" panose="020B0503020204020204" pitchFamily="34" charset="-122"/>
                <a:ea typeface="微软雅黑" panose="020B0503020204020204" pitchFamily="34" charset="-122"/>
              </a:rPr>
              <a:t>数据的</a:t>
            </a:r>
            <a:r>
              <a:rPr lang="en-US" altLang="zh-CN" sz="2200" b="1">
                <a:solidFill>
                  <a:srgbClr val="0070C0"/>
                </a:solidFill>
                <a:latin typeface="微软雅黑" panose="020B0503020204020204" pitchFamily="34" charset="-122"/>
                <a:ea typeface="微软雅黑" panose="020B0503020204020204" pitchFamily="34" charset="-122"/>
              </a:rPr>
              <a:t>"</a:t>
            </a:r>
            <a:r>
              <a:rPr lang="zh-CN" altLang="en-US" sz="2200" b="1">
                <a:solidFill>
                  <a:srgbClr val="0070C0"/>
                </a:solidFill>
                <a:latin typeface="微软雅黑" panose="020B0503020204020204" pitchFamily="34" charset="-122"/>
                <a:ea typeface="微软雅黑" panose="020B0503020204020204" pitchFamily="34" charset="-122"/>
              </a:rPr>
              <a:t>出生证明</a:t>
            </a:r>
            <a:r>
              <a:rPr lang="en-US" altLang="zh-CN" sz="2200" b="1">
                <a:solidFill>
                  <a:srgbClr val="0070C0"/>
                </a:solidFill>
                <a:latin typeface="微软雅黑" panose="020B0503020204020204" pitchFamily="34" charset="-122"/>
                <a:ea typeface="微软雅黑" panose="020B0503020204020204" pitchFamily="34" charset="-122"/>
              </a:rPr>
              <a:t>"</a:t>
            </a:r>
            <a:endParaRPr lang="zh-CN" altLang="en-US" sz="2200" b="1">
              <a:solidFill>
                <a:srgbClr val="0070C0"/>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6B21D452-B757-CCE6-13FA-45ECE29B4B5E}"/>
              </a:ext>
            </a:extLst>
          </p:cNvPr>
          <p:cNvSpPr txBox="1"/>
          <p:nvPr/>
        </p:nvSpPr>
        <p:spPr>
          <a:xfrm>
            <a:off x="395748" y="580554"/>
            <a:ext cx="10950678"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核心思想</a:t>
            </a:r>
            <a:r>
              <a:rPr kumimoji="0" lang="en-US" altLang="zh-CN"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数据不是凭空产生的</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而是业务流程的产物。简单来说就是对静态的数据结构增加动态的行为特征，将我们的业务流程和业务活动转变为一种显性化的语义定义。</a:t>
            </a:r>
          </a:p>
        </p:txBody>
      </p:sp>
      <p:sp>
        <p:nvSpPr>
          <p:cNvPr id="6" name="文本框 5">
            <a:extLst>
              <a:ext uri="{FF2B5EF4-FFF2-40B4-BE49-F238E27FC236}">
                <a16:creationId xmlns:a16="http://schemas.microsoft.com/office/drawing/2014/main" id="{88F17BC5-792D-1F84-AAF0-CBD324146A80}"/>
              </a:ext>
            </a:extLst>
          </p:cNvPr>
          <p:cNvSpPr txBox="1"/>
          <p:nvPr/>
        </p:nvSpPr>
        <p:spPr>
          <a:xfrm>
            <a:off x="395747" y="1323014"/>
            <a:ext cx="1135380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在</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SDD</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规范驱动编程中编写结构化的</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Spec</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规范的思路完全一致，比如将采购订单履约拆解为</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7</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个关键活动</a:t>
            </a:r>
          </a:p>
        </p:txBody>
      </p:sp>
      <p:sp>
        <p:nvSpPr>
          <p:cNvPr id="9" name="文本框 8">
            <a:extLst>
              <a:ext uri="{FF2B5EF4-FFF2-40B4-BE49-F238E27FC236}">
                <a16:creationId xmlns:a16="http://schemas.microsoft.com/office/drawing/2014/main" id="{97DDFAB6-290B-3B84-5502-5DD79663F61C}"/>
              </a:ext>
            </a:extLst>
          </p:cNvPr>
          <p:cNvSpPr txBox="1"/>
          <p:nvPr/>
        </p:nvSpPr>
        <p:spPr>
          <a:xfrm>
            <a:off x="395747" y="1788475"/>
            <a:ext cx="3910782" cy="5016758"/>
          </a:xfrm>
          <a:prstGeom prst="rect">
            <a:avLst/>
          </a:prstGeom>
          <a:solidFill>
            <a:schemeClr val="tx1">
              <a:lumMod val="85000"/>
              <a:lumOff val="15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流程</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采购订单履约全流程</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触发条件</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采购需求产生 </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存在有效框架协议</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活动</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1: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创建采购订单</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执行者</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采购员</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输入</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采购需求、框架协议</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输出</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purchase_order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状态</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=draft)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业务规则</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 R001: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合同必须在有效期内</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R002: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供应商不能在黑名单</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R003: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需求日期 ≥ 当前日期 </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标准交付周期</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活动</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2: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供应商确认订单</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执行者</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供应商</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输入</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订单草稿</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输出</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promised_date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承诺日期</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业务规则</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 R004: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承诺日期必须晚于当前</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R005: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若承诺日期超需求日期</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3</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天</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需主管审批</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活动</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3: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供应商发货</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活动</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4: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仓库收货</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活动</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5: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质量检验</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业务规则</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 R010: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收货后</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24</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小时内必须完成质检</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R011: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质检不合格→创建退货单→重新发货</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活动</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6: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退货处理 </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若质检不合格</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活动</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7: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订单完成确认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触发条件</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所有物料收货完成 </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质检合格</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业务规则</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 R013: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准时性判定 </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MAX(</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收货日期</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承诺日期</a:t>
            </a:r>
          </a:p>
        </p:txBody>
      </p:sp>
      <p:sp>
        <p:nvSpPr>
          <p:cNvPr id="11" name="文本框 10">
            <a:extLst>
              <a:ext uri="{FF2B5EF4-FFF2-40B4-BE49-F238E27FC236}">
                <a16:creationId xmlns:a16="http://schemas.microsoft.com/office/drawing/2014/main" id="{C791EAE9-97FB-E98E-BAD8-174DD95D4865}"/>
              </a:ext>
            </a:extLst>
          </p:cNvPr>
          <p:cNvSpPr txBox="1"/>
          <p:nvPr/>
        </p:nvSpPr>
        <p:spPr>
          <a:xfrm>
            <a:off x="5358581" y="1868862"/>
            <a:ext cx="6437672" cy="34163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关键设计</a:t>
            </a:r>
            <a:r>
              <a:rPr kumimoji="0" lang="en-US" altLang="zh-CN"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时序关系</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明确活动的先后顺序和依赖</a:t>
            </a:r>
            <a:endPar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角色明确</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每个活动由谁负责</a:t>
            </a:r>
            <a:endPar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数据转换</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每个活动产生</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修改哪些数据</a:t>
            </a:r>
            <a:endPar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异常分支</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质检不合格怎么办</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订单取消怎么办</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给</a:t>
            </a:r>
            <a:r>
              <a:rPr kumimoji="0" lang="en-US" altLang="zh-CN"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AI</a:t>
            </a:r>
            <a:r>
              <a:rPr kumimoji="0" lang="zh-CN" altLang="en-US"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的价值</a:t>
            </a:r>
            <a:r>
              <a:rPr kumimoji="0" lang="en-US" altLang="zh-CN"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当用户问</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为什么这个订单延期了</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?"AI</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可以追溯</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订单</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PO001 → </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活动</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5(</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质检</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 </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不合格退货 → 活动</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6(</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重新发货</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 </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延期</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7</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天</a:t>
            </a:r>
            <a:endPar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因此当有了这些详细流程和活动的行为定义后，</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AI</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在回答问题的时候，就不是简单的猜测，而是基于业务流程的可解释推理。</a:t>
            </a:r>
          </a:p>
        </p:txBody>
      </p:sp>
    </p:spTree>
    <p:extLst>
      <p:ext uri="{BB962C8B-B14F-4D97-AF65-F5344CB8AC3E}">
        <p14:creationId xmlns:p14="http://schemas.microsoft.com/office/powerpoint/2010/main" val="1411856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A22A6-9842-4C63-AA4C-95325E9E562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A00B1A8-1174-46B6-E26D-18D3A72BCE79}"/>
              </a:ext>
            </a:extLst>
          </p:cNvPr>
          <p:cNvSpPr>
            <a:spLocks noGrp="1"/>
          </p:cNvSpPr>
          <p:nvPr>
            <p:ph type="title"/>
          </p:nvPr>
        </p:nvSpPr>
        <p:spPr>
          <a:xfrm>
            <a:off x="395748" y="161259"/>
            <a:ext cx="10515600" cy="519778"/>
          </a:xfrm>
        </p:spPr>
        <p:txBody>
          <a:bodyPr>
            <a:normAutofit/>
          </a:bodyPr>
          <a:lstStyle/>
          <a:p>
            <a:r>
              <a:rPr lang="zh-CN" altLang="en-US" sz="2200" b="1">
                <a:solidFill>
                  <a:srgbClr val="0070C0"/>
                </a:solidFill>
                <a:latin typeface="微软雅黑" panose="020B0503020204020204" pitchFamily="34" charset="-122"/>
                <a:ea typeface="微软雅黑" panose="020B0503020204020204" pitchFamily="34" charset="-122"/>
              </a:rPr>
              <a:t>第四层：指标推理模型 </a:t>
            </a:r>
            <a:r>
              <a:rPr lang="en-US" altLang="zh-CN" sz="2200" b="1">
                <a:solidFill>
                  <a:srgbClr val="0070C0"/>
                </a:solidFill>
                <a:latin typeface="微软雅黑" panose="020B0503020204020204" pitchFamily="34" charset="-122"/>
                <a:ea typeface="微软雅黑" panose="020B0503020204020204" pitchFamily="34" charset="-122"/>
              </a:rPr>
              <a:t>- </a:t>
            </a:r>
            <a:r>
              <a:rPr lang="zh-CN" altLang="en-US" sz="2200" b="1">
                <a:solidFill>
                  <a:srgbClr val="0070C0"/>
                </a:solidFill>
                <a:latin typeface="微软雅黑" panose="020B0503020204020204" pitchFamily="34" charset="-122"/>
                <a:ea typeface="微软雅黑" panose="020B0503020204020204" pitchFamily="34" charset="-122"/>
              </a:rPr>
              <a:t>数据的</a:t>
            </a:r>
            <a:r>
              <a:rPr lang="en-US" altLang="zh-CN" sz="2200" b="1">
                <a:solidFill>
                  <a:srgbClr val="0070C0"/>
                </a:solidFill>
                <a:latin typeface="微软雅黑" panose="020B0503020204020204" pitchFamily="34" charset="-122"/>
                <a:ea typeface="微软雅黑" panose="020B0503020204020204" pitchFamily="34" charset="-122"/>
              </a:rPr>
              <a:t>"</a:t>
            </a:r>
            <a:r>
              <a:rPr lang="zh-CN" altLang="en-US" sz="2200" b="1">
                <a:solidFill>
                  <a:srgbClr val="0070C0"/>
                </a:solidFill>
                <a:latin typeface="微软雅黑" panose="020B0503020204020204" pitchFamily="34" charset="-122"/>
                <a:ea typeface="微软雅黑" panose="020B0503020204020204" pitchFamily="34" charset="-122"/>
              </a:rPr>
              <a:t>使用说明书</a:t>
            </a:r>
            <a:r>
              <a:rPr lang="en-US" altLang="zh-CN" sz="2200" b="1">
                <a:solidFill>
                  <a:srgbClr val="0070C0"/>
                </a:solidFill>
                <a:latin typeface="微软雅黑" panose="020B0503020204020204" pitchFamily="34" charset="-122"/>
                <a:ea typeface="微软雅黑" panose="020B0503020204020204" pitchFamily="34" charset="-122"/>
              </a:rPr>
              <a:t>"</a:t>
            </a:r>
            <a:endParaRPr lang="zh-CN" altLang="en-US" sz="2200" b="1">
              <a:solidFill>
                <a:srgbClr val="0070C0"/>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E38DFFA6-9F5E-4F83-79A6-3975351E535A}"/>
              </a:ext>
            </a:extLst>
          </p:cNvPr>
          <p:cNvSpPr txBox="1"/>
          <p:nvPr/>
        </p:nvSpPr>
        <p:spPr>
          <a:xfrm>
            <a:off x="395747" y="538682"/>
            <a:ext cx="10999839"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对应静态数据结构的动态定义实际包括两个方面，简单来说就是既要知道数据是如何来的</a:t>
            </a: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其前面一个步骤的通过业务流程驱动了数据的产生；其次又需要知道数据是如何用的，即基于我们已有的数据如何去构建上层的指标推理。因此传统</a:t>
            </a: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ChatBI</a:t>
            </a: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告诉</a:t>
            </a: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AI"</a:t>
            </a: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准时率</a:t>
            </a: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准时订单数</a:t>
            </a: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总订单数</a:t>
            </a: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但这还是远远不够的。</a:t>
            </a:r>
          </a:p>
        </p:txBody>
      </p:sp>
      <p:sp>
        <p:nvSpPr>
          <p:cNvPr id="7" name="文本框 6">
            <a:extLst>
              <a:ext uri="{FF2B5EF4-FFF2-40B4-BE49-F238E27FC236}">
                <a16:creationId xmlns:a16="http://schemas.microsoft.com/office/drawing/2014/main" id="{0BD67FAB-B521-0872-8F42-4D6B38E54DAB}"/>
              </a:ext>
            </a:extLst>
          </p:cNvPr>
          <p:cNvSpPr txBox="1"/>
          <p:nvPr/>
        </p:nvSpPr>
        <p:spPr>
          <a:xfrm>
            <a:off x="481780" y="1369679"/>
            <a:ext cx="4021394" cy="5324535"/>
          </a:xfrm>
          <a:prstGeom prst="rect">
            <a:avLst/>
          </a:prstGeom>
          <a:solidFill>
            <a:schemeClr val="tx1">
              <a:lumMod val="85000"/>
              <a:lumOff val="15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指标</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采购订单履约准时率</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(M001)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业务定义</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在承诺交付日期</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含</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之前完成所有收货的订单占比</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反映供应商的交付能力</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计算口径</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统计范围</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:po_statusIN('completed','closed')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统计周期</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按订单创建日期</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(po_date)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排除规则</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已取消订单、金额</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&lt;1000</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元的小额订单</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计算公式</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分子</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准时订单数</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(MAX(</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收货日期</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承诺日期</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分母</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总订单数</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完整</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SQL</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逻辑</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附完整可执行的</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SQL]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数据血缘</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来源流程</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:P001-</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采购订单履约全流程</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来源表</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:purchase_order+goods_receipt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关键字段</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:promised_date,receipt_date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典型分析场景</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场景</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1:</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供应商绩效评估</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问题模式</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:"XX</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供应商上月的准时率是多少</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答案结构</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数值</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同比环比</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排名</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异常说明</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场景</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2:</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延期原因分析</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问题模式</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为什么上个月准时率下降了</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答案结构</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趋势图</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根因分解</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质检不合格</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X%,</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供应商延误</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场景</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3:</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风险预警</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问题模式</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准时率低于</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80%</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的供应商有哪些</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答案结构</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预警清单</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风险等级</a:t>
            </a:r>
            <a:r>
              <a:rPr kumimoji="0" lang="en-US" altLang="zh-CN"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0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改进建议</a:t>
            </a:r>
          </a:p>
        </p:txBody>
      </p:sp>
      <p:sp>
        <p:nvSpPr>
          <p:cNvPr id="9" name="文本框 8">
            <a:extLst>
              <a:ext uri="{FF2B5EF4-FFF2-40B4-BE49-F238E27FC236}">
                <a16:creationId xmlns:a16="http://schemas.microsoft.com/office/drawing/2014/main" id="{512D388C-F694-02C1-B38B-7827DE6E0B48}"/>
              </a:ext>
            </a:extLst>
          </p:cNvPr>
          <p:cNvSpPr txBox="1"/>
          <p:nvPr/>
        </p:nvSpPr>
        <p:spPr>
          <a:xfrm>
            <a:off x="4589207" y="1436147"/>
            <a:ext cx="6894871" cy="4117474"/>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关键点</a:t>
            </a:r>
            <a:r>
              <a:rPr kumimoji="0" lang="en-US" altLang="zh-CN" sz="16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明确统计口径</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不同人对</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准时率</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的理解可能不同</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一次性说清楚</a:t>
            </a:r>
            <a:endPar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完整数据血缘</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从指标追溯到表</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从表追溯到业务流程</a:t>
            </a:r>
            <a:endPar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场景化模板</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不同问题有不同的答案结构</a:t>
            </a:r>
            <a:endPar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给</a:t>
            </a:r>
            <a:r>
              <a:rPr kumimoji="0" lang="en-US" altLang="zh-CN" sz="16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AI</a:t>
            </a:r>
            <a:r>
              <a:rPr kumimoji="0" lang="zh-CN" altLang="en-US" sz="16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的价值</a:t>
            </a:r>
            <a:r>
              <a:rPr kumimoji="0" lang="en-US" altLang="zh-CN" sz="16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用户问</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上月准时率</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82%,</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为什么</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AI</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可以</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457200" marR="0" lvl="1" indent="0" algn="l" defTabSz="914400" rtl="0" eaLnBrk="1" fontAlgn="auto" latinLnBrk="0" hangingPunct="1">
              <a:lnSpc>
                <a:spcPct val="15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1)</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查询</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return_record</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表</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发现退货订单增加</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37%</a:t>
            </a:r>
          </a:p>
          <a:p>
            <a:pPr marL="457200" marR="0" lvl="1" indent="0" algn="l" defTabSz="914400" rtl="0" eaLnBrk="1" fontAlgn="auto" latinLnBrk="0" hangingPunct="1">
              <a:lnSpc>
                <a:spcPct val="15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2)</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追溯到流程</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P001-</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活动</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5,</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退货主要原因是</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包装破损</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45%“</a:t>
            </a:r>
          </a:p>
          <a:p>
            <a:pPr marL="457200" marR="0" lvl="1" indent="0" algn="l" defTabSz="914400" rtl="0" eaLnBrk="1" fontAlgn="auto" latinLnBrk="0" hangingPunct="1">
              <a:lnSpc>
                <a:spcPct val="15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3)</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给出结论</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准时率下降主要因质检不合格</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建议加强供应商包装标准</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endPar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586731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2D803-27DC-1CBB-34D0-56F5083EAA1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79C9611-71BA-86A3-734E-3CAB4E3ECA2B}"/>
              </a:ext>
            </a:extLst>
          </p:cNvPr>
          <p:cNvSpPr>
            <a:spLocks noGrp="1"/>
          </p:cNvSpPr>
          <p:nvPr>
            <p:ph type="title"/>
          </p:nvPr>
        </p:nvSpPr>
        <p:spPr>
          <a:xfrm>
            <a:off x="395748" y="161259"/>
            <a:ext cx="10515600" cy="519778"/>
          </a:xfrm>
        </p:spPr>
        <p:txBody>
          <a:bodyPr>
            <a:normAutofit/>
          </a:bodyPr>
          <a:lstStyle/>
          <a:p>
            <a:r>
              <a:rPr lang="zh-CN" altLang="en-US" sz="2200" b="1">
                <a:solidFill>
                  <a:srgbClr val="0070C0"/>
                </a:solidFill>
                <a:latin typeface="微软雅黑" panose="020B0503020204020204" pitchFamily="34" charset="-122"/>
                <a:ea typeface="微软雅黑" panose="020B0503020204020204" pitchFamily="34" charset="-122"/>
              </a:rPr>
              <a:t>第四层：指标推理模型 </a:t>
            </a:r>
            <a:r>
              <a:rPr lang="en-US" altLang="zh-CN" sz="2200" b="1">
                <a:solidFill>
                  <a:srgbClr val="0070C0"/>
                </a:solidFill>
                <a:latin typeface="微软雅黑" panose="020B0503020204020204" pitchFamily="34" charset="-122"/>
                <a:ea typeface="微软雅黑" panose="020B0503020204020204" pitchFamily="34" charset="-122"/>
              </a:rPr>
              <a:t>- </a:t>
            </a:r>
            <a:r>
              <a:rPr lang="zh-CN" altLang="en-US" sz="2200" b="1">
                <a:solidFill>
                  <a:srgbClr val="0070C0"/>
                </a:solidFill>
                <a:latin typeface="微软雅黑" panose="020B0503020204020204" pitchFamily="34" charset="-122"/>
                <a:ea typeface="微软雅黑" panose="020B0503020204020204" pitchFamily="34" charset="-122"/>
              </a:rPr>
              <a:t>数据的</a:t>
            </a:r>
            <a:r>
              <a:rPr lang="en-US" altLang="zh-CN" sz="2200" b="1">
                <a:solidFill>
                  <a:srgbClr val="0070C0"/>
                </a:solidFill>
                <a:latin typeface="微软雅黑" panose="020B0503020204020204" pitchFamily="34" charset="-122"/>
                <a:ea typeface="微软雅黑" panose="020B0503020204020204" pitchFamily="34" charset="-122"/>
              </a:rPr>
              <a:t>"</a:t>
            </a:r>
            <a:r>
              <a:rPr lang="zh-CN" altLang="en-US" sz="2200" b="1">
                <a:solidFill>
                  <a:srgbClr val="0070C0"/>
                </a:solidFill>
                <a:latin typeface="微软雅黑" panose="020B0503020204020204" pitchFamily="34" charset="-122"/>
                <a:ea typeface="微软雅黑" panose="020B0503020204020204" pitchFamily="34" charset="-122"/>
              </a:rPr>
              <a:t>使用说明书</a:t>
            </a:r>
            <a:r>
              <a:rPr lang="en-US" altLang="zh-CN" sz="2200" b="1">
                <a:solidFill>
                  <a:srgbClr val="0070C0"/>
                </a:solidFill>
                <a:latin typeface="微软雅黑" panose="020B0503020204020204" pitchFamily="34" charset="-122"/>
                <a:ea typeface="微软雅黑" panose="020B0503020204020204" pitchFamily="34" charset="-122"/>
              </a:rPr>
              <a:t>"</a:t>
            </a:r>
            <a:endParaRPr lang="zh-CN" altLang="en-US" sz="2200" b="1">
              <a:solidFill>
                <a:srgbClr val="0070C0"/>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23A9656D-042A-F14A-B228-9C668BCE8F30}"/>
              </a:ext>
            </a:extLst>
          </p:cNvPr>
          <p:cNvPicPr>
            <a:picLocks noChangeAspect="1"/>
          </p:cNvPicPr>
          <p:nvPr/>
        </p:nvPicPr>
        <p:blipFill>
          <a:blip r:embed="rId2"/>
          <a:stretch>
            <a:fillRect/>
          </a:stretch>
        </p:blipFill>
        <p:spPr>
          <a:xfrm>
            <a:off x="624348" y="681037"/>
            <a:ext cx="10287000" cy="5705475"/>
          </a:xfrm>
          <a:prstGeom prst="rect">
            <a:avLst/>
          </a:prstGeom>
        </p:spPr>
      </p:pic>
    </p:spTree>
    <p:extLst>
      <p:ext uri="{BB962C8B-B14F-4D97-AF65-F5344CB8AC3E}">
        <p14:creationId xmlns:p14="http://schemas.microsoft.com/office/powerpoint/2010/main" val="7623028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72A87-EA01-0425-4EC9-722975C68943}"/>
            </a:ext>
          </a:extLst>
        </p:cNvPr>
        <p:cNvGrpSpPr/>
        <p:nvPr/>
      </p:nvGrpSpPr>
      <p:grpSpPr>
        <a:xfrm>
          <a:off x="0" y="0"/>
          <a:ext cx="0" cy="0"/>
          <a:chOff x="0" y="0"/>
          <a:chExt cx="0" cy="0"/>
        </a:xfrm>
      </p:grpSpPr>
      <p:pic>
        <p:nvPicPr>
          <p:cNvPr id="14" name="图片 13">
            <a:extLst>
              <a:ext uri="{FF2B5EF4-FFF2-40B4-BE49-F238E27FC236}">
                <a16:creationId xmlns:a16="http://schemas.microsoft.com/office/drawing/2014/main" id="{50AA1ACE-C929-402C-AD4A-DA06856D49F4}"/>
              </a:ext>
            </a:extLst>
          </p:cNvPr>
          <p:cNvPicPr>
            <a:picLocks noChangeAspect="1"/>
          </p:cNvPicPr>
          <p:nvPr/>
        </p:nvPicPr>
        <p:blipFill>
          <a:blip r:embed="rId2"/>
          <a:stretch>
            <a:fillRect/>
          </a:stretch>
        </p:blipFill>
        <p:spPr>
          <a:xfrm>
            <a:off x="395748" y="3298367"/>
            <a:ext cx="2700203" cy="2747963"/>
          </a:xfrm>
          <a:prstGeom prst="rect">
            <a:avLst/>
          </a:prstGeom>
        </p:spPr>
      </p:pic>
      <p:sp>
        <p:nvSpPr>
          <p:cNvPr id="2" name="标题 1">
            <a:extLst>
              <a:ext uri="{FF2B5EF4-FFF2-40B4-BE49-F238E27FC236}">
                <a16:creationId xmlns:a16="http://schemas.microsoft.com/office/drawing/2014/main" id="{0E9ED598-6B39-BF4E-7DA1-CB055A9DFBA3}"/>
              </a:ext>
            </a:extLst>
          </p:cNvPr>
          <p:cNvSpPr>
            <a:spLocks noGrp="1"/>
          </p:cNvSpPr>
          <p:nvPr>
            <p:ph type="title"/>
          </p:nvPr>
        </p:nvSpPr>
        <p:spPr>
          <a:xfrm>
            <a:off x="395748" y="161259"/>
            <a:ext cx="10515600" cy="519778"/>
          </a:xfrm>
        </p:spPr>
        <p:txBody>
          <a:bodyPr>
            <a:normAutofit/>
          </a:bodyPr>
          <a:lstStyle/>
          <a:p>
            <a:r>
              <a:rPr lang="zh-CN" altLang="en-US" sz="2200" b="1">
                <a:solidFill>
                  <a:srgbClr val="0070C0"/>
                </a:solidFill>
                <a:latin typeface="微软雅黑" panose="020B0503020204020204" pitchFamily="34" charset="-122"/>
                <a:ea typeface="微软雅黑" panose="020B0503020204020204" pitchFamily="34" charset="-122"/>
              </a:rPr>
              <a:t>第五层：呈现约束模型 </a:t>
            </a:r>
            <a:r>
              <a:rPr lang="en-US" altLang="zh-CN" sz="2200" b="1">
                <a:solidFill>
                  <a:srgbClr val="0070C0"/>
                </a:solidFill>
                <a:latin typeface="微软雅黑" panose="020B0503020204020204" pitchFamily="34" charset="-122"/>
                <a:ea typeface="微软雅黑" panose="020B0503020204020204" pitchFamily="34" charset="-122"/>
              </a:rPr>
              <a:t>- </a:t>
            </a:r>
            <a:r>
              <a:rPr lang="zh-CN" altLang="en-US" sz="2200" b="1">
                <a:solidFill>
                  <a:srgbClr val="0070C0"/>
                </a:solidFill>
                <a:latin typeface="微软雅黑" panose="020B0503020204020204" pitchFamily="34" charset="-122"/>
                <a:ea typeface="微软雅黑" panose="020B0503020204020204" pitchFamily="34" charset="-122"/>
              </a:rPr>
              <a:t>让答案</a:t>
            </a:r>
            <a:r>
              <a:rPr lang="en-US" altLang="zh-CN" sz="2200" b="1">
                <a:solidFill>
                  <a:srgbClr val="0070C0"/>
                </a:solidFill>
                <a:latin typeface="微软雅黑" panose="020B0503020204020204" pitchFamily="34" charset="-122"/>
                <a:ea typeface="微软雅黑" panose="020B0503020204020204" pitchFamily="34" charset="-122"/>
              </a:rPr>
              <a:t>"</a:t>
            </a:r>
            <a:r>
              <a:rPr lang="zh-CN" altLang="en-US" sz="2200" b="1">
                <a:solidFill>
                  <a:srgbClr val="0070C0"/>
                </a:solidFill>
                <a:latin typeface="微软雅黑" panose="020B0503020204020204" pitchFamily="34" charset="-122"/>
                <a:ea typeface="微软雅黑" panose="020B0503020204020204" pitchFamily="34" charset="-122"/>
              </a:rPr>
              <a:t>好看又好用</a:t>
            </a:r>
            <a:r>
              <a:rPr lang="en-US" altLang="zh-CN" sz="2200" b="1">
                <a:solidFill>
                  <a:srgbClr val="0070C0"/>
                </a:solidFill>
                <a:latin typeface="微软雅黑" panose="020B0503020204020204" pitchFamily="34" charset="-122"/>
                <a:ea typeface="微软雅黑" panose="020B0503020204020204" pitchFamily="34" charset="-122"/>
              </a:rPr>
              <a:t>"</a:t>
            </a:r>
            <a:endParaRPr lang="zh-CN" altLang="en-US" sz="2200" b="1">
              <a:solidFill>
                <a:srgbClr val="0070C0"/>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F9FD6917-CEE5-26FC-A3B5-E94219117D03}"/>
              </a:ext>
            </a:extLst>
          </p:cNvPr>
          <p:cNvSpPr txBox="1"/>
          <p:nvPr/>
        </p:nvSpPr>
        <p:spPr>
          <a:xfrm>
            <a:off x="567069" y="681037"/>
            <a:ext cx="7147521" cy="181588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对于这一个层次定义的目标很简单，就是统一回答风格</a:t>
            </a: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提升用户体验。</a:t>
            </a:r>
            <a:endPar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比如企业已有的标准规范，参考模板，展现风格等，我们都可以提前进行约束和定义。</a:t>
            </a:r>
            <a:endPar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让</a:t>
            </a: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AI</a:t>
            </a: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输出符合企业组织要求的最终呈现结果。</a:t>
            </a:r>
            <a:endPar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可以看到这个实际和</a:t>
            </a: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Claude Skills</a:t>
            </a: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技能包里面的案例，模板，最佳实践部分的定义思路完全是一致的。</a:t>
            </a:r>
            <a:endPar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给</a:t>
            </a: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AI</a:t>
            </a: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的价值</a:t>
            </a: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标准化的回答结构</a:t>
            </a: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用户体验一致且专业。</a:t>
            </a:r>
          </a:p>
        </p:txBody>
      </p:sp>
      <p:sp>
        <p:nvSpPr>
          <p:cNvPr id="6" name="文本框 5">
            <a:extLst>
              <a:ext uri="{FF2B5EF4-FFF2-40B4-BE49-F238E27FC236}">
                <a16:creationId xmlns:a16="http://schemas.microsoft.com/office/drawing/2014/main" id="{C7ADCBA6-D97A-58F3-DDEC-451EC793000F}"/>
              </a:ext>
            </a:extLst>
          </p:cNvPr>
          <p:cNvSpPr txBox="1"/>
          <p:nvPr/>
        </p:nvSpPr>
        <p:spPr>
          <a:xfrm>
            <a:off x="7833360" y="1806537"/>
            <a:ext cx="4165600" cy="4945969"/>
          </a:xfrm>
          <a:prstGeom prst="rect">
            <a:avLst/>
          </a:prstGeom>
          <a:solidFill>
            <a:schemeClr val="tx1">
              <a:lumMod val="85000"/>
              <a:lumOff val="15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问题类型</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1: "{{</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时间</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的</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指标</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是多少</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答案模板</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时间</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的</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指标</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为**</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数值</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单位</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📊数据详情</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统计订单总数</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准时订单数</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📈趋势对比</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环比上期</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:{{+/-X%}}</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同比去年</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💡数据说明</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该数据统计范围为</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判定标准为</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数据来源于</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流程</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P001}},</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最后更新时间</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问题类型</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2:"</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为什么</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供应商</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时间</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延期了</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答案模板</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🔍延期原因分析</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供应商</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在</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时间</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📉数据表现</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延期订单</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:{{N}}</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单</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占比</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{{X%}})</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平均延期</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:{{M}}</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天</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🔍原因分解</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1.</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质检不合格退货</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占比</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X%}}</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     </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主要问题</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包装破损</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({{Y</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单</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规格不符</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({{Z</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单</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2.</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供应商生产延误</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占比</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3.</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物流延误</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占比</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📋典型案例</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订单</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PO001:</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承诺</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12-15,</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实际</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12-22,</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延期</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7</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天</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原因</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首次送货质检不合格</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退货重送</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💡数据追溯</a:t>
            </a: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rPr>
              <a:t>purchase_order→goods_receipt→quality_inspection→return_record</a:t>
            </a:r>
            <a:endParaRPr kumimoji="0" lang="zh-CN" altLang="en-US" sz="83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sp>
        <p:nvSpPr>
          <p:cNvPr id="8" name="文本框 7">
            <a:extLst>
              <a:ext uri="{FF2B5EF4-FFF2-40B4-BE49-F238E27FC236}">
                <a16:creationId xmlns:a16="http://schemas.microsoft.com/office/drawing/2014/main" id="{BEFD02FB-E687-6CDD-A5CF-6BD86146F7EC}"/>
              </a:ext>
            </a:extLst>
          </p:cNvPr>
          <p:cNvSpPr txBox="1"/>
          <p:nvPr/>
        </p:nvSpPr>
        <p:spPr>
          <a:xfrm>
            <a:off x="9118600" y="1435704"/>
            <a:ext cx="159512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3. </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问答模板</a:t>
            </a:r>
          </a:p>
        </p:txBody>
      </p:sp>
      <p:pic>
        <p:nvPicPr>
          <p:cNvPr id="10" name="图片 9">
            <a:extLst>
              <a:ext uri="{FF2B5EF4-FFF2-40B4-BE49-F238E27FC236}">
                <a16:creationId xmlns:a16="http://schemas.microsoft.com/office/drawing/2014/main" id="{89BA13A7-132E-C1F6-3F6B-B9B75CA50E2D}"/>
              </a:ext>
            </a:extLst>
          </p:cNvPr>
          <p:cNvPicPr>
            <a:picLocks noChangeAspect="1"/>
          </p:cNvPicPr>
          <p:nvPr/>
        </p:nvPicPr>
        <p:blipFill>
          <a:blip r:embed="rId3"/>
          <a:stretch>
            <a:fillRect/>
          </a:stretch>
        </p:blipFill>
        <p:spPr>
          <a:xfrm>
            <a:off x="3214720" y="3298367"/>
            <a:ext cx="4499871" cy="2793287"/>
          </a:xfrm>
          <a:prstGeom prst="rect">
            <a:avLst/>
          </a:prstGeom>
        </p:spPr>
      </p:pic>
      <p:sp>
        <p:nvSpPr>
          <p:cNvPr id="12" name="文本框 11">
            <a:extLst>
              <a:ext uri="{FF2B5EF4-FFF2-40B4-BE49-F238E27FC236}">
                <a16:creationId xmlns:a16="http://schemas.microsoft.com/office/drawing/2014/main" id="{491A04AE-3562-27B1-6654-3574C79608CA}"/>
              </a:ext>
            </a:extLst>
          </p:cNvPr>
          <p:cNvSpPr txBox="1"/>
          <p:nvPr/>
        </p:nvSpPr>
        <p:spPr>
          <a:xfrm>
            <a:off x="4672175" y="2870386"/>
            <a:ext cx="158496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2. </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报告模板</a:t>
            </a:r>
          </a:p>
        </p:txBody>
      </p:sp>
      <p:sp>
        <p:nvSpPr>
          <p:cNvPr id="16" name="文本框 15">
            <a:extLst>
              <a:ext uri="{FF2B5EF4-FFF2-40B4-BE49-F238E27FC236}">
                <a16:creationId xmlns:a16="http://schemas.microsoft.com/office/drawing/2014/main" id="{A634714F-0B59-4C0F-14D3-5C3D68921B4D}"/>
              </a:ext>
            </a:extLst>
          </p:cNvPr>
          <p:cNvSpPr txBox="1"/>
          <p:nvPr/>
        </p:nvSpPr>
        <p:spPr>
          <a:xfrm>
            <a:off x="822960" y="2870386"/>
            <a:ext cx="168656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1. </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可视化规范</a:t>
            </a:r>
          </a:p>
        </p:txBody>
      </p:sp>
    </p:spTree>
    <p:extLst>
      <p:ext uri="{BB962C8B-B14F-4D97-AF65-F5344CB8AC3E}">
        <p14:creationId xmlns:p14="http://schemas.microsoft.com/office/powerpoint/2010/main" val="10011018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7C8BA-3AAC-9497-1789-B37443782B2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9D8300A-6F99-F3B5-54E9-38D153BE85EE}"/>
              </a:ext>
            </a:extLst>
          </p:cNvPr>
          <p:cNvSpPr>
            <a:spLocks noGrp="1"/>
          </p:cNvSpPr>
          <p:nvPr>
            <p:ph type="title"/>
          </p:nvPr>
        </p:nvSpPr>
        <p:spPr>
          <a:xfrm>
            <a:off x="395748" y="161259"/>
            <a:ext cx="10515600" cy="519778"/>
          </a:xfrm>
        </p:spPr>
        <p:txBody>
          <a:bodyPr>
            <a:normAutofit/>
          </a:bodyPr>
          <a:lstStyle/>
          <a:p>
            <a:r>
              <a:rPr lang="zh-CN" altLang="en-US" sz="2200" b="1">
                <a:solidFill>
                  <a:srgbClr val="0070C0"/>
                </a:solidFill>
                <a:latin typeface="微软雅黑" panose="020B0503020204020204" pitchFamily="34" charset="-122"/>
                <a:ea typeface="微软雅黑" panose="020B0503020204020204" pitchFamily="34" charset="-122"/>
              </a:rPr>
              <a:t>第六层</a:t>
            </a:r>
            <a:r>
              <a:rPr lang="en-US" altLang="zh-CN" sz="2200" b="1">
                <a:solidFill>
                  <a:srgbClr val="0070C0"/>
                </a:solidFill>
                <a:latin typeface="微软雅黑" panose="020B0503020204020204" pitchFamily="34" charset="-122"/>
                <a:ea typeface="微软雅黑" panose="020B0503020204020204" pitchFamily="34" charset="-122"/>
              </a:rPr>
              <a:t>: </a:t>
            </a:r>
            <a:r>
              <a:rPr lang="zh-CN" altLang="en-US" sz="2200" b="1">
                <a:solidFill>
                  <a:srgbClr val="0070C0"/>
                </a:solidFill>
                <a:latin typeface="微软雅黑" panose="020B0503020204020204" pitchFamily="34" charset="-122"/>
                <a:ea typeface="微软雅黑" panose="020B0503020204020204" pitchFamily="34" charset="-122"/>
              </a:rPr>
              <a:t>上下文感知 </a:t>
            </a:r>
            <a:r>
              <a:rPr lang="en-US" altLang="zh-CN" sz="2200" b="1">
                <a:solidFill>
                  <a:srgbClr val="0070C0"/>
                </a:solidFill>
                <a:latin typeface="微软雅黑" panose="020B0503020204020204" pitchFamily="34" charset="-122"/>
                <a:ea typeface="微软雅黑" panose="020B0503020204020204" pitchFamily="34" charset="-122"/>
              </a:rPr>
              <a:t>- </a:t>
            </a:r>
            <a:r>
              <a:rPr lang="zh-CN" altLang="en-US" sz="2200" b="1">
                <a:solidFill>
                  <a:srgbClr val="0070C0"/>
                </a:solidFill>
                <a:latin typeface="微软雅黑" panose="020B0503020204020204" pitchFamily="34" charset="-122"/>
                <a:ea typeface="微软雅黑" panose="020B0503020204020204" pitchFamily="34" charset="-122"/>
              </a:rPr>
              <a:t>理解</a:t>
            </a:r>
            <a:r>
              <a:rPr lang="en-US" altLang="zh-CN" sz="2200" b="1">
                <a:solidFill>
                  <a:srgbClr val="0070C0"/>
                </a:solidFill>
                <a:latin typeface="微软雅黑" panose="020B0503020204020204" pitchFamily="34" charset="-122"/>
                <a:ea typeface="微软雅黑" panose="020B0503020204020204" pitchFamily="34" charset="-122"/>
              </a:rPr>
              <a:t>"</a:t>
            </a:r>
            <a:r>
              <a:rPr lang="zh-CN" altLang="en-US" sz="2200" b="1">
                <a:solidFill>
                  <a:srgbClr val="0070C0"/>
                </a:solidFill>
                <a:latin typeface="微软雅黑" panose="020B0503020204020204" pitchFamily="34" charset="-122"/>
                <a:ea typeface="微软雅黑" panose="020B0503020204020204" pitchFamily="34" charset="-122"/>
              </a:rPr>
              <a:t>弦外之音</a:t>
            </a:r>
            <a:r>
              <a:rPr lang="en-US" altLang="zh-CN" sz="2200" b="1">
                <a:solidFill>
                  <a:srgbClr val="0070C0"/>
                </a:solidFill>
                <a:latin typeface="微软雅黑" panose="020B0503020204020204" pitchFamily="34" charset="-122"/>
                <a:ea typeface="微软雅黑" panose="020B0503020204020204" pitchFamily="34" charset="-122"/>
              </a:rPr>
              <a:t>"</a:t>
            </a:r>
            <a:endParaRPr lang="zh-CN" altLang="en-US" sz="2200" b="1">
              <a:solidFill>
                <a:srgbClr val="0070C0"/>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A70D6233-B371-9851-E914-600F5239A4E5}"/>
              </a:ext>
            </a:extLst>
          </p:cNvPr>
          <p:cNvSpPr txBox="1"/>
          <p:nvPr/>
        </p:nvSpPr>
        <p:spPr>
          <a:xfrm>
            <a:off x="395748" y="681037"/>
            <a:ext cx="11582892"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第六个层次是上下文感知的设计，即让</a:t>
            </a:r>
            <a:r>
              <a:rPr kumimoji="0" lang="en-US" altLang="zh-CN" sz="14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AI</a:t>
            </a:r>
            <a:r>
              <a:rPr kumimoji="0" lang="zh-CN" altLang="en-US" sz="14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理解用户的角色、时机、意图。</a:t>
            </a:r>
            <a:endParaRPr kumimoji="0" lang="en-US" altLang="zh-CN" sz="14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任何对数据，指标的解读都不能脱离上下文，脱离当时的空间，时间和环境。即使是同样一个数据结果，在不同的上下文下，往往都可能产生不同的结果，</a:t>
            </a:r>
            <a:endParaRPr kumimoji="0" lang="en-US" altLang="zh-CN" sz="14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而这正是我们经验的积累，也是单纯的</a:t>
            </a:r>
            <a:r>
              <a:rPr kumimoji="0" lang="en-US" altLang="zh-CN" sz="14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AI</a:t>
            </a:r>
            <a:r>
              <a:rPr kumimoji="0" lang="zh-CN" altLang="en-US" sz="14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期初所最欠缺的东西。</a:t>
            </a:r>
          </a:p>
        </p:txBody>
      </p:sp>
      <p:sp>
        <p:nvSpPr>
          <p:cNvPr id="6" name="文本框 5">
            <a:extLst>
              <a:ext uri="{FF2B5EF4-FFF2-40B4-BE49-F238E27FC236}">
                <a16:creationId xmlns:a16="http://schemas.microsoft.com/office/drawing/2014/main" id="{36838FA1-5EA8-B32C-D30A-C9A3D1400AA1}"/>
              </a:ext>
            </a:extLst>
          </p:cNvPr>
          <p:cNvSpPr txBox="1"/>
          <p:nvPr/>
        </p:nvSpPr>
        <p:spPr>
          <a:xfrm>
            <a:off x="558800" y="1792138"/>
            <a:ext cx="173736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1. </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组织上下文</a:t>
            </a:r>
          </a:p>
        </p:txBody>
      </p:sp>
      <p:sp>
        <p:nvSpPr>
          <p:cNvPr id="8" name="文本框 7">
            <a:extLst>
              <a:ext uri="{FF2B5EF4-FFF2-40B4-BE49-F238E27FC236}">
                <a16:creationId xmlns:a16="http://schemas.microsoft.com/office/drawing/2014/main" id="{D37E58A7-507C-5BBC-A83E-37CE482FA3EA}"/>
              </a:ext>
            </a:extLst>
          </p:cNvPr>
          <p:cNvSpPr txBox="1"/>
          <p:nvPr/>
        </p:nvSpPr>
        <p:spPr>
          <a:xfrm>
            <a:off x="395748" y="2307079"/>
            <a:ext cx="3434080" cy="2123658"/>
          </a:xfrm>
          <a:prstGeom prst="rect">
            <a:avLst/>
          </a:prstGeom>
          <a:solidFill>
            <a:schemeClr val="tx1">
              <a:lumMod val="85000"/>
              <a:lumOff val="15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采购部</a:t>
            </a:r>
            <a:r>
              <a:rPr kumimoji="0" lang="en-US" altLang="zh-CN" sz="1600" b="1"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关注指标</a:t>
            </a:r>
            <a:r>
              <a:rPr kumimoji="0" lang="en-US" altLang="zh-CN"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准时率、延期天数</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预警阈值</a:t>
            </a:r>
            <a:r>
              <a:rPr kumimoji="0" lang="en-US" altLang="zh-CN"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:&lt;85%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报告频率</a:t>
            </a:r>
            <a:r>
              <a:rPr kumimoji="0" lang="en-US" altLang="zh-CN"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每周一上午</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质量部</a:t>
            </a:r>
            <a:r>
              <a:rPr kumimoji="0" lang="en-US" altLang="zh-CN" sz="1600" b="1"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关注指标</a:t>
            </a:r>
            <a:r>
              <a:rPr kumimoji="0" lang="en-US" altLang="zh-CN"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质检合格率、退货率</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关注场景</a:t>
            </a:r>
            <a:r>
              <a:rPr kumimoji="0" lang="en-US" altLang="zh-CN"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质检不合格导致的延期</a:t>
            </a:r>
          </a:p>
        </p:txBody>
      </p:sp>
      <p:sp>
        <p:nvSpPr>
          <p:cNvPr id="10" name="文本框 9">
            <a:extLst>
              <a:ext uri="{FF2B5EF4-FFF2-40B4-BE49-F238E27FC236}">
                <a16:creationId xmlns:a16="http://schemas.microsoft.com/office/drawing/2014/main" id="{470287D9-B4B9-6452-1D56-B658FD892D4A}"/>
              </a:ext>
            </a:extLst>
          </p:cNvPr>
          <p:cNvSpPr txBox="1"/>
          <p:nvPr/>
        </p:nvSpPr>
        <p:spPr>
          <a:xfrm>
            <a:off x="3982720" y="2310925"/>
            <a:ext cx="3535680" cy="2062103"/>
          </a:xfrm>
          <a:prstGeom prst="rect">
            <a:avLst/>
          </a:prstGeom>
          <a:solidFill>
            <a:schemeClr val="tx1">
              <a:lumMod val="85000"/>
              <a:lumOff val="15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月末</a:t>
            </a:r>
            <a:r>
              <a:rPr kumimoji="0" lang="en-US" altLang="zh-CN" sz="1600" b="1"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(25-31</a:t>
            </a:r>
            <a:r>
              <a:rPr kumimoji="0" lang="zh-CN" altLang="en-US" sz="1600" b="1"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日</a:t>
            </a:r>
            <a:r>
              <a:rPr kumimoji="0" lang="en-US" altLang="zh-CN" sz="1600" b="1"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用户行为</a:t>
            </a:r>
            <a:r>
              <a:rPr kumimoji="0" lang="en-US" altLang="zh-CN"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查询本月数据、生成月报</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AI</a:t>
            </a:r>
            <a:r>
              <a:rPr kumimoji="0" lang="zh-CN" altLang="en-US"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默认</a:t>
            </a:r>
            <a:r>
              <a:rPr kumimoji="0" lang="en-US" altLang="zh-CN"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统计周期</a:t>
            </a:r>
            <a:r>
              <a:rPr kumimoji="0" lang="en-US" altLang="zh-CN"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本月</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自动触发</a:t>
            </a:r>
            <a:r>
              <a:rPr kumimoji="0" lang="en-US" altLang="zh-CN"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月度分析报告</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周一上午</a:t>
            </a:r>
            <a:r>
              <a:rPr kumimoji="0" lang="en-US" altLang="zh-CN" sz="1600" b="1"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用户行为</a:t>
            </a:r>
            <a:r>
              <a:rPr kumimoji="0" lang="en-US" altLang="zh-CN"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查看上周数据</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AI</a:t>
            </a:r>
            <a:r>
              <a:rPr kumimoji="0" lang="zh-CN" altLang="en-US"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默认</a:t>
            </a:r>
            <a:r>
              <a:rPr kumimoji="0" lang="en-US" altLang="zh-CN"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统计周期</a:t>
            </a:r>
            <a:r>
              <a:rPr kumimoji="0" lang="en-US" altLang="zh-CN"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上周</a:t>
            </a:r>
          </a:p>
        </p:txBody>
      </p:sp>
      <p:sp>
        <p:nvSpPr>
          <p:cNvPr id="12" name="文本框 11">
            <a:extLst>
              <a:ext uri="{FF2B5EF4-FFF2-40B4-BE49-F238E27FC236}">
                <a16:creationId xmlns:a16="http://schemas.microsoft.com/office/drawing/2014/main" id="{C2E58C53-CB00-1CD2-36D5-5C5C8AE10F14}"/>
              </a:ext>
            </a:extLst>
          </p:cNvPr>
          <p:cNvSpPr txBox="1"/>
          <p:nvPr/>
        </p:nvSpPr>
        <p:spPr>
          <a:xfrm>
            <a:off x="8143240" y="2212976"/>
            <a:ext cx="3037840" cy="4588500"/>
          </a:xfrm>
          <a:prstGeom prst="rect">
            <a:avLst/>
          </a:prstGeom>
          <a:solidFill>
            <a:schemeClr val="tx1">
              <a:lumMod val="85000"/>
              <a:lumOff val="15000"/>
            </a:schemeClr>
          </a:solid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采购员</a:t>
            </a:r>
            <a:r>
              <a:rPr kumimoji="0" lang="en-US" altLang="zh-CN" sz="1200" b="1"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专业度</a:t>
            </a:r>
            <a:r>
              <a:rPr kumimoji="0" lang="en-US" altLang="zh-CN"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业务专家</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回答风格</a:t>
            </a:r>
            <a:r>
              <a:rPr kumimoji="0" lang="en-US" altLang="zh-CN"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业务语言</a:t>
            </a:r>
            <a:r>
              <a:rPr kumimoji="0" lang="en-US" altLang="zh-CN"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少技术术语</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详细度</a:t>
            </a:r>
            <a:r>
              <a:rPr kumimoji="0" lang="en-US" altLang="zh-CN"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中等</a:t>
            </a:r>
            <a:r>
              <a:rPr kumimoji="0" lang="en-US" altLang="zh-CN"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关注结论和行动建议</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偏好格式</a:t>
            </a:r>
            <a:r>
              <a:rPr kumimoji="0" lang="en-US" altLang="zh-CN"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图表</a:t>
            </a:r>
            <a:r>
              <a:rPr kumimoji="0" lang="en-US" altLang="zh-CN"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简要文字</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数据分析师</a:t>
            </a:r>
            <a:r>
              <a:rPr kumimoji="0" lang="en-US" altLang="zh-CN" sz="1200" b="1"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专业度</a:t>
            </a:r>
            <a:r>
              <a:rPr kumimoji="0" lang="en-US" altLang="zh-CN"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技术专家</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回答风格</a:t>
            </a:r>
            <a:r>
              <a:rPr kumimoji="0" lang="en-US" altLang="zh-CN"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可以使用</a:t>
            </a:r>
            <a:r>
              <a:rPr kumimoji="0" lang="en-US" altLang="zh-CN"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SQL</a:t>
            </a: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、统计术语</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详细度</a:t>
            </a:r>
            <a:r>
              <a:rPr kumimoji="0" lang="en-US" altLang="zh-CN"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详细</a:t>
            </a:r>
            <a:r>
              <a:rPr kumimoji="0" lang="en-US" altLang="zh-CN"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可输出计算逻辑</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偏好格式</a:t>
            </a:r>
            <a:r>
              <a:rPr kumimoji="0" lang="en-US" altLang="zh-CN"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数据表</a:t>
            </a:r>
            <a:r>
              <a:rPr kumimoji="0" lang="en-US" altLang="zh-CN"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方法说明</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采购经理</a:t>
            </a:r>
            <a:r>
              <a:rPr kumimoji="0" lang="en-US" altLang="zh-CN" sz="1200" b="1"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专业度</a:t>
            </a:r>
            <a:r>
              <a:rPr kumimoji="0" lang="en-US" altLang="zh-CN"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管理层</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回答风格</a:t>
            </a:r>
            <a:r>
              <a:rPr kumimoji="0" lang="en-US" altLang="zh-CN"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高层次总结</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详细度</a:t>
            </a:r>
            <a:r>
              <a:rPr kumimoji="0" lang="en-US" altLang="zh-CN"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精简</a:t>
            </a:r>
            <a:r>
              <a:rPr kumimoji="0" lang="en-US" altLang="zh-CN"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关注战略洞察</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偏好格式</a:t>
            </a:r>
            <a:r>
              <a:rPr kumimoji="0" lang="en-US" altLang="zh-CN"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执行摘要</a:t>
            </a:r>
            <a:r>
              <a:rPr kumimoji="0" lang="en-US" altLang="zh-CN"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1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关键数字</a:t>
            </a:r>
            <a:endParaRPr kumimoji="0" lang="zh-CN" altLang="en-US" sz="12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14" name="文本框 13">
            <a:extLst>
              <a:ext uri="{FF2B5EF4-FFF2-40B4-BE49-F238E27FC236}">
                <a16:creationId xmlns:a16="http://schemas.microsoft.com/office/drawing/2014/main" id="{4E7F3ABD-5875-5B8E-6258-22D1A438FDDA}"/>
              </a:ext>
            </a:extLst>
          </p:cNvPr>
          <p:cNvSpPr txBox="1"/>
          <p:nvPr/>
        </p:nvSpPr>
        <p:spPr>
          <a:xfrm>
            <a:off x="1722245" y="5102672"/>
            <a:ext cx="4968240" cy="1169551"/>
          </a:xfrm>
          <a:prstGeom prst="rect">
            <a:avLst/>
          </a:prstGeom>
          <a:solidFill>
            <a:schemeClr val="tx1">
              <a:lumMod val="85000"/>
              <a:lumOff val="15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场景</a:t>
            </a:r>
            <a:r>
              <a:rPr kumimoji="0" lang="en-US" altLang="zh-CN" sz="14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a:t>
            </a:r>
            <a:r>
              <a:rPr kumimoji="0" lang="zh-CN" altLang="en-US" sz="14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用户</a:t>
            </a:r>
            <a:r>
              <a:rPr kumimoji="0" lang="en-US" altLang="zh-CN" sz="14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a:t>
            </a:r>
            <a:r>
              <a:rPr kumimoji="0" lang="zh-CN" altLang="en-US" sz="14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上个月供应商</a:t>
            </a:r>
            <a:r>
              <a:rPr kumimoji="0" lang="en-US" altLang="zh-CN" sz="14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a:t>
            </a:r>
            <a:r>
              <a:rPr kumimoji="0" lang="zh-CN" altLang="en-US" sz="14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的准时率是多少</a:t>
            </a:r>
            <a:r>
              <a:rPr kumimoji="0" lang="en-US" altLang="zh-CN" sz="14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AI: "78% (</a:t>
            </a:r>
            <a:r>
              <a:rPr kumimoji="0" lang="zh-CN" altLang="en-US" sz="14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低于预警线</a:t>
            </a:r>
            <a:r>
              <a:rPr kumimoji="0" lang="en-US" altLang="zh-CN" sz="14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a:t>
            </a:r>
            <a:r>
              <a:rPr kumimoji="0" lang="zh-CN" altLang="en-US" sz="14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用户</a:t>
            </a:r>
            <a:r>
              <a:rPr kumimoji="0" lang="en-US" altLang="zh-CN" sz="14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a:t>
            </a:r>
            <a:r>
              <a:rPr kumimoji="0" lang="zh-CN" altLang="en-US" sz="14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他的订单量呢</a:t>
            </a:r>
            <a:r>
              <a:rPr kumimoji="0" lang="en-US" altLang="zh-CN" sz="14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  AI: (</a:t>
            </a:r>
            <a:r>
              <a:rPr kumimoji="0" lang="zh-CN" altLang="en-US" sz="14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自动关联</a:t>
            </a:r>
            <a:r>
              <a:rPr kumimoji="0" lang="en-US" altLang="zh-CN" sz="14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4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他</a:t>
            </a:r>
            <a:r>
              <a:rPr kumimoji="0" lang="en-US" altLang="zh-CN" sz="14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4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供应商</a:t>
            </a:r>
            <a:r>
              <a:rPr kumimoji="0" lang="en-US" altLang="zh-CN" sz="14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 </a:t>
            </a:r>
            <a:r>
              <a:rPr kumimoji="0" lang="zh-CN" altLang="en-US" sz="14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时间</a:t>
            </a:r>
            <a:r>
              <a:rPr kumimoji="0" lang="en-US" altLang="zh-CN" sz="14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r>
              <a:rPr kumimoji="0" lang="zh-CN" altLang="en-US" sz="14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上个月</a:t>
            </a:r>
            <a:r>
              <a:rPr kumimoji="0" lang="en-US" altLang="zh-CN" sz="14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a:t>
            </a:r>
            <a:endParaRPr kumimoji="0" lang="zh-CN" altLang="en-US" sz="1400" b="0"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endParaRPr>
          </a:p>
        </p:txBody>
      </p:sp>
      <p:sp>
        <p:nvSpPr>
          <p:cNvPr id="16" name="文本框 15">
            <a:extLst>
              <a:ext uri="{FF2B5EF4-FFF2-40B4-BE49-F238E27FC236}">
                <a16:creationId xmlns:a16="http://schemas.microsoft.com/office/drawing/2014/main" id="{6A86FCE9-C98C-C036-8AB7-445ADC7954EB}"/>
              </a:ext>
            </a:extLst>
          </p:cNvPr>
          <p:cNvSpPr txBox="1"/>
          <p:nvPr/>
        </p:nvSpPr>
        <p:spPr>
          <a:xfrm>
            <a:off x="91194" y="6426072"/>
            <a:ext cx="939824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给</a:t>
            </a:r>
            <a:r>
              <a:rPr kumimoji="0" lang="en-US" altLang="zh-CN" sz="16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AI</a:t>
            </a:r>
            <a:r>
              <a:rPr kumimoji="0" lang="zh-CN" altLang="en-US" sz="16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的价值</a:t>
            </a:r>
            <a:r>
              <a:rPr kumimoji="0" lang="en-US" altLang="zh-CN" sz="16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同样的问题</a:t>
            </a:r>
            <a:r>
              <a:rPr kumimoji="0" lang="en-US" altLang="zh-CN"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6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不同角色、不同时机给出差异化的答案。</a:t>
            </a:r>
          </a:p>
        </p:txBody>
      </p:sp>
      <p:sp>
        <p:nvSpPr>
          <p:cNvPr id="18" name="文本框 17">
            <a:extLst>
              <a:ext uri="{FF2B5EF4-FFF2-40B4-BE49-F238E27FC236}">
                <a16:creationId xmlns:a16="http://schemas.microsoft.com/office/drawing/2014/main" id="{5E1F5D50-BD45-B6E8-FBB4-A86C117E4908}"/>
              </a:ext>
            </a:extLst>
          </p:cNvPr>
          <p:cNvSpPr txBox="1"/>
          <p:nvPr/>
        </p:nvSpPr>
        <p:spPr>
          <a:xfrm>
            <a:off x="3495165" y="4764157"/>
            <a:ext cx="14224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4. </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对话记忆</a:t>
            </a:r>
          </a:p>
        </p:txBody>
      </p:sp>
      <p:sp>
        <p:nvSpPr>
          <p:cNvPr id="20" name="文本框 19">
            <a:extLst>
              <a:ext uri="{FF2B5EF4-FFF2-40B4-BE49-F238E27FC236}">
                <a16:creationId xmlns:a16="http://schemas.microsoft.com/office/drawing/2014/main" id="{4E1144F2-FE83-9D8E-9A80-AD469E975E40}"/>
              </a:ext>
            </a:extLst>
          </p:cNvPr>
          <p:cNvSpPr txBox="1"/>
          <p:nvPr/>
        </p:nvSpPr>
        <p:spPr>
          <a:xfrm>
            <a:off x="8514080" y="1792138"/>
            <a:ext cx="138176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3. </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用户画像</a:t>
            </a:r>
          </a:p>
        </p:txBody>
      </p:sp>
      <p:sp>
        <p:nvSpPr>
          <p:cNvPr id="22" name="文本框 21">
            <a:extLst>
              <a:ext uri="{FF2B5EF4-FFF2-40B4-BE49-F238E27FC236}">
                <a16:creationId xmlns:a16="http://schemas.microsoft.com/office/drawing/2014/main" id="{16B1CCDF-415F-AE31-A538-1C4955E53B72}"/>
              </a:ext>
            </a:extLst>
          </p:cNvPr>
          <p:cNvSpPr txBox="1"/>
          <p:nvPr/>
        </p:nvSpPr>
        <p:spPr>
          <a:xfrm>
            <a:off x="4790317" y="1792138"/>
            <a:ext cx="162064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2. </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时间上下文</a:t>
            </a:r>
          </a:p>
        </p:txBody>
      </p:sp>
    </p:spTree>
    <p:extLst>
      <p:ext uri="{BB962C8B-B14F-4D97-AF65-F5344CB8AC3E}">
        <p14:creationId xmlns:p14="http://schemas.microsoft.com/office/powerpoint/2010/main" val="1415455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8D200-4074-A28B-5123-88E8A513BEC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4E34E7E-B84E-7B6A-1135-D0B78E84AC6E}"/>
              </a:ext>
            </a:extLst>
          </p:cNvPr>
          <p:cNvSpPr>
            <a:spLocks noGrp="1"/>
          </p:cNvSpPr>
          <p:nvPr>
            <p:ph type="title"/>
          </p:nvPr>
        </p:nvSpPr>
        <p:spPr>
          <a:xfrm>
            <a:off x="395748" y="161259"/>
            <a:ext cx="10515600" cy="519778"/>
          </a:xfrm>
        </p:spPr>
        <p:txBody>
          <a:bodyPr>
            <a:normAutofit/>
          </a:bodyPr>
          <a:lstStyle/>
          <a:p>
            <a:r>
              <a:rPr lang="zh-CN" altLang="en-US" sz="2200" b="1">
                <a:solidFill>
                  <a:srgbClr val="0070C0"/>
                </a:solidFill>
                <a:latin typeface="微软雅黑" panose="020B0503020204020204" pitchFamily="34" charset="-122"/>
                <a:ea typeface="微软雅黑" panose="020B0503020204020204" pitchFamily="34" charset="-122"/>
              </a:rPr>
              <a:t>第七层</a:t>
            </a:r>
            <a:r>
              <a:rPr lang="en-US" altLang="zh-CN" sz="2200" b="1">
                <a:solidFill>
                  <a:srgbClr val="0070C0"/>
                </a:solidFill>
                <a:latin typeface="微软雅黑" panose="020B0503020204020204" pitchFamily="34" charset="-122"/>
                <a:ea typeface="微软雅黑" panose="020B0503020204020204" pitchFamily="34" charset="-122"/>
              </a:rPr>
              <a:t>:  </a:t>
            </a:r>
            <a:r>
              <a:rPr lang="zh-CN" altLang="en-US" sz="2200" b="1">
                <a:solidFill>
                  <a:srgbClr val="0070C0"/>
                </a:solidFill>
                <a:latin typeface="微软雅黑" panose="020B0503020204020204" pitchFamily="34" charset="-122"/>
                <a:ea typeface="微软雅黑" panose="020B0503020204020204" pitchFamily="34" charset="-122"/>
              </a:rPr>
              <a:t>元模型治理 </a:t>
            </a:r>
            <a:r>
              <a:rPr lang="en-US" altLang="zh-CN" sz="2200" b="1">
                <a:solidFill>
                  <a:srgbClr val="0070C0"/>
                </a:solidFill>
                <a:latin typeface="微软雅黑" panose="020B0503020204020204" pitchFamily="34" charset="-122"/>
                <a:ea typeface="微软雅黑" panose="020B0503020204020204" pitchFamily="34" charset="-122"/>
              </a:rPr>
              <a:t>- </a:t>
            </a:r>
            <a:r>
              <a:rPr lang="zh-CN" altLang="en-US" sz="2200" b="1">
                <a:solidFill>
                  <a:srgbClr val="0070C0"/>
                </a:solidFill>
                <a:latin typeface="微软雅黑" panose="020B0503020204020204" pitchFamily="34" charset="-122"/>
                <a:ea typeface="微软雅黑" panose="020B0503020204020204" pitchFamily="34" charset="-122"/>
              </a:rPr>
              <a:t>让系统越用越聪明</a:t>
            </a:r>
          </a:p>
        </p:txBody>
      </p:sp>
      <p:sp>
        <p:nvSpPr>
          <p:cNvPr id="4" name="文本框 3">
            <a:extLst>
              <a:ext uri="{FF2B5EF4-FFF2-40B4-BE49-F238E27FC236}">
                <a16:creationId xmlns:a16="http://schemas.microsoft.com/office/drawing/2014/main" id="{57D50865-BF46-E99A-8F07-AAAB7C4ABDB3}"/>
              </a:ext>
            </a:extLst>
          </p:cNvPr>
          <p:cNvSpPr txBox="1"/>
          <p:nvPr/>
        </p:nvSpPr>
        <p:spPr>
          <a:xfrm>
            <a:off x="487680" y="681037"/>
            <a:ext cx="7853680"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最后一个层次是元模型治理，简单来说就是要建立持续优化机制。</a:t>
            </a:r>
            <a:endPar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让整个</a:t>
            </a: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AI</a:t>
            </a: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模型和</a:t>
            </a:r>
            <a:r>
              <a:rPr kumimoji="0" lang="en-US" altLang="zh-CN"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AI</a:t>
            </a:r>
            <a:r>
              <a:rPr kumimoji="0" lang="zh-CN" altLang="en-US" sz="16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应用能够自我进化，越来越聪明。</a:t>
            </a:r>
          </a:p>
        </p:txBody>
      </p:sp>
      <p:sp>
        <p:nvSpPr>
          <p:cNvPr id="6" name="文本框 5">
            <a:extLst>
              <a:ext uri="{FF2B5EF4-FFF2-40B4-BE49-F238E27FC236}">
                <a16:creationId xmlns:a16="http://schemas.microsoft.com/office/drawing/2014/main" id="{5ECAD98F-C45F-FFB8-1A3A-F22FDEF5F264}"/>
              </a:ext>
            </a:extLst>
          </p:cNvPr>
          <p:cNvSpPr txBox="1"/>
          <p:nvPr/>
        </p:nvSpPr>
        <p:spPr>
          <a:xfrm>
            <a:off x="487680" y="1406266"/>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1. </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版本管理</a:t>
            </a:r>
          </a:p>
        </p:txBody>
      </p:sp>
      <p:sp>
        <p:nvSpPr>
          <p:cNvPr id="10" name="文本框 9">
            <a:extLst>
              <a:ext uri="{FF2B5EF4-FFF2-40B4-BE49-F238E27FC236}">
                <a16:creationId xmlns:a16="http://schemas.microsoft.com/office/drawing/2014/main" id="{BAA5BD35-34A8-AA1D-84BE-EB2490B98FB4}"/>
              </a:ext>
            </a:extLst>
          </p:cNvPr>
          <p:cNvSpPr txBox="1"/>
          <p:nvPr/>
        </p:nvSpPr>
        <p:spPr>
          <a:xfrm>
            <a:off x="4734068" y="1406266"/>
            <a:ext cx="136725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2. </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责任划分</a:t>
            </a:r>
          </a:p>
        </p:txBody>
      </p:sp>
      <p:pic>
        <p:nvPicPr>
          <p:cNvPr id="12" name="图片 11">
            <a:extLst>
              <a:ext uri="{FF2B5EF4-FFF2-40B4-BE49-F238E27FC236}">
                <a16:creationId xmlns:a16="http://schemas.microsoft.com/office/drawing/2014/main" id="{F85815E3-8036-A280-3911-915321337E70}"/>
              </a:ext>
            </a:extLst>
          </p:cNvPr>
          <p:cNvPicPr>
            <a:picLocks noChangeAspect="1"/>
          </p:cNvPicPr>
          <p:nvPr/>
        </p:nvPicPr>
        <p:blipFill>
          <a:blip r:embed="rId2"/>
          <a:stretch>
            <a:fillRect/>
          </a:stretch>
        </p:blipFill>
        <p:spPr>
          <a:xfrm>
            <a:off x="3907370" y="1874131"/>
            <a:ext cx="4164996" cy="3942857"/>
          </a:xfrm>
          <a:prstGeom prst="rect">
            <a:avLst/>
          </a:prstGeom>
        </p:spPr>
      </p:pic>
      <p:pic>
        <p:nvPicPr>
          <p:cNvPr id="14" name="图片 13">
            <a:extLst>
              <a:ext uri="{FF2B5EF4-FFF2-40B4-BE49-F238E27FC236}">
                <a16:creationId xmlns:a16="http://schemas.microsoft.com/office/drawing/2014/main" id="{86695ADE-613F-B8A6-B3DA-1074DD417F40}"/>
              </a:ext>
            </a:extLst>
          </p:cNvPr>
          <p:cNvPicPr>
            <a:picLocks noChangeAspect="1"/>
          </p:cNvPicPr>
          <p:nvPr/>
        </p:nvPicPr>
        <p:blipFill>
          <a:blip r:embed="rId3"/>
          <a:stretch>
            <a:fillRect/>
          </a:stretch>
        </p:blipFill>
        <p:spPr>
          <a:xfrm>
            <a:off x="8255247" y="1874131"/>
            <a:ext cx="3769360" cy="4228571"/>
          </a:xfrm>
          <a:prstGeom prst="rect">
            <a:avLst/>
          </a:prstGeom>
        </p:spPr>
      </p:pic>
      <p:sp>
        <p:nvSpPr>
          <p:cNvPr id="16" name="文本框 15">
            <a:extLst>
              <a:ext uri="{FF2B5EF4-FFF2-40B4-BE49-F238E27FC236}">
                <a16:creationId xmlns:a16="http://schemas.microsoft.com/office/drawing/2014/main" id="{62472A11-21AC-0059-1CC7-D1AAB30BD6BF}"/>
              </a:ext>
            </a:extLst>
          </p:cNvPr>
          <p:cNvSpPr txBox="1"/>
          <p:nvPr/>
        </p:nvSpPr>
        <p:spPr>
          <a:xfrm>
            <a:off x="9490951" y="1406266"/>
            <a:ext cx="133911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3. </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质量监控</a:t>
            </a:r>
          </a:p>
        </p:txBody>
      </p:sp>
      <p:pic>
        <p:nvPicPr>
          <p:cNvPr id="18" name="图片 17">
            <a:extLst>
              <a:ext uri="{FF2B5EF4-FFF2-40B4-BE49-F238E27FC236}">
                <a16:creationId xmlns:a16="http://schemas.microsoft.com/office/drawing/2014/main" id="{39958D1D-4759-7A31-5345-6462F6A40401}"/>
              </a:ext>
            </a:extLst>
          </p:cNvPr>
          <p:cNvPicPr>
            <a:picLocks noChangeAspect="1"/>
          </p:cNvPicPr>
          <p:nvPr/>
        </p:nvPicPr>
        <p:blipFill>
          <a:blip r:embed="rId4"/>
          <a:stretch>
            <a:fillRect/>
          </a:stretch>
        </p:blipFill>
        <p:spPr>
          <a:xfrm>
            <a:off x="395748" y="1874131"/>
            <a:ext cx="3328741" cy="2200000"/>
          </a:xfrm>
          <a:prstGeom prst="rect">
            <a:avLst/>
          </a:prstGeom>
        </p:spPr>
      </p:pic>
    </p:spTree>
    <p:extLst>
      <p:ext uri="{BB962C8B-B14F-4D97-AF65-F5344CB8AC3E}">
        <p14:creationId xmlns:p14="http://schemas.microsoft.com/office/powerpoint/2010/main" val="4035835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a:extLst>
            <a:ext uri="{FF2B5EF4-FFF2-40B4-BE49-F238E27FC236}">
              <a16:creationId xmlns:a16="http://schemas.microsoft.com/office/drawing/2014/main" id="{7C0891C1-107C-4708-EAB1-48EFCEB5183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9B64167-CE28-4BC1-9566-0F0842E474D1}"/>
              </a:ext>
            </a:extLst>
          </p:cNvPr>
          <p:cNvSpPr>
            <a:spLocks noGrp="1"/>
          </p:cNvSpPr>
          <p:nvPr>
            <p:ph type="title"/>
          </p:nvPr>
        </p:nvSpPr>
        <p:spPr>
          <a:xfrm>
            <a:off x="395748" y="161259"/>
            <a:ext cx="10515600" cy="519778"/>
          </a:xfrm>
        </p:spPr>
        <p:txBody>
          <a:bodyPr>
            <a:normAutofit/>
          </a:bodyPr>
          <a:lstStyle/>
          <a:p>
            <a:r>
              <a:rPr lang="zh-CN" altLang="en-US" sz="2200" b="1">
                <a:solidFill>
                  <a:srgbClr val="0070C0"/>
                </a:solidFill>
                <a:latin typeface="微软雅黑" panose="020B0503020204020204" pitchFamily="34" charset="-122"/>
                <a:ea typeface="微软雅黑" panose="020B0503020204020204" pitchFamily="34" charset="-122"/>
              </a:rPr>
              <a:t>实施效果：从</a:t>
            </a:r>
            <a:r>
              <a:rPr lang="en-US" altLang="zh-CN" sz="2200" b="1">
                <a:solidFill>
                  <a:srgbClr val="0070C0"/>
                </a:solidFill>
                <a:latin typeface="微软雅黑" panose="020B0503020204020204" pitchFamily="34" charset="-122"/>
                <a:ea typeface="微软雅黑" panose="020B0503020204020204" pitchFamily="34" charset="-122"/>
              </a:rPr>
              <a:t>"</a:t>
            </a:r>
            <a:r>
              <a:rPr lang="zh-CN" altLang="en-US" sz="2200" b="1">
                <a:solidFill>
                  <a:srgbClr val="0070C0"/>
                </a:solidFill>
                <a:latin typeface="微软雅黑" panose="020B0503020204020204" pitchFamily="34" charset="-122"/>
                <a:ea typeface="微软雅黑" panose="020B0503020204020204" pitchFamily="34" charset="-122"/>
              </a:rPr>
              <a:t>猜</a:t>
            </a:r>
            <a:r>
              <a:rPr lang="en-US" altLang="zh-CN" sz="2200" b="1">
                <a:solidFill>
                  <a:srgbClr val="0070C0"/>
                </a:solidFill>
                <a:latin typeface="微软雅黑" panose="020B0503020204020204" pitchFamily="34" charset="-122"/>
                <a:ea typeface="微软雅黑" panose="020B0503020204020204" pitchFamily="34" charset="-122"/>
              </a:rPr>
              <a:t>"</a:t>
            </a:r>
            <a:r>
              <a:rPr lang="zh-CN" altLang="en-US" sz="2200" b="1">
                <a:solidFill>
                  <a:srgbClr val="0070C0"/>
                </a:solidFill>
                <a:latin typeface="微软雅黑" panose="020B0503020204020204" pitchFamily="34" charset="-122"/>
                <a:ea typeface="微软雅黑" panose="020B0503020204020204" pitchFamily="34" charset="-122"/>
              </a:rPr>
              <a:t>到</a:t>
            </a:r>
            <a:r>
              <a:rPr lang="en-US" altLang="zh-CN" sz="2200" b="1">
                <a:solidFill>
                  <a:srgbClr val="0070C0"/>
                </a:solidFill>
                <a:latin typeface="微软雅黑" panose="020B0503020204020204" pitchFamily="34" charset="-122"/>
                <a:ea typeface="微软雅黑" panose="020B0503020204020204" pitchFamily="34" charset="-122"/>
              </a:rPr>
              <a:t>"</a:t>
            </a:r>
            <a:r>
              <a:rPr lang="zh-CN" altLang="en-US" sz="2200" b="1">
                <a:solidFill>
                  <a:srgbClr val="0070C0"/>
                </a:solidFill>
                <a:latin typeface="微软雅黑" panose="020B0503020204020204" pitchFamily="34" charset="-122"/>
                <a:ea typeface="微软雅黑" panose="020B0503020204020204" pitchFamily="34" charset="-122"/>
              </a:rPr>
              <a:t>懂</a:t>
            </a:r>
            <a:r>
              <a:rPr lang="en-US" altLang="zh-CN" sz="2200" b="1">
                <a:solidFill>
                  <a:srgbClr val="0070C0"/>
                </a:solidFill>
                <a:latin typeface="微软雅黑" panose="020B0503020204020204" pitchFamily="34" charset="-122"/>
                <a:ea typeface="微软雅黑" panose="020B0503020204020204" pitchFamily="34" charset="-122"/>
              </a:rPr>
              <a:t>"</a:t>
            </a:r>
            <a:endParaRPr lang="zh-CN" altLang="en-US" sz="2200" b="1">
              <a:solidFill>
                <a:srgbClr val="0070C0"/>
              </a:solidFill>
              <a:latin typeface="微软雅黑" panose="020B0503020204020204" pitchFamily="34" charset="-122"/>
              <a:ea typeface="微软雅黑" panose="020B0503020204020204" pitchFamily="34" charset="-122"/>
            </a:endParaRPr>
          </a:p>
        </p:txBody>
      </p:sp>
      <p:graphicFrame>
        <p:nvGraphicFramePr>
          <p:cNvPr id="4" name="表格 3">
            <a:extLst>
              <a:ext uri="{FF2B5EF4-FFF2-40B4-BE49-F238E27FC236}">
                <a16:creationId xmlns:a16="http://schemas.microsoft.com/office/drawing/2014/main" id="{693A92A8-C479-30D9-FDB3-6FC930AF73A2}"/>
              </a:ext>
            </a:extLst>
          </p:cNvPr>
          <p:cNvGraphicFramePr>
            <a:graphicFrameLocks noGrp="1"/>
          </p:cNvGraphicFramePr>
          <p:nvPr/>
        </p:nvGraphicFramePr>
        <p:xfrm>
          <a:off x="482600" y="2200434"/>
          <a:ext cx="10515600" cy="1752600"/>
        </p:xfrm>
        <a:graphic>
          <a:graphicData uri="http://schemas.openxmlformats.org/drawingml/2006/table">
            <a:tbl>
              <a:tblPr/>
              <a:tblGrid>
                <a:gridCol w="3505200">
                  <a:extLst>
                    <a:ext uri="{9D8B030D-6E8A-4147-A177-3AD203B41FA5}">
                      <a16:colId xmlns:a16="http://schemas.microsoft.com/office/drawing/2014/main" val="2899352245"/>
                    </a:ext>
                  </a:extLst>
                </a:gridCol>
                <a:gridCol w="3505200">
                  <a:extLst>
                    <a:ext uri="{9D8B030D-6E8A-4147-A177-3AD203B41FA5}">
                      <a16:colId xmlns:a16="http://schemas.microsoft.com/office/drawing/2014/main" val="2932505163"/>
                    </a:ext>
                  </a:extLst>
                </a:gridCol>
                <a:gridCol w="3505200">
                  <a:extLst>
                    <a:ext uri="{9D8B030D-6E8A-4147-A177-3AD203B41FA5}">
                      <a16:colId xmlns:a16="http://schemas.microsoft.com/office/drawing/2014/main" val="480029561"/>
                    </a:ext>
                  </a:extLst>
                </a:gridCol>
              </a:tblGrid>
              <a:tr h="0">
                <a:tc>
                  <a:txBody>
                    <a:bodyPr/>
                    <a:lstStyle/>
                    <a:p>
                      <a:pPr algn="l">
                        <a:buNone/>
                      </a:pPr>
                      <a:r>
                        <a:rPr lang="zh-CN" altLang="en-US" b="1">
                          <a:solidFill>
                            <a:srgbClr val="000000"/>
                          </a:solidFill>
                          <a:effectLst/>
                        </a:rPr>
                        <a:t>维度</a:t>
                      </a:r>
                    </a:p>
                  </a:txBody>
                  <a:tcPr marL="76200" marR="76200" marT="38100" marB="38100" anchor="ctr">
                    <a:lnL w="7620" cap="flat" cmpd="sng" algn="ctr">
                      <a:solidFill>
                        <a:srgbClr val="70A0DC"/>
                      </a:solidFill>
                      <a:prstDash val="solid"/>
                      <a:round/>
                      <a:headEnd type="none" w="med" len="med"/>
                      <a:tailEnd type="none" w="med" len="med"/>
                    </a:lnL>
                    <a:lnR w="7620" cap="flat" cmpd="sng" algn="ctr">
                      <a:solidFill>
                        <a:srgbClr val="3099DC"/>
                      </a:solidFill>
                      <a:prstDash val="solid"/>
                      <a:round/>
                      <a:headEnd type="none" w="med" len="med"/>
                      <a:tailEnd type="none" w="med" len="med"/>
                    </a:lnR>
                    <a:lnT w="7620" cap="flat" cmpd="sng" algn="ctr">
                      <a:solidFill>
                        <a:srgbClr val="70A0DC"/>
                      </a:solidFill>
                      <a:prstDash val="solid"/>
                      <a:round/>
                      <a:headEnd type="none" w="med" len="med"/>
                      <a:tailEnd type="none" w="med" len="med"/>
                    </a:lnT>
                    <a:lnB w="7620" cap="flat" cmpd="sng" algn="ctr">
                      <a:solidFill>
                        <a:srgbClr val="30AFDC"/>
                      </a:solidFill>
                      <a:prstDash val="solid"/>
                      <a:round/>
                      <a:headEnd type="none" w="med" len="med"/>
                      <a:tailEnd type="none" w="med" len="med"/>
                    </a:lnB>
                    <a:noFill/>
                  </a:tcPr>
                </a:tc>
                <a:tc>
                  <a:txBody>
                    <a:bodyPr/>
                    <a:lstStyle/>
                    <a:p>
                      <a:pPr algn="l">
                        <a:buNone/>
                      </a:pPr>
                      <a:r>
                        <a:rPr lang="zh-CN" altLang="en-US" b="1">
                          <a:solidFill>
                            <a:srgbClr val="000000"/>
                          </a:solidFill>
                          <a:effectLst/>
                        </a:rPr>
                        <a:t>传统方案</a:t>
                      </a:r>
                    </a:p>
                  </a:txBody>
                  <a:tcPr marL="76200" marR="76200" marT="38100" marB="38100" anchor="ctr">
                    <a:lnL w="7620" cap="flat" cmpd="sng" algn="ctr">
                      <a:solidFill>
                        <a:srgbClr val="3099DC"/>
                      </a:solidFill>
                      <a:prstDash val="solid"/>
                      <a:round/>
                      <a:headEnd type="none" w="med" len="med"/>
                      <a:tailEnd type="none" w="med" len="med"/>
                    </a:lnL>
                    <a:lnR w="7620" cap="flat" cmpd="sng" algn="ctr">
                      <a:solidFill>
                        <a:srgbClr val="309FDC"/>
                      </a:solidFill>
                      <a:prstDash val="solid"/>
                      <a:round/>
                      <a:headEnd type="none" w="med" len="med"/>
                      <a:tailEnd type="none" w="med" len="med"/>
                    </a:lnR>
                    <a:lnT w="7620" cap="flat" cmpd="sng" algn="ctr">
                      <a:solidFill>
                        <a:srgbClr val="3099DC"/>
                      </a:solidFill>
                      <a:prstDash val="solid"/>
                      <a:round/>
                      <a:headEnd type="none" w="med" len="med"/>
                      <a:tailEnd type="none" w="med" len="med"/>
                    </a:lnT>
                    <a:lnB w="7620" cap="flat" cmpd="sng" algn="ctr">
                      <a:solidFill>
                        <a:srgbClr val="70B0DC"/>
                      </a:solidFill>
                      <a:prstDash val="solid"/>
                      <a:round/>
                      <a:headEnd type="none" w="med" len="med"/>
                      <a:tailEnd type="none" w="med" len="med"/>
                    </a:lnB>
                    <a:noFill/>
                  </a:tcPr>
                </a:tc>
                <a:tc>
                  <a:txBody>
                    <a:bodyPr/>
                    <a:lstStyle/>
                    <a:p>
                      <a:pPr algn="l">
                        <a:buNone/>
                      </a:pPr>
                      <a:r>
                        <a:rPr lang="zh-CN" altLang="en-US" b="1">
                          <a:solidFill>
                            <a:srgbClr val="000000"/>
                          </a:solidFill>
                          <a:effectLst/>
                        </a:rPr>
                        <a:t>优化后</a:t>
                      </a:r>
                    </a:p>
                  </a:txBody>
                  <a:tcPr marL="76200" marR="76200" marT="38100" marB="38100" anchor="ctr">
                    <a:lnL w="7620" cap="flat" cmpd="sng" algn="ctr">
                      <a:solidFill>
                        <a:srgbClr val="309FDC"/>
                      </a:solidFill>
                      <a:prstDash val="solid"/>
                      <a:round/>
                      <a:headEnd type="none" w="med" len="med"/>
                      <a:tailEnd type="none" w="med" len="med"/>
                    </a:lnL>
                    <a:lnR w="7620" cap="flat" cmpd="sng" algn="ctr">
                      <a:solidFill>
                        <a:srgbClr val="309FDC"/>
                      </a:solidFill>
                      <a:prstDash val="solid"/>
                      <a:round/>
                      <a:headEnd type="none" w="med" len="med"/>
                      <a:tailEnd type="none" w="med" len="med"/>
                    </a:lnR>
                    <a:lnT w="7620" cap="flat" cmpd="sng" algn="ctr">
                      <a:solidFill>
                        <a:srgbClr val="309FDC"/>
                      </a:solidFill>
                      <a:prstDash val="solid"/>
                      <a:round/>
                      <a:headEnd type="none" w="med" len="med"/>
                      <a:tailEnd type="none" w="med" len="med"/>
                    </a:lnT>
                    <a:lnB w="7620" cap="flat" cmpd="sng" algn="ctr">
                      <a:solidFill>
                        <a:srgbClr val="70AFDC"/>
                      </a:solidFill>
                      <a:prstDash val="solid"/>
                      <a:round/>
                      <a:headEnd type="none" w="med" len="med"/>
                      <a:tailEnd type="none" w="med" len="med"/>
                    </a:lnB>
                    <a:noFill/>
                  </a:tcPr>
                </a:tc>
                <a:extLst>
                  <a:ext uri="{0D108BD9-81ED-4DB2-BD59-A6C34878D82A}">
                    <a16:rowId xmlns:a16="http://schemas.microsoft.com/office/drawing/2014/main" val="635082554"/>
                  </a:ext>
                </a:extLst>
              </a:tr>
              <a:tr h="0">
                <a:tc>
                  <a:txBody>
                    <a:bodyPr/>
                    <a:lstStyle/>
                    <a:p>
                      <a:pPr>
                        <a:buNone/>
                      </a:pPr>
                      <a:r>
                        <a:rPr lang="de-DE">
                          <a:effectLst/>
                        </a:rPr>
                        <a:t>AI</a:t>
                      </a:r>
                      <a:r>
                        <a:rPr lang="zh-CN" altLang="en-US">
                          <a:effectLst/>
                        </a:rPr>
                        <a:t>回答准确率</a:t>
                      </a:r>
                    </a:p>
                  </a:txBody>
                  <a:tcPr marL="76200" marR="76200" marT="38100" marB="38100" anchor="ctr">
                    <a:lnL w="7620" cap="flat" cmpd="sng" algn="ctr">
                      <a:solidFill>
                        <a:srgbClr val="30ACDC"/>
                      </a:solidFill>
                      <a:prstDash val="solid"/>
                      <a:round/>
                      <a:headEnd type="none" w="med" len="med"/>
                      <a:tailEnd type="none" w="med" len="med"/>
                    </a:lnL>
                    <a:lnR w="7620" cap="flat" cmpd="sng" algn="ctr">
                      <a:solidFill>
                        <a:srgbClr val="30AFDC"/>
                      </a:solidFill>
                      <a:prstDash val="solid"/>
                      <a:round/>
                      <a:headEnd type="none" w="med" len="med"/>
                      <a:tailEnd type="none" w="med" len="med"/>
                    </a:lnR>
                    <a:lnT w="7620" cap="flat" cmpd="sng" algn="ctr">
                      <a:solidFill>
                        <a:srgbClr val="30AFDC"/>
                      </a:solidFill>
                      <a:prstDash val="solid"/>
                      <a:round/>
                      <a:headEnd type="none" w="med" len="med"/>
                      <a:tailEnd type="none" w="med" len="med"/>
                    </a:lnT>
                    <a:lnB w="7620" cap="flat" cmpd="sng" algn="ctr">
                      <a:solidFill>
                        <a:srgbClr val="B0BBDC"/>
                      </a:solidFill>
                      <a:prstDash val="solid"/>
                      <a:round/>
                      <a:headEnd type="none" w="med" len="med"/>
                      <a:tailEnd type="none" w="med" len="med"/>
                    </a:lnB>
                    <a:solidFill>
                      <a:srgbClr val="FFFFFF"/>
                    </a:solidFill>
                  </a:tcPr>
                </a:tc>
                <a:tc>
                  <a:txBody>
                    <a:bodyPr/>
                    <a:lstStyle/>
                    <a:p>
                      <a:pPr>
                        <a:buNone/>
                      </a:pPr>
                      <a:r>
                        <a:rPr lang="en-US" altLang="zh-CN">
                          <a:effectLst/>
                        </a:rPr>
                        <a:t>60%</a:t>
                      </a:r>
                    </a:p>
                  </a:txBody>
                  <a:tcPr marL="76200" marR="76200" marT="38100" marB="38100" anchor="ctr">
                    <a:lnL w="7620" cap="flat" cmpd="sng" algn="ctr">
                      <a:solidFill>
                        <a:srgbClr val="30AFDC"/>
                      </a:solidFill>
                      <a:prstDash val="solid"/>
                      <a:round/>
                      <a:headEnd type="none" w="med" len="med"/>
                      <a:tailEnd type="none" w="med" len="med"/>
                    </a:lnL>
                    <a:lnR w="7620" cap="flat" cmpd="sng" algn="ctr">
                      <a:solidFill>
                        <a:srgbClr val="F0B9DC"/>
                      </a:solidFill>
                      <a:prstDash val="solid"/>
                      <a:round/>
                      <a:headEnd type="none" w="med" len="med"/>
                      <a:tailEnd type="none" w="med" len="med"/>
                    </a:lnR>
                    <a:lnT w="7620" cap="flat" cmpd="sng" algn="ctr">
                      <a:solidFill>
                        <a:srgbClr val="70B0DC"/>
                      </a:solidFill>
                      <a:prstDash val="solid"/>
                      <a:round/>
                      <a:headEnd type="none" w="med" len="med"/>
                      <a:tailEnd type="none" w="med" len="med"/>
                    </a:lnT>
                    <a:lnB w="7620" cap="flat" cmpd="sng" algn="ctr">
                      <a:solidFill>
                        <a:srgbClr val="F0B3DC"/>
                      </a:solidFill>
                      <a:prstDash val="solid"/>
                      <a:round/>
                      <a:headEnd type="none" w="med" len="med"/>
                      <a:tailEnd type="none" w="med" len="med"/>
                    </a:lnB>
                    <a:solidFill>
                      <a:srgbClr val="FFFFFF"/>
                    </a:solidFill>
                  </a:tcPr>
                </a:tc>
                <a:tc>
                  <a:txBody>
                    <a:bodyPr/>
                    <a:lstStyle/>
                    <a:p>
                      <a:pPr>
                        <a:buNone/>
                      </a:pPr>
                      <a:r>
                        <a:rPr lang="en-US" altLang="zh-CN">
                          <a:effectLst/>
                        </a:rPr>
                        <a:t>92%</a:t>
                      </a:r>
                    </a:p>
                  </a:txBody>
                  <a:tcPr marL="76200" marR="76200" marT="38100" marB="38100" anchor="ctr">
                    <a:lnL w="7620" cap="flat" cmpd="sng" algn="ctr">
                      <a:solidFill>
                        <a:srgbClr val="F0B9DC"/>
                      </a:solidFill>
                      <a:prstDash val="solid"/>
                      <a:round/>
                      <a:headEnd type="none" w="med" len="med"/>
                      <a:tailEnd type="none" w="med" len="med"/>
                    </a:lnL>
                    <a:lnR w="7620" cap="flat" cmpd="sng" algn="ctr">
                      <a:solidFill>
                        <a:srgbClr val="30B6DC"/>
                      </a:solidFill>
                      <a:prstDash val="solid"/>
                      <a:round/>
                      <a:headEnd type="none" w="med" len="med"/>
                      <a:tailEnd type="none" w="med" len="med"/>
                    </a:lnR>
                    <a:lnT w="7620" cap="flat" cmpd="sng" algn="ctr">
                      <a:solidFill>
                        <a:srgbClr val="70AFDC"/>
                      </a:solidFill>
                      <a:prstDash val="solid"/>
                      <a:round/>
                      <a:headEnd type="none" w="med" len="med"/>
                      <a:tailEnd type="none" w="med" len="med"/>
                    </a:lnT>
                    <a:lnB w="7620" cap="flat" cmpd="sng" algn="ctr">
                      <a:solidFill>
                        <a:srgbClr val="30BCDC"/>
                      </a:solidFill>
                      <a:prstDash val="solid"/>
                      <a:round/>
                      <a:headEnd type="none" w="med" len="med"/>
                      <a:tailEnd type="none" w="med" len="med"/>
                    </a:lnB>
                    <a:solidFill>
                      <a:srgbClr val="FFFFFF"/>
                    </a:solidFill>
                  </a:tcPr>
                </a:tc>
                <a:extLst>
                  <a:ext uri="{0D108BD9-81ED-4DB2-BD59-A6C34878D82A}">
                    <a16:rowId xmlns:a16="http://schemas.microsoft.com/office/drawing/2014/main" val="2199594928"/>
                  </a:ext>
                </a:extLst>
              </a:tr>
              <a:tr h="0">
                <a:tc>
                  <a:txBody>
                    <a:bodyPr/>
                    <a:lstStyle/>
                    <a:p>
                      <a:pPr>
                        <a:buNone/>
                      </a:pPr>
                      <a:r>
                        <a:rPr lang="zh-CN" altLang="en-US">
                          <a:effectLst/>
                        </a:rPr>
                        <a:t>用户满意度</a:t>
                      </a:r>
                    </a:p>
                  </a:txBody>
                  <a:tcPr marL="76200" marR="76200" marT="38100" marB="38100" anchor="ctr">
                    <a:lnL w="7620" cap="flat" cmpd="sng" algn="ctr">
                      <a:solidFill>
                        <a:srgbClr val="70C0DC"/>
                      </a:solidFill>
                      <a:prstDash val="solid"/>
                      <a:round/>
                      <a:headEnd type="none" w="med" len="med"/>
                      <a:tailEnd type="none" w="med" len="med"/>
                    </a:lnL>
                    <a:lnR w="7620" cap="flat" cmpd="sng" algn="ctr">
                      <a:solidFill>
                        <a:srgbClr val="70BFDC"/>
                      </a:solidFill>
                      <a:prstDash val="solid"/>
                      <a:round/>
                      <a:headEnd type="none" w="med" len="med"/>
                      <a:tailEnd type="none" w="med" len="med"/>
                    </a:lnR>
                    <a:lnT w="7620" cap="flat" cmpd="sng" algn="ctr">
                      <a:solidFill>
                        <a:srgbClr val="B0BBDC"/>
                      </a:solidFill>
                      <a:prstDash val="solid"/>
                      <a:round/>
                      <a:headEnd type="none" w="med" len="med"/>
                      <a:tailEnd type="none" w="med" len="med"/>
                    </a:lnT>
                    <a:lnB w="7620" cap="flat" cmpd="sng" algn="ctr">
                      <a:solidFill>
                        <a:srgbClr val="B0C6DC"/>
                      </a:solidFill>
                      <a:prstDash val="solid"/>
                      <a:round/>
                      <a:headEnd type="none" w="med" len="med"/>
                      <a:tailEnd type="none" w="med" len="med"/>
                    </a:lnB>
                    <a:solidFill>
                      <a:srgbClr val="F8F8F8"/>
                    </a:solidFill>
                  </a:tcPr>
                </a:tc>
                <a:tc>
                  <a:txBody>
                    <a:bodyPr/>
                    <a:lstStyle/>
                    <a:p>
                      <a:pPr>
                        <a:buNone/>
                      </a:pPr>
                      <a:r>
                        <a:rPr lang="en-US" altLang="zh-CN">
                          <a:effectLst/>
                        </a:rPr>
                        <a:t>2.8/5.0</a:t>
                      </a:r>
                    </a:p>
                  </a:txBody>
                  <a:tcPr marL="76200" marR="76200" marT="38100" marB="38100" anchor="ctr">
                    <a:lnL w="7620" cap="flat" cmpd="sng" algn="ctr">
                      <a:solidFill>
                        <a:srgbClr val="70BFDC"/>
                      </a:solidFill>
                      <a:prstDash val="solid"/>
                      <a:round/>
                      <a:headEnd type="none" w="med" len="med"/>
                      <a:tailEnd type="none" w="med" len="med"/>
                    </a:lnL>
                    <a:lnR w="7620" cap="flat" cmpd="sng" algn="ctr">
                      <a:solidFill>
                        <a:srgbClr val="F0C0DC"/>
                      </a:solidFill>
                      <a:prstDash val="solid"/>
                      <a:round/>
                      <a:headEnd type="none" w="med" len="med"/>
                      <a:tailEnd type="none" w="med" len="med"/>
                    </a:lnR>
                    <a:lnT w="7620" cap="flat" cmpd="sng" algn="ctr">
                      <a:solidFill>
                        <a:srgbClr val="F0B3DC"/>
                      </a:solidFill>
                      <a:prstDash val="solid"/>
                      <a:round/>
                      <a:headEnd type="none" w="med" len="med"/>
                      <a:tailEnd type="none" w="med" len="med"/>
                    </a:lnT>
                    <a:lnB w="7620" cap="flat" cmpd="sng" algn="ctr">
                      <a:solidFill>
                        <a:srgbClr val="30CEDC"/>
                      </a:solidFill>
                      <a:prstDash val="solid"/>
                      <a:round/>
                      <a:headEnd type="none" w="med" len="med"/>
                      <a:tailEnd type="none" w="med" len="med"/>
                    </a:lnB>
                    <a:solidFill>
                      <a:srgbClr val="F8F8F8"/>
                    </a:solidFill>
                  </a:tcPr>
                </a:tc>
                <a:tc>
                  <a:txBody>
                    <a:bodyPr/>
                    <a:lstStyle/>
                    <a:p>
                      <a:pPr>
                        <a:buNone/>
                      </a:pPr>
                      <a:r>
                        <a:rPr lang="en-US" altLang="zh-CN">
                          <a:effectLst/>
                        </a:rPr>
                        <a:t>4.5/5.0</a:t>
                      </a:r>
                    </a:p>
                  </a:txBody>
                  <a:tcPr marL="76200" marR="76200" marT="38100" marB="38100" anchor="ctr">
                    <a:lnL w="7620" cap="flat" cmpd="sng" algn="ctr">
                      <a:solidFill>
                        <a:srgbClr val="F0C0DC"/>
                      </a:solidFill>
                      <a:prstDash val="solid"/>
                      <a:round/>
                      <a:headEnd type="none" w="med" len="med"/>
                      <a:tailEnd type="none" w="med" len="med"/>
                    </a:lnL>
                    <a:lnR w="7620" cap="flat" cmpd="sng" algn="ctr">
                      <a:solidFill>
                        <a:srgbClr val="F0C9DC"/>
                      </a:solidFill>
                      <a:prstDash val="solid"/>
                      <a:round/>
                      <a:headEnd type="none" w="med" len="med"/>
                      <a:tailEnd type="none" w="med" len="med"/>
                    </a:lnR>
                    <a:lnT w="7620" cap="flat" cmpd="sng" algn="ctr">
                      <a:solidFill>
                        <a:srgbClr val="30BCDC"/>
                      </a:solidFill>
                      <a:prstDash val="solid"/>
                      <a:round/>
                      <a:headEnd type="none" w="med" len="med"/>
                      <a:tailEnd type="none" w="med" len="med"/>
                    </a:lnT>
                    <a:lnB w="7620" cap="flat" cmpd="sng" algn="ctr">
                      <a:solidFill>
                        <a:srgbClr val="30C5DC"/>
                      </a:solidFill>
                      <a:prstDash val="solid"/>
                      <a:round/>
                      <a:headEnd type="none" w="med" len="med"/>
                      <a:tailEnd type="none" w="med" len="med"/>
                    </a:lnB>
                    <a:solidFill>
                      <a:srgbClr val="F8F8F8"/>
                    </a:solidFill>
                  </a:tcPr>
                </a:tc>
                <a:extLst>
                  <a:ext uri="{0D108BD9-81ED-4DB2-BD59-A6C34878D82A}">
                    <a16:rowId xmlns:a16="http://schemas.microsoft.com/office/drawing/2014/main" val="2260375003"/>
                  </a:ext>
                </a:extLst>
              </a:tr>
              <a:tr h="0">
                <a:tc>
                  <a:txBody>
                    <a:bodyPr/>
                    <a:lstStyle/>
                    <a:p>
                      <a:pPr>
                        <a:buNone/>
                      </a:pPr>
                      <a:r>
                        <a:rPr lang="zh-CN" altLang="en-US">
                          <a:effectLst/>
                        </a:rPr>
                        <a:t>可解释性</a:t>
                      </a:r>
                    </a:p>
                  </a:txBody>
                  <a:tcPr marL="76200" marR="76200" marT="38100" marB="38100" anchor="ctr">
                    <a:lnL w="7620" cap="flat" cmpd="sng" algn="ctr">
                      <a:solidFill>
                        <a:srgbClr val="30CDDC"/>
                      </a:solidFill>
                      <a:prstDash val="solid"/>
                      <a:round/>
                      <a:headEnd type="none" w="med" len="med"/>
                      <a:tailEnd type="none" w="med" len="med"/>
                    </a:lnL>
                    <a:lnR w="7620" cap="flat" cmpd="sng" algn="ctr">
                      <a:solidFill>
                        <a:srgbClr val="30C3DC"/>
                      </a:solidFill>
                      <a:prstDash val="solid"/>
                      <a:round/>
                      <a:headEnd type="none" w="med" len="med"/>
                      <a:tailEnd type="none" w="med" len="med"/>
                    </a:lnR>
                    <a:lnT w="7620" cap="flat" cmpd="sng" algn="ctr">
                      <a:solidFill>
                        <a:srgbClr val="B0C6DC"/>
                      </a:solidFill>
                      <a:prstDash val="solid"/>
                      <a:round/>
                      <a:headEnd type="none" w="med" len="med"/>
                      <a:tailEnd type="none" w="med" len="med"/>
                    </a:lnT>
                    <a:lnB w="7620" cap="flat" cmpd="sng" algn="ctr">
                      <a:solidFill>
                        <a:srgbClr val="30CEDC"/>
                      </a:solidFill>
                      <a:prstDash val="solid"/>
                      <a:round/>
                      <a:headEnd type="none" w="med" len="med"/>
                      <a:tailEnd type="none" w="med" len="med"/>
                    </a:lnB>
                    <a:solidFill>
                      <a:srgbClr val="FFFFFF"/>
                    </a:solidFill>
                  </a:tcPr>
                </a:tc>
                <a:tc>
                  <a:txBody>
                    <a:bodyPr/>
                    <a:lstStyle/>
                    <a:p>
                      <a:pPr>
                        <a:buNone/>
                      </a:pPr>
                      <a:r>
                        <a:rPr lang="zh-CN" altLang="en-US">
                          <a:effectLst/>
                        </a:rPr>
                        <a:t>无法追溯</a:t>
                      </a:r>
                    </a:p>
                  </a:txBody>
                  <a:tcPr marL="76200" marR="76200" marT="38100" marB="38100" anchor="ctr">
                    <a:lnL w="7620" cap="flat" cmpd="sng" algn="ctr">
                      <a:solidFill>
                        <a:srgbClr val="30C3DC"/>
                      </a:solidFill>
                      <a:prstDash val="solid"/>
                      <a:round/>
                      <a:headEnd type="none" w="med" len="med"/>
                      <a:tailEnd type="none" w="med" len="med"/>
                    </a:lnL>
                    <a:lnR w="7620" cap="flat" cmpd="sng" algn="ctr">
                      <a:solidFill>
                        <a:srgbClr val="30CBDC"/>
                      </a:solidFill>
                      <a:prstDash val="solid"/>
                      <a:round/>
                      <a:headEnd type="none" w="med" len="med"/>
                      <a:tailEnd type="none" w="med" len="med"/>
                    </a:lnR>
                    <a:lnT w="7620" cap="flat" cmpd="sng" algn="ctr">
                      <a:solidFill>
                        <a:srgbClr val="30CEDC"/>
                      </a:solidFill>
                      <a:prstDash val="solid"/>
                      <a:round/>
                      <a:headEnd type="none" w="med" len="med"/>
                      <a:tailEnd type="none" w="med" len="med"/>
                    </a:lnT>
                    <a:lnB w="7620" cap="flat" cmpd="sng" algn="ctr">
                      <a:solidFill>
                        <a:srgbClr val="F0D6DC"/>
                      </a:solidFill>
                      <a:prstDash val="solid"/>
                      <a:round/>
                      <a:headEnd type="none" w="med" len="med"/>
                      <a:tailEnd type="none" w="med" len="med"/>
                    </a:lnB>
                    <a:solidFill>
                      <a:srgbClr val="FFFFFF"/>
                    </a:solidFill>
                  </a:tcPr>
                </a:tc>
                <a:tc>
                  <a:txBody>
                    <a:bodyPr/>
                    <a:lstStyle/>
                    <a:p>
                      <a:pPr>
                        <a:buNone/>
                      </a:pPr>
                      <a:r>
                        <a:rPr lang="zh-CN" altLang="en-US">
                          <a:effectLst/>
                        </a:rPr>
                        <a:t>完整血缘</a:t>
                      </a:r>
                    </a:p>
                  </a:txBody>
                  <a:tcPr marL="76200" marR="76200" marT="38100" marB="38100" anchor="ctr">
                    <a:lnL w="7620" cap="flat" cmpd="sng" algn="ctr">
                      <a:solidFill>
                        <a:srgbClr val="30CBDC"/>
                      </a:solidFill>
                      <a:prstDash val="solid"/>
                      <a:round/>
                      <a:headEnd type="none" w="med" len="med"/>
                      <a:tailEnd type="none" w="med" len="med"/>
                    </a:lnL>
                    <a:lnR w="7620" cap="flat" cmpd="sng" algn="ctr">
                      <a:solidFill>
                        <a:srgbClr val="F0CEDC"/>
                      </a:solidFill>
                      <a:prstDash val="solid"/>
                      <a:round/>
                      <a:headEnd type="none" w="med" len="med"/>
                      <a:tailEnd type="none" w="med" len="med"/>
                    </a:lnR>
                    <a:lnT w="7620" cap="flat" cmpd="sng" algn="ctr">
                      <a:solidFill>
                        <a:srgbClr val="30C5DC"/>
                      </a:solidFill>
                      <a:prstDash val="solid"/>
                      <a:round/>
                      <a:headEnd type="none" w="med" len="med"/>
                      <a:tailEnd type="none" w="med" len="med"/>
                    </a:lnT>
                    <a:lnB w="7620" cap="flat" cmpd="sng" algn="ctr">
                      <a:solidFill>
                        <a:srgbClr val="F0D2DC"/>
                      </a:solidFill>
                      <a:prstDash val="solid"/>
                      <a:round/>
                      <a:headEnd type="none" w="med" len="med"/>
                      <a:tailEnd type="none" w="med" len="med"/>
                    </a:lnB>
                    <a:solidFill>
                      <a:srgbClr val="FFFFFF"/>
                    </a:solidFill>
                  </a:tcPr>
                </a:tc>
                <a:extLst>
                  <a:ext uri="{0D108BD9-81ED-4DB2-BD59-A6C34878D82A}">
                    <a16:rowId xmlns:a16="http://schemas.microsoft.com/office/drawing/2014/main" val="927126406"/>
                  </a:ext>
                </a:extLst>
              </a:tr>
              <a:tr h="0">
                <a:tc>
                  <a:txBody>
                    <a:bodyPr/>
                    <a:lstStyle/>
                    <a:p>
                      <a:pPr>
                        <a:buNone/>
                      </a:pPr>
                      <a:r>
                        <a:rPr lang="zh-CN" altLang="en-US">
                          <a:effectLst/>
                        </a:rPr>
                        <a:t>覆盖场景</a:t>
                      </a:r>
                    </a:p>
                  </a:txBody>
                  <a:tcPr marL="76200" marR="76200" marT="38100" marB="38100" anchor="ctr">
                    <a:lnL w="7620" cap="flat" cmpd="sng" algn="ctr">
                      <a:solidFill>
                        <a:srgbClr val="70D8DC"/>
                      </a:solidFill>
                      <a:prstDash val="solid"/>
                      <a:round/>
                      <a:headEnd type="none" w="med" len="med"/>
                      <a:tailEnd type="none" w="med" len="med"/>
                    </a:lnL>
                    <a:lnR w="7620" cap="flat" cmpd="sng" algn="ctr">
                      <a:solidFill>
                        <a:srgbClr val="B0D7DC"/>
                      </a:solidFill>
                      <a:prstDash val="solid"/>
                      <a:round/>
                      <a:headEnd type="none" w="med" len="med"/>
                      <a:tailEnd type="none" w="med" len="med"/>
                    </a:lnR>
                    <a:lnT w="7620" cap="flat" cmpd="sng" algn="ctr">
                      <a:solidFill>
                        <a:srgbClr val="30CEDC"/>
                      </a:solidFill>
                      <a:prstDash val="solid"/>
                      <a:round/>
                      <a:headEnd type="none" w="med" len="med"/>
                      <a:tailEnd type="none" w="med" len="med"/>
                    </a:lnT>
                    <a:lnB w="7620" cap="flat" cmpd="sng" algn="ctr">
                      <a:solidFill>
                        <a:srgbClr val="B0D2DC"/>
                      </a:solidFill>
                      <a:prstDash val="solid"/>
                      <a:round/>
                      <a:headEnd type="none" w="med" len="med"/>
                      <a:tailEnd type="none" w="med" len="med"/>
                    </a:lnB>
                    <a:solidFill>
                      <a:srgbClr val="F8F8F8"/>
                    </a:solidFill>
                  </a:tcPr>
                </a:tc>
                <a:tc>
                  <a:txBody>
                    <a:bodyPr/>
                    <a:lstStyle/>
                    <a:p>
                      <a:pPr>
                        <a:buNone/>
                      </a:pPr>
                      <a:r>
                        <a:rPr lang="zh-CN" altLang="en-US">
                          <a:effectLst/>
                        </a:rPr>
                        <a:t>简单查询</a:t>
                      </a:r>
                    </a:p>
                  </a:txBody>
                  <a:tcPr marL="76200" marR="76200" marT="38100" marB="38100" anchor="ctr">
                    <a:lnL w="7620" cap="flat" cmpd="sng" algn="ctr">
                      <a:solidFill>
                        <a:srgbClr val="B0D7DC"/>
                      </a:solidFill>
                      <a:prstDash val="solid"/>
                      <a:round/>
                      <a:headEnd type="none" w="med" len="med"/>
                      <a:tailEnd type="none" w="med" len="med"/>
                    </a:lnL>
                    <a:lnR w="7620" cap="flat" cmpd="sng" algn="ctr">
                      <a:solidFill>
                        <a:srgbClr val="B0D4DC"/>
                      </a:solidFill>
                      <a:prstDash val="solid"/>
                      <a:round/>
                      <a:headEnd type="none" w="med" len="med"/>
                      <a:tailEnd type="none" w="med" len="med"/>
                    </a:lnR>
                    <a:lnT w="7620" cap="flat" cmpd="sng" algn="ctr">
                      <a:solidFill>
                        <a:srgbClr val="F0D6DC"/>
                      </a:solidFill>
                      <a:prstDash val="solid"/>
                      <a:round/>
                      <a:headEnd type="none" w="med" len="med"/>
                      <a:tailEnd type="none" w="med" len="med"/>
                    </a:lnT>
                    <a:lnB w="7620" cap="flat" cmpd="sng" algn="ctr">
                      <a:solidFill>
                        <a:srgbClr val="B0E0DC"/>
                      </a:solidFill>
                      <a:prstDash val="solid"/>
                      <a:round/>
                      <a:headEnd type="none" w="med" len="med"/>
                      <a:tailEnd type="none" w="med" len="med"/>
                    </a:lnB>
                    <a:solidFill>
                      <a:srgbClr val="F8F8F8"/>
                    </a:solidFill>
                  </a:tcPr>
                </a:tc>
                <a:tc>
                  <a:txBody>
                    <a:bodyPr/>
                    <a:lstStyle/>
                    <a:p>
                      <a:pPr>
                        <a:buNone/>
                      </a:pPr>
                      <a:r>
                        <a:rPr lang="zh-CN" altLang="en-US">
                          <a:effectLst/>
                        </a:rPr>
                        <a:t>复杂分析</a:t>
                      </a:r>
                      <a:r>
                        <a:rPr lang="en-US" altLang="zh-CN">
                          <a:effectLst/>
                        </a:rPr>
                        <a:t>+</a:t>
                      </a:r>
                      <a:r>
                        <a:rPr lang="zh-CN" altLang="en-US">
                          <a:effectLst/>
                        </a:rPr>
                        <a:t>根因追溯</a:t>
                      </a:r>
                    </a:p>
                  </a:txBody>
                  <a:tcPr marL="76200" marR="76200" marT="38100" marB="38100" anchor="ctr">
                    <a:lnL w="7620" cap="flat" cmpd="sng" algn="ctr">
                      <a:solidFill>
                        <a:srgbClr val="B0D4DC"/>
                      </a:solidFill>
                      <a:prstDash val="solid"/>
                      <a:round/>
                      <a:headEnd type="none" w="med" len="med"/>
                      <a:tailEnd type="none" w="med" len="med"/>
                    </a:lnL>
                    <a:lnR w="7620" cap="flat" cmpd="sng" algn="ctr">
                      <a:solidFill>
                        <a:srgbClr val="30D3DC"/>
                      </a:solidFill>
                      <a:prstDash val="solid"/>
                      <a:round/>
                      <a:headEnd type="none" w="med" len="med"/>
                      <a:tailEnd type="none" w="med" len="med"/>
                    </a:lnR>
                    <a:lnT w="7620" cap="flat" cmpd="sng" algn="ctr">
                      <a:solidFill>
                        <a:srgbClr val="F0D2DC"/>
                      </a:solidFill>
                      <a:prstDash val="solid"/>
                      <a:round/>
                      <a:headEnd type="none" w="med" len="med"/>
                      <a:tailEnd type="none" w="med" len="med"/>
                    </a:lnT>
                    <a:lnB w="7620" cap="flat" cmpd="sng" algn="ctr">
                      <a:solidFill>
                        <a:srgbClr val="B0DBDC"/>
                      </a:solidFill>
                      <a:prstDash val="solid"/>
                      <a:round/>
                      <a:headEnd type="none" w="med" len="med"/>
                      <a:tailEnd type="none" w="med" len="med"/>
                    </a:lnB>
                    <a:solidFill>
                      <a:srgbClr val="F8F8F8"/>
                    </a:solidFill>
                  </a:tcPr>
                </a:tc>
                <a:extLst>
                  <a:ext uri="{0D108BD9-81ED-4DB2-BD59-A6C34878D82A}">
                    <a16:rowId xmlns:a16="http://schemas.microsoft.com/office/drawing/2014/main" val="2222106145"/>
                  </a:ext>
                </a:extLst>
              </a:tr>
            </a:tbl>
          </a:graphicData>
        </a:graphic>
      </p:graphicFrame>
      <p:sp>
        <p:nvSpPr>
          <p:cNvPr id="5" name="Rectangle 2">
            <a:extLst>
              <a:ext uri="{FF2B5EF4-FFF2-40B4-BE49-F238E27FC236}">
                <a16:creationId xmlns:a16="http://schemas.microsoft.com/office/drawing/2014/main" id="{370388EF-D8B9-D357-E091-1FD916A8A205}"/>
              </a:ext>
            </a:extLst>
          </p:cNvPr>
          <p:cNvSpPr>
            <a:spLocks noChangeArrowheads="1"/>
          </p:cNvSpPr>
          <p:nvPr/>
        </p:nvSpPr>
        <p:spPr bwMode="auto">
          <a:xfrm>
            <a:off x="395748" y="607140"/>
            <a:ext cx="6259052" cy="1273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0440" rIns="0" bIns="952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1800" b="0" i="0" u="none" strike="noStrike" kern="120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mn-cs"/>
              </a:rPr>
              <a:t>在实际项目中应用这套元模型后,效果显著:</a:t>
            </a:r>
            <a:endParaRPr kumimoji="0" lang="zh-CN" altLang="zh-CN" sz="18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1800" b="1" i="0" u="none" strike="noStrike" kern="1200" cap="none" spc="0" normalizeH="0" baseline="0" noProof="0">
                <a:ln>
                  <a:noFill/>
                </a:ln>
                <a:solidFill>
                  <a:srgbClr val="222222"/>
                </a:solidFill>
                <a:effectLst/>
                <a:uLnTx/>
                <a:uFillTx/>
                <a:latin typeface="Arial" panose="020B0604020202020204" pitchFamily="34" charset="0"/>
                <a:ea typeface="等线" panose="02010600030101010101" pitchFamily="2" charset="-122"/>
                <a:cs typeface="+mn-cs"/>
              </a:rPr>
              <a:t>效果对比（非真实数据）</a:t>
            </a:r>
            <a:endParaRPr kumimoji="0" lang="zh-CN" altLang="zh-CN" sz="18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zh-CN" sz="2800" b="0" i="0" u="none" strike="noStrike" kern="1200" cap="none" spc="0" normalizeH="0" baseline="0" noProof="0">
              <a:ln>
                <a:noFill/>
              </a:ln>
              <a:solidFill>
                <a:prstClr val="black"/>
              </a:solidFill>
              <a:effectLst/>
              <a:uLnTx/>
              <a:uFillTx/>
              <a:latin typeface="Arial" panose="020B0604020202020204" pitchFamily="34" charset="0"/>
              <a:ea typeface="等线" panose="02010600030101010101" pitchFamily="2" charset="-122"/>
              <a:cs typeface="+mn-cs"/>
            </a:endParaRPr>
          </a:p>
        </p:txBody>
      </p:sp>
    </p:spTree>
    <p:extLst>
      <p:ext uri="{BB962C8B-B14F-4D97-AF65-F5344CB8AC3E}">
        <p14:creationId xmlns:p14="http://schemas.microsoft.com/office/powerpoint/2010/main" val="2091901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4E7E539B-C8C4-24D7-9FCB-0E00795B47FC}"/>
              </a:ext>
            </a:extLst>
          </p:cNvPr>
          <p:cNvSpPr txBox="1"/>
          <p:nvPr/>
        </p:nvSpPr>
        <p:spPr>
          <a:xfrm>
            <a:off x="264160" y="146596"/>
            <a:ext cx="6096000" cy="2496966"/>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srgbClr val="0E2841">
                    <a:lumMod val="50000"/>
                    <a:lumOff val="50000"/>
                  </a:srgbClr>
                </a:solidFill>
                <a:effectLst/>
                <a:uLnTx/>
                <a:uFillTx/>
                <a:latin typeface="微软雅黑" panose="020B0503020204020204" pitchFamily="34" charset="-122"/>
                <a:ea typeface="微软雅黑" panose="020B0503020204020204" pitchFamily="34" charset="-122"/>
                <a:cs typeface="+mn-cs"/>
              </a:rPr>
              <a:t>典型案例用户问题</a:t>
            </a:r>
            <a:r>
              <a:rPr kumimoji="0" lang="en-US" altLang="zh-CN" sz="2400" b="1" i="0" u="none" strike="noStrike" kern="1200" cap="none" spc="0" normalizeH="0" baseline="0" noProof="0">
                <a:ln>
                  <a:noFill/>
                </a:ln>
                <a:solidFill>
                  <a:srgbClr val="0E2841">
                    <a:lumMod val="50000"/>
                    <a:lumOff val="50000"/>
                  </a:srgbClr>
                </a:solidFill>
                <a:effectLst/>
                <a:uLnTx/>
                <a:uFillTx/>
                <a:latin typeface="微软雅黑" panose="020B0503020204020204" pitchFamily="34" charset="-122"/>
                <a:ea typeface="微软雅黑" panose="020B0503020204020204" pitchFamily="34" charset="-122"/>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为什么供应商</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上个月准时率这么低</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传统</a:t>
            </a:r>
            <a:r>
              <a:rPr kumimoji="0" lang="en-US" altLang="zh-CN"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ChatBI</a:t>
            </a:r>
            <a:r>
              <a:rPr kumimoji="0" lang="zh-CN" altLang="en-US"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回答</a:t>
            </a:r>
            <a:r>
              <a:rPr kumimoji="0" lang="en-US" altLang="zh-CN"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4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供应商</a:t>
            </a:r>
            <a:r>
              <a:rPr kumimoji="0" lang="en-US" altLang="zh-CN" sz="14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a:t>
            </a:r>
            <a:r>
              <a:rPr kumimoji="0" lang="zh-CN" altLang="en-US" sz="14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上月准时率</a:t>
            </a:r>
            <a:r>
              <a:rPr kumimoji="0" lang="en-US" altLang="zh-CN" sz="14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68%,</a:t>
            </a:r>
            <a:r>
              <a:rPr kumimoji="0" lang="zh-CN" altLang="en-US" sz="14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可能是因为物流原因。</a:t>
            </a:r>
            <a:r>
              <a:rPr kumimoji="0" lang="en-US" altLang="zh-CN" sz="14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4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无法解释</a:t>
            </a:r>
            <a:r>
              <a:rPr kumimoji="0" lang="en-US" altLang="zh-CN" sz="14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4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只能猜</a:t>
            </a:r>
            <a:r>
              <a:rPr kumimoji="0" lang="en-US" altLang="zh-CN" sz="14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优化后回答</a:t>
            </a:r>
            <a:r>
              <a:rPr kumimoji="0" lang="en-US" altLang="zh-CN"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endParaRPr kumimoji="0" lang="zh-CN" altLang="en-US" sz="1800" b="1"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pic>
        <p:nvPicPr>
          <p:cNvPr id="9" name="图片 8">
            <a:extLst>
              <a:ext uri="{FF2B5EF4-FFF2-40B4-BE49-F238E27FC236}">
                <a16:creationId xmlns:a16="http://schemas.microsoft.com/office/drawing/2014/main" id="{BCFB43CA-DF7B-10B8-3B54-BBAE1176868F}"/>
              </a:ext>
            </a:extLst>
          </p:cNvPr>
          <p:cNvPicPr>
            <a:picLocks noChangeAspect="1"/>
          </p:cNvPicPr>
          <p:nvPr/>
        </p:nvPicPr>
        <p:blipFill>
          <a:blip r:embed="rId2"/>
          <a:stretch>
            <a:fillRect/>
          </a:stretch>
        </p:blipFill>
        <p:spPr>
          <a:xfrm>
            <a:off x="7162738" y="0"/>
            <a:ext cx="3820284" cy="6858000"/>
          </a:xfrm>
          <a:prstGeom prst="rect">
            <a:avLst/>
          </a:prstGeom>
        </p:spPr>
      </p:pic>
      <p:sp>
        <p:nvSpPr>
          <p:cNvPr id="22" name="文本框 21">
            <a:extLst>
              <a:ext uri="{FF2B5EF4-FFF2-40B4-BE49-F238E27FC236}">
                <a16:creationId xmlns:a16="http://schemas.microsoft.com/office/drawing/2014/main" id="{F53CAEB8-6DF2-6927-A639-1954B2362FAC}"/>
              </a:ext>
            </a:extLst>
          </p:cNvPr>
          <p:cNvSpPr txBox="1"/>
          <p:nvPr/>
        </p:nvSpPr>
        <p:spPr>
          <a:xfrm>
            <a:off x="264160" y="2643562"/>
            <a:ext cx="6096000" cy="424731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根因分析 </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供应商</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在</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2024</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年</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12</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月</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数据表现</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总订单</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23</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单</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延期订单</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11</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单 </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(47.8%)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平均延期</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6.2</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天</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延期原因分解</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1. </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质检不合格退货重送</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72.7% (8</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单</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主要问题</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包装破损</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5</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单</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规格不符</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3</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单</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2. </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供应商生产延误</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18.2% (2</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单</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3. </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物流延误</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9.1% (1</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单</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典型延期订单</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PO202412001: </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承诺</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12-15, </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实际</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12-22, </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延期</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7</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天</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追溯路径</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12-15</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首次送货 → 质检不合格</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包装破损</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18%)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 12-16</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退货 → </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12-22</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重新送货</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改进建议</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已要求供应商</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升级包装标准</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下次订单增加包装质量检查条款</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建议交付周期</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+2</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天以降低风险</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数据来源</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基于采购订单履约全流程</a:t>
            </a: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(P001)</a:t>
            </a:r>
            <a:r>
              <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的数据追溯</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purchase_order → delivery_record → goods_receipt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quality_inspection → return_record</a:t>
            </a:r>
            <a:endParaRPr kumimoji="0" lang="zh-CN" altLang="en-US" sz="10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
        <p:nvSpPr>
          <p:cNvPr id="24" name="文本框 23">
            <a:extLst>
              <a:ext uri="{FF2B5EF4-FFF2-40B4-BE49-F238E27FC236}">
                <a16:creationId xmlns:a16="http://schemas.microsoft.com/office/drawing/2014/main" id="{A0363851-D314-7E4F-ADB3-531AA0078C68}"/>
              </a:ext>
            </a:extLst>
          </p:cNvPr>
          <p:cNvSpPr txBox="1"/>
          <p:nvPr/>
        </p:nvSpPr>
        <p:spPr>
          <a:xfrm>
            <a:off x="2926018" y="1983162"/>
            <a:ext cx="4409502"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差异</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传统</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只有结论</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无法解释</a:t>
            </a:r>
            <a:endPar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 优化</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数据</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原因</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追溯</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建议</a:t>
            </a:r>
            <a:r>
              <a:rPr kumimoji="0" lang="en-US" altLang="zh-CN"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a:t>
            </a:r>
            <a:r>
              <a:rPr kumimoji="0" lang="zh-CN" altLang="en-US" sz="18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rPr>
              <a:t>完整闭环</a:t>
            </a:r>
          </a:p>
        </p:txBody>
      </p:sp>
    </p:spTree>
    <p:extLst>
      <p:ext uri="{BB962C8B-B14F-4D97-AF65-F5344CB8AC3E}">
        <p14:creationId xmlns:p14="http://schemas.microsoft.com/office/powerpoint/2010/main" val="11710275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3EA74E4B-13FE-A63B-3F56-32CC0E52B6D7}"/>
              </a:ext>
            </a:extLst>
          </p:cNvPr>
          <p:cNvPicPr>
            <a:picLocks noChangeAspect="1"/>
          </p:cNvPicPr>
          <p:nvPr/>
        </p:nvPicPr>
        <p:blipFill>
          <a:blip r:embed="rId2"/>
          <a:stretch>
            <a:fillRect/>
          </a:stretch>
        </p:blipFill>
        <p:spPr>
          <a:xfrm>
            <a:off x="576952" y="352809"/>
            <a:ext cx="11038095" cy="6152381"/>
          </a:xfrm>
          <a:prstGeom prst="rect">
            <a:avLst/>
          </a:prstGeom>
        </p:spPr>
      </p:pic>
    </p:spTree>
    <p:extLst>
      <p:ext uri="{BB962C8B-B14F-4D97-AF65-F5344CB8AC3E}">
        <p14:creationId xmlns:p14="http://schemas.microsoft.com/office/powerpoint/2010/main" val="546075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58D39F0-59EC-2E36-7603-46521AEF75B2}"/>
              </a:ext>
            </a:extLst>
          </p:cNvPr>
          <p:cNvSpPr>
            <a:spLocks noChangeArrowheads="1"/>
          </p:cNvSpPr>
          <p:nvPr/>
        </p:nvSpPr>
        <p:spPr bwMode="auto">
          <a:xfrm>
            <a:off x="792480" y="1342229"/>
            <a:ext cx="7914640" cy="502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50784" rIns="0" bIns="50784"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1600" b="1" i="0" u="none" strike="noStrike" kern="1200" cap="none" spc="0" normalizeH="0" baseline="0" noProof="0">
                <a:ln>
                  <a:noFill/>
                </a:ln>
                <a:solidFill>
                  <a:srgbClr val="222222"/>
                </a:solidFill>
                <a:effectLst/>
                <a:uLnTx/>
                <a:uFillTx/>
                <a:latin typeface="Arial" panose="020B0604020202020204" pitchFamily="34" charset="0"/>
                <a:ea typeface="等线" panose="02010600030101010101" pitchFamily="2" charset="-122"/>
                <a:cs typeface="+mn-cs"/>
              </a:rPr>
              <a:t>阶段1:MVP验证 (2-4周)</a:t>
            </a:r>
            <a:endParaRPr kumimoji="0" lang="zh-CN" altLang="zh-CN" sz="16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zh-CN" altLang="zh-CN" sz="1600" b="0" i="0" u="none" strike="noStrike" kern="120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mn-cs"/>
              </a:rPr>
              <a:t>选择1-2个高频业务场景</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zh-CN" altLang="zh-CN" sz="1600" b="0" i="0" u="none" strike="noStrike" kern="120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mn-cs"/>
              </a:rPr>
              <a:t>定义20-30个核心术语</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zh-CN" altLang="zh-CN" sz="1600" b="0" i="0" u="none" strike="noStrike" kern="120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mn-cs"/>
              </a:rPr>
              <a:t>建立1个核心业务流程</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zh-CN" altLang="zh-CN" sz="1600" b="0" i="0" u="none" strike="noStrike" kern="120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mn-cs"/>
              </a:rPr>
              <a:t>定义3-5个核心指标</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zh-CN" altLang="zh-CN" sz="1600" b="0" i="0" u="none" strike="noStrike" kern="120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mn-cs"/>
              </a:rPr>
              <a:t>设计10个问答模板</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1600" b="1" i="0" u="none" strike="noStrike" kern="120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mn-cs"/>
              </a:rPr>
              <a:t>验证目标</a:t>
            </a:r>
            <a:r>
              <a:rPr kumimoji="0" lang="zh-CN" altLang="zh-CN" sz="1600" b="0" i="0" u="none" strike="noStrike" kern="120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mn-cs"/>
              </a:rPr>
              <a:t>:核心场景准确率&gt;85%</a:t>
            </a:r>
            <a:endParaRPr kumimoji="0" lang="en-US" altLang="zh-CN" sz="1600" b="0" i="0" u="none" strike="noStrike" kern="120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zh-CN" sz="16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1600" b="1" i="0" u="none" strike="noStrike" kern="1200" cap="none" spc="0" normalizeH="0" baseline="0" noProof="0">
                <a:ln>
                  <a:noFill/>
                </a:ln>
                <a:solidFill>
                  <a:srgbClr val="222222"/>
                </a:solidFill>
                <a:effectLst/>
                <a:uLnTx/>
                <a:uFillTx/>
                <a:latin typeface="Arial" panose="020B0604020202020204" pitchFamily="34" charset="0"/>
                <a:ea typeface="等线" panose="02010600030101010101" pitchFamily="2" charset="-122"/>
                <a:cs typeface="+mn-cs"/>
              </a:rPr>
              <a:t>阶段2:迭代优化 (2-3个月)</a:t>
            </a:r>
            <a:endParaRPr kumimoji="0" lang="zh-CN" altLang="zh-CN" sz="16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zh-CN" altLang="zh-CN" sz="1600" b="0" i="0" u="none" strike="noStrike" kern="120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mn-cs"/>
              </a:rPr>
              <a:t>收集AI错误case,分析缺失的元模型</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zh-CN" altLang="zh-CN" sz="1600" b="0" i="0" u="none" strike="noStrike" kern="120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mn-cs"/>
              </a:rPr>
              <a:t>扩展到5-8个业务流程</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zh-CN" altLang="zh-CN" sz="1600" b="0" i="0" u="none" strike="noStrike" kern="120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mn-cs"/>
              </a:rPr>
              <a:t>增加到50-80个术语</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zh-CN" altLang="zh-CN" sz="1600" b="0" i="0" u="none" strike="noStrike" kern="120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mn-cs"/>
              </a:rPr>
              <a:t>完善呈现模板和上下文感知</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1600" b="1" i="0" u="none" strike="noStrike" kern="120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mn-cs"/>
              </a:rPr>
              <a:t>优化目标</a:t>
            </a:r>
            <a:r>
              <a:rPr kumimoji="0" lang="zh-CN" altLang="zh-CN" sz="1600" b="0" i="0" u="none" strike="noStrike" kern="120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mn-cs"/>
              </a:rPr>
              <a:t>:覆盖80%用户问题</a:t>
            </a:r>
            <a:endParaRPr kumimoji="0" lang="en-US" altLang="zh-CN" sz="1600" b="0" i="0" u="none" strike="noStrike" kern="120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zh-CN" sz="16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1600" b="1" i="0" u="none" strike="noStrike" kern="1200" cap="none" spc="0" normalizeH="0" baseline="0" noProof="0">
                <a:ln>
                  <a:noFill/>
                </a:ln>
                <a:solidFill>
                  <a:srgbClr val="222222"/>
                </a:solidFill>
                <a:effectLst/>
                <a:uLnTx/>
                <a:uFillTx/>
                <a:latin typeface="Arial" panose="020B0604020202020204" pitchFamily="34" charset="0"/>
                <a:ea typeface="等线" panose="02010600030101010101" pitchFamily="2" charset="-122"/>
                <a:cs typeface="+mn-cs"/>
              </a:rPr>
              <a:t>阶段3:规模化 (持续)</a:t>
            </a:r>
            <a:endParaRPr kumimoji="0" lang="zh-CN" altLang="zh-CN" sz="16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zh-CN" altLang="zh-CN" sz="1600" b="0" i="0" u="none" strike="noStrike" kern="120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mn-cs"/>
              </a:rPr>
              <a:t>建立元模型治理机制</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zh-CN" altLang="zh-CN" sz="1600" b="0" i="0" u="none" strike="noStrike" kern="120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mn-cs"/>
              </a:rPr>
              <a:t>用AI辅助生成元模型(让AI帮AI建模)</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zh-CN" altLang="zh-CN" sz="1600" b="0" i="0" u="none" strike="noStrike" kern="1200" cap="none" spc="0" normalizeH="0" baseline="0" noProof="0">
                <a:ln>
                  <a:noFill/>
                </a:ln>
                <a:solidFill>
                  <a:srgbClr val="000000"/>
                </a:solidFill>
                <a:effectLst/>
                <a:uLnTx/>
                <a:uFillTx/>
                <a:latin typeface="Arial" panose="020B0604020202020204" pitchFamily="34" charset="0"/>
                <a:ea typeface="等线" panose="02010600030101010101" pitchFamily="2" charset="-122"/>
                <a:cs typeface="+mn-cs"/>
              </a:rPr>
              <a:t>形成企业级知识资产</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zh-CN" sz="1600" b="0" i="0" u="none" strike="noStrike" kern="1200" cap="none" spc="0" normalizeH="0" baseline="0" noProof="0">
              <a:ln>
                <a:noFill/>
              </a:ln>
              <a:solidFill>
                <a:prstClr val="black"/>
              </a:solidFill>
              <a:effectLst/>
              <a:uLnTx/>
              <a:uFillTx/>
              <a:latin typeface="Arial" panose="020B0604020202020204" pitchFamily="34" charset="0"/>
              <a:ea typeface="等线" panose="02010600030101010101" pitchFamily="2" charset="-122"/>
              <a:cs typeface="+mn-cs"/>
            </a:endParaRPr>
          </a:p>
        </p:txBody>
      </p:sp>
      <p:sp>
        <p:nvSpPr>
          <p:cNvPr id="5" name="标题 1">
            <a:extLst>
              <a:ext uri="{FF2B5EF4-FFF2-40B4-BE49-F238E27FC236}">
                <a16:creationId xmlns:a16="http://schemas.microsoft.com/office/drawing/2014/main" id="{4D3535BD-4635-3083-BE18-BEC5395F25CF}"/>
              </a:ext>
            </a:extLst>
          </p:cNvPr>
          <p:cNvSpPr>
            <a:spLocks noGrp="1"/>
          </p:cNvSpPr>
          <p:nvPr>
            <p:ph type="title"/>
          </p:nvPr>
        </p:nvSpPr>
        <p:spPr>
          <a:xfrm>
            <a:off x="395748" y="161259"/>
            <a:ext cx="10515600" cy="519778"/>
          </a:xfrm>
        </p:spPr>
        <p:txBody>
          <a:bodyPr>
            <a:normAutofit/>
          </a:bodyPr>
          <a:lstStyle/>
          <a:p>
            <a:r>
              <a:rPr lang="zh-CN" altLang="en-US" sz="2200" b="1">
                <a:solidFill>
                  <a:srgbClr val="0070C0"/>
                </a:solidFill>
                <a:latin typeface="微软雅黑" panose="020B0503020204020204" pitchFamily="34" charset="-122"/>
                <a:ea typeface="微软雅黑" panose="020B0503020204020204" pitchFamily="34" charset="-122"/>
              </a:rPr>
              <a:t>实施步骤：小步验证，快速迭代</a:t>
            </a:r>
          </a:p>
        </p:txBody>
      </p:sp>
      <p:sp>
        <p:nvSpPr>
          <p:cNvPr id="7" name="文本框 6">
            <a:extLst>
              <a:ext uri="{FF2B5EF4-FFF2-40B4-BE49-F238E27FC236}">
                <a16:creationId xmlns:a16="http://schemas.microsoft.com/office/drawing/2014/main" id="{57AEB124-5583-531D-771D-7E2EDB3B916C}"/>
              </a:ext>
            </a:extLst>
          </p:cNvPr>
          <p:cNvSpPr txBox="1"/>
          <p:nvPr/>
        </p:nvSpPr>
        <p:spPr>
          <a:xfrm>
            <a:off x="395748" y="766007"/>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不要一次性建模太细</a:t>
            </a:r>
            <a:r>
              <a:rPr kumimoji="0" lang="en-US" altLang="zh-CN" sz="18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18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建议分三步走</a:t>
            </a:r>
          </a:p>
        </p:txBody>
      </p:sp>
    </p:spTree>
    <p:extLst>
      <p:ext uri="{BB962C8B-B14F-4D97-AF65-F5344CB8AC3E}">
        <p14:creationId xmlns:p14="http://schemas.microsoft.com/office/powerpoint/2010/main" val="954950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FB113B5-0D2A-AD13-1A3D-E199ED03C125}"/>
              </a:ext>
            </a:extLst>
          </p:cNvPr>
          <p:cNvSpPr txBox="1"/>
          <p:nvPr/>
        </p:nvSpPr>
        <p:spPr>
          <a:xfrm>
            <a:off x="496186" y="135374"/>
            <a:ext cx="11238614"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a:ln>
                  <a:noFill/>
                </a:ln>
                <a:solidFill>
                  <a:srgbClr val="0E2841">
                    <a:lumMod val="50000"/>
                    <a:lumOff val="50000"/>
                  </a:srgbClr>
                </a:solidFill>
                <a:effectLst/>
                <a:uLnTx/>
                <a:uFillTx/>
                <a:latin typeface="微软雅黑" panose="020B0503020204020204" pitchFamily="34" charset="-122"/>
                <a:ea typeface="微软雅黑" panose="020B0503020204020204" pitchFamily="34" charset="-122"/>
                <a:cs typeface="+mn-cs"/>
              </a:rPr>
              <a:t>6. </a:t>
            </a:r>
            <a:r>
              <a:rPr kumimoji="0" lang="zh-CN" altLang="en-US" sz="2400" b="1" i="0" u="none" strike="noStrike" kern="1200" cap="none" spc="0" normalizeH="0" baseline="0" noProof="0">
                <a:ln>
                  <a:noFill/>
                </a:ln>
                <a:solidFill>
                  <a:srgbClr val="0E2841">
                    <a:lumMod val="50000"/>
                    <a:lumOff val="50000"/>
                  </a:srgbClr>
                </a:solidFill>
                <a:effectLst/>
                <a:uLnTx/>
                <a:uFillTx/>
                <a:latin typeface="微软雅黑" panose="020B0503020204020204" pitchFamily="34" charset="-122"/>
                <a:ea typeface="微软雅黑" panose="020B0503020204020204" pitchFamily="34" charset="-122"/>
                <a:cs typeface="+mn-cs"/>
              </a:rPr>
              <a:t>技术实现建议：</a:t>
            </a:r>
            <a:endParaRPr kumimoji="0" lang="en-US" altLang="zh-CN" sz="2400" b="1" i="0" u="none" strike="noStrike" kern="1200" cap="none" spc="0" normalizeH="0" baseline="0" noProof="0">
              <a:ln>
                <a:noFill/>
              </a:ln>
              <a:solidFill>
                <a:srgbClr val="0E2841">
                  <a:lumMod val="50000"/>
                  <a:lumOff val="50000"/>
                </a:srgb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图数据库</a:t>
            </a:r>
            <a:r>
              <a:rPr kumimoji="0" lang="en-US" altLang="zh-CN"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如</a:t>
            </a:r>
            <a:r>
              <a:rPr kumimoji="0" lang="en-US" altLang="zh-CN"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Neo4j)</a:t>
            </a:r>
            <a:r>
              <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：存储实体、流程、指标之间的复杂关系，向量数据库：存储术语、问答模板，支持语义检索</a:t>
            </a:r>
            <a:endParaRPr kumimoji="0" lang="zh-CN" altLang="en-US"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6" name="图片 5">
            <a:extLst>
              <a:ext uri="{FF2B5EF4-FFF2-40B4-BE49-F238E27FC236}">
                <a16:creationId xmlns:a16="http://schemas.microsoft.com/office/drawing/2014/main" id="{EF530D81-5371-0040-71BF-C21976B782D9}"/>
              </a:ext>
            </a:extLst>
          </p:cNvPr>
          <p:cNvPicPr>
            <a:picLocks noChangeAspect="1"/>
          </p:cNvPicPr>
          <p:nvPr/>
        </p:nvPicPr>
        <p:blipFill>
          <a:blip r:embed="rId2"/>
          <a:stretch>
            <a:fillRect/>
          </a:stretch>
        </p:blipFill>
        <p:spPr>
          <a:xfrm>
            <a:off x="572190" y="934720"/>
            <a:ext cx="11047619" cy="5923280"/>
          </a:xfrm>
          <a:prstGeom prst="rect">
            <a:avLst/>
          </a:prstGeom>
        </p:spPr>
      </p:pic>
    </p:spTree>
    <p:extLst>
      <p:ext uri="{BB962C8B-B14F-4D97-AF65-F5344CB8AC3E}">
        <p14:creationId xmlns:p14="http://schemas.microsoft.com/office/powerpoint/2010/main" val="6304039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a:extLst>
            <a:ext uri="{FF2B5EF4-FFF2-40B4-BE49-F238E27FC236}">
              <a16:creationId xmlns:a16="http://schemas.microsoft.com/office/drawing/2014/main" id="{A623D149-34B2-4791-4612-2E2479A0AE22}"/>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2A8F8DC7-4076-1738-D765-5422286900AC}"/>
              </a:ext>
            </a:extLst>
          </p:cNvPr>
          <p:cNvSpPr txBox="1"/>
          <p:nvPr/>
        </p:nvSpPr>
        <p:spPr>
          <a:xfrm>
            <a:off x="50800" y="135374"/>
            <a:ext cx="11684000"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a:ln>
                  <a:noFill/>
                </a:ln>
                <a:solidFill>
                  <a:srgbClr val="0E2841">
                    <a:lumMod val="50000"/>
                    <a:lumOff val="50000"/>
                  </a:srgbClr>
                </a:solidFill>
                <a:effectLst/>
                <a:uLnTx/>
                <a:uFillTx/>
                <a:latin typeface="微软雅黑" panose="020B0503020204020204" pitchFamily="34" charset="-122"/>
                <a:ea typeface="微软雅黑" panose="020B0503020204020204" pitchFamily="34" charset="-122"/>
                <a:cs typeface="+mn-cs"/>
              </a:rPr>
              <a:t>6. </a:t>
            </a:r>
            <a:r>
              <a:rPr kumimoji="0" lang="zh-CN" altLang="en-US" sz="2400" b="1" i="0" u="none" strike="noStrike" kern="1200" cap="none" spc="0" normalizeH="0" baseline="0" noProof="0">
                <a:ln>
                  <a:noFill/>
                </a:ln>
                <a:solidFill>
                  <a:srgbClr val="0E2841">
                    <a:lumMod val="50000"/>
                    <a:lumOff val="50000"/>
                  </a:srgbClr>
                </a:solidFill>
                <a:effectLst/>
                <a:uLnTx/>
                <a:uFillTx/>
                <a:latin typeface="微软雅黑" panose="020B0503020204020204" pitchFamily="34" charset="-122"/>
                <a:ea typeface="微软雅黑" panose="020B0503020204020204" pitchFamily="34" charset="-122"/>
                <a:cs typeface="+mn-cs"/>
              </a:rPr>
              <a:t>技术实现建议：</a:t>
            </a:r>
            <a:endParaRPr kumimoji="0" lang="en-US" altLang="zh-CN" sz="2400" b="1" i="0" u="none" strike="noStrike" kern="1200" cap="none" spc="0" normalizeH="0" baseline="0" noProof="0">
              <a:ln>
                <a:noFill/>
              </a:ln>
              <a:solidFill>
                <a:srgbClr val="0E2841">
                  <a:lumMod val="50000"/>
                  <a:lumOff val="50000"/>
                </a:srgb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图数据库</a:t>
            </a:r>
            <a:r>
              <a:rPr kumimoji="0" lang="en-US" altLang="zh-CN"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如</a:t>
            </a:r>
            <a:r>
              <a:rPr kumimoji="0" lang="en-US" altLang="zh-CN"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Neo4j):</a:t>
            </a:r>
            <a:r>
              <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存储实体、流程、指标之间的复杂关系，向量数据库</a:t>
            </a:r>
            <a:r>
              <a:rPr kumimoji="0" lang="en-US" altLang="zh-CN"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存储术语、问答模板</a:t>
            </a:r>
            <a:r>
              <a:rPr kumimoji="0" lang="en-US" altLang="zh-CN"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支持语义检索</a:t>
            </a:r>
            <a:endParaRPr kumimoji="0" lang="zh-CN" altLang="en-US"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Rectangle 2">
            <a:extLst>
              <a:ext uri="{FF2B5EF4-FFF2-40B4-BE49-F238E27FC236}">
                <a16:creationId xmlns:a16="http://schemas.microsoft.com/office/drawing/2014/main" id="{06A98D7D-3893-B962-EF11-AF91264FBF07}"/>
              </a:ext>
            </a:extLst>
          </p:cNvPr>
          <p:cNvSpPr>
            <a:spLocks noChangeArrowheads="1"/>
          </p:cNvSpPr>
          <p:nvPr/>
        </p:nvSpPr>
        <p:spPr bwMode="auto">
          <a:xfrm>
            <a:off x="599440" y="983372"/>
            <a:ext cx="4262385" cy="5175744"/>
          </a:xfrm>
          <a:prstGeom prst="rect">
            <a:avLst/>
          </a:prstGeom>
          <a:solidFill>
            <a:schemeClr val="bg1"/>
          </a:solidFill>
          <a:ln>
            <a:noFill/>
          </a:ln>
          <a:effectLst/>
        </p:spPr>
        <p:txBody>
          <a:bodyPr vert="horz" wrap="none" lIns="0" tIns="50784" rIns="0" bIns="50784"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zh-CN" altLang="zh-CN" sz="24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pitchFamily="2" charset="-122"/>
                <a:cs typeface="+mn-cs"/>
              </a:rPr>
              <a:t>检索策略</a:t>
            </a:r>
          </a:p>
          <a:p>
            <a:pPr marL="0" marR="0" lvl="0" indent="0" algn="l" defTabSz="914400" rtl="0" eaLnBrk="0" fontAlgn="base" latinLnBrk="0" hangingPunct="0">
              <a:lnSpc>
                <a:spcPct val="150000"/>
              </a:lnSpc>
              <a:spcBef>
                <a:spcPct val="0"/>
              </a:spcBef>
              <a:spcAft>
                <a:spcPct val="0"/>
              </a:spcAft>
              <a:buClrTx/>
              <a:buSzTx/>
              <a:buFontTx/>
              <a:buNone/>
              <a:tabLst/>
              <a:defRPr/>
            </a:pPr>
            <a:r>
              <a:rPr kumimoji="0" lang="zh-CN" altLang="zh-CN" sz="1400" b="0" i="0" u="none" strike="noStrike" kern="1200" cap="none" spc="0" normalizeH="0" baseline="0" noProof="0">
                <a:ln>
                  <a:noFill/>
                </a:ln>
                <a:solidFill>
                  <a:prstClr val="black"/>
                </a:solidFill>
                <a:effectLst/>
                <a:uLnTx/>
                <a:uFillTx/>
                <a:latin typeface="Consolas" panose="020B0609020204030204" pitchFamily="49" charset="0"/>
                <a:ea typeface="等线" panose="02010600030101010101" pitchFamily="2" charset="-122"/>
                <a:cs typeface="+mn-cs"/>
              </a:rPr>
              <a:t>用户问题 </a:t>
            </a:r>
            <a:br>
              <a:rPr kumimoji="0" lang="zh-CN" altLang="zh-CN" sz="1400" b="0" i="0" u="none" strike="noStrike" kern="1200" cap="none" spc="0" normalizeH="0" baseline="0" noProof="0">
                <a:ln>
                  <a:noFill/>
                </a:ln>
                <a:solidFill>
                  <a:prstClr val="black"/>
                </a:solidFill>
                <a:effectLst/>
                <a:uLnTx/>
                <a:uFillTx/>
                <a:latin typeface="Consolas" panose="020B0609020204030204" pitchFamily="49" charset="0"/>
                <a:ea typeface="等线" panose="02010600030101010101" pitchFamily="2" charset="-122"/>
                <a:cs typeface="+mn-cs"/>
              </a:rPr>
            </a:br>
            <a:r>
              <a:rPr kumimoji="0" lang="zh-CN" altLang="zh-CN" sz="1400" b="0" i="0" u="none" strike="noStrike" kern="1200" cap="none" spc="0" normalizeH="0" baseline="0" noProof="0">
                <a:ln>
                  <a:noFill/>
                </a:ln>
                <a:solidFill>
                  <a:prstClr val="black"/>
                </a:solidFill>
                <a:effectLst/>
                <a:uLnTx/>
                <a:uFillTx/>
                <a:latin typeface="Consolas" panose="020B0609020204030204" pitchFamily="49" charset="0"/>
                <a:ea typeface="等线" panose="02010600030101010101" pitchFamily="2" charset="-122"/>
                <a:cs typeface="+mn-cs"/>
              </a:rPr>
              <a:t>  → 术语识别(从术语词典匹配) </a:t>
            </a:r>
            <a:br>
              <a:rPr kumimoji="0" lang="zh-CN" altLang="zh-CN" sz="1400" b="0" i="0" u="none" strike="noStrike" kern="1200" cap="none" spc="0" normalizeH="0" baseline="0" noProof="0">
                <a:ln>
                  <a:noFill/>
                </a:ln>
                <a:solidFill>
                  <a:prstClr val="black"/>
                </a:solidFill>
                <a:effectLst/>
                <a:uLnTx/>
                <a:uFillTx/>
                <a:latin typeface="Consolas" panose="020B0609020204030204" pitchFamily="49" charset="0"/>
                <a:ea typeface="等线" panose="02010600030101010101" pitchFamily="2" charset="-122"/>
                <a:cs typeface="+mn-cs"/>
              </a:rPr>
            </a:br>
            <a:r>
              <a:rPr kumimoji="0" lang="zh-CN" altLang="zh-CN" sz="1400" b="0" i="0" u="none" strike="noStrike" kern="1200" cap="none" spc="0" normalizeH="0" baseline="0" noProof="0">
                <a:ln>
                  <a:noFill/>
                </a:ln>
                <a:solidFill>
                  <a:prstClr val="black"/>
                </a:solidFill>
                <a:effectLst/>
                <a:uLnTx/>
                <a:uFillTx/>
                <a:latin typeface="Consolas" panose="020B0609020204030204" pitchFamily="49" charset="0"/>
                <a:ea typeface="等线" panose="02010600030101010101" pitchFamily="2" charset="-122"/>
                <a:cs typeface="+mn-cs"/>
              </a:rPr>
              <a:t>  → 指标识别(从指标库匹配)</a:t>
            </a:r>
            <a:br>
              <a:rPr kumimoji="0" lang="zh-CN" altLang="zh-CN" sz="1400" b="0" i="0" u="none" strike="noStrike" kern="1200" cap="none" spc="0" normalizeH="0" baseline="0" noProof="0">
                <a:ln>
                  <a:noFill/>
                </a:ln>
                <a:solidFill>
                  <a:prstClr val="black"/>
                </a:solidFill>
                <a:effectLst/>
                <a:uLnTx/>
                <a:uFillTx/>
                <a:latin typeface="Consolas" panose="020B0609020204030204" pitchFamily="49" charset="0"/>
                <a:ea typeface="等线" panose="02010600030101010101" pitchFamily="2" charset="-122"/>
                <a:cs typeface="+mn-cs"/>
              </a:rPr>
            </a:br>
            <a:r>
              <a:rPr kumimoji="0" lang="zh-CN" altLang="zh-CN" sz="1400" b="0" i="0" u="none" strike="noStrike" kern="1200" cap="none" spc="0" normalizeH="0" baseline="0" noProof="0">
                <a:ln>
                  <a:noFill/>
                </a:ln>
                <a:solidFill>
                  <a:prstClr val="black"/>
                </a:solidFill>
                <a:effectLst/>
                <a:uLnTx/>
                <a:uFillTx/>
                <a:latin typeface="Consolas" panose="020B0609020204030204" pitchFamily="49" charset="0"/>
                <a:ea typeface="等线" panose="02010600030101010101" pitchFamily="2" charset="-122"/>
                <a:cs typeface="+mn-cs"/>
              </a:rPr>
              <a:t>  → 场景匹配(从典型场景匹配)</a:t>
            </a:r>
            <a:br>
              <a:rPr kumimoji="0" lang="zh-CN" altLang="zh-CN" sz="1400" b="0" i="0" u="none" strike="noStrike" kern="1200" cap="none" spc="0" normalizeH="0" baseline="0" noProof="0">
                <a:ln>
                  <a:noFill/>
                </a:ln>
                <a:solidFill>
                  <a:prstClr val="black"/>
                </a:solidFill>
                <a:effectLst/>
                <a:uLnTx/>
                <a:uFillTx/>
                <a:latin typeface="Consolas" panose="020B0609020204030204" pitchFamily="49" charset="0"/>
                <a:ea typeface="等线" panose="02010600030101010101" pitchFamily="2" charset="-122"/>
                <a:cs typeface="+mn-cs"/>
              </a:rPr>
            </a:br>
            <a:r>
              <a:rPr kumimoji="0" lang="zh-CN" altLang="zh-CN" sz="1400" b="0" i="0" u="none" strike="noStrike" kern="1200" cap="none" spc="0" normalizeH="0" baseline="0" noProof="0">
                <a:ln>
                  <a:noFill/>
                </a:ln>
                <a:solidFill>
                  <a:prstClr val="black"/>
                </a:solidFill>
                <a:effectLst/>
                <a:uLnTx/>
                <a:uFillTx/>
                <a:latin typeface="Consolas" panose="020B0609020204030204" pitchFamily="49" charset="0"/>
                <a:ea typeface="等线" panose="02010600030101010101" pitchFamily="2" charset="-122"/>
                <a:cs typeface="+mn-cs"/>
              </a:rPr>
              <a:t>  → 流程追溯(从过程模型追溯)</a:t>
            </a:r>
            <a:br>
              <a:rPr kumimoji="0" lang="zh-CN" altLang="zh-CN" sz="1400" b="0" i="0" u="none" strike="noStrike" kern="1200" cap="none" spc="0" normalizeH="0" baseline="0" noProof="0">
                <a:ln>
                  <a:noFill/>
                </a:ln>
                <a:solidFill>
                  <a:prstClr val="black"/>
                </a:solidFill>
                <a:effectLst/>
                <a:uLnTx/>
                <a:uFillTx/>
                <a:latin typeface="Consolas" panose="020B0609020204030204" pitchFamily="49" charset="0"/>
                <a:ea typeface="等线" panose="02010600030101010101" pitchFamily="2" charset="-122"/>
                <a:cs typeface="+mn-cs"/>
              </a:rPr>
            </a:br>
            <a:r>
              <a:rPr kumimoji="0" lang="zh-CN" altLang="zh-CN" sz="1400" b="0" i="0" u="none" strike="noStrike" kern="1200" cap="none" spc="0" normalizeH="0" baseline="0" noProof="0">
                <a:ln>
                  <a:noFill/>
                </a:ln>
                <a:solidFill>
                  <a:prstClr val="black"/>
                </a:solidFill>
                <a:effectLst/>
                <a:uLnTx/>
                <a:uFillTx/>
                <a:latin typeface="Consolas" panose="020B0609020204030204" pitchFamily="49" charset="0"/>
                <a:ea typeface="等线" panose="02010600030101010101" pitchFamily="2" charset="-122"/>
                <a:cs typeface="+mn-cs"/>
              </a:rPr>
              <a:t>  → 生成答案(按呈现模板输出)</a:t>
            </a:r>
            <a:br>
              <a:rPr kumimoji="0" lang="zh-CN" altLang="zh-CN" sz="900" b="0" i="0" u="none" strike="noStrike" kern="1200" cap="none" spc="0" normalizeH="0" baseline="0" noProof="0">
                <a:ln>
                  <a:noFill/>
                </a:ln>
                <a:solidFill>
                  <a:prstClr val="black"/>
                </a:solidFill>
                <a:effectLst/>
                <a:uLnTx/>
                <a:uFillTx/>
                <a:latin typeface="Consolas" panose="020B0609020204030204" pitchFamily="49" charset="0"/>
                <a:ea typeface="等线" panose="02010600030101010101" pitchFamily="2" charset="-122"/>
                <a:cs typeface="+mn-cs"/>
              </a:rPr>
            </a:br>
            <a:endParaRPr kumimoji="0" lang="zh-CN" altLang="zh-CN" sz="16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pitchFamily="2" charset="-122"/>
              <a:cs typeface="+mn-cs"/>
            </a:endParaRPr>
          </a:p>
          <a:p>
            <a:pPr marL="0" marR="0" lvl="0" indent="0" algn="l" defTabSz="914400" rtl="0" eaLnBrk="0" fontAlgn="base" latinLnBrk="0" hangingPunct="0">
              <a:lnSpc>
                <a:spcPct val="150000"/>
              </a:lnSpc>
              <a:spcBef>
                <a:spcPct val="0"/>
              </a:spcBef>
              <a:spcAft>
                <a:spcPct val="0"/>
              </a:spcAft>
              <a:buClrTx/>
              <a:buSzTx/>
              <a:buFontTx/>
              <a:buNone/>
              <a:tabLst/>
              <a:defRPr/>
            </a:pPr>
            <a:r>
              <a:rPr kumimoji="0" lang="zh-CN" altLang="zh-CN" sz="1600" b="1" i="0" u="none" strike="noStrike" kern="1200" cap="none" spc="0" normalizeH="0" baseline="0" noProof="0">
                <a:ln>
                  <a:noFill/>
                </a:ln>
                <a:solidFill>
                  <a:prstClr val="black"/>
                </a:solidFill>
                <a:effectLst/>
                <a:uLnTx/>
                <a:uFillTx/>
                <a:latin typeface="Arial" panose="020B0604020202020204" pitchFamily="34" charset="0"/>
                <a:ea typeface="等线" panose="02010600030101010101" pitchFamily="2" charset="-122"/>
                <a:cs typeface="+mn-cs"/>
              </a:rPr>
              <a:t>RAG增强</a:t>
            </a:r>
          </a:p>
          <a:p>
            <a:pPr marL="0" marR="0" lvl="0" indent="0" algn="l" defTabSz="914400" rtl="0" eaLnBrk="0" fontAlgn="base" latinLnBrk="0" hangingPunct="0">
              <a:lnSpc>
                <a:spcPct val="150000"/>
              </a:lnSpc>
              <a:spcBef>
                <a:spcPct val="0"/>
              </a:spcBef>
              <a:spcAft>
                <a:spcPct val="0"/>
              </a:spcAft>
              <a:buClrTx/>
              <a:buSzTx/>
              <a:buFontTx/>
              <a:buNone/>
              <a:tabLst/>
              <a:defRPr/>
            </a:pPr>
            <a:r>
              <a:rPr kumimoji="0" lang="zh-CN" altLang="zh-CN" sz="1600" b="0" i="0" u="none" strike="noStrike" kern="1200" cap="none" spc="0" normalizeH="0" baseline="0" noProof="0">
                <a:ln>
                  <a:noFill/>
                </a:ln>
                <a:solidFill>
                  <a:prstClr val="black"/>
                </a:solidFill>
                <a:effectLst/>
                <a:uLnTx/>
                <a:uFillTx/>
                <a:latin typeface="Arial" panose="020B0604020202020204" pitchFamily="34" charset="0"/>
                <a:ea typeface="等线" panose="02010600030101010101" pitchFamily="2" charset="-122"/>
                <a:cs typeface="+mn-cs"/>
              </a:rPr>
              <a:t>不要把所有元模型都塞给AI,而是:</a:t>
            </a:r>
          </a:p>
          <a:p>
            <a:pPr marL="0" marR="0" lvl="0" indent="0" algn="l" defTabSz="914400" rtl="0" eaLnBrk="0" fontAlgn="base" latinLnBrk="0" hangingPunct="0">
              <a:lnSpc>
                <a:spcPct val="150000"/>
              </a:lnSpc>
              <a:spcBef>
                <a:spcPct val="0"/>
              </a:spcBef>
              <a:spcAft>
                <a:spcPct val="0"/>
              </a:spcAft>
              <a:buClrTx/>
              <a:buSzTx/>
              <a:buFontTx/>
              <a:buAutoNum type="arabicPeriod"/>
              <a:tabLst/>
              <a:defRPr/>
            </a:pPr>
            <a:r>
              <a:rPr kumimoji="0" lang="zh-CN" altLang="zh-CN" sz="1600" b="0" i="0" u="none" strike="noStrike" kern="1200" cap="none" spc="0" normalizeH="0" baseline="0" noProof="0">
                <a:ln>
                  <a:noFill/>
                </a:ln>
                <a:solidFill>
                  <a:prstClr val="black"/>
                </a:solidFill>
                <a:effectLst/>
                <a:uLnTx/>
                <a:uFillTx/>
                <a:latin typeface="Arial" panose="020B0604020202020204" pitchFamily="34" charset="0"/>
                <a:ea typeface="等线" panose="02010600030101010101" pitchFamily="2" charset="-122"/>
                <a:cs typeface="+mn-cs"/>
              </a:rPr>
              <a:t>先用embedding检索相关的术语、指标、流程</a:t>
            </a:r>
          </a:p>
          <a:p>
            <a:pPr marL="0" marR="0" lvl="0" indent="0" algn="l" defTabSz="914400" rtl="0" eaLnBrk="0" fontAlgn="base" latinLnBrk="0" hangingPunct="0">
              <a:lnSpc>
                <a:spcPct val="150000"/>
              </a:lnSpc>
              <a:spcBef>
                <a:spcPct val="0"/>
              </a:spcBef>
              <a:spcAft>
                <a:spcPct val="0"/>
              </a:spcAft>
              <a:buClrTx/>
              <a:buSzTx/>
              <a:buFontTx/>
              <a:buAutoNum type="arabicPeriod" startAt="2"/>
              <a:tabLst/>
              <a:defRPr/>
            </a:pPr>
            <a:r>
              <a:rPr kumimoji="0" lang="zh-CN" altLang="zh-CN" sz="1600" b="0" i="0" u="none" strike="noStrike" kern="1200" cap="none" spc="0" normalizeH="0" baseline="0" noProof="0">
                <a:ln>
                  <a:noFill/>
                </a:ln>
                <a:solidFill>
                  <a:prstClr val="black"/>
                </a:solidFill>
                <a:effectLst/>
                <a:uLnTx/>
                <a:uFillTx/>
                <a:latin typeface="Arial" panose="020B0604020202020204" pitchFamily="34" charset="0"/>
                <a:ea typeface="等线" panose="02010600030101010101" pitchFamily="2" charset="-122"/>
                <a:cs typeface="+mn-cs"/>
              </a:rPr>
              <a:t>只把相关的元模型片段注入Prompt</a:t>
            </a:r>
          </a:p>
          <a:p>
            <a:pPr marL="0" marR="0" lvl="0" indent="0" algn="l" defTabSz="914400" rtl="0" eaLnBrk="0" fontAlgn="base" latinLnBrk="0" hangingPunct="0">
              <a:lnSpc>
                <a:spcPct val="150000"/>
              </a:lnSpc>
              <a:spcBef>
                <a:spcPct val="0"/>
              </a:spcBef>
              <a:spcAft>
                <a:spcPct val="0"/>
              </a:spcAft>
              <a:buClrTx/>
              <a:buSzTx/>
              <a:buFontTx/>
              <a:buAutoNum type="arabicPeriod" startAt="3"/>
              <a:tabLst/>
              <a:defRPr/>
            </a:pPr>
            <a:r>
              <a:rPr kumimoji="0" lang="zh-CN" altLang="zh-CN" sz="1600" b="0" i="0" u="none" strike="noStrike" kern="1200" cap="none" spc="0" normalizeH="0" baseline="0" noProof="0">
                <a:ln>
                  <a:noFill/>
                </a:ln>
                <a:solidFill>
                  <a:prstClr val="black"/>
                </a:solidFill>
                <a:effectLst/>
                <a:uLnTx/>
                <a:uFillTx/>
                <a:latin typeface="Arial" panose="020B0604020202020204" pitchFamily="34" charset="0"/>
                <a:ea typeface="等线" panose="02010600030101010101" pitchFamily="2" charset="-122"/>
                <a:cs typeface="+mn-cs"/>
              </a:rPr>
              <a:t>让AI基于元模型生成可解释的答案</a:t>
            </a:r>
          </a:p>
          <a:p>
            <a:pPr marL="0" marR="0" lvl="0" indent="0" algn="l" defTabSz="914400" rtl="0" eaLnBrk="0" fontAlgn="base" latinLnBrk="0" hangingPunct="0">
              <a:lnSpc>
                <a:spcPct val="150000"/>
              </a:lnSpc>
              <a:spcBef>
                <a:spcPct val="0"/>
              </a:spcBef>
              <a:spcAft>
                <a:spcPct val="0"/>
              </a:spcAft>
              <a:buClrTx/>
              <a:buSzTx/>
              <a:buFontTx/>
              <a:buNone/>
              <a:tabLst/>
              <a:defRPr/>
            </a:pPr>
            <a:endParaRPr kumimoji="0" lang="zh-CN" altLang="zh-CN" sz="1800" b="0" i="0" u="none" strike="noStrike" kern="1200" cap="none" spc="0" normalizeH="0" baseline="0" noProof="0">
              <a:ln>
                <a:noFill/>
              </a:ln>
              <a:solidFill>
                <a:prstClr val="black"/>
              </a:solidFill>
              <a:effectLst/>
              <a:uLnTx/>
              <a:uFillTx/>
              <a:latin typeface="Arial" panose="020B0604020202020204" pitchFamily="34" charset="0"/>
              <a:ea typeface="等线" panose="02010600030101010101" pitchFamily="2" charset="-122"/>
              <a:cs typeface="+mn-cs"/>
            </a:endParaRPr>
          </a:p>
        </p:txBody>
      </p:sp>
    </p:spTree>
    <p:extLst>
      <p:ext uri="{BB962C8B-B14F-4D97-AF65-F5344CB8AC3E}">
        <p14:creationId xmlns:p14="http://schemas.microsoft.com/office/powerpoint/2010/main" val="42643416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1180CC-C1A7-31CA-89B8-47612CD88110}"/>
              </a:ext>
            </a:extLst>
          </p:cNvPr>
          <p:cNvSpPr>
            <a:spLocks noGrp="1"/>
          </p:cNvSpPr>
          <p:nvPr>
            <p:ph type="title"/>
          </p:nvPr>
        </p:nvSpPr>
        <p:spPr>
          <a:xfrm>
            <a:off x="177800" y="182245"/>
            <a:ext cx="10515600" cy="244475"/>
          </a:xfrm>
        </p:spPr>
        <p:txBody>
          <a:bodyPr>
            <a:noAutofit/>
          </a:bodyPr>
          <a:lstStyle/>
          <a:p>
            <a:r>
              <a:rPr lang="zh-CN" altLang="en-US" sz="2400" b="1">
                <a:solidFill>
                  <a:schemeClr val="tx2">
                    <a:lumMod val="50000"/>
                    <a:lumOff val="50000"/>
                  </a:schemeClr>
                </a:solidFill>
                <a:latin typeface="微软雅黑" panose="020B0503020204020204" pitchFamily="34" charset="-122"/>
                <a:ea typeface="微软雅黑" panose="020B0503020204020204" pitchFamily="34" charset="-122"/>
              </a:rPr>
              <a:t>总结</a:t>
            </a:r>
          </a:p>
        </p:txBody>
      </p:sp>
      <p:sp>
        <p:nvSpPr>
          <p:cNvPr id="3" name="内容占位符 2">
            <a:extLst>
              <a:ext uri="{FF2B5EF4-FFF2-40B4-BE49-F238E27FC236}">
                <a16:creationId xmlns:a16="http://schemas.microsoft.com/office/drawing/2014/main" id="{142DBCB3-C19F-BEC3-34BD-F21DE778A2C3}"/>
              </a:ext>
            </a:extLst>
          </p:cNvPr>
          <p:cNvSpPr>
            <a:spLocks noGrp="1"/>
          </p:cNvSpPr>
          <p:nvPr>
            <p:ph idx="1"/>
          </p:nvPr>
        </p:nvSpPr>
        <p:spPr>
          <a:xfrm>
            <a:off x="289560" y="535304"/>
            <a:ext cx="11587480" cy="5916296"/>
          </a:xfrm>
        </p:spPr>
        <p:txBody>
          <a:bodyPr>
            <a:normAutofit lnSpcReduction="10000"/>
          </a:bodyPr>
          <a:lstStyle/>
          <a:p>
            <a:pPr>
              <a:lnSpc>
                <a:spcPct val="150000"/>
              </a:lnSpc>
            </a:pPr>
            <a:r>
              <a:rPr lang="zh-CN" altLang="en-US" sz="1600">
                <a:latin typeface="微软雅黑" panose="020B0503020204020204" pitchFamily="34" charset="-122"/>
                <a:ea typeface="微软雅黑" panose="020B0503020204020204" pitchFamily="34" charset="-122"/>
              </a:rPr>
              <a:t>传统</a:t>
            </a:r>
            <a:r>
              <a:rPr lang="en-US" altLang="zh-CN" sz="1600">
                <a:latin typeface="微软雅黑" panose="020B0503020204020204" pitchFamily="34" charset="-122"/>
                <a:ea typeface="微软雅黑" panose="020B0503020204020204" pitchFamily="34" charset="-122"/>
              </a:rPr>
              <a:t>ChatBI</a:t>
            </a:r>
            <a:r>
              <a:rPr lang="zh-CN" altLang="en-US" sz="1600">
                <a:latin typeface="微软雅黑" panose="020B0503020204020204" pitchFamily="34" charset="-122"/>
                <a:ea typeface="微软雅黑" panose="020B0503020204020204" pitchFamily="34" charset="-122"/>
              </a:rPr>
              <a:t>只给了</a:t>
            </a:r>
            <a:r>
              <a:rPr lang="en-US" altLang="zh-CN" sz="1600">
                <a:latin typeface="微软雅黑" panose="020B0503020204020204" pitchFamily="34" charset="-122"/>
                <a:ea typeface="微软雅黑" panose="020B0503020204020204" pitchFamily="34" charset="-122"/>
              </a:rPr>
              <a:t>AI"</a:t>
            </a:r>
            <a:r>
              <a:rPr lang="zh-CN" altLang="en-US" sz="1600">
                <a:latin typeface="微软雅黑" panose="020B0503020204020204" pitchFamily="34" charset="-122"/>
                <a:ea typeface="微软雅黑" panose="020B0503020204020204" pitchFamily="34" charset="-122"/>
              </a:rPr>
              <a:t>数据字典</a:t>
            </a:r>
            <a:r>
              <a:rPr lang="en-US" altLang="zh-CN" sz="1600">
                <a:latin typeface="微软雅黑" panose="020B0503020204020204" pitchFamily="34" charset="-122"/>
                <a:ea typeface="微软雅黑" panose="020B0503020204020204" pitchFamily="34" charset="-122"/>
              </a:rPr>
              <a:t>",</a:t>
            </a:r>
            <a:r>
              <a:rPr lang="zh-CN" altLang="en-US" sz="1600">
                <a:latin typeface="微软雅黑" panose="020B0503020204020204" pitchFamily="34" charset="-122"/>
                <a:ea typeface="微软雅黑" panose="020B0503020204020204" pitchFamily="34" charset="-122"/>
              </a:rPr>
              <a:t>而我们要给</a:t>
            </a:r>
            <a:r>
              <a:rPr lang="en-US" altLang="zh-CN" sz="1600">
                <a:latin typeface="微软雅黑" panose="020B0503020204020204" pitchFamily="34" charset="-122"/>
                <a:ea typeface="微软雅黑" panose="020B0503020204020204" pitchFamily="34" charset="-122"/>
              </a:rPr>
              <a:t>AI"</a:t>
            </a:r>
            <a:r>
              <a:rPr lang="zh-CN" altLang="en-US" sz="1600">
                <a:latin typeface="微软雅黑" panose="020B0503020204020204" pitchFamily="34" charset="-122"/>
                <a:ea typeface="微软雅黑" panose="020B0503020204020204" pitchFamily="34" charset="-122"/>
              </a:rPr>
              <a:t>业务百科全书</a:t>
            </a:r>
            <a:r>
              <a:rPr lang="en-US" altLang="zh-CN" sz="1600">
                <a:latin typeface="微软雅黑" panose="020B0503020204020204" pitchFamily="34" charset="-122"/>
                <a:ea typeface="微软雅黑" panose="020B0503020204020204" pitchFamily="34" charset="-122"/>
              </a:rPr>
              <a:t>"</a:t>
            </a:r>
            <a:r>
              <a:rPr lang="zh-CN" altLang="en-US" sz="1600">
                <a:latin typeface="微软雅黑" panose="020B0503020204020204" pitchFamily="34" charset="-122"/>
                <a:ea typeface="微软雅黑" panose="020B0503020204020204" pitchFamily="34" charset="-122"/>
              </a:rPr>
              <a:t>。传统</a:t>
            </a:r>
            <a:r>
              <a:rPr lang="en-US" altLang="zh-CN" sz="1600">
                <a:latin typeface="微软雅黑" panose="020B0503020204020204" pitchFamily="34" charset="-122"/>
                <a:ea typeface="微软雅黑" panose="020B0503020204020204" pitchFamily="34" charset="-122"/>
              </a:rPr>
              <a:t>ChatBI</a:t>
            </a:r>
            <a:r>
              <a:rPr lang="zh-CN" altLang="en-US" sz="1600">
                <a:latin typeface="微软雅黑" panose="020B0503020204020204" pitchFamily="34" charset="-122"/>
                <a:ea typeface="微软雅黑" panose="020B0503020204020204" pitchFamily="34" charset="-122"/>
              </a:rPr>
              <a:t>只给</a:t>
            </a:r>
            <a:r>
              <a:rPr lang="en-US" altLang="zh-CN" sz="1600">
                <a:latin typeface="微软雅黑" panose="020B0503020204020204" pitchFamily="34" charset="-122"/>
                <a:ea typeface="微软雅黑" panose="020B0503020204020204" pitchFamily="34" charset="-122"/>
              </a:rPr>
              <a:t>AI</a:t>
            </a:r>
            <a:r>
              <a:rPr lang="zh-CN" altLang="en-US" sz="1600">
                <a:latin typeface="微软雅黑" panose="020B0503020204020204" pitchFamily="34" charset="-122"/>
                <a:ea typeface="微软雅黑" panose="020B0503020204020204" pitchFamily="34" charset="-122"/>
              </a:rPr>
              <a:t>静态数据模型，而我们需要结合</a:t>
            </a:r>
            <a:r>
              <a:rPr lang="en-US" altLang="zh-CN" sz="1600">
                <a:latin typeface="微软雅黑" panose="020B0503020204020204" pitchFamily="34" charset="-122"/>
                <a:ea typeface="微软雅黑" panose="020B0503020204020204" pitchFamily="34" charset="-122"/>
              </a:rPr>
              <a:t>DDD</a:t>
            </a:r>
            <a:r>
              <a:rPr lang="zh-CN" altLang="en-US" sz="1600">
                <a:latin typeface="微软雅黑" panose="020B0503020204020204" pitchFamily="34" charset="-122"/>
                <a:ea typeface="微软雅黑" panose="020B0503020204020204" pitchFamily="34" charset="-122"/>
              </a:rPr>
              <a:t>和本体论构建一个静态数据</a:t>
            </a:r>
            <a:r>
              <a:rPr lang="en-US" altLang="zh-CN" sz="1600">
                <a:latin typeface="微软雅黑" panose="020B0503020204020204" pitchFamily="34" charset="-122"/>
                <a:ea typeface="微软雅黑" panose="020B0503020204020204" pitchFamily="34" charset="-122"/>
              </a:rPr>
              <a:t>+</a:t>
            </a:r>
            <a:r>
              <a:rPr lang="zh-CN" altLang="en-US" sz="1600">
                <a:latin typeface="微软雅黑" panose="020B0503020204020204" pitchFamily="34" charset="-122"/>
                <a:ea typeface="微软雅黑" panose="020B0503020204020204" pitchFamily="34" charset="-122"/>
              </a:rPr>
              <a:t>动态行为</a:t>
            </a:r>
            <a:r>
              <a:rPr lang="en-US" altLang="zh-CN" sz="1600">
                <a:latin typeface="微软雅黑" panose="020B0503020204020204" pitchFamily="34" charset="-122"/>
                <a:ea typeface="微软雅黑" panose="020B0503020204020204" pitchFamily="34" charset="-122"/>
              </a:rPr>
              <a:t>+</a:t>
            </a:r>
            <a:r>
              <a:rPr lang="zh-CN" altLang="en-US" sz="1600">
                <a:latin typeface="微软雅黑" panose="020B0503020204020204" pitchFamily="34" charset="-122"/>
                <a:ea typeface="微软雅黑" panose="020B0503020204020204" pitchFamily="34" charset="-122"/>
              </a:rPr>
              <a:t>规则的完整语义的数字孪生模型</a:t>
            </a:r>
            <a:endParaRPr lang="en-US" altLang="zh-CN" sz="1600">
              <a:latin typeface="微软雅黑" panose="020B0503020204020204" pitchFamily="34" charset="-122"/>
              <a:ea typeface="微软雅黑" panose="020B0503020204020204" pitchFamily="34" charset="-122"/>
            </a:endParaRPr>
          </a:p>
          <a:p>
            <a:pPr>
              <a:lnSpc>
                <a:spcPct val="150000"/>
              </a:lnSpc>
            </a:pPr>
            <a:r>
              <a:rPr lang="zh-CN" altLang="en-US" sz="1600">
                <a:latin typeface="微软雅黑" panose="020B0503020204020204" pitchFamily="34" charset="-122"/>
                <a:ea typeface="微软雅黑" panose="020B0503020204020204" pitchFamily="34" charset="-122"/>
              </a:rPr>
              <a:t>这套七层元模型的核心价值</a:t>
            </a:r>
            <a:r>
              <a:rPr lang="en-US" altLang="zh-CN" sz="1600">
                <a:latin typeface="微软雅黑" panose="020B0503020204020204" pitchFamily="34" charset="-122"/>
                <a:ea typeface="微软雅黑" panose="020B0503020204020204" pitchFamily="34" charset="-122"/>
              </a:rPr>
              <a:t>:</a:t>
            </a:r>
          </a:p>
          <a:p>
            <a:pPr lvl="1">
              <a:lnSpc>
                <a:spcPct val="150000"/>
              </a:lnSpc>
            </a:pPr>
            <a:r>
              <a:rPr lang="zh-CN" altLang="en-US" sz="1200">
                <a:latin typeface="微软雅黑" panose="020B0503020204020204" pitchFamily="34" charset="-122"/>
                <a:ea typeface="微软雅黑" panose="020B0503020204020204" pitchFamily="34" charset="-122"/>
              </a:rPr>
              <a:t>消除歧义</a:t>
            </a:r>
            <a:r>
              <a:rPr lang="en-US" altLang="zh-CN" sz="1200">
                <a:latin typeface="微软雅黑" panose="020B0503020204020204" pitchFamily="34" charset="-122"/>
                <a:ea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rPr>
              <a:t>术语词典</a:t>
            </a:r>
            <a:r>
              <a:rPr lang="en-US" altLang="zh-CN" sz="1200">
                <a:latin typeface="微软雅黑" panose="020B0503020204020204" pitchFamily="34" charset="-122"/>
                <a:ea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rPr>
              <a:t>让</a:t>
            </a:r>
            <a:r>
              <a:rPr lang="en-US" altLang="zh-CN" sz="1200">
                <a:latin typeface="微软雅黑" panose="020B0503020204020204" pitchFamily="34" charset="-122"/>
                <a:ea typeface="微软雅黑" panose="020B0503020204020204" pitchFamily="34" charset="-122"/>
              </a:rPr>
              <a:t>AI</a:t>
            </a:r>
            <a:r>
              <a:rPr lang="zh-CN" altLang="en-US" sz="1200">
                <a:latin typeface="微软雅黑" panose="020B0503020204020204" pitchFamily="34" charset="-122"/>
                <a:ea typeface="微软雅黑" panose="020B0503020204020204" pitchFamily="34" charset="-122"/>
              </a:rPr>
              <a:t>说话精确</a:t>
            </a:r>
            <a:endParaRPr lang="en-US" altLang="zh-CN" sz="1200">
              <a:latin typeface="微软雅黑" panose="020B0503020204020204" pitchFamily="34" charset="-122"/>
              <a:ea typeface="微软雅黑" panose="020B0503020204020204" pitchFamily="34" charset="-122"/>
            </a:endParaRPr>
          </a:p>
          <a:p>
            <a:pPr lvl="1">
              <a:lnSpc>
                <a:spcPct val="150000"/>
              </a:lnSpc>
            </a:pPr>
            <a:r>
              <a:rPr lang="zh-CN" altLang="en-US" sz="1200">
                <a:latin typeface="微软雅黑" panose="020B0503020204020204" pitchFamily="34" charset="-122"/>
                <a:ea typeface="微软雅黑" panose="020B0503020204020204" pitchFamily="34" charset="-122"/>
              </a:rPr>
              <a:t>可追溯</a:t>
            </a:r>
            <a:r>
              <a:rPr lang="en-US" altLang="zh-CN" sz="1200">
                <a:latin typeface="微软雅黑" panose="020B0503020204020204" pitchFamily="34" charset="-122"/>
                <a:ea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rPr>
              <a:t>过程模型</a:t>
            </a:r>
            <a:r>
              <a:rPr lang="en-US" altLang="zh-CN" sz="1200">
                <a:latin typeface="微软雅黑" panose="020B0503020204020204" pitchFamily="34" charset="-122"/>
                <a:ea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rPr>
              <a:t>让</a:t>
            </a:r>
            <a:r>
              <a:rPr lang="en-US" altLang="zh-CN" sz="1200">
                <a:latin typeface="微软雅黑" panose="020B0503020204020204" pitchFamily="34" charset="-122"/>
                <a:ea typeface="微软雅黑" panose="020B0503020204020204" pitchFamily="34" charset="-122"/>
              </a:rPr>
              <a:t>AI</a:t>
            </a:r>
            <a:r>
              <a:rPr lang="zh-CN" altLang="en-US" sz="1200">
                <a:latin typeface="微软雅黑" panose="020B0503020204020204" pitchFamily="34" charset="-122"/>
                <a:ea typeface="微软雅黑" panose="020B0503020204020204" pitchFamily="34" charset="-122"/>
              </a:rPr>
              <a:t>知道数据从哪来</a:t>
            </a:r>
            <a:endParaRPr lang="en-US" altLang="zh-CN" sz="1200">
              <a:latin typeface="微软雅黑" panose="020B0503020204020204" pitchFamily="34" charset="-122"/>
              <a:ea typeface="微软雅黑" panose="020B0503020204020204" pitchFamily="34" charset="-122"/>
            </a:endParaRPr>
          </a:p>
          <a:p>
            <a:pPr lvl="1">
              <a:lnSpc>
                <a:spcPct val="150000"/>
              </a:lnSpc>
            </a:pPr>
            <a:r>
              <a:rPr lang="zh-CN" altLang="en-US" sz="1200">
                <a:latin typeface="微软雅黑" panose="020B0503020204020204" pitchFamily="34" charset="-122"/>
                <a:ea typeface="微软雅黑" panose="020B0503020204020204" pitchFamily="34" charset="-122"/>
              </a:rPr>
              <a:t>可推理</a:t>
            </a:r>
            <a:r>
              <a:rPr lang="en-US" altLang="zh-CN" sz="1200">
                <a:latin typeface="微软雅黑" panose="020B0503020204020204" pitchFamily="34" charset="-122"/>
                <a:ea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rPr>
              <a:t>指标模型</a:t>
            </a:r>
            <a:r>
              <a:rPr lang="en-US" altLang="zh-CN" sz="1200">
                <a:latin typeface="微软雅黑" panose="020B0503020204020204" pitchFamily="34" charset="-122"/>
                <a:ea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rPr>
              <a:t>让</a:t>
            </a:r>
            <a:r>
              <a:rPr lang="en-US" altLang="zh-CN" sz="1200">
                <a:latin typeface="微软雅黑" panose="020B0503020204020204" pitchFamily="34" charset="-122"/>
                <a:ea typeface="微软雅黑" panose="020B0503020204020204" pitchFamily="34" charset="-122"/>
              </a:rPr>
              <a:t>AI</a:t>
            </a:r>
            <a:r>
              <a:rPr lang="zh-CN" altLang="en-US" sz="1200">
                <a:latin typeface="微软雅黑" panose="020B0503020204020204" pitchFamily="34" charset="-122"/>
                <a:ea typeface="微软雅黑" panose="020B0503020204020204" pitchFamily="34" charset="-122"/>
              </a:rPr>
              <a:t>知道数据怎么用</a:t>
            </a:r>
            <a:endParaRPr lang="en-US" altLang="zh-CN" sz="1200">
              <a:latin typeface="微软雅黑" panose="020B0503020204020204" pitchFamily="34" charset="-122"/>
              <a:ea typeface="微软雅黑" panose="020B0503020204020204" pitchFamily="34" charset="-122"/>
            </a:endParaRPr>
          </a:p>
          <a:p>
            <a:pPr lvl="1">
              <a:lnSpc>
                <a:spcPct val="150000"/>
              </a:lnSpc>
            </a:pPr>
            <a:r>
              <a:rPr lang="zh-CN" altLang="en-US" sz="1200">
                <a:latin typeface="微软雅黑" panose="020B0503020204020204" pitchFamily="34" charset="-122"/>
                <a:ea typeface="微软雅黑" panose="020B0503020204020204" pitchFamily="34" charset="-122"/>
              </a:rPr>
              <a:t>可解释</a:t>
            </a:r>
            <a:r>
              <a:rPr lang="en-US" altLang="zh-CN" sz="1200">
                <a:latin typeface="微软雅黑" panose="020B0503020204020204" pitchFamily="34" charset="-122"/>
                <a:ea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rPr>
              <a:t>数据血缘</a:t>
            </a:r>
            <a:r>
              <a:rPr lang="en-US" altLang="zh-CN" sz="1200">
                <a:latin typeface="微软雅黑" panose="020B0503020204020204" pitchFamily="34" charset="-122"/>
                <a:ea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rPr>
              <a:t>让</a:t>
            </a:r>
            <a:r>
              <a:rPr lang="en-US" altLang="zh-CN" sz="1200">
                <a:latin typeface="微软雅黑" panose="020B0503020204020204" pitchFamily="34" charset="-122"/>
                <a:ea typeface="微软雅黑" panose="020B0503020204020204" pitchFamily="34" charset="-122"/>
              </a:rPr>
              <a:t>AI</a:t>
            </a:r>
            <a:r>
              <a:rPr lang="zh-CN" altLang="en-US" sz="1200">
                <a:latin typeface="微软雅黑" panose="020B0503020204020204" pitchFamily="34" charset="-122"/>
                <a:ea typeface="微软雅黑" panose="020B0503020204020204" pitchFamily="34" charset="-122"/>
              </a:rPr>
              <a:t>回答有理有据</a:t>
            </a:r>
            <a:endParaRPr lang="en-US" altLang="zh-CN" sz="1200">
              <a:latin typeface="微软雅黑" panose="020B0503020204020204" pitchFamily="34" charset="-122"/>
              <a:ea typeface="微软雅黑" panose="020B0503020204020204" pitchFamily="34" charset="-122"/>
            </a:endParaRPr>
          </a:p>
          <a:p>
            <a:pPr lvl="1">
              <a:lnSpc>
                <a:spcPct val="150000"/>
              </a:lnSpc>
            </a:pPr>
            <a:r>
              <a:rPr lang="zh-CN" altLang="en-US" sz="1200">
                <a:latin typeface="微软雅黑" panose="020B0503020204020204" pitchFamily="34" charset="-122"/>
                <a:ea typeface="微软雅黑" panose="020B0503020204020204" pitchFamily="34" charset="-122"/>
              </a:rPr>
              <a:t>懂用户</a:t>
            </a:r>
            <a:r>
              <a:rPr lang="en-US" altLang="zh-CN" sz="1200">
                <a:latin typeface="微软雅黑" panose="020B0503020204020204" pitchFamily="34" charset="-122"/>
                <a:ea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rPr>
              <a:t>上下文感知</a:t>
            </a:r>
            <a:r>
              <a:rPr lang="en-US" altLang="zh-CN" sz="1200">
                <a:latin typeface="微软雅黑" panose="020B0503020204020204" pitchFamily="34" charset="-122"/>
                <a:ea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rPr>
              <a:t>让</a:t>
            </a:r>
            <a:r>
              <a:rPr lang="en-US" altLang="zh-CN" sz="1200">
                <a:latin typeface="微软雅黑" panose="020B0503020204020204" pitchFamily="34" charset="-122"/>
                <a:ea typeface="微软雅黑" panose="020B0503020204020204" pitchFamily="34" charset="-122"/>
              </a:rPr>
              <a:t>AI</a:t>
            </a:r>
            <a:r>
              <a:rPr lang="zh-CN" altLang="en-US" sz="1200">
                <a:latin typeface="微软雅黑" panose="020B0503020204020204" pitchFamily="34" charset="-122"/>
                <a:ea typeface="微软雅黑" panose="020B0503020204020204" pitchFamily="34" charset="-122"/>
              </a:rPr>
              <a:t>千人千面</a:t>
            </a:r>
            <a:endParaRPr lang="en-US" altLang="zh-CN" sz="1200">
              <a:latin typeface="微软雅黑" panose="020B0503020204020204" pitchFamily="34" charset="-122"/>
              <a:ea typeface="微软雅黑" panose="020B0503020204020204" pitchFamily="34" charset="-122"/>
            </a:endParaRPr>
          </a:p>
          <a:p>
            <a:pPr lvl="1">
              <a:lnSpc>
                <a:spcPct val="150000"/>
              </a:lnSpc>
            </a:pPr>
            <a:r>
              <a:rPr lang="zh-CN" altLang="en-US" sz="1200">
                <a:latin typeface="微软雅黑" panose="020B0503020204020204" pitchFamily="34" charset="-122"/>
                <a:ea typeface="微软雅黑" panose="020B0503020204020204" pitchFamily="34" charset="-122"/>
              </a:rPr>
              <a:t>能进化</a:t>
            </a:r>
            <a:r>
              <a:rPr lang="en-US" altLang="zh-CN" sz="1200">
                <a:latin typeface="微软雅黑" panose="020B0503020204020204" pitchFamily="34" charset="-122"/>
                <a:ea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rPr>
              <a:t>元模型治理</a:t>
            </a:r>
            <a:r>
              <a:rPr lang="en-US" altLang="zh-CN" sz="1200">
                <a:latin typeface="微软雅黑" panose="020B0503020204020204" pitchFamily="34" charset="-122"/>
                <a:ea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rPr>
              <a:t>让</a:t>
            </a:r>
            <a:r>
              <a:rPr lang="en-US" altLang="zh-CN" sz="1200">
                <a:latin typeface="微软雅黑" panose="020B0503020204020204" pitchFamily="34" charset="-122"/>
                <a:ea typeface="微软雅黑" panose="020B0503020204020204" pitchFamily="34" charset="-122"/>
              </a:rPr>
              <a:t>AI</a:t>
            </a:r>
            <a:r>
              <a:rPr lang="zh-CN" altLang="en-US" sz="1200">
                <a:latin typeface="微软雅黑" panose="020B0503020204020204" pitchFamily="34" charset="-122"/>
                <a:ea typeface="微软雅黑" panose="020B0503020204020204" pitchFamily="34" charset="-122"/>
              </a:rPr>
              <a:t>越用越聪明</a:t>
            </a:r>
            <a:endParaRPr lang="en-US" altLang="zh-CN" sz="1200">
              <a:latin typeface="微软雅黑" panose="020B0503020204020204" pitchFamily="34" charset="-122"/>
              <a:ea typeface="微软雅黑" panose="020B0503020204020204" pitchFamily="34" charset="-122"/>
            </a:endParaRPr>
          </a:p>
          <a:p>
            <a:pPr>
              <a:lnSpc>
                <a:spcPct val="150000"/>
              </a:lnSpc>
            </a:pPr>
            <a:r>
              <a:rPr lang="zh-CN" altLang="en-US" sz="1600">
                <a:latin typeface="微软雅黑" panose="020B0503020204020204" pitchFamily="34" charset="-122"/>
                <a:ea typeface="微软雅黑" panose="020B0503020204020204" pitchFamily="34" charset="-122"/>
              </a:rPr>
              <a:t>最重要的是</a:t>
            </a:r>
            <a:r>
              <a:rPr lang="en-US" altLang="zh-CN" sz="1600">
                <a:latin typeface="微软雅黑" panose="020B0503020204020204" pitchFamily="34" charset="-122"/>
                <a:ea typeface="微软雅黑" panose="020B0503020204020204" pitchFamily="34" charset="-122"/>
              </a:rPr>
              <a:t>:</a:t>
            </a:r>
          </a:p>
          <a:p>
            <a:pPr marL="457200" lvl="1" indent="0">
              <a:lnSpc>
                <a:spcPct val="150000"/>
              </a:lnSpc>
              <a:buNone/>
            </a:pPr>
            <a:r>
              <a:rPr lang="zh-CN" altLang="en-US" sz="1200">
                <a:latin typeface="微软雅黑" panose="020B0503020204020204" pitchFamily="34" charset="-122"/>
                <a:ea typeface="微软雅黑" panose="020B0503020204020204" pitchFamily="34" charset="-122"/>
              </a:rPr>
              <a:t>这不仅仅是技术优化</a:t>
            </a:r>
            <a:r>
              <a:rPr lang="en-US" altLang="zh-CN" sz="1200">
                <a:latin typeface="微软雅黑" panose="020B0503020204020204" pitchFamily="34" charset="-122"/>
                <a:ea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rPr>
              <a:t>更是企业知识资产的数字化沉淀。当业务规则、流程逻辑、指标定义都以结构化方式保存后</a:t>
            </a:r>
            <a:r>
              <a:rPr lang="en-US" altLang="zh-CN" sz="1200">
                <a:latin typeface="微软雅黑" panose="020B0503020204020204" pitchFamily="34" charset="-122"/>
                <a:ea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rPr>
              <a:t>它的价值不仅在于</a:t>
            </a:r>
            <a:r>
              <a:rPr lang="en-US" altLang="zh-CN" sz="1200">
                <a:latin typeface="微软雅黑" panose="020B0503020204020204" pitchFamily="34" charset="-122"/>
                <a:ea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rPr>
              <a:t>让</a:t>
            </a:r>
            <a:r>
              <a:rPr lang="en-US" altLang="zh-CN" sz="1200">
                <a:latin typeface="微软雅黑" panose="020B0503020204020204" pitchFamily="34" charset="-122"/>
                <a:ea typeface="微软雅黑" panose="020B0503020204020204" pitchFamily="34" charset="-122"/>
              </a:rPr>
              <a:t>AI</a:t>
            </a:r>
            <a:r>
              <a:rPr lang="zh-CN" altLang="en-US" sz="1200">
                <a:latin typeface="微软雅黑" panose="020B0503020204020204" pitchFamily="34" charset="-122"/>
                <a:ea typeface="微软雅黑" panose="020B0503020204020204" pitchFamily="34" charset="-122"/>
              </a:rPr>
              <a:t>更准确</a:t>
            </a:r>
            <a:r>
              <a:rPr lang="en-US" altLang="zh-CN" sz="1200">
                <a:latin typeface="微软雅黑" panose="020B0503020204020204" pitchFamily="34" charset="-122"/>
                <a:ea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rPr>
              <a:t>更在于</a:t>
            </a:r>
            <a:r>
              <a:rPr lang="en-US" altLang="zh-CN" sz="1200">
                <a:latin typeface="微软雅黑" panose="020B0503020204020204" pitchFamily="34" charset="-122"/>
                <a:ea typeface="微软雅黑" panose="020B0503020204020204" pitchFamily="34" charset="-122"/>
              </a:rPr>
              <a:t>:</a:t>
            </a:r>
          </a:p>
          <a:p>
            <a:pPr lvl="1">
              <a:lnSpc>
                <a:spcPct val="150000"/>
              </a:lnSpc>
            </a:pPr>
            <a:r>
              <a:rPr lang="zh-CN" altLang="en-US" sz="1200">
                <a:latin typeface="微软雅黑" panose="020B0503020204020204" pitchFamily="34" charset="-122"/>
                <a:ea typeface="微软雅黑" panose="020B0503020204020204" pitchFamily="34" charset="-122"/>
              </a:rPr>
              <a:t>新员工培训</a:t>
            </a:r>
            <a:r>
              <a:rPr lang="en-US" altLang="zh-CN" sz="1200">
                <a:latin typeface="微软雅黑" panose="020B0503020204020204" pitchFamily="34" charset="-122"/>
                <a:ea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rPr>
              <a:t>看元模型就能理解业务</a:t>
            </a:r>
            <a:endParaRPr lang="en-US" altLang="zh-CN" sz="1200">
              <a:latin typeface="微软雅黑" panose="020B0503020204020204" pitchFamily="34" charset="-122"/>
              <a:ea typeface="微软雅黑" panose="020B0503020204020204" pitchFamily="34" charset="-122"/>
            </a:endParaRPr>
          </a:p>
          <a:p>
            <a:pPr lvl="1">
              <a:lnSpc>
                <a:spcPct val="150000"/>
              </a:lnSpc>
            </a:pPr>
            <a:r>
              <a:rPr lang="zh-CN" altLang="en-US" sz="1200">
                <a:latin typeface="微软雅黑" panose="020B0503020204020204" pitchFamily="34" charset="-122"/>
                <a:ea typeface="微软雅黑" panose="020B0503020204020204" pitchFamily="34" charset="-122"/>
              </a:rPr>
              <a:t>业务规范</a:t>
            </a:r>
            <a:r>
              <a:rPr lang="en-US" altLang="zh-CN" sz="1200">
                <a:latin typeface="微软雅黑" panose="020B0503020204020204" pitchFamily="34" charset="-122"/>
                <a:ea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rPr>
              <a:t>统一了全公司的业务语言</a:t>
            </a:r>
            <a:endParaRPr lang="en-US" altLang="zh-CN" sz="1200">
              <a:latin typeface="微软雅黑" panose="020B0503020204020204" pitchFamily="34" charset="-122"/>
              <a:ea typeface="微软雅黑" panose="020B0503020204020204" pitchFamily="34" charset="-122"/>
            </a:endParaRPr>
          </a:p>
          <a:p>
            <a:pPr lvl="1">
              <a:lnSpc>
                <a:spcPct val="150000"/>
              </a:lnSpc>
            </a:pPr>
            <a:r>
              <a:rPr lang="zh-CN" altLang="en-US" sz="1200">
                <a:latin typeface="微软雅黑" panose="020B0503020204020204" pitchFamily="34" charset="-122"/>
                <a:ea typeface="微软雅黑" panose="020B0503020204020204" pitchFamily="34" charset="-122"/>
              </a:rPr>
              <a:t>流程优化</a:t>
            </a:r>
            <a:r>
              <a:rPr lang="en-US" altLang="zh-CN" sz="1200">
                <a:latin typeface="微软雅黑" panose="020B0503020204020204" pitchFamily="34" charset="-122"/>
                <a:ea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rPr>
              <a:t>可视化暴露流程中的问题点</a:t>
            </a:r>
            <a:endParaRPr lang="en-US" altLang="zh-CN" sz="1200">
              <a:latin typeface="微软雅黑" panose="020B0503020204020204" pitchFamily="34" charset="-122"/>
              <a:ea typeface="微软雅黑" panose="020B0503020204020204" pitchFamily="34" charset="-122"/>
            </a:endParaRPr>
          </a:p>
          <a:p>
            <a:pPr lvl="1">
              <a:lnSpc>
                <a:spcPct val="150000"/>
              </a:lnSpc>
            </a:pPr>
            <a:r>
              <a:rPr lang="zh-CN" altLang="en-US" sz="1200">
                <a:latin typeface="微软雅黑" panose="020B0503020204020204" pitchFamily="34" charset="-122"/>
                <a:ea typeface="微软雅黑" panose="020B0503020204020204" pitchFamily="34" charset="-122"/>
              </a:rPr>
              <a:t>知识传承</a:t>
            </a:r>
            <a:r>
              <a:rPr lang="en-US" altLang="zh-CN" sz="1200">
                <a:latin typeface="微软雅黑" panose="020B0503020204020204" pitchFamily="34" charset="-122"/>
                <a:ea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rPr>
              <a:t>老员工经验不再</a:t>
            </a:r>
            <a:r>
              <a:rPr lang="en-US" altLang="zh-CN" sz="1200">
                <a:latin typeface="微软雅黑" panose="020B0503020204020204" pitchFamily="34" charset="-122"/>
                <a:ea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rPr>
              <a:t>失传</a:t>
            </a:r>
            <a:r>
              <a:rPr lang="en-US" altLang="zh-CN" sz="1200">
                <a:latin typeface="微软雅黑" panose="020B0503020204020204" pitchFamily="34" charset="-122"/>
                <a:ea typeface="微软雅黑" panose="020B0503020204020204" pitchFamily="34" charset="-122"/>
              </a:rPr>
              <a:t>“</a:t>
            </a:r>
          </a:p>
          <a:p>
            <a:pPr>
              <a:lnSpc>
                <a:spcPct val="150000"/>
              </a:lnSpc>
            </a:pPr>
            <a:r>
              <a:rPr lang="zh-CN" altLang="en-US" sz="1600">
                <a:latin typeface="微软雅黑" panose="020B0503020204020204" pitchFamily="34" charset="-122"/>
                <a:ea typeface="微软雅黑" panose="020B0503020204020204" pitchFamily="34" charset="-122"/>
              </a:rPr>
              <a:t>这才是智能问数系统的终极意义。也是我们在通过</a:t>
            </a:r>
            <a:r>
              <a:rPr lang="en-US" altLang="zh-CN" sz="1600">
                <a:latin typeface="微软雅黑" panose="020B0503020204020204" pitchFamily="34" charset="-122"/>
                <a:ea typeface="微软雅黑" panose="020B0503020204020204" pitchFamily="34" charset="-122"/>
              </a:rPr>
              <a:t>AI</a:t>
            </a:r>
            <a:r>
              <a:rPr lang="zh-CN" altLang="en-US" sz="1600">
                <a:latin typeface="微软雅黑" panose="020B0503020204020204" pitchFamily="34" charset="-122"/>
                <a:ea typeface="微软雅黑" panose="020B0503020204020204" pitchFamily="34" charset="-122"/>
              </a:rPr>
              <a:t>辅助进一步发挥</a:t>
            </a:r>
            <a:r>
              <a:rPr lang="en-US" altLang="zh-CN" sz="1600">
                <a:latin typeface="微软雅黑" panose="020B0503020204020204" pitchFamily="34" charset="-122"/>
                <a:ea typeface="微软雅黑" panose="020B0503020204020204" pitchFamily="34" charset="-122"/>
              </a:rPr>
              <a:t>AI</a:t>
            </a:r>
            <a:r>
              <a:rPr lang="zh-CN" altLang="en-US" sz="1600">
                <a:latin typeface="微软雅黑" panose="020B0503020204020204" pitchFamily="34" charset="-122"/>
                <a:ea typeface="微软雅黑" panose="020B0503020204020204" pitchFamily="34" charset="-122"/>
              </a:rPr>
              <a:t>价值的关键点所在。</a:t>
            </a:r>
          </a:p>
        </p:txBody>
      </p:sp>
    </p:spTree>
    <p:extLst>
      <p:ext uri="{BB962C8B-B14F-4D97-AF65-F5344CB8AC3E}">
        <p14:creationId xmlns:p14="http://schemas.microsoft.com/office/powerpoint/2010/main" val="311941029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176</TotalTime>
  <Words>5074</Words>
  <Application>Microsoft Office PowerPoint</Application>
  <PresentationFormat>宽屏</PresentationFormat>
  <Paragraphs>349</Paragraphs>
  <Slides>21</Slides>
  <Notes>0</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21</vt:i4>
      </vt:variant>
    </vt:vector>
  </HeadingPairs>
  <TitlesOfParts>
    <vt:vector size="29" baseType="lpstr">
      <vt:lpstr>等线</vt:lpstr>
      <vt:lpstr>等线 Light</vt:lpstr>
      <vt:lpstr>楷体</vt:lpstr>
      <vt:lpstr>微软雅黑</vt:lpstr>
      <vt:lpstr>Arial</vt:lpstr>
      <vt:lpstr>Consolas</vt:lpstr>
      <vt:lpstr>Office 主题​​</vt:lpstr>
      <vt:lpstr>1_Office 主题​​</vt:lpstr>
      <vt:lpstr>PowerPoint 演示文稿</vt:lpstr>
      <vt:lpstr>数据治理AI助手</vt:lpstr>
      <vt:lpstr>PowerPoint 演示文稿</vt:lpstr>
      <vt:lpstr>PowerPoint 演示文稿</vt:lpstr>
      <vt:lpstr>PowerPoint 演示文稿</vt:lpstr>
      <vt:lpstr>第一层：领域术语词典 - 让AI说"人话"</vt:lpstr>
      <vt:lpstr>第二层：静态数据模型 - 传统的"地基"</vt:lpstr>
      <vt:lpstr>第三层：过程模型 - 数据的"出生证明"</vt:lpstr>
      <vt:lpstr>第三层：过程模型 - 数据的"出生证明"</vt:lpstr>
      <vt:lpstr>第四层：指标推理模型 - 数据的"使用说明书"</vt:lpstr>
      <vt:lpstr>第四层：指标推理模型 - 数据的"使用说明书"</vt:lpstr>
      <vt:lpstr>第五层：呈现约束模型 - 让答案"好看又好用"</vt:lpstr>
      <vt:lpstr>第六层: 上下文感知 - 理解"弦外之音"</vt:lpstr>
      <vt:lpstr>第七层:  元模型治理 - 让系统越用越聪明</vt:lpstr>
      <vt:lpstr>实施效果：从"猜"到"懂"</vt:lpstr>
      <vt:lpstr>PowerPoint 演示文稿</vt:lpstr>
      <vt:lpstr>PowerPoint 演示文稿</vt:lpstr>
      <vt:lpstr>实施步骤：小步验证，快速迭代</vt:lpstr>
      <vt:lpstr>PowerPoint 演示文稿</vt:lpstr>
      <vt:lpstr>PowerPoint 演示文稿</vt:lpstr>
      <vt:lpstr>总结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Frank Zhao</dc:creator>
  <cp:lastModifiedBy>Frank Zhao</cp:lastModifiedBy>
  <cp:revision>2</cp:revision>
  <dcterms:created xsi:type="dcterms:W3CDTF">2026-01-27T03:26:46Z</dcterms:created>
  <dcterms:modified xsi:type="dcterms:W3CDTF">2026-03-24T04:03:52Z</dcterms:modified>
</cp:coreProperties>
</file>