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002000" cy="1066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5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jpeg"/><Relationship Id="rId18" Type="http://schemas.openxmlformats.org/officeDocument/2006/relationships/image" Target="../media/image30.jpeg"/><Relationship Id="rId26" Type="http://schemas.openxmlformats.org/officeDocument/2006/relationships/image" Target="../media/image38.jpeg"/><Relationship Id="rId3" Type="http://schemas.openxmlformats.org/officeDocument/2006/relationships/image" Target="../media/image15.jpeg"/><Relationship Id="rId21" Type="http://schemas.openxmlformats.org/officeDocument/2006/relationships/image" Target="../media/image33.jpeg"/><Relationship Id="rId7" Type="http://schemas.openxmlformats.org/officeDocument/2006/relationships/image" Target="../media/image19.jpeg"/><Relationship Id="rId12" Type="http://schemas.openxmlformats.org/officeDocument/2006/relationships/image" Target="../media/image24.jpeg"/><Relationship Id="rId17" Type="http://schemas.openxmlformats.org/officeDocument/2006/relationships/image" Target="../media/image29.jpeg"/><Relationship Id="rId25" Type="http://schemas.openxmlformats.org/officeDocument/2006/relationships/image" Target="../media/image37.jpeg"/><Relationship Id="rId2" Type="http://schemas.openxmlformats.org/officeDocument/2006/relationships/image" Target="../media/image14.png"/><Relationship Id="rId16" Type="http://schemas.openxmlformats.org/officeDocument/2006/relationships/image" Target="../media/image28.jpeg"/><Relationship Id="rId20" Type="http://schemas.openxmlformats.org/officeDocument/2006/relationships/image" Target="../media/image32.jpeg"/><Relationship Id="rId29" Type="http://schemas.openxmlformats.org/officeDocument/2006/relationships/image" Target="../media/image4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24" Type="http://schemas.openxmlformats.org/officeDocument/2006/relationships/image" Target="../media/image36.jpeg"/><Relationship Id="rId5" Type="http://schemas.openxmlformats.org/officeDocument/2006/relationships/image" Target="../media/image17.jpeg"/><Relationship Id="rId15" Type="http://schemas.openxmlformats.org/officeDocument/2006/relationships/image" Target="../media/image27.jpeg"/><Relationship Id="rId23" Type="http://schemas.openxmlformats.org/officeDocument/2006/relationships/image" Target="../media/image35.jpeg"/><Relationship Id="rId28" Type="http://schemas.openxmlformats.org/officeDocument/2006/relationships/image" Target="../media/image40.jpeg"/><Relationship Id="rId10" Type="http://schemas.openxmlformats.org/officeDocument/2006/relationships/image" Target="../media/image22.jpeg"/><Relationship Id="rId19" Type="http://schemas.openxmlformats.org/officeDocument/2006/relationships/image" Target="../media/image31.jpeg"/><Relationship Id="rId4" Type="http://schemas.openxmlformats.org/officeDocument/2006/relationships/image" Target="../media/image16.jpeg"/><Relationship Id="rId9" Type="http://schemas.openxmlformats.org/officeDocument/2006/relationships/image" Target="../media/image21.png"/><Relationship Id="rId14" Type="http://schemas.openxmlformats.org/officeDocument/2006/relationships/image" Target="../media/image26.jpeg"/><Relationship Id="rId22" Type="http://schemas.openxmlformats.org/officeDocument/2006/relationships/image" Target="../media/image34.jpeg"/><Relationship Id="rId27" Type="http://schemas.openxmlformats.org/officeDocument/2006/relationships/image" Target="../media/image3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Relationship Id="rId9" Type="http://schemas.openxmlformats.org/officeDocument/2006/relationships/image" Target="../media/image5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002000" cy="1066159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134774" y="1418007"/>
            <a:ext cx="6120765" cy="678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9500" b="1" kern="0" spc="1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r>
              <a:rPr sz="4100" kern="0" spc="0" baseline="4000" dirty="0">
                <a:solidFill>
                  <a:srgbClr val="00F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CONTENTS</a:t>
            </a:r>
            <a:endParaRPr sz="4100" baseline="4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1955" algn="l" rtl="0" eaLnBrk="0">
              <a:lnSpc>
                <a:spcPct val="97000"/>
              </a:lnSpc>
              <a:spcBef>
                <a:spcPts val="1120"/>
              </a:spcBef>
            </a:pPr>
            <a:r>
              <a:rPr sz="3700" b="1" kern="0" spc="10" dirty="0">
                <a:solidFill>
                  <a:srgbClr val="00F1B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01.</a:t>
            </a:r>
            <a:r>
              <a:rPr sz="3700" kern="0" spc="10" dirty="0">
                <a:solidFill>
                  <a:srgbClr val="00F1B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700" b="1" kern="0" spc="10" dirty="0">
                <a:solidFill>
                  <a:srgbClr val="00F1B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主数据治理的概</a:t>
            </a:r>
            <a:r>
              <a:rPr sz="3700" b="1" kern="0" spc="0" dirty="0">
                <a:solidFill>
                  <a:srgbClr val="00F1B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况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110"/>
              </a:lnSpc>
              <a:spcBef>
                <a:spcPts val="1120"/>
              </a:spcBef>
            </a:pPr>
            <a:r>
              <a:rPr sz="3700" b="1" kern="0" spc="30" dirty="0">
                <a:solidFill>
                  <a:schemeClr val="bg1">
                    <a:alpha val="10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02.</a:t>
            </a:r>
            <a:r>
              <a:rPr sz="3700" b="1" kern="0" spc="0" dirty="0">
                <a:solidFill>
                  <a:schemeClr val="bg1">
                    <a:alpha val="10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</a:t>
            </a:r>
            <a:r>
              <a:rPr sz="3700" b="1" kern="0" spc="390" dirty="0">
                <a:solidFill>
                  <a:schemeClr val="bg1">
                    <a:alpha val="10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700" b="1" kern="0" spc="30" dirty="0">
                <a:solidFill>
                  <a:schemeClr val="bg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在主数据清洗的应用</a:t>
            </a:r>
            <a:endParaRPr sz="37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94970" algn="l" rtl="0" eaLnBrk="0">
              <a:lnSpc>
                <a:spcPct val="97000"/>
              </a:lnSpc>
            </a:pPr>
            <a:r>
              <a:rPr sz="3700" b="1" kern="0" spc="10" dirty="0">
                <a:solidFill>
                  <a:schemeClr val="bg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03.</a:t>
            </a:r>
            <a:r>
              <a:rPr sz="3700" b="1" kern="0" spc="0" dirty="0">
                <a:solidFill>
                  <a:schemeClr val="bg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Al</a:t>
            </a:r>
            <a:r>
              <a:rPr lang="en-US" sz="3700" b="1" kern="0" spc="0" dirty="0">
                <a:solidFill>
                  <a:schemeClr val="bg1">
                    <a:alpha val="10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700" b="1" kern="0" spc="10" dirty="0">
                <a:solidFill>
                  <a:schemeClr val="bg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在主数据治理</a:t>
            </a:r>
            <a:r>
              <a:rPr sz="3700" b="1" kern="0" spc="0" dirty="0">
                <a:solidFill>
                  <a:schemeClr val="bg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002000" cy="1066800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203166" y="158734"/>
            <a:ext cx="6547484" cy="9611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4400" algn="l" rtl="0" eaLnBrk="0">
              <a:lnSpc>
                <a:spcPct val="97000"/>
              </a:lnSpc>
              <a:tabLst>
                <a:tab pos="1098550" algn="l"/>
              </a:tabLst>
            </a:pPr>
            <a:r>
              <a:rPr sz="3500" kern="0" spc="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500" b="1" kern="0" spc="20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主数据治理目标&amp;现</a:t>
            </a:r>
            <a:r>
              <a:rPr sz="3500" b="1" kern="0" spc="19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状</a:t>
            </a:r>
            <a:endParaRPr sz="3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23845" algn="l" rtl="0" eaLnBrk="0">
              <a:lnSpc>
                <a:spcPct val="96000"/>
              </a:lnSpc>
              <a:spcBef>
                <a:spcPts val="815"/>
              </a:spcBef>
            </a:pPr>
            <a:r>
              <a:rPr sz="27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主数据治理框架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70"/>
              </a:lnSpc>
              <a:spcBef>
                <a:spcPts val="515"/>
              </a:spcBef>
            </a:pPr>
            <a:r>
              <a:rPr sz="2600" b="1" kern="0" spc="-40" baseline="14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药品主数据</a:t>
            </a:r>
            <a:r>
              <a:rPr sz="1600"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600" b="1" kern="0" spc="-40" baseline="-1000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客商主数据</a:t>
            </a:r>
            <a:r>
              <a:rPr sz="1600" kern="0" spc="28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b="1" kern="0" spc="-40" dirty="0">
                <a:solidFill>
                  <a:srgbClr val="AFF8C2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饮片主数据</a:t>
            </a:r>
            <a:r>
              <a:rPr sz="1700" kern="0" spc="310" dirty="0">
                <a:solidFill>
                  <a:srgbClr val="AFF8C2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用户主数据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器械主数据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0" algn="l" rtl="0" eaLnBrk="0">
              <a:lnSpc>
                <a:spcPct val="96000"/>
              </a:lnSpc>
              <a:spcBef>
                <a:spcPts val="520"/>
              </a:spcBef>
            </a:pPr>
            <a:r>
              <a:rPr sz="1700" kern="0" spc="-40" dirty="0">
                <a:solidFill>
                  <a:srgbClr val="5686C6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药品分销          </a:t>
            </a:r>
            <a:r>
              <a:rPr sz="1700" kern="0" spc="-40" dirty="0">
                <a:solidFill>
                  <a:srgbClr val="457ACA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器械分销          </a:t>
            </a:r>
            <a:r>
              <a:rPr sz="1700" kern="0" spc="-40" dirty="0">
                <a:solidFill>
                  <a:srgbClr val="5690D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药械零售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58490" algn="l" rtl="0" eaLnBrk="0">
              <a:lnSpc>
                <a:spcPct val="95000"/>
              </a:lnSpc>
              <a:spcBef>
                <a:spcPts val="520"/>
              </a:spcBef>
            </a:pPr>
            <a:r>
              <a:rPr sz="17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编码申请数据下发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58190" algn="l" rtl="0" eaLnBrk="0">
              <a:lnSpc>
                <a:spcPts val="2325"/>
              </a:lnSpc>
              <a:spcBef>
                <a:spcPts val="510"/>
              </a:spcBef>
            </a:pPr>
            <a:r>
              <a:rPr sz="2600" b="1" kern="0" spc="-70" baseline="11000" dirty="0">
                <a:solidFill>
                  <a:srgbClr val="D7000E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主数据管理平台</a:t>
            </a:r>
            <a:r>
              <a:rPr sz="1600" kern="0" spc="20" dirty="0">
                <a:solidFill>
                  <a:srgbClr val="D7000E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</a:t>
            </a:r>
            <a:r>
              <a:rPr sz="2600" b="1" kern="0" spc="-70" baseline="-11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主数据库</a:t>
            </a:r>
            <a:endParaRPr sz="2600" baseline="-1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63545" algn="l" rtl="0" eaLnBrk="0">
              <a:lnSpc>
                <a:spcPct val="96000"/>
              </a:lnSpc>
              <a:spcBef>
                <a:spcPts val="820"/>
              </a:spcBef>
            </a:pPr>
            <a:r>
              <a:rPr sz="27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主数据</a:t>
            </a:r>
            <a:r>
              <a:rPr sz="2700" b="1" kern="0" spc="-120" dirty="0">
                <a:solidFill>
                  <a:srgbClr val="00B855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</a:t>
            </a:r>
            <a:r>
              <a:rPr sz="2700" kern="0" spc="-230" dirty="0">
                <a:solidFill>
                  <a:srgbClr val="00B855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体系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63545" algn="l" rtl="0" eaLnBrk="0">
              <a:lnSpc>
                <a:spcPct val="96000"/>
              </a:lnSpc>
              <a:spcBef>
                <a:spcPts val="820"/>
              </a:spcBef>
            </a:pPr>
            <a:r>
              <a:rPr sz="27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主数据</a:t>
            </a:r>
            <a:r>
              <a:rPr sz="2700" kern="0" spc="4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7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体系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63545" algn="l" rtl="0" eaLnBrk="0">
              <a:lnSpc>
                <a:spcPct val="96000"/>
              </a:lnSpc>
              <a:spcBef>
                <a:spcPts val="820"/>
              </a:spcBef>
            </a:pPr>
            <a:r>
              <a:rPr sz="2700" b="1"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主数据</a:t>
            </a:r>
            <a:r>
              <a:rPr sz="2700" b="1" kern="0" spc="-150" dirty="0">
                <a:solidFill>
                  <a:srgbClr val="009D5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</a:t>
            </a:r>
            <a:r>
              <a:rPr sz="2700" kern="0" spc="-550" dirty="0">
                <a:solidFill>
                  <a:srgbClr val="009D5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-150" dirty="0">
                <a:solidFill>
                  <a:srgbClr val="009D5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</a:t>
            </a:r>
            <a:r>
              <a:rPr sz="2700" b="1"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63545" algn="l" rtl="0" eaLnBrk="0">
              <a:lnSpc>
                <a:spcPct val="96000"/>
              </a:lnSpc>
              <a:spcBef>
                <a:spcPts val="5"/>
              </a:spcBef>
            </a:pPr>
            <a:r>
              <a:rPr sz="27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主数据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7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体系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5866" y="171434"/>
            <a:ext cx="901712" cy="1117579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9359831" y="2734467"/>
            <a:ext cx="6185534" cy="7180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0" indent="-349250" algn="l" rtl="0" eaLnBrk="0">
              <a:lnSpc>
                <a:spcPct val="137000"/>
              </a:lnSpc>
            </a:pP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</a:t>
            </a:r>
            <a:r>
              <a:rPr sz="1900" kern="0" spc="-5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建立覆盖</a:t>
            </a:r>
            <a:r>
              <a:rPr sz="1900" kern="0" spc="-30" dirty="0">
                <a:solidFill>
                  <a:srgbClr val="B1292E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公司级的统一主数据管理平台</a:t>
            </a:r>
            <a:r>
              <a:rPr sz="19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，实现主数据审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核、主数据分发、主数据模型、主数据质量等功能</a:t>
            </a: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510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●完成与各业务系统的对接改造，确保“数据同源”。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0" indent="-349250" algn="l" rtl="0" eaLnBrk="0">
              <a:lnSpc>
                <a:spcPct val="134000"/>
              </a:lnSpc>
              <a:spcBef>
                <a:spcPts val="510"/>
              </a:spcBef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 建 立</a:t>
            </a:r>
            <a:r>
              <a:rPr sz="1700" kern="0" spc="110" dirty="0">
                <a:solidFill>
                  <a:srgbClr val="EC130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公司级主数据规范和</a:t>
            </a:r>
            <a:r>
              <a:rPr sz="1700" kern="0" spc="100" dirty="0">
                <a:solidFill>
                  <a:srgbClr val="EC130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标准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，落地主数据管理体系和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流程，实现业务主数据的强关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联管控。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1950" indent="-349250" algn="l" rtl="0" eaLnBrk="0">
              <a:lnSpc>
                <a:spcPct val="138000"/>
              </a:lnSpc>
              <a:spcBef>
                <a:spcPts val="580"/>
              </a:spcBef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●分主题推进业务主数据建设，在已完成药品、客户、供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应商、中药饮片基础上，推进器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械、用户等主数据建设。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1165" indent="-374015" algn="l" rtl="0" eaLnBrk="0">
              <a:lnSpc>
                <a:spcPct val="141000"/>
              </a:lnSpc>
              <a:spcBef>
                <a:spcPts val="580"/>
              </a:spcBef>
            </a:pP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●从2017年到现在，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累计积累主数据约114万条(药品：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17万条，客户供应商：74.6万条，饮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片：22.1万条)。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2115" indent="-361315" algn="l" rtl="0" eaLnBrk="0">
              <a:lnSpc>
                <a:spcPct val="145000"/>
              </a:lnSpc>
              <a:spcBef>
                <a:spcPts val="5"/>
              </a:spcBef>
            </a:pP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●其中，覆盖国家医保目录11.3万条，建立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ATC</a:t>
            </a: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分类1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6.8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万条、客商地址信息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73万条等。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435895" y="2634507"/>
            <a:ext cx="433705" cy="6969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700" kern="0" spc="3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平台层面</a:t>
            </a: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2900" kern="0" spc="3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标准层面</a:t>
            </a:r>
            <a:r>
              <a:rPr sz="2900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2600" kern="0" spc="38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成果层面</a:t>
            </a:r>
            <a:endParaRPr sz="2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5067294" y="5888745"/>
            <a:ext cx="2302510" cy="6235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700" kern="0" spc="-40" dirty="0">
                <a:solidFill>
                  <a:srgbClr val="4278C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数据模型</a:t>
            </a:r>
            <a:r>
              <a:rPr sz="1700" kern="0" spc="50" dirty="0">
                <a:solidFill>
                  <a:srgbClr val="4278C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sz="1700" kern="0" spc="-40" dirty="0">
                <a:solidFill>
                  <a:srgbClr val="5287D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数据监管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200"/>
              </a:lnSpc>
              <a:spcBef>
                <a:spcPts val="5"/>
              </a:spcBef>
            </a:pPr>
            <a:r>
              <a:rPr sz="2600" kern="0" spc="-10" baseline="6000" dirty="0">
                <a:solidFill>
                  <a:srgbClr val="5B94E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权限控制</a:t>
            </a:r>
            <a:r>
              <a:rPr sz="1600" kern="0" spc="90" dirty="0">
                <a:solidFill>
                  <a:srgbClr val="5B94E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</a:t>
            </a:r>
            <a:r>
              <a:rPr sz="2600" kern="0" spc="-10" baseline="-2000" dirty="0">
                <a:solidFill>
                  <a:srgbClr val="5287D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数据优化</a:t>
            </a:r>
            <a:endParaRPr sz="2600" baseline="-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002000" cy="10661598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508005" y="190525"/>
            <a:ext cx="13380085" cy="2885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96900" algn="l" rtl="0" eaLnBrk="0">
              <a:lnSpc>
                <a:spcPct val="95000"/>
              </a:lnSpc>
              <a:spcBef>
                <a:spcPts val="0"/>
              </a:spcBef>
              <a:tabLst>
                <a:tab pos="774700" algn="l"/>
              </a:tabLst>
            </a:pPr>
            <a:r>
              <a:rPr sz="3600" kern="0" spc="0" dirty="0">
                <a:solidFill>
                  <a:srgbClr val="0046C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600" b="1" kern="0" spc="60" dirty="0">
                <a:solidFill>
                  <a:srgbClr val="0046C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项目面临的挑战和传统方</a:t>
            </a:r>
            <a:r>
              <a:rPr sz="3600" b="1" kern="0" spc="50" dirty="0">
                <a:solidFill>
                  <a:srgbClr val="0046C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案的瓶颈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600"/>
              </a:lnSpc>
              <a:spcBef>
                <a:spcPts val="5"/>
              </a:spcBef>
            </a:pPr>
            <a:r>
              <a:rPr sz="5500" b="1" kern="0" spc="60" baseline="-4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主要挑战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</a:t>
            </a:r>
            <a:r>
              <a:rPr sz="36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传统清洗方案的瓶颈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0705" y="203225"/>
            <a:ext cx="584232" cy="84447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9142" y="8197824"/>
            <a:ext cx="698487" cy="819195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768357" y="3663919"/>
            <a:ext cx="6216015" cy="534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400w+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待清洗数据，</a:t>
            </a:r>
            <a:r>
              <a:rPr sz="27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且源源不断增加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00100" algn="l" rtl="0" eaLnBrk="0">
              <a:lnSpc>
                <a:spcPct val="95000"/>
              </a:lnSpc>
              <a:spcBef>
                <a:spcPts val="820"/>
              </a:spcBef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型号、规格数据结构超5000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种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00100" algn="l" rtl="0" eaLnBrk="0">
              <a:lnSpc>
                <a:spcPct val="96000"/>
              </a:lnSpc>
              <a:spcBef>
                <a:spcPts val="820"/>
              </a:spcBef>
            </a:pP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参考数据为非结构化数据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00100" algn="l" rtl="0" eaLnBrk="0">
              <a:lnSpc>
                <a:spcPct val="95000"/>
              </a:lnSpc>
              <a:spcBef>
                <a:spcPts val="820"/>
              </a:spcBef>
            </a:pP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产品分类需要专业知识积累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0" algn="l" rtl="0" eaLnBrk="0">
              <a:lnSpc>
                <a:spcPct val="95000"/>
              </a:lnSpc>
              <a:spcBef>
                <a:spcPts val="5"/>
              </a:spcBef>
            </a:pPr>
            <a:r>
              <a:rPr sz="2700" kern="0" spc="-20" dirty="0">
                <a:solidFill>
                  <a:srgbClr val="77ACD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⑤  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噪声和错误数据占比高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12741" y="6978685"/>
            <a:ext cx="698487" cy="806393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93699" y="5860999"/>
            <a:ext cx="711288" cy="78111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6500" y="4768809"/>
            <a:ext cx="692086" cy="77471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81057" y="3676619"/>
            <a:ext cx="717529" cy="800099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9004266" y="3673572"/>
            <a:ext cx="5490209" cy="531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9300" kern="0" spc="-90" baseline="-10000" dirty="0">
                <a:solidFill>
                  <a:srgbClr val="5BD37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sz="6000" kern="0" spc="-1960" dirty="0">
                <a:solidFill>
                  <a:srgbClr val="5BD37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4100" kern="0" spc="-90" baseline="8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在清洗过程中产生新的数</a:t>
            </a:r>
            <a:r>
              <a:rPr sz="4100" kern="0" spc="-100" baseline="8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据问题</a:t>
            </a:r>
            <a:endParaRPr sz="4100" baseline="8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" algn="l" rtl="0" eaLnBrk="0">
              <a:lnSpc>
                <a:spcPct val="95000"/>
              </a:lnSpc>
              <a:spcBef>
                <a:spcPts val="815"/>
              </a:spcBef>
            </a:pPr>
            <a:r>
              <a:rPr sz="2700" kern="0" spc="-20" dirty="0">
                <a:solidFill>
                  <a:srgbClr val="5BD37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②</a:t>
            </a:r>
            <a:r>
              <a:rPr sz="2700" kern="0" spc="1180" dirty="0">
                <a:solidFill>
                  <a:srgbClr val="5BD37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清洗规则难以穷举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" algn="l" rtl="0" eaLnBrk="0">
              <a:lnSpc>
                <a:spcPct val="95000"/>
              </a:lnSpc>
              <a:spcBef>
                <a:spcPts val="815"/>
              </a:spcBef>
            </a:pPr>
            <a:r>
              <a:rPr sz="2700" kern="0" spc="20" dirty="0">
                <a:solidFill>
                  <a:srgbClr val="5BD37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③</a:t>
            </a:r>
            <a:r>
              <a:rPr sz="2700" kern="0" spc="720" dirty="0">
                <a:solidFill>
                  <a:srgbClr val="5BD37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非结构化数据的识别问题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10565" algn="l" rtl="0" eaLnBrk="0">
              <a:lnSpc>
                <a:spcPct val="96000"/>
              </a:lnSpc>
              <a:spcBef>
                <a:spcPts val="815"/>
              </a:spcBef>
              <a:tabLst>
                <a:tab pos="82296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7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专家共识的建立问题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" algn="l" rtl="0" eaLnBrk="0">
              <a:lnSpc>
                <a:spcPct val="94000"/>
              </a:lnSpc>
              <a:spcBef>
                <a:spcPts val="0"/>
              </a:spcBef>
            </a:pPr>
            <a:r>
              <a:rPr sz="7900" kern="0" spc="-120" baseline="-7000" dirty="0">
                <a:solidFill>
                  <a:srgbClr val="5BD37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</a:t>
            </a:r>
            <a:r>
              <a:rPr sz="5100" kern="0" spc="-960" dirty="0">
                <a:solidFill>
                  <a:srgbClr val="5BD377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需要大量人工来完成质量校验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016967" y="6921504"/>
            <a:ext cx="698487" cy="8063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002000" cy="10668000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5443" y="1327098"/>
            <a:ext cx="15964535" cy="1308735"/>
          </a:xfrm>
          <a:prstGeom prst="rect">
            <a:avLst/>
          </a:prstGeom>
          <a:solidFill>
            <a:srgbClr val="DCEA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5315" algn="l" rtl="0" eaLnBrk="0">
              <a:lnSpc>
                <a:spcPct val="92000"/>
              </a:lnSpc>
            </a:pPr>
            <a:r>
              <a:rPr sz="1900" kern="0" spc="-70" dirty="0">
                <a:solidFill>
                  <a:srgbClr val="0051BB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sz="1900" kern="0" spc="710" dirty="0">
                <a:solidFill>
                  <a:srgbClr val="0051BB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-70" dirty="0">
                <a:solidFill>
                  <a:srgbClr val="0051B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线下、线上各类零售渠道，在实</a:t>
            </a:r>
            <a:r>
              <a:rPr sz="1900" kern="0" spc="-80" dirty="0">
                <a:solidFill>
                  <a:srgbClr val="0051B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际业务开展过程，在不同业务中、在不同场景下，会记录不同颗粒度的用户数据、交易数据；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5315" algn="l" rtl="0" eaLnBrk="0">
              <a:lnSpc>
                <a:spcPct val="95000"/>
              </a:lnSpc>
              <a:spcBef>
                <a:spcPts val="0"/>
              </a:spcBef>
            </a:pPr>
            <a:r>
              <a:rPr sz="1600" kern="0" spc="210" dirty="0">
                <a:solidFill>
                  <a:srgbClr val="0051BB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 </a:t>
            </a:r>
            <a:r>
              <a:rPr sz="1600" kern="0" spc="210" dirty="0">
                <a:solidFill>
                  <a:srgbClr val="0051B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会员、营销等系统，需要基于用户标签、用户画像，开展针对性营销活动，发放用户权益，跟踪营销效果等；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905855" y="5523612"/>
            <a:ext cx="4012565" cy="1894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900" b="1" kern="0" spc="-50" dirty="0">
                <a:solidFill>
                  <a:srgbClr val="0049B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目标：识别</a:t>
            </a:r>
            <a:r>
              <a:rPr sz="1900" b="1" kern="0" spc="-50" dirty="0">
                <a:solidFill>
                  <a:srgbClr val="0049B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OnelD</a:t>
            </a:r>
            <a:r>
              <a:rPr sz="1900" b="1" kern="0" spc="-50" dirty="0">
                <a:solidFill>
                  <a:srgbClr val="0049B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900" b="1" kern="0" spc="-50" dirty="0">
                <a:solidFill>
                  <a:srgbClr val="0049B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生成用</a:t>
            </a:r>
            <a:r>
              <a:rPr sz="1900" b="1" kern="0" spc="-60" dirty="0">
                <a:solidFill>
                  <a:srgbClr val="0049B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户最佳纪录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02740" algn="l" rtl="0" eaLnBrk="0">
              <a:lnSpc>
                <a:spcPct val="99000"/>
              </a:lnSpc>
              <a:spcBef>
                <a:spcPts val="5"/>
              </a:spcBef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循环迭代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14405" y="196819"/>
            <a:ext cx="6231254" cy="918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96265" algn="l" rtl="0" eaLnBrk="0">
              <a:lnSpc>
                <a:spcPct val="97000"/>
              </a:lnSpc>
              <a:tabLst>
                <a:tab pos="781050" algn="l"/>
              </a:tabLst>
            </a:pPr>
            <a:r>
              <a:rPr sz="3700" kern="0" spc="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700" b="1" kern="0" spc="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用户主数据建设背景&amp;目标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7105" y="209519"/>
            <a:ext cx="584073" cy="831890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4622759" y="8431311"/>
            <a:ext cx="9577705" cy="517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0000"/>
              </a:lnSpc>
            </a:pPr>
            <a:r>
              <a:rPr sz="2200" kern="0" spc="-200" dirty="0">
                <a:solidFill>
                  <a:srgbClr val="99F8A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其他…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1600" kern="0" spc="-80" dirty="0">
                <a:solidFill>
                  <a:srgbClr val="72CB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其他.…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092237" y="5537810"/>
            <a:ext cx="3046095" cy="1521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600" kern="0" spc="30" dirty="0">
                <a:solidFill>
                  <a:srgbClr val="6493F3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社区零售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14300" algn="l" rtl="0" eaLnBrk="0">
              <a:lnSpc>
                <a:spcPts val="2910"/>
              </a:lnSpc>
            </a:pPr>
            <a:r>
              <a:rPr sz="1600" kern="0" spc="120" dirty="0">
                <a:solidFill>
                  <a:srgbClr val="6493F3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(国大)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063115" indent="6350" algn="l" rtl="0" eaLnBrk="0">
              <a:lnSpc>
                <a:spcPct val="151000"/>
              </a:lnSpc>
              <a:spcBef>
                <a:spcPts val="305"/>
              </a:spcBef>
            </a:pPr>
            <a:r>
              <a:rPr sz="1900" kern="0" spc="-30" dirty="0">
                <a:solidFill>
                  <a:srgbClr val="8BF5A3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用户数据</a:t>
            </a:r>
            <a:r>
              <a:rPr sz="1900" kern="0" spc="0" dirty="0">
                <a:solidFill>
                  <a:srgbClr val="8BF5A3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处理平台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3290562" y="4049207"/>
            <a:ext cx="1010285" cy="358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900" kern="0" spc="20" dirty="0">
                <a:solidFill>
                  <a:srgbClr val="84F6A2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用户标签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75"/>
              </a:spcBef>
            </a:pPr>
            <a:r>
              <a:rPr sz="1900" kern="0" spc="30" dirty="0">
                <a:solidFill>
                  <a:srgbClr val="95F6A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用户画像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75"/>
              </a:spcBef>
            </a:pPr>
            <a:r>
              <a:rPr sz="1900" kern="0" spc="20" dirty="0">
                <a:solidFill>
                  <a:srgbClr val="71DB8A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用户权益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1900" kern="0" spc="10" dirty="0">
                <a:solidFill>
                  <a:srgbClr val="94FDAD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用户营销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1423609" y="5736965"/>
            <a:ext cx="587375" cy="1317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会员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875"/>
              </a:lnSpc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营销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904979" y="8425349"/>
            <a:ext cx="857250" cy="744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600" kern="0" spc="30" dirty="0">
                <a:solidFill>
                  <a:srgbClr val="79FA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线上商城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0" algn="l" rtl="0" eaLnBrk="0">
              <a:lnSpc>
                <a:spcPct val="84000"/>
              </a:lnSpc>
            </a:pPr>
            <a:r>
              <a:rPr sz="1600" kern="0" spc="0" dirty="0">
                <a:solidFill>
                  <a:srgbClr val="79FA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(B2C)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5334048" y="5531410"/>
            <a:ext cx="856614" cy="596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600" kern="0" spc="30" dirty="0">
                <a:solidFill>
                  <a:srgbClr val="7EF0F9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特药零售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6200" algn="l" rtl="0" eaLnBrk="0">
              <a:lnSpc>
                <a:spcPct val="84000"/>
              </a:lnSpc>
            </a:pPr>
            <a:r>
              <a:rPr sz="1600" kern="0" spc="10" dirty="0">
                <a:solidFill>
                  <a:srgbClr val="7EF0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600" kern="0" spc="0" dirty="0">
                <a:solidFill>
                  <a:srgbClr val="7EF0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SPS</a:t>
            </a:r>
            <a:r>
              <a:rPr sz="1600" kern="0" spc="10" dirty="0">
                <a:solidFill>
                  <a:srgbClr val="7EF0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+)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3219383" y="3875496"/>
            <a:ext cx="86995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600" kern="0" spc="50" dirty="0">
                <a:solidFill>
                  <a:srgbClr val="6CC2F4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健康社区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002000" cy="10668000"/>
          </a:xfrm>
          <a:prstGeom prst="rect">
            <a:avLst/>
          </a:prstGeom>
        </p:spPr>
      </p:pic>
      <p:graphicFrame>
        <p:nvGraphicFramePr>
          <p:cNvPr id="66" name="table 66"/>
          <p:cNvGraphicFramePr>
            <a:graphicFrameLocks noGrp="1"/>
          </p:cNvGraphicFramePr>
          <p:nvPr/>
        </p:nvGraphicFramePr>
        <p:xfrm>
          <a:off x="542973" y="3635360"/>
          <a:ext cx="14921865" cy="2553843"/>
        </p:xfrm>
        <a:graphic>
          <a:graphicData uri="http://schemas.openxmlformats.org/drawingml/2006/table">
            <a:tbl>
              <a:tblPr/>
              <a:tblGrid>
                <a:gridCol w="10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48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843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21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OnelD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811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21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UserlD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97000"/>
                        </a:lnSpc>
                      </a:pPr>
                      <a:r>
                        <a:rPr sz="2100" b="1" kern="0" spc="1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姓名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97000"/>
                        </a:lnSpc>
                        <a:spcBef>
                          <a:spcPts val="0"/>
                        </a:spcBef>
                      </a:pPr>
                      <a:r>
                        <a:rPr sz="2100" b="1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性别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112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2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手机号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4610" algn="l" rtl="0" eaLnBrk="0">
                        <a:lnSpc>
                          <a:spcPct val="97000"/>
                        </a:lnSpc>
                      </a:pPr>
                      <a:r>
                        <a:rPr sz="21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身份证号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9540" indent="-2476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20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教育</a:t>
                      </a:r>
                      <a:r>
                        <a:rPr sz="2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0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程度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3025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20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血型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eaVert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4310" algn="l" rtl="0" eaLnBrk="0">
                        <a:lnSpc>
                          <a:spcPct val="95000"/>
                        </a:lnSpc>
                      </a:pPr>
                      <a:r>
                        <a:rPr sz="2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省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075" algn="l" rtl="0" eaLnBrk="0">
                        <a:lnSpc>
                          <a:spcPct val="95000"/>
                        </a:lnSpc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875" algn="l" rtl="0" eaLnBrk="0">
                        <a:lnSpc>
                          <a:spcPct val="97000"/>
                        </a:lnSpc>
                      </a:pPr>
                      <a:r>
                        <a:rPr sz="2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区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21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创建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71145" algn="l" rtl="0" eaLnBrk="0">
                        <a:lnSpc>
                          <a:spcPts val="2630"/>
                        </a:lnSpc>
                      </a:pPr>
                      <a:r>
                        <a:rPr sz="21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时间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210" algn="l" rtl="0" eaLnBrk="0">
                        <a:lnSpc>
                          <a:spcPct val="85000"/>
                        </a:lnSpc>
                      </a:pPr>
                      <a:r>
                        <a:rPr sz="15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病</a:t>
                      </a:r>
                      <a:r>
                        <a:rPr sz="1500" kern="0" spc="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5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种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eaVert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861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21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确诊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155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21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医院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304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1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购药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266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21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门店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9560" indent="-10795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21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收货人</a:t>
                      </a:r>
                      <a:r>
                        <a:rPr sz="2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1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名称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1460" indent="-127000" algn="l" rtl="0" eaLnBrk="0">
                        <a:lnSpc>
                          <a:spcPct val="103000"/>
                        </a:lnSpc>
                        <a:spcBef>
                          <a:spcPts val="0"/>
                        </a:spcBef>
                      </a:pPr>
                      <a:r>
                        <a:rPr sz="20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收货人</a:t>
                      </a:r>
                      <a:r>
                        <a:rPr sz="20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20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电话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5890" algn="l" rtl="0" eaLnBrk="0">
                        <a:lnSpc>
                          <a:spcPts val="185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10000000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70840" algn="l" rtl="0" eaLnBrk="0">
                        <a:lnSpc>
                          <a:spcPts val="187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865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QC_DTP_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0365" algn="l" rtl="0" eaLnBrk="0">
                        <a:lnSpc>
                          <a:spcPts val="187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11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张大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161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男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680" indent="-29781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138****12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20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34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100" algn="l" rtl="0" eaLnBrk="0">
                        <a:lnSpc>
                          <a:spcPct val="94000"/>
                        </a:lnSpc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本科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906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3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省</a:t>
                      </a:r>
                      <a:endParaRPr sz="32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00" algn="l" rtl="0" eaLnBrk="0">
                        <a:lnSpc>
                          <a:spcPts val="187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2023-03-14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5890" algn="l" rtl="0" eaLnBrk="0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10000000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70840" algn="l" rtl="0" eaLnBrk="0">
                        <a:lnSpc>
                          <a:spcPts val="187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2580" indent="-132715" algn="l" rtl="0" eaLnBrk="0">
                        <a:lnSpc>
                          <a:spcPct val="106000"/>
                        </a:lnSpc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CMS_RTL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11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张大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265" algn="l" rtl="0" eaLnBrk="0">
                        <a:lnSpc>
                          <a:spcPct val="97000"/>
                        </a:lnSpc>
                      </a:pPr>
                      <a:r>
                        <a:rPr sz="2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男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0965" algn="l" rtl="0" eaLnBrk="0">
                        <a:lnSpc>
                          <a:spcPts val="1670"/>
                        </a:lnSpc>
                      </a:pPr>
                      <a:r>
                        <a:rPr sz="1300" kern="0" spc="0" dirty="0">
                          <a:solidFill>
                            <a:srgbClr val="DA0007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138****12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61315" algn="l" rtl="0" eaLnBrk="0">
                        <a:lnSpc>
                          <a:spcPct val="80000"/>
                        </a:lnSpc>
                        <a:spcBef>
                          <a:spcPts val="315"/>
                        </a:spcBef>
                      </a:pPr>
                      <a:r>
                        <a:rPr sz="2000" kern="0" spc="-40" dirty="0">
                          <a:solidFill>
                            <a:srgbClr val="D40E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34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5130" indent="-285115" algn="l" rtl="0" eaLnBrk="0">
                        <a:lnSpc>
                          <a:spcPct val="10100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1310******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</a:t>
                      </a:r>
                      <a:r>
                        <a:rPr sz="1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1135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成都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88265" algn="l" rtl="0" eaLnBrk="0">
                        <a:lnSpc>
                          <a:spcPts val="2520"/>
                        </a:lnSpc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00" algn="l" rtl="0" eaLnBrk="0">
                        <a:lnSpc>
                          <a:spcPts val="187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2023-04-15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0175" algn="l" rtl="0" eaLnBrk="0">
                        <a:lnSpc>
                          <a:spcPct val="95000"/>
                        </a:lnSpc>
                      </a:pPr>
                      <a:r>
                        <a:rPr sz="1500" b="1" kern="0" spc="-30" dirty="0">
                          <a:solidFill>
                            <a:srgbClr val="00B7DC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肺癌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500" kern="0" spc="10" dirty="0">
                          <a:solidFill>
                            <a:srgbClr val="00ACD7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成都医科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83185" algn="l" rtl="0" eaLnBrk="0">
                        <a:lnSpc>
                          <a:spcPct val="95000"/>
                        </a:lnSpc>
                        <a:spcBef>
                          <a:spcPts val="310"/>
                        </a:spcBef>
                      </a:pPr>
                      <a:r>
                        <a:rPr sz="1500" kern="0" spc="20" dirty="0">
                          <a:solidFill>
                            <a:srgbClr val="00ADD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大医院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ct val="94000"/>
                        </a:lnSpc>
                      </a:pPr>
                      <a:r>
                        <a:rPr sz="1500" kern="0" spc="20" dirty="0">
                          <a:solidFill>
                            <a:srgbClr val="00ADD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医科大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01600" algn="l" rtl="0" eaLnBrk="0">
                        <a:lnSpc>
                          <a:spcPct val="92000"/>
                        </a:lnSpc>
                        <a:spcBef>
                          <a:spcPts val="120"/>
                        </a:spcBef>
                      </a:pPr>
                      <a:r>
                        <a:rPr sz="2100" kern="0" spc="-10" dirty="0">
                          <a:solidFill>
                            <a:srgbClr val="00B4D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店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160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500" kern="0" spc="50" dirty="0">
                          <a:solidFill>
                            <a:srgbClr val="00B6DA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张龙一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4300" algn="l" rtl="0" eaLnBrk="0">
                        <a:lnSpc>
                          <a:spcPts val="1670"/>
                        </a:lnSpc>
                      </a:pPr>
                      <a:r>
                        <a:rPr sz="1300" kern="0" spc="0" dirty="0">
                          <a:solidFill>
                            <a:srgbClr val="00B4D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136****03</a:t>
                      </a:r>
                      <a:endParaRPr sz="13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01600" algn="l" rtl="0" eaLnBrk="0">
                        <a:lnSpc>
                          <a:spcPct val="82000"/>
                        </a:lnSpc>
                        <a:spcBef>
                          <a:spcPts val="265"/>
                        </a:spcBef>
                      </a:pPr>
                      <a:r>
                        <a:rPr sz="2000" kern="0" spc="-30" dirty="0">
                          <a:solidFill>
                            <a:srgbClr val="00B4D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44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5890" algn="l" rtl="0" eaLnBrk="0">
                        <a:lnSpc>
                          <a:spcPts val="185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10000000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70840" algn="l" rtl="0" eaLnBrk="0">
                        <a:lnSpc>
                          <a:spcPts val="1870"/>
                        </a:lnSpc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986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GD_DTP_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0365" algn="l" rtl="0" eaLnBrk="0">
                        <a:lnSpc>
                          <a:spcPts val="187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001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211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张龙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2865" algn="l" rtl="0" eaLnBrk="0">
                        <a:lnSpc>
                          <a:spcPts val="187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CD0E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138****12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361315" algn="l" rtl="0" eaLnBrk="0">
                        <a:lnSpc>
                          <a:spcPct val="79000"/>
                        </a:lnSpc>
                        <a:spcBef>
                          <a:spcPts val="145"/>
                        </a:spcBef>
                      </a:pPr>
                      <a:r>
                        <a:rPr sz="2000" kern="0" spc="-40" dirty="0">
                          <a:solidFill>
                            <a:srgbClr val="C614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35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成都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88265" algn="l" rtl="0" eaLnBrk="0">
                        <a:lnSpc>
                          <a:spcPts val="2560"/>
                        </a:lnSpc>
                      </a:pPr>
                      <a:r>
                        <a:rPr sz="2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00" algn="l" rtl="0" eaLnBrk="0">
                        <a:lnSpc>
                          <a:spcPts val="1870"/>
                        </a:lnSpc>
                        <a:spcBef>
                          <a:spcPts val="5"/>
                        </a:spcBef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2023-04-15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0175" algn="l" rtl="0" eaLnBrk="0">
                        <a:lnSpc>
                          <a:spcPct val="95000"/>
                        </a:lnSpc>
                      </a:pPr>
                      <a:r>
                        <a:rPr sz="1500" b="1" kern="0" spc="-30" dirty="0">
                          <a:solidFill>
                            <a:srgbClr val="00B5D1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肺癌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500" kern="0" spc="10" dirty="0">
                          <a:solidFill>
                            <a:srgbClr val="00AACC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成都医科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145"/>
                        </a:spcBef>
                      </a:pPr>
                      <a:r>
                        <a:rPr sz="2100" kern="0" spc="-10" dirty="0">
                          <a:solidFill>
                            <a:srgbClr val="00B4C8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500" kern="0" spc="20" dirty="0">
                          <a:solidFill>
                            <a:srgbClr val="00B2CD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医科大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95250" algn="l" rtl="0" eaLnBrk="0">
                        <a:lnSpc>
                          <a:spcPct val="85000"/>
                        </a:lnSpc>
                        <a:spcBef>
                          <a:spcPts val="170"/>
                        </a:spcBef>
                      </a:pPr>
                      <a:r>
                        <a:rPr sz="2100" kern="0" spc="-10" dirty="0">
                          <a:solidFill>
                            <a:srgbClr val="00BCC9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店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160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500" kern="0" spc="20" dirty="0">
                          <a:solidFill>
                            <a:srgbClr val="00B3CE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张龙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835" algn="l" rtl="0" eaLnBrk="0">
                        <a:lnSpc>
                          <a:spcPts val="1870"/>
                        </a:lnSpc>
                        <a:spcBef>
                          <a:spcPts val="5"/>
                        </a:spcBef>
                      </a:pPr>
                      <a:r>
                        <a:rPr sz="1500" kern="0" spc="-20" dirty="0">
                          <a:solidFill>
                            <a:srgbClr val="00B1C5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136****03</a:t>
                      </a:r>
                      <a:endParaRPr sz="15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01600" algn="l" rtl="0" eaLnBrk="0">
                        <a:lnSpc>
                          <a:spcPct val="78000"/>
                        </a:lnSpc>
                        <a:spcBef>
                          <a:spcPts val="15"/>
                        </a:spcBef>
                      </a:pPr>
                      <a:r>
                        <a:rPr sz="2000" kern="0" spc="-30" dirty="0">
                          <a:solidFill>
                            <a:srgbClr val="00B2CD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44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8" name="table 68"/>
          <p:cNvGraphicFramePr>
            <a:graphicFrameLocks noGrp="1"/>
          </p:cNvGraphicFramePr>
          <p:nvPr/>
        </p:nvGraphicFramePr>
        <p:xfrm>
          <a:off x="568256" y="1908209"/>
          <a:ext cx="14916150" cy="939800"/>
        </p:xfrm>
        <a:graphic>
          <a:graphicData uri="http://schemas.openxmlformats.org/drawingml/2006/table">
            <a:tbl>
              <a:tblPr/>
              <a:tblGrid>
                <a:gridCol w="14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988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21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UserlD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816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1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姓名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941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100" b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性别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6560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21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手机号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87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1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身份证号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511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1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教育程度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760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21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血型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5151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1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省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131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1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401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21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区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386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21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创建时间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QC_DTP_001</a:t>
                      </a:r>
                      <a:endParaRPr sz="2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479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6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张大!-&gt;张大</a:t>
                      </a:r>
                      <a:endParaRPr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844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6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男性-&gt;男</a:t>
                      </a:r>
                      <a:endParaRPr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6390" algn="l" rtl="0" eaLnBrk="0">
                        <a:lnSpc>
                          <a:spcPts val="1745"/>
                        </a:lnSpc>
                        <a:spcBef>
                          <a:spcPts val="5"/>
                        </a:spcBef>
                      </a:pPr>
                      <a:r>
                        <a:rPr sz="1400" b="1" kern="0" spc="-30" dirty="0">
                          <a:solidFill>
                            <a:srgbClr val="001D7C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138****1234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4040" algn="l" rtl="0" eaLnBrk="0">
                        <a:lnSpc>
                          <a:spcPct val="94000"/>
                        </a:lnSpc>
                      </a:pPr>
                      <a:r>
                        <a:rPr sz="1600" b="1" kern="0" spc="-40" dirty="0">
                          <a:solidFill>
                            <a:srgbClr val="001C77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本科</a:t>
                      </a:r>
                      <a:endParaRPr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399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6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四川-&gt;四川省</a:t>
                      </a:r>
                      <a:endParaRPr sz="16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7790" algn="l" rtl="0" eaLnBrk="0">
                        <a:lnSpc>
                          <a:spcPts val="1745"/>
                        </a:lnSpc>
                        <a:spcBef>
                          <a:spcPts val="5"/>
                        </a:spcBef>
                      </a:pPr>
                      <a:r>
                        <a:rPr sz="1400" b="1" kern="0" spc="-20" dirty="0">
                          <a:solidFill>
                            <a:srgbClr val="002079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2023-03-14</a:t>
                      </a:r>
                      <a:endParaRPr sz="1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2"/>
          <p:cNvGrpSpPr/>
          <p:nvPr/>
        </p:nvGrpSpPr>
        <p:grpSpPr>
          <a:xfrm rot="21600000">
            <a:off x="5137121" y="7385029"/>
            <a:ext cx="3987857" cy="2406700"/>
            <a:chOff x="0" y="0"/>
            <a:chExt cx="3987857" cy="2406700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987857" cy="2406700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171483" y="198400"/>
              <a:ext cx="3343909" cy="20510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3000"/>
                </a:lnSpc>
              </a:pP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Bo                           io</a:t>
              </a:r>
              <a:r>
                <a:rPr sz="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</a:t>
              </a: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ncu</a:t>
              </a:r>
              <a:endParaRPr sz="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88265" algn="l" rtl="0" eaLnBrk="0">
                <a:lnSpc>
                  <a:spcPct val="68000"/>
                </a:lnSpc>
                <a:spcBef>
                  <a:spcPts val="180"/>
                </a:spcBef>
              </a:pP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ac</a:t>
              </a: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78050" algn="l" rtl="0" eaLnBrk="0">
                <a:lnSpc>
                  <a:spcPct val="76000"/>
                </a:lnSpc>
                <a:spcBef>
                  <a:spcPts val="245"/>
                </a:spcBef>
                <a:tabLst>
                  <a:tab pos="2578100" algn="l"/>
                </a:tabLst>
              </a:pPr>
              <a:r>
                <a:rPr sz="21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	</a:t>
              </a:r>
              <a:r>
                <a:rPr sz="2100" kern="0" spc="-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W</a:t>
              </a:r>
              <a:endParaRPr sz="21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406015" algn="l" rtl="0" eaLnBrk="0">
                <a:lnSpc>
                  <a:spcPct val="80000"/>
                </a:lnSpc>
                <a:spcBef>
                  <a:spcPts val="335"/>
                </a:spcBef>
              </a:pPr>
              <a:r>
                <a:rPr sz="1100" kern="0" spc="-30" dirty="0">
                  <a:solidFill>
                    <a:srgbClr val="F4BA65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51322119</a:t>
              </a:r>
              <a:endParaRPr sz="11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310765" algn="l" rtl="0" eaLnBrk="0">
                <a:lnSpc>
                  <a:spcPts val="990"/>
                </a:lnSpc>
                <a:spcBef>
                  <a:spcPts val="925"/>
                </a:spcBef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</a:t>
              </a:r>
              <a:endParaRPr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3091815" algn="l" rtl="0" eaLnBrk="0">
                <a:lnSpc>
                  <a:spcPts val="780"/>
                </a:lnSpc>
                <a:spcBef>
                  <a:spcPts val="855"/>
                </a:spcBef>
              </a:pPr>
              <a:r>
                <a:rPr sz="1100" i="1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me</a:t>
              </a:r>
              <a:endParaRPr sz="11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4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8100" algn="l" rtl="0" eaLnBrk="0">
                <a:lnSpc>
                  <a:spcPts val="1105"/>
                </a:lnSpc>
                <a:spcBef>
                  <a:spcPts val="280"/>
                </a:spcBef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用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 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1000"/>
                </a:lnSpc>
                <a:spcBef>
                  <a:spcPts val="5"/>
                </a:spcBef>
              </a:pP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20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 </a:t>
              </a:r>
              <a:r>
                <a:rPr sz="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endParaRPr sz="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766606" y="2127306"/>
              <a:ext cx="304838" cy="88864"/>
            </a:xfrm>
            <a:prstGeom prst="rect">
              <a:avLst/>
            </a:prstGeom>
          </p:spPr>
        </p:pic>
        <p:pic>
          <p:nvPicPr>
            <p:cNvPr id="76" name="picture 7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728077" y="1758939"/>
              <a:ext cx="457177" cy="235016"/>
            </a:xfrm>
            <a:prstGeom prst="rect">
              <a:avLst/>
            </a:prstGeom>
          </p:spPr>
        </p:pic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051136" y="438134"/>
              <a:ext cx="298437" cy="69875"/>
            </a:xfrm>
            <a:prstGeom prst="rect">
              <a:avLst/>
            </a:prstGeom>
          </p:spPr>
        </p:pic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1257277" y="1209698"/>
              <a:ext cx="1127181" cy="406397"/>
            </a:xfrm>
            <a:prstGeom prst="rect">
              <a:avLst/>
            </a:prstGeom>
          </p:spPr>
        </p:pic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79394" y="1314511"/>
              <a:ext cx="685846" cy="361858"/>
            </a:xfrm>
            <a:prstGeom prst="rect">
              <a:avLst/>
            </a:prstGeom>
          </p:spPr>
        </p:pic>
        <p:pic>
          <p:nvPicPr>
            <p:cNvPr id="84" name="picture 8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98437" y="431840"/>
              <a:ext cx="381007" cy="406343"/>
            </a:xfrm>
            <a:prstGeom prst="rect">
              <a:avLst/>
            </a:prstGeom>
          </p:spPr>
        </p:pic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384333" y="1758939"/>
              <a:ext cx="457176" cy="235016"/>
            </a:xfrm>
            <a:prstGeom prst="rect">
              <a:avLst/>
            </a:prstGeom>
          </p:spPr>
        </p:pic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2063778" y="622371"/>
              <a:ext cx="857227" cy="120548"/>
            </a:xfrm>
            <a:prstGeom prst="rect">
              <a:avLst/>
            </a:prstGeom>
          </p:spPr>
        </p:pic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2057377" y="1758939"/>
              <a:ext cx="450936" cy="215920"/>
            </a:xfrm>
            <a:prstGeom prst="rect">
              <a:avLst/>
            </a:prstGeom>
          </p:spPr>
        </p:pic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504987" y="698540"/>
              <a:ext cx="342923" cy="196824"/>
            </a:xfrm>
            <a:prstGeom prst="rect">
              <a:avLst/>
            </a:prstGeom>
          </p:spPr>
        </p:pic>
        <p:pic>
          <p:nvPicPr>
            <p:cNvPr id="94" name="picture 9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3063903" y="749320"/>
              <a:ext cx="466778" cy="130149"/>
            </a:xfrm>
            <a:prstGeom prst="rect">
              <a:avLst/>
            </a:prstGeom>
          </p:spPr>
        </p:pic>
        <p:pic>
          <p:nvPicPr>
            <p:cNvPr id="96" name="picture 96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876269" y="603275"/>
              <a:ext cx="349323" cy="158739"/>
            </a:xfrm>
            <a:prstGeom prst="rect">
              <a:avLst/>
            </a:prstGeom>
          </p:spPr>
        </p:pic>
        <p:pic>
          <p:nvPicPr>
            <p:cNvPr id="98" name="picture 9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1155664" y="215920"/>
              <a:ext cx="336682" cy="107960"/>
            </a:xfrm>
            <a:prstGeom prst="rect">
              <a:avLst/>
            </a:prstGeom>
          </p:spPr>
        </p:pic>
        <p:pic>
          <p:nvPicPr>
            <p:cNvPr id="100" name="picture 10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2127306" y="2120905"/>
              <a:ext cx="323880" cy="88864"/>
            </a:xfrm>
            <a:prstGeom prst="rect">
              <a:avLst/>
            </a:prstGeom>
          </p:spPr>
        </p:pic>
        <p:pic>
          <p:nvPicPr>
            <p:cNvPr id="102" name="picture 10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2921005" y="1828815"/>
              <a:ext cx="228668" cy="107960"/>
            </a:xfrm>
            <a:prstGeom prst="rect">
              <a:avLst/>
            </a:prstGeom>
          </p:spPr>
        </p:pic>
        <p:pic>
          <p:nvPicPr>
            <p:cNvPr id="104" name="picture 10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1187508" y="469925"/>
              <a:ext cx="298437" cy="69875"/>
            </a:xfrm>
            <a:prstGeom prst="rect">
              <a:avLst/>
            </a:prstGeom>
          </p:spPr>
        </p:pic>
      </p:grp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9839335" y="7839085"/>
          <a:ext cx="4872355" cy="1504949"/>
        </p:xfrm>
        <a:graphic>
          <a:graphicData uri="http://schemas.openxmlformats.org/drawingml/2006/table">
            <a:tbl>
              <a:tblPr/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6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关系深度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</a:pPr>
                      <a:r>
                        <a:rPr sz="1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关系型数库执行时间(</a:t>
                      </a: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S)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1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图数都片(Neo</a:t>
                      </a:r>
                      <a:r>
                        <a:rPr sz="11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⁴</a:t>
                      </a:r>
                      <a:r>
                        <a:rPr sz="11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)执行时间(S)</a:t>
                      </a: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|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</a:pPr>
                      <a:r>
                        <a:rPr sz="1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返H记录数(条)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19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0" algn="l" rtl="0" eaLnBrk="0">
                        <a:lnSpc>
                          <a:spcPts val="1365"/>
                        </a:lnSpc>
                        <a:spcBef>
                          <a:spcPts val="5"/>
                        </a:spcBef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0.016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4850" algn="l" rtl="0" eaLnBrk="0">
                        <a:lnSpc>
                          <a:spcPts val="1365"/>
                        </a:lnSpc>
                        <a:spcBef>
                          <a:spcPts val="5"/>
                        </a:spcBef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0.01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65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约2500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1940" algn="l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90550" algn="l" rtl="0" eaLnBrk="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30267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2465" algn="l" rtl="0" eaLnBrk="0">
                        <a:lnSpc>
                          <a:spcPts val="1365"/>
                        </a:lnSpc>
                        <a:spcBef>
                          <a:spcPts val="5"/>
                        </a:spcBef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0.168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0500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约</a:t>
                      </a:r>
                      <a:r>
                        <a:rPr sz="11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sz="11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sz="11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sz="11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1940" algn="l" rtl="0" eaLnBrk="0">
                        <a:lnSpc>
                          <a:spcPct val="76000"/>
                        </a:lnSpc>
                        <a:spcBef>
                          <a:spcPts val="0"/>
                        </a:spcBef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1965" algn="l" rtl="0" eaLnBrk="0">
                        <a:lnSpc>
                          <a:spcPts val="1365"/>
                        </a:lnSpc>
                        <a:spcBef>
                          <a:spcPts val="5"/>
                        </a:spcBef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1543.505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4850" algn="l" rtl="0" eaLnBrk="0">
                        <a:lnSpc>
                          <a:spcPts val="1370"/>
                        </a:lnSpc>
                        <a:spcBef>
                          <a:spcPts val="5"/>
                        </a:spcBef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1359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26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约60000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2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1940" algn="l" rtl="0" eaLnBrk="0">
                        <a:lnSpc>
                          <a:spcPct val="81000"/>
                        </a:lnSpc>
                        <a:spcBef>
                          <a:spcPts val="0"/>
                        </a:spcBef>
                      </a:pPr>
                      <a:r>
                        <a:rPr sz="2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sz="2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2450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未完成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4850" algn="l" rtl="0" eaLnBrk="0">
                        <a:lnSpc>
                          <a:spcPts val="1370"/>
                        </a:lnSpc>
                        <a:spcBef>
                          <a:spcPts val="0"/>
                        </a:spcBef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2132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265" algn="l" rtl="0" eaLnBrk="0">
                        <a:lnSpc>
                          <a:spcPct val="97000"/>
                        </a:lnSpc>
                        <a:spcBef>
                          <a:spcPts val="0"/>
                        </a:spcBef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约80000</a:t>
                      </a:r>
                      <a:endParaRPr sz="11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 rot="21600000">
            <a:off x="1301762" y="7429515"/>
            <a:ext cx="2781307" cy="2228865"/>
            <a:chOff x="0" y="0"/>
            <a:chExt cx="2781307" cy="2228865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2781307" cy="2228865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755716" y="175803"/>
              <a:ext cx="720725" cy="12592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7000"/>
                </a:lnSpc>
              </a:pPr>
              <a:r>
                <a:rPr sz="2800" kern="0" spc="-1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B-</a:t>
              </a:r>
              <a:endParaRPr sz="28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6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1570"/>
                </a:lnSpc>
                <a:spcBef>
                  <a:spcPts val="5"/>
                </a:spcBef>
              </a:pPr>
              <a:r>
                <a:rPr sz="2500" kern="0" spc="-30" dirty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--</a:t>
              </a:r>
              <a:endParaRPr sz="25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pic>
          <p:nvPicPr>
            <p:cNvPr id="112" name="picture 112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 rot="21600000">
              <a:off x="2305087" y="628665"/>
              <a:ext cx="419092" cy="266700"/>
            </a:xfrm>
            <a:prstGeom prst="rect">
              <a:avLst/>
            </a:prstGeom>
          </p:spPr>
        </p:pic>
        <p:pic>
          <p:nvPicPr>
            <p:cNvPr id="114" name="picture 114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21600000">
              <a:off x="1250876" y="609569"/>
              <a:ext cx="279394" cy="311185"/>
            </a:xfrm>
            <a:prstGeom prst="rect">
              <a:avLst/>
            </a:prstGeom>
          </p:spPr>
        </p:pic>
        <p:pic>
          <p:nvPicPr>
            <p:cNvPr id="116" name="picture 116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21600000">
              <a:off x="1524030" y="1555714"/>
              <a:ext cx="292036" cy="228615"/>
            </a:xfrm>
            <a:prstGeom prst="rect">
              <a:avLst/>
            </a:prstGeom>
          </p:spPr>
        </p:pic>
        <p:pic>
          <p:nvPicPr>
            <p:cNvPr id="118" name="picture 118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1600000">
              <a:off x="1524030" y="1962165"/>
              <a:ext cx="292036" cy="222214"/>
            </a:xfrm>
            <a:prstGeom prst="rect">
              <a:avLst/>
            </a:prstGeom>
          </p:spPr>
        </p:pic>
      </p:grpSp>
      <p:sp>
        <p:nvSpPr>
          <p:cNvPr id="120" name="textbox 120"/>
          <p:cNvSpPr/>
          <p:nvPr/>
        </p:nvSpPr>
        <p:spPr>
          <a:xfrm>
            <a:off x="520646" y="209514"/>
            <a:ext cx="4970145" cy="899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70865" algn="l" rtl="0" eaLnBrk="0">
              <a:lnSpc>
                <a:spcPct val="97000"/>
              </a:lnSpc>
              <a:spcBef>
                <a:spcPts val="5"/>
              </a:spcBef>
              <a:tabLst>
                <a:tab pos="768350" algn="l"/>
              </a:tabLst>
            </a:pPr>
            <a:r>
              <a:rPr sz="3600" kern="0" spc="0" dirty="0">
                <a:solidFill>
                  <a:srgbClr val="0054D3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600" b="1" kern="0" spc="40" dirty="0">
                <a:solidFill>
                  <a:srgbClr val="0054D3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数据清洗的核心难点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533346" y="222214"/>
            <a:ext cx="558789" cy="812795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11785633" y="6273851"/>
            <a:ext cx="3632134" cy="438134"/>
            <a:chOff x="0" y="0"/>
            <a:chExt cx="3632134" cy="438134"/>
          </a:xfrm>
        </p:grpSpPr>
        <p:pic>
          <p:nvPicPr>
            <p:cNvPr id="124" name="picture 124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rot="21600000">
              <a:off x="0" y="0"/>
              <a:ext cx="3632134" cy="438134"/>
            </a:xfrm>
            <a:prstGeom prst="rect">
              <a:avLst/>
            </a:prstGeom>
          </p:spPr>
        </p:pic>
        <p:sp>
          <p:nvSpPr>
            <p:cNvPr id="126" name="textbox 126"/>
            <p:cNvSpPr/>
            <p:nvPr/>
          </p:nvSpPr>
          <p:spPr>
            <a:xfrm>
              <a:off x="-12700" y="-12700"/>
              <a:ext cx="3657600" cy="4895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414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500" b="1" kern="0" spc="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3、</a:t>
              </a:r>
              <a:r>
                <a:rPr sz="15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OnelD</a:t>
              </a:r>
              <a:r>
                <a:rPr sz="1500" kern="0" spc="4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500" b="1" kern="0" spc="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生成：非确定性</a:t>
              </a:r>
              <a:r>
                <a:rPr sz="1500" b="1" kern="0" spc="5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规则</a:t>
              </a:r>
              <a:endParaRPr sz="1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539747" y="6546845"/>
            <a:ext cx="3511478" cy="419145"/>
            <a:chOff x="0" y="0"/>
            <a:chExt cx="3511478" cy="419145"/>
          </a:xfrm>
        </p:grpSpPr>
        <p:pic>
          <p:nvPicPr>
            <p:cNvPr id="128" name="picture 128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 rot="21600000">
              <a:off x="0" y="0"/>
              <a:ext cx="3511478" cy="419145"/>
            </a:xfrm>
            <a:prstGeom prst="rect">
              <a:avLst/>
            </a:prstGeom>
          </p:spPr>
        </p:pic>
        <p:sp>
          <p:nvSpPr>
            <p:cNvPr id="130" name="textbox 130"/>
            <p:cNvSpPr/>
            <p:nvPr/>
          </p:nvSpPr>
          <p:spPr>
            <a:xfrm>
              <a:off x="-12700" y="-12700"/>
              <a:ext cx="3536950" cy="4705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16840" algn="l" rtl="0" eaLnBrk="0">
                <a:lnSpc>
                  <a:spcPct val="99000"/>
                </a:lnSpc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4、应用图计算解决</a:t>
              </a:r>
              <a:r>
                <a:rPr sz="15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One</a:t>
              </a: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识别问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题</a:t>
              </a:r>
              <a:endParaRPr sz="1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527105" y="3054355"/>
            <a:ext cx="2927245" cy="432859"/>
            <a:chOff x="0" y="0"/>
            <a:chExt cx="2927245" cy="432859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21600000">
              <a:off x="0" y="0"/>
              <a:ext cx="2927245" cy="431840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-12700" y="-12700"/>
              <a:ext cx="2952750" cy="4845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9065" algn="l" rtl="0" eaLnBrk="0">
                <a:lnSpc>
                  <a:spcPct val="99000"/>
                </a:lnSpc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r>
                <a:rPr sz="1500" b="1" kern="0" spc="-2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、</a:t>
              </a:r>
              <a:r>
                <a:rPr sz="15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OnelD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生成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：确定性规则</a:t>
              </a:r>
              <a:endParaRPr sz="1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552389" y="1384279"/>
            <a:ext cx="2571841" cy="425439"/>
            <a:chOff x="0" y="0"/>
            <a:chExt cx="2571841" cy="425439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21600000">
              <a:off x="0" y="0"/>
              <a:ext cx="2571841" cy="425439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-12700" y="-12700"/>
              <a:ext cx="2597785" cy="479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4940" algn="l" rtl="0" eaLnBrk="0">
                <a:lnSpc>
                  <a:spcPct val="97000"/>
                </a:lnSpc>
                <a:spcBef>
                  <a:spcPts val="5"/>
                </a:spcBef>
              </a:pPr>
              <a:r>
                <a:rPr sz="1600" b="1" kern="0" spc="3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1、引入</a:t>
              </a:r>
              <a:r>
                <a:rPr sz="16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Al</a:t>
              </a:r>
              <a:r>
                <a:rPr sz="1600" b="1" kern="0" spc="3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开展数据清洗</a:t>
              </a:r>
              <a:endParaRPr sz="16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140" name="textbox 140"/>
          <p:cNvSpPr/>
          <p:nvPr/>
        </p:nvSpPr>
        <p:spPr>
          <a:xfrm>
            <a:off x="6718220" y="8439880"/>
            <a:ext cx="443865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20"/>
              </a:lnSpc>
            </a:pPr>
            <a:r>
              <a:rPr sz="700" kern="0" spc="10" dirty="0">
                <a:solidFill>
                  <a:srgbClr val="79B9EB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138**……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5562556" y="8391592"/>
            <a:ext cx="374015" cy="161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100" kern="0" spc="-10" dirty="0">
                <a:solidFill>
                  <a:srgbClr val="7BBEF1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189**</a:t>
            </a:r>
            <a:endParaRPr sz="1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7962856" y="9488415"/>
            <a:ext cx="139064" cy="114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icn</a:t>
            </a:r>
            <a:endParaRPr sz="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6584925" y="9523424"/>
            <a:ext cx="99060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</a:t>
            </a:r>
            <a:endParaRPr sz="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002000" cy="10668000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6400" y="1333500"/>
            <a:ext cx="15983585" cy="1301750"/>
          </a:xfrm>
          <a:prstGeom prst="rect">
            <a:avLst/>
          </a:prstGeom>
          <a:solidFill>
            <a:srgbClr val="DD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85875" algn="l" rtl="0" eaLnBrk="0">
              <a:lnSpc>
                <a:spcPct val="94000"/>
              </a:lnSpc>
              <a:spcBef>
                <a:spcPts val="5"/>
              </a:spcBef>
            </a:pPr>
            <a:r>
              <a:rPr sz="1900" b="1" kern="0" spc="12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主要成果：</a:t>
            </a:r>
            <a:r>
              <a:rPr sz="1900" kern="0" spc="12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1、打通各业务源头，实现</a:t>
            </a:r>
            <a:r>
              <a:rPr sz="1900" kern="0" spc="0" dirty="0">
                <a:solidFill>
                  <a:srgbClr val="0F45D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OnelD</a:t>
            </a:r>
            <a:r>
              <a:rPr sz="1900" kern="0" spc="120" dirty="0">
                <a:solidFill>
                  <a:srgbClr val="0F45D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12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的识别，为精准营销建立基础。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41600" algn="l" rtl="0" eaLnBrk="0">
              <a:lnSpc>
                <a:spcPct val="94000"/>
              </a:lnSpc>
            </a:pPr>
            <a:r>
              <a:rPr sz="1900" kern="0" spc="130" dirty="0">
                <a:solidFill>
                  <a:srgbClr val="0F45D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2、</a:t>
            </a:r>
            <a:r>
              <a:rPr sz="1900" kern="0" spc="13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识别用户最佳记录，同时识</a:t>
            </a:r>
            <a:r>
              <a:rPr sz="1900" kern="0" spc="12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别异常用户数据。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2819334" y="7032218"/>
            <a:ext cx="4324984" cy="1851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0" algn="l" rtl="0" eaLnBrk="0">
              <a:lnSpc>
                <a:spcPct val="99000"/>
              </a:lnSpc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7525" algn="l" rtl="0" eaLnBrk="0">
              <a:lnSpc>
                <a:spcPts val="2305"/>
              </a:lnSpc>
              <a:spcBef>
                <a:spcPts val="580"/>
              </a:spcBef>
            </a:pPr>
            <a:r>
              <a:rPr sz="1900" b="1" kern="0" spc="10" dirty="0">
                <a:solidFill>
                  <a:srgbClr val="0647B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超量购药</a:t>
            </a:r>
            <a:r>
              <a:rPr sz="1900" kern="0" spc="10" dirty="0">
                <a:solidFill>
                  <a:srgbClr val="0647B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</a:t>
            </a:r>
            <a:r>
              <a:rPr sz="1900" b="1" kern="0" spc="10" dirty="0">
                <a:solidFill>
                  <a:srgbClr val="0749B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多渠</a:t>
            </a:r>
            <a:r>
              <a:rPr sz="1900" b="1" kern="0" spc="0" dirty="0">
                <a:solidFill>
                  <a:srgbClr val="0749B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道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98000"/>
              </a:lnSpc>
              <a:spcBef>
                <a:spcPts val="1380"/>
              </a:spcBef>
            </a:pP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用户短期内购买超处方量    用户短期内在多个渠道购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0850" algn="l" rtl="0" eaLnBrk="0">
              <a:lnSpc>
                <a:spcPts val="1880"/>
              </a:lnSpc>
              <a:spcBef>
                <a:spcPts val="0"/>
              </a:spcBef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数倍量的药物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买药物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7861244" y="6377523"/>
            <a:ext cx="1633220" cy="2026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8000" algn="l" rtl="0" eaLnBrk="0">
              <a:lnSpc>
                <a:spcPct val="100000"/>
              </a:lnSpc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4025" algn="l" rtl="0" eaLnBrk="0">
              <a:lnSpc>
                <a:spcPct val="98000"/>
              </a:lnSpc>
              <a:spcBef>
                <a:spcPts val="575"/>
              </a:spcBef>
            </a:pPr>
            <a:r>
              <a:rPr sz="1900" b="1" kern="0" spc="20" dirty="0">
                <a:solidFill>
                  <a:srgbClr val="0040B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多品种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99000"/>
              </a:lnSpc>
              <a:spcBef>
                <a:spcPts val="1335"/>
              </a:spcBef>
            </a:pP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短期内购买多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0215" algn="l" rtl="0" eaLnBrk="0">
              <a:lnSpc>
                <a:spcPct val="98000"/>
              </a:lnSpc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品种药物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501604" y="190525"/>
            <a:ext cx="3594100" cy="931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3250" algn="l" rtl="0" eaLnBrk="0">
              <a:lnSpc>
                <a:spcPct val="97000"/>
              </a:lnSpc>
              <a:tabLst>
                <a:tab pos="787400" algn="l"/>
              </a:tabLst>
            </a:pPr>
            <a:r>
              <a:rPr sz="3600" kern="0" spc="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600" b="1" kern="0" spc="4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项目产出成果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4304" y="203225"/>
            <a:ext cx="590633" cy="844478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12865069" y="6268408"/>
            <a:ext cx="1852295" cy="1526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黄牛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45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代表刷业绩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570"/>
              </a:spcBef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多马甲抢购紧俏药品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55"/>
              </a:lnSpc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店员刷积分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11195101" y="4394433"/>
            <a:ext cx="681990" cy="327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正常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650"/>
              </a:lnSpc>
            </a:pP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750"/>
              </a:spcBef>
            </a:pP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异常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290"/>
              </a:lnSpc>
            </a:pPr>
            <a:r>
              <a:rPr sz="23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2833385" y="4116304"/>
            <a:ext cx="1462405" cy="1087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亲属替患者购药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240"/>
              </a:lnSpc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员工本人购药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员工替亲朋代购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476321" y="7330667"/>
            <a:ext cx="1939289" cy="700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51815" algn="l" rtl="0" eaLnBrk="0">
              <a:lnSpc>
                <a:spcPct val="98000"/>
              </a:lnSpc>
            </a:pPr>
            <a:r>
              <a:rPr sz="1900" kern="0" spc="-10" dirty="0">
                <a:solidFill>
                  <a:srgbClr val="003BA3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1人多户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9000"/>
              </a:lnSpc>
            </a:pP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OnelD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匹配多个用户状态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0976188" y="8871307"/>
            <a:ext cx="3749675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900" b="1" kern="0" spc="-130" dirty="0">
                <a:solidFill>
                  <a:srgbClr val="E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标记异常用户状态，优</a:t>
            </a:r>
            <a:r>
              <a:rPr sz="1900" b="1" kern="0" spc="-140" dirty="0">
                <a:solidFill>
                  <a:srgbClr val="E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化服务流程。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3865011" y="3397634"/>
            <a:ext cx="2446654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300" b="1" kern="0" spc="60" dirty="0">
                <a:solidFill>
                  <a:srgbClr val="00C02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精准定位异常用户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72" name="picture 1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77932" y="6343619"/>
            <a:ext cx="222267" cy="260406"/>
          </a:xfrm>
          <a:prstGeom prst="rect">
            <a:avLst/>
          </a:prstGeom>
        </p:spPr>
      </p:pic>
      <p:pic>
        <p:nvPicPr>
          <p:cNvPr id="174" name="picture 1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858727" y="5511835"/>
            <a:ext cx="406450" cy="57073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903212" y="8115254"/>
            <a:ext cx="387408" cy="571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002000" cy="10668000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6400" y="1333500"/>
            <a:ext cx="15983585" cy="1301750"/>
          </a:xfrm>
          <a:prstGeom prst="rect">
            <a:avLst/>
          </a:prstGeom>
          <a:solidFill>
            <a:srgbClr val="DDEB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85875" algn="l" rtl="0" eaLnBrk="0">
              <a:lnSpc>
                <a:spcPct val="94000"/>
              </a:lnSpc>
              <a:spcBef>
                <a:spcPts val="5"/>
              </a:spcBef>
            </a:pPr>
            <a:r>
              <a:rPr sz="1900" b="1" kern="0" spc="12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主要成果：</a:t>
            </a:r>
            <a:r>
              <a:rPr sz="1900" kern="0" spc="12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1、打通各业务源头，实现</a:t>
            </a:r>
            <a:r>
              <a:rPr sz="1900" kern="0" spc="0" dirty="0">
                <a:solidFill>
                  <a:srgbClr val="0F45D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OnelD</a:t>
            </a:r>
            <a:r>
              <a:rPr sz="1900" kern="0" spc="120" dirty="0">
                <a:solidFill>
                  <a:srgbClr val="0F45D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00" kern="0" spc="12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的识别，为精准营销建立基础。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41600" algn="l" rtl="0" eaLnBrk="0">
              <a:lnSpc>
                <a:spcPct val="94000"/>
              </a:lnSpc>
            </a:pPr>
            <a:r>
              <a:rPr sz="1900" kern="0" spc="130" dirty="0">
                <a:solidFill>
                  <a:srgbClr val="0F45D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2、</a:t>
            </a:r>
            <a:r>
              <a:rPr sz="1900" kern="0" spc="13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识别用户最佳记录，同时识</a:t>
            </a:r>
            <a:r>
              <a:rPr sz="1900" kern="0" spc="120" dirty="0">
                <a:solidFill>
                  <a:srgbClr val="0F45D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别异常用户数据。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2819334" y="7032218"/>
            <a:ext cx="4324984" cy="1851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0" algn="l" rtl="0" eaLnBrk="0">
              <a:lnSpc>
                <a:spcPct val="99000"/>
              </a:lnSpc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17525" algn="l" rtl="0" eaLnBrk="0">
              <a:lnSpc>
                <a:spcPts val="2305"/>
              </a:lnSpc>
              <a:spcBef>
                <a:spcPts val="580"/>
              </a:spcBef>
            </a:pPr>
            <a:r>
              <a:rPr sz="1900" b="1" kern="0" spc="10" dirty="0">
                <a:solidFill>
                  <a:srgbClr val="0647B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超量购药</a:t>
            </a:r>
            <a:r>
              <a:rPr sz="1900" kern="0" spc="10" dirty="0">
                <a:solidFill>
                  <a:srgbClr val="0647B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</a:t>
            </a:r>
            <a:r>
              <a:rPr sz="1900" b="1" kern="0" spc="10" dirty="0">
                <a:solidFill>
                  <a:srgbClr val="0749B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多渠</a:t>
            </a:r>
            <a:r>
              <a:rPr sz="1900" b="1" kern="0" spc="0" dirty="0">
                <a:solidFill>
                  <a:srgbClr val="0749B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道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98000"/>
              </a:lnSpc>
              <a:spcBef>
                <a:spcPts val="1380"/>
              </a:spcBef>
            </a:pP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用户短期内购买超处方量    用户短期内在多个渠道购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0850" algn="l" rtl="0" eaLnBrk="0">
              <a:lnSpc>
                <a:spcPts val="1880"/>
              </a:lnSpc>
              <a:spcBef>
                <a:spcPts val="0"/>
              </a:spcBef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数倍量的药物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买药物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7861244" y="6377523"/>
            <a:ext cx="1633220" cy="2026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8000" algn="l" rtl="0" eaLnBrk="0">
              <a:lnSpc>
                <a:spcPct val="100000"/>
              </a:lnSpc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4025" algn="l" rtl="0" eaLnBrk="0">
              <a:lnSpc>
                <a:spcPct val="98000"/>
              </a:lnSpc>
              <a:spcBef>
                <a:spcPts val="575"/>
              </a:spcBef>
            </a:pPr>
            <a:r>
              <a:rPr sz="1900" b="1" kern="0" spc="20" dirty="0">
                <a:solidFill>
                  <a:srgbClr val="0040B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多品种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99000"/>
              </a:lnSpc>
              <a:spcBef>
                <a:spcPts val="1335"/>
              </a:spcBef>
            </a:pP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短期内购买多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0215" algn="l" rtl="0" eaLnBrk="0">
              <a:lnSpc>
                <a:spcPct val="98000"/>
              </a:lnSpc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品种药物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501604" y="190525"/>
            <a:ext cx="3594100" cy="931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3250" algn="l" rtl="0" eaLnBrk="0">
              <a:lnSpc>
                <a:spcPct val="97000"/>
              </a:lnSpc>
              <a:tabLst>
                <a:tab pos="787400" algn="l"/>
              </a:tabLst>
            </a:pPr>
            <a:r>
              <a:rPr sz="3600" kern="0" spc="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600" b="1" kern="0" spc="4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项目产出成果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88" name="picture 1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4304" y="203225"/>
            <a:ext cx="590633" cy="844478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12865069" y="6268408"/>
            <a:ext cx="1852295" cy="1526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黄牛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45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代表刷业绩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570"/>
              </a:spcBef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多马甲抢购紧俏药品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55"/>
              </a:lnSpc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店员刷积分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11195101" y="4394433"/>
            <a:ext cx="681990" cy="327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正常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650"/>
              </a:lnSpc>
            </a:pP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750"/>
              </a:spcBef>
            </a:pP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异常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290"/>
              </a:lnSpc>
            </a:pPr>
            <a:r>
              <a:rPr sz="23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4" name="textbox 194"/>
          <p:cNvSpPr/>
          <p:nvPr/>
        </p:nvSpPr>
        <p:spPr>
          <a:xfrm>
            <a:off x="12833385" y="4116304"/>
            <a:ext cx="1462405" cy="1087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亲属替患者购药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240"/>
              </a:lnSpc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员工本人购药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员工替亲朋代购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476321" y="7330667"/>
            <a:ext cx="1939289" cy="700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51815" algn="l" rtl="0" eaLnBrk="0">
              <a:lnSpc>
                <a:spcPct val="98000"/>
              </a:lnSpc>
            </a:pPr>
            <a:r>
              <a:rPr sz="1900" kern="0" spc="-10" dirty="0">
                <a:solidFill>
                  <a:srgbClr val="003BA3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1人多户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9000"/>
              </a:lnSpc>
            </a:pP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OnelD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匹配多个用户状态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10976188" y="8871307"/>
            <a:ext cx="3749675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</a:pPr>
            <a:r>
              <a:rPr sz="1900" b="1" kern="0" spc="-130" dirty="0">
                <a:solidFill>
                  <a:srgbClr val="E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标记异常用户状态，优</a:t>
            </a:r>
            <a:r>
              <a:rPr sz="1900" b="1" kern="0" spc="-140" dirty="0">
                <a:solidFill>
                  <a:srgbClr val="E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化服务流程。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3865011" y="3397634"/>
            <a:ext cx="2446654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300" b="1" kern="0" spc="60" dirty="0">
                <a:solidFill>
                  <a:srgbClr val="00C02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精准定位异常用户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02" name="picture 2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77932" y="6343619"/>
            <a:ext cx="222267" cy="260406"/>
          </a:xfrm>
          <a:prstGeom prst="rect">
            <a:avLst/>
          </a:prstGeom>
        </p:spPr>
      </p:pic>
      <p:pic>
        <p:nvPicPr>
          <p:cNvPr id="204" name="picture 2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858727" y="5511835"/>
            <a:ext cx="406450" cy="57073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903212" y="8115254"/>
            <a:ext cx="387408" cy="57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picture 2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002000" cy="10668000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25443" y="1327098"/>
            <a:ext cx="15964535" cy="1315085"/>
          </a:xfrm>
          <a:prstGeom prst="rect">
            <a:avLst/>
          </a:prstGeom>
          <a:solidFill>
            <a:srgbClr val="DDEB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6665" algn="l" rtl="0" eaLnBrk="0">
              <a:lnSpc>
                <a:spcPct val="92000"/>
              </a:lnSpc>
              <a:spcBef>
                <a:spcPts val="5"/>
              </a:spcBef>
            </a:pPr>
            <a:r>
              <a:rPr sz="2100" kern="0" spc="-20" dirty="0">
                <a:solidFill>
                  <a:srgbClr val="0030B5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√数据清洗是数据治理的关键环节之一，耗时长、成本巨大、直接左右项目最终质</a:t>
            </a:r>
            <a:r>
              <a:rPr sz="2100" kern="0" spc="-30" dirty="0">
                <a:solidFill>
                  <a:srgbClr val="0030B5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6665" algn="l" rtl="0" eaLnBrk="0">
              <a:lnSpc>
                <a:spcPct val="92000"/>
              </a:lnSpc>
              <a:spcBef>
                <a:spcPts val="5"/>
              </a:spcBef>
            </a:pPr>
            <a:r>
              <a:rPr sz="2100" kern="0" spc="-20" dirty="0">
                <a:solidFill>
                  <a:srgbClr val="0030B5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√基于有监督学习、强化学习的原理，引入</a:t>
            </a:r>
            <a:r>
              <a:rPr sz="2100" kern="0" spc="-20" dirty="0">
                <a:solidFill>
                  <a:srgbClr val="0030B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Al</a:t>
            </a:r>
            <a:r>
              <a:rPr sz="2100" kern="0" spc="-20" dirty="0">
                <a:solidFill>
                  <a:srgbClr val="0030B5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到数据清洗、数据质量校验等环节，实现提效。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11626833" y="3499337"/>
            <a:ext cx="3607434" cy="3274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6000"/>
              </a:lnSpc>
            </a:pPr>
            <a:r>
              <a:rPr sz="2100" b="1" kern="0" spc="20" dirty="0">
                <a:solidFill>
                  <a:srgbClr val="0084DD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4、</a:t>
            </a:r>
            <a:r>
              <a:rPr sz="2100" b="1" kern="0" spc="20" dirty="0">
                <a:solidFill>
                  <a:srgbClr val="0084DD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数据清洗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85000"/>
              </a:lnSpc>
              <a:spcBef>
                <a:spcPts val="105"/>
              </a:spcBef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将未清洗的数据导入已训练好的模型中，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模型根据训练结果，自行清洗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6000"/>
              </a:lnSpc>
              <a:spcBef>
                <a:spcPts val="630"/>
              </a:spcBef>
            </a:pPr>
            <a:r>
              <a:rPr sz="2100" b="1" kern="0" spc="20" dirty="0">
                <a:solidFill>
                  <a:srgbClr val="004CB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5、</a:t>
            </a:r>
            <a:r>
              <a:rPr sz="2100" b="1" kern="0" spc="20" dirty="0">
                <a:solidFill>
                  <a:srgbClr val="004CB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结果核查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635"/>
              </a:spcBef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人工对清洗结果进行核查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，确认清洗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25"/>
              </a:lnSpc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结果是否满足质量要求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1739838" y="5612083"/>
            <a:ext cx="2641600" cy="3361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5000"/>
              </a:lnSpc>
            </a:pPr>
            <a:r>
              <a:rPr sz="2100" b="1" kern="0" spc="30" dirty="0">
                <a:solidFill>
                  <a:srgbClr val="004BCE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2、</a:t>
            </a:r>
            <a:r>
              <a:rPr sz="2100" b="1" kern="0" spc="30" dirty="0">
                <a:solidFill>
                  <a:srgbClr val="004BCE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模型学习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450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算法学习标注的样例数据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6000"/>
              </a:lnSpc>
              <a:spcBef>
                <a:spcPts val="630"/>
              </a:spcBef>
            </a:pPr>
            <a:r>
              <a:rPr sz="2100" b="1" kern="0" spc="-10" dirty="0">
                <a:solidFill>
                  <a:srgbClr val="0A3D78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3、</a:t>
            </a:r>
            <a:r>
              <a:rPr sz="2100" b="1" kern="0" spc="-10" dirty="0">
                <a:solidFill>
                  <a:srgbClr val="0A3D78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迭代训练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5000"/>
              </a:lnSpc>
              <a:spcBef>
                <a:spcPts val="5"/>
              </a:spcBef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Al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算法持续迭代，训练清洗模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型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7052316" y="5947265"/>
            <a:ext cx="2663189" cy="2950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7000"/>
              </a:lnSpc>
            </a:pPr>
            <a:r>
              <a:rPr sz="29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630"/>
              </a:spcBef>
            </a:pPr>
            <a:r>
              <a:rPr sz="21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迭代学习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7040" algn="l" rtl="0" eaLnBrk="0">
              <a:lnSpc>
                <a:spcPct val="77000"/>
              </a:lnSpc>
              <a:spcBef>
                <a:spcPts val="875"/>
              </a:spcBef>
            </a:pPr>
            <a:r>
              <a:rPr sz="29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04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2000"/>
              </a:lnSpc>
            </a:pP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6840" algn="l" rtl="0" eaLnBrk="0">
              <a:lnSpc>
                <a:spcPct val="77000"/>
              </a:lnSpc>
              <a:spcBef>
                <a:spcPts val="5"/>
              </a:spcBef>
            </a:pPr>
            <a:r>
              <a:rPr sz="29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05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514405" y="203220"/>
            <a:ext cx="7324725" cy="913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3565" algn="l" rtl="0" eaLnBrk="0">
              <a:lnSpc>
                <a:spcPct val="95000"/>
              </a:lnSpc>
              <a:spcBef>
                <a:spcPts val="5"/>
              </a:spcBef>
              <a:tabLst>
                <a:tab pos="774065" algn="l"/>
              </a:tabLst>
            </a:pPr>
            <a:r>
              <a:rPr sz="3400" kern="0" spc="0" dirty="0">
                <a:solidFill>
                  <a:srgbClr val="004DD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3400" b="1" kern="0" spc="0" dirty="0">
                <a:solidFill>
                  <a:srgbClr val="004DD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Al</a:t>
            </a:r>
            <a:r>
              <a:rPr sz="3400" b="1" kern="0" spc="260" dirty="0">
                <a:solidFill>
                  <a:srgbClr val="004DD4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清洗策略总结-重复学习&amp;</a:t>
            </a:r>
            <a:r>
              <a:rPr sz="3400" b="1" kern="0" spc="250" dirty="0">
                <a:solidFill>
                  <a:srgbClr val="004DD4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迭代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20" name="picture 2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7105" y="215920"/>
            <a:ext cx="571431" cy="831784"/>
          </a:xfrm>
          <a:prstGeom prst="rect">
            <a:avLst/>
          </a:prstGeom>
        </p:spPr>
      </p:pic>
      <p:sp>
        <p:nvSpPr>
          <p:cNvPr id="222" name="textbox 222"/>
          <p:cNvSpPr/>
          <p:nvPr/>
        </p:nvSpPr>
        <p:spPr>
          <a:xfrm>
            <a:off x="11626833" y="7728453"/>
            <a:ext cx="3471545" cy="1630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6000"/>
              </a:lnSpc>
            </a:pPr>
            <a:r>
              <a:rPr sz="2100" b="1" kern="0" spc="20" dirty="0">
                <a:solidFill>
                  <a:srgbClr val="18477D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6、</a:t>
            </a:r>
            <a:r>
              <a:rPr sz="2100" b="1" kern="0" spc="20" dirty="0">
                <a:solidFill>
                  <a:srgbClr val="18477D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迭代优化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85000"/>
              </a:lnSpc>
              <a:spcBef>
                <a:spcPts val="225"/>
              </a:spcBef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根据核查结果，针对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模型准确度不高的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情况，将已确认的合格数据，继续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标记数据，重复训练模型。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1739838" y="3505739"/>
            <a:ext cx="2644775" cy="1203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6000"/>
              </a:lnSpc>
            </a:pPr>
            <a:r>
              <a:rPr sz="2100" b="1" kern="0" spc="-10" dirty="0">
                <a:solidFill>
                  <a:srgbClr val="007CDB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1、</a:t>
            </a:r>
            <a:r>
              <a:rPr sz="2100" b="1" kern="0" spc="-10" dirty="0">
                <a:solidFill>
                  <a:srgbClr val="007CDB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数据标记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450"/>
              </a:spcBef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人工清洗数据总量的2~5%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作为模型训练的标注样例数据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6864319" y="3853498"/>
            <a:ext cx="1958975" cy="557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r" rtl="0" eaLnBrk="0">
              <a:lnSpc>
                <a:spcPct val="77000"/>
              </a:lnSpc>
              <a:spcBef>
                <a:spcPts val="5"/>
              </a:spcBef>
            </a:pP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02</a:t>
            </a:r>
            <a:endParaRPr sz="2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228" name="picture 2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61652" y="5530824"/>
            <a:ext cx="812741" cy="965240"/>
          </a:xfrm>
          <a:prstGeom prst="rect">
            <a:avLst/>
          </a:prstGeom>
        </p:spPr>
      </p:pic>
      <p:pic>
        <p:nvPicPr>
          <p:cNvPr id="230" name="picture 2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629968" y="7670825"/>
            <a:ext cx="844425" cy="831783"/>
          </a:xfrm>
          <a:prstGeom prst="rect">
            <a:avLst/>
          </a:prstGeom>
        </p:spPr>
      </p:pic>
      <p:pic>
        <p:nvPicPr>
          <p:cNvPr id="232" name="picture 2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38184" y="3384529"/>
            <a:ext cx="755614" cy="869975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699737" y="3365540"/>
            <a:ext cx="609675" cy="1041410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63627" y="5492739"/>
            <a:ext cx="755614" cy="838184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70028" y="7620045"/>
            <a:ext cx="723770" cy="825489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5613443" y="7229985"/>
            <a:ext cx="381000" cy="366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29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06</a:t>
            </a:r>
            <a:endParaRPr sz="2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picture 2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6002000" cy="10668000"/>
          </a:xfrm>
          <a:prstGeom prst="rect">
            <a:avLst/>
          </a:prstGeom>
        </p:spPr>
      </p:pic>
      <p:sp>
        <p:nvSpPr>
          <p:cNvPr id="244" name="textbox 244"/>
          <p:cNvSpPr/>
          <p:nvPr/>
        </p:nvSpPr>
        <p:spPr>
          <a:xfrm>
            <a:off x="9271019" y="1614349"/>
            <a:ext cx="5909309" cy="795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03195" algn="l" rtl="0" eaLnBrk="0">
              <a:lnSpc>
                <a:spcPct val="96000"/>
              </a:lnSpc>
            </a:pPr>
            <a:r>
              <a:rPr sz="2700" b="1" kern="0" spc="100" dirty="0">
                <a:solidFill>
                  <a:srgbClr val="00C42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缺点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2260" algn="l" rtl="0" eaLnBrk="0">
              <a:lnSpc>
                <a:spcPct val="96000"/>
              </a:lnSpc>
              <a:spcBef>
                <a:spcPts val="640"/>
              </a:spcBef>
            </a:pPr>
            <a:r>
              <a:rPr sz="21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局限性高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15"/>
              </a:spcBef>
            </a:pP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规则的覆盖面有限，无法处理复杂的异常数据，处理大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4075"/>
              </a:lnSpc>
            </a:pP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模数据</a:t>
            </a:r>
            <a:r>
              <a:rPr sz="1700" kern="0" spc="140" dirty="0">
                <a:solidFill>
                  <a:srgbClr val="E416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性能有限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、处理复杂数据质量问题时</a:t>
            </a:r>
            <a:r>
              <a:rPr sz="1700" kern="0" spc="140" dirty="0">
                <a:solidFill>
                  <a:srgbClr val="E416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结果不稳定</a:t>
            </a:r>
            <a:r>
              <a:rPr sz="17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2260" algn="l" rtl="0" eaLnBrk="0">
              <a:lnSpc>
                <a:spcPct val="96000"/>
              </a:lnSpc>
              <a:spcBef>
                <a:spcPts val="640"/>
              </a:spcBef>
            </a:pPr>
            <a:r>
              <a:rPr sz="21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适应性差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15"/>
              </a:spcBef>
            </a:pP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无法应对多变的数据质量问题，规则固定，</a:t>
            </a:r>
            <a:r>
              <a:rPr sz="1700" kern="0" spc="150" dirty="0">
                <a:solidFill>
                  <a:srgbClr val="D20D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不具备自适应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4180"/>
              </a:lnSpc>
            </a:pPr>
            <a:r>
              <a:rPr sz="1700" kern="0" spc="-80" dirty="0">
                <a:solidFill>
                  <a:srgbClr val="D20D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 力</a:t>
            </a: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0990" algn="l" rtl="0" eaLnBrk="0">
              <a:lnSpc>
                <a:spcPct val="96000"/>
              </a:lnSpc>
              <a:spcBef>
                <a:spcPts val="515"/>
              </a:spcBef>
            </a:pPr>
            <a:r>
              <a:rPr sz="17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</a:t>
            </a:r>
            <a:r>
              <a:rPr sz="17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</a:t>
            </a:r>
            <a:r>
              <a:rPr sz="1700" kern="0" spc="-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</a:t>
            </a:r>
            <a:r>
              <a:rPr sz="1700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b="1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弱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15"/>
              </a:spcBef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高度依赖人工编写规则和维护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，需要大量人工干预调整，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820"/>
              </a:lnSpc>
            </a:pPr>
            <a:r>
              <a:rPr sz="1700" kern="0" spc="160" dirty="0">
                <a:solidFill>
                  <a:srgbClr val="C20C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效率低下</a:t>
            </a:r>
            <a:r>
              <a:rPr sz="1700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717471" y="3130278"/>
            <a:ext cx="6064884" cy="3614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8760" algn="l" rtl="0" eaLnBrk="0">
              <a:lnSpc>
                <a:spcPct val="96000"/>
              </a:lnSpc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高度可控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15"/>
              </a:spcBef>
            </a:pPr>
            <a:r>
              <a:rPr sz="1700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依赖人工定义的规则</a:t>
            </a:r>
            <a:r>
              <a:rPr sz="17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(如正则表达式、逻辑条件)进行数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870"/>
              </a:lnSpc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据清洗，清洗过程高度可控，结果解释性强。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8760" algn="l" rtl="0" eaLnBrk="0">
              <a:lnSpc>
                <a:spcPct val="95000"/>
              </a:lnSpc>
              <a:spcBef>
                <a:spcPts val="640"/>
              </a:spcBef>
            </a:pPr>
            <a:r>
              <a:rPr sz="21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易于调试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领域专家定义和维护规则，对简单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、结构化数据效果较好。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508005" y="203220"/>
            <a:ext cx="7313294" cy="1911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89915" algn="l" rtl="0" eaLnBrk="0">
              <a:lnSpc>
                <a:spcPct val="97000"/>
              </a:lnSpc>
              <a:tabLst>
                <a:tab pos="781050" algn="l"/>
              </a:tabLst>
            </a:pPr>
            <a:r>
              <a:rPr sz="3700" kern="0" spc="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3700" b="1" kern="0" spc="-50" dirty="0">
                <a:solidFill>
                  <a:srgbClr val="004ED7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基于规则的传统清洗方式优缺点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61945" algn="l" rtl="0" eaLnBrk="0">
              <a:lnSpc>
                <a:spcPct val="96000"/>
              </a:lnSpc>
              <a:spcBef>
                <a:spcPts val="5"/>
              </a:spcBef>
            </a:pPr>
            <a:r>
              <a:rPr sz="2700" b="1" kern="0" spc="30" dirty="0">
                <a:solidFill>
                  <a:srgbClr val="0051DD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优点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0705" y="215920"/>
            <a:ext cx="577832" cy="825489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717471" y="7942507"/>
            <a:ext cx="5607684" cy="1158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8760" algn="l" rtl="0" eaLnBrk="0">
              <a:lnSpc>
                <a:spcPct val="95000"/>
              </a:lnSpc>
            </a:pPr>
            <a:r>
              <a:rPr sz="21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技术成熟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已有丰富的实践经验和工具支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持，实施成本相对较低。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7385433" y="5535305"/>
            <a:ext cx="1011555" cy="1169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  <a:spcBef>
                <a:spcPts val="0"/>
              </a:spcBef>
            </a:pPr>
            <a:r>
              <a:rPr sz="3800" b="1" i="1" kern="0" spc="-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规则</a:t>
            </a:r>
            <a:endParaRPr sz="3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5200"/>
              </a:lnSpc>
            </a:pPr>
            <a:r>
              <a:rPr sz="3700" b="1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驱动</a:t>
            </a:r>
            <a:endParaRPr sz="3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16002000" cy="10668000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717471" y="535971"/>
            <a:ext cx="14333855" cy="8981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58800" algn="l" rtl="0" eaLnBrk="0">
              <a:lnSpc>
                <a:spcPct val="97000"/>
              </a:lnSpc>
            </a:pPr>
            <a:r>
              <a:rPr sz="3600" kern="0" spc="0" dirty="0">
                <a:solidFill>
                  <a:srgbClr val="004ABA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Al</a:t>
            </a:r>
            <a:r>
              <a:rPr sz="3600" kern="0" spc="60" dirty="0">
                <a:solidFill>
                  <a:srgbClr val="004ABA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在数据治理中的其他应用场景</a:t>
            </a:r>
            <a:endParaRPr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700"/>
              </a:spcBef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sz="2300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(人工智能)在主数据治理中的应用日益广泛，显著提升了数据管理的效率和质量，典型应用场景如下：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77210" algn="l" rtl="0" eaLnBrk="0">
              <a:lnSpc>
                <a:spcPct val="97000"/>
              </a:lnSpc>
              <a:spcBef>
                <a:spcPts val="695"/>
              </a:spcBef>
            </a:pPr>
            <a:r>
              <a:rPr sz="2300" b="1" kern="0" spc="80" dirty="0">
                <a:solidFill>
                  <a:srgbClr val="0078D4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sz="2300" b="1" kern="0" spc="80" dirty="0">
                <a:solidFill>
                  <a:srgbClr val="0078D4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自动化数据分类与标签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99690" algn="l" rtl="0" eaLnBrk="0">
              <a:lnSpc>
                <a:spcPct val="87000"/>
              </a:lnSpc>
              <a:spcBef>
                <a:spcPts val="450"/>
              </a:spcBef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智能分类：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500" kern="0" spc="-2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可以根据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数据的内容自动进行分类，将数据分类到预定义的类中或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597150" algn="l" rtl="0" eaLnBrk="0">
              <a:lnSpc>
                <a:spcPts val="3400"/>
              </a:lnSpc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分配相关标签，使得搜索、检索和分析数据变得更加容易。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99690" algn="l" rtl="0" eaLnBrk="0">
              <a:lnSpc>
                <a:spcPct val="95000"/>
              </a:lnSpc>
              <a:spcBef>
                <a:spcPts val="455"/>
              </a:spcBef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属性补全：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面对数据属性缺失的问题，</a:t>
            </a:r>
            <a:r>
              <a:rPr sz="1500" kern="0" spc="-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500" kern="0" spc="-1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可以通过分析已有数据，自动补全缺失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ts val="2345"/>
              </a:lnSpc>
              <a:spcBef>
                <a:spcPts val="875"/>
              </a:spcBef>
            </a:pPr>
            <a:r>
              <a:rPr sz="2300" kern="0" spc="30" baseline="-10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的属性值，提高数据的完整性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                                      </a:t>
            </a:r>
            <a:r>
              <a:rPr sz="2900" kern="0" spc="30" baseline="7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提高数据管理的效率和准确性</a:t>
            </a:r>
            <a:endParaRPr sz="2900" baseline="7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46450" algn="l" rtl="0" eaLnBrk="0">
              <a:lnSpc>
                <a:spcPct val="94000"/>
              </a:lnSpc>
              <a:spcBef>
                <a:spcPts val="700"/>
              </a:spcBef>
              <a:tabLst>
                <a:tab pos="3451225" algn="l"/>
              </a:tabLst>
            </a:pPr>
            <a:r>
              <a:rPr sz="2300" kern="0" spc="0" dirty="0">
                <a:solidFill>
                  <a:srgbClr val="009DE1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300" b="1" kern="0" spc="60" dirty="0">
                <a:solidFill>
                  <a:srgbClr val="009DE1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2、</a:t>
            </a:r>
            <a:r>
              <a:rPr sz="2300" b="1" kern="0" spc="60" dirty="0">
                <a:solidFill>
                  <a:srgbClr val="009DE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数据清洗、预处理，数据质</a:t>
            </a:r>
            <a:r>
              <a:rPr sz="2300" b="1" kern="0" spc="50" dirty="0">
                <a:solidFill>
                  <a:srgbClr val="009DE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量实时监控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64790" algn="l" rtl="0" eaLnBrk="0">
              <a:lnSpc>
                <a:spcPts val="2360"/>
              </a:lnSpc>
              <a:spcBef>
                <a:spcPts val="575"/>
              </a:spcBef>
            </a:pP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错误识别与纠正：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</a:t>
            </a:r>
            <a:r>
              <a:rPr sz="1500" kern="0" spc="-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技术，特别是机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器学习算法，能够从历史数据中学习并自动                   </a:t>
            </a:r>
            <a:r>
              <a:rPr sz="2900" kern="0" spc="40" baseline="70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降低数据治理的成本</a:t>
            </a:r>
            <a:endParaRPr sz="2900" baseline="7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762250" algn="l" rtl="0" eaLnBrk="0">
              <a:lnSpc>
                <a:spcPct val="99000"/>
              </a:lnSpc>
              <a:spcBef>
                <a:spcPts val="1570"/>
              </a:spcBef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识别和纠正错误从而确保数据的质量。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764790" algn="l" rtl="0" eaLnBrk="0">
              <a:lnSpc>
                <a:spcPct val="98000"/>
              </a:lnSpc>
              <a:spcBef>
                <a:spcPts val="1610"/>
              </a:spcBef>
            </a:pP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重复数据删除：</a:t>
            </a: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可以帮助识别和删除大型数据集中的重复记录。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764790" algn="l" rtl="0" eaLnBrk="0">
              <a:lnSpc>
                <a:spcPct val="95000"/>
              </a:lnSpc>
              <a:spcBef>
                <a:spcPts val="1510"/>
              </a:spcBef>
            </a:pPr>
            <a:r>
              <a:rPr sz="15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数据标准化：</a:t>
            </a:r>
            <a:r>
              <a:rPr sz="1500" kern="0" spc="-3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Al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技术可以应用于数据标准化过程，确保不同数据源之间的数据格                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增强数据的安全性和合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规性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762250" algn="l" rtl="0" eaLnBrk="0">
              <a:lnSpc>
                <a:spcPct val="95000"/>
              </a:lnSpc>
              <a:spcBef>
                <a:spcPts val="1200"/>
              </a:spcBef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式、命名规则等保持一致，便于数据集成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和分析。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27960" algn="l" rtl="0" eaLnBrk="0">
              <a:lnSpc>
                <a:spcPct val="98000"/>
              </a:lnSpc>
              <a:spcBef>
                <a:spcPts val="690"/>
              </a:spcBef>
            </a:pPr>
            <a:r>
              <a:rPr sz="2300" b="1" kern="0" spc="40" dirty="0">
                <a:solidFill>
                  <a:srgbClr val="004A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3、</a:t>
            </a:r>
            <a:r>
              <a:rPr sz="2300" kern="0" spc="-590" dirty="0">
                <a:solidFill>
                  <a:srgbClr val="004ACC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kern="0" spc="40" dirty="0">
                <a:solidFill>
                  <a:srgbClr val="004ACC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自动化合规性检查与报告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99690" algn="l" rtl="0" eaLnBrk="0">
              <a:lnSpc>
                <a:spcPct val="95000"/>
              </a:lnSpc>
              <a:spcBef>
                <a:spcPts val="460"/>
              </a:spcBef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数据处理合规：</a:t>
            </a:r>
            <a:r>
              <a:rPr sz="1500"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Al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辅助实现自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动化合规性审计，确保数据处理符合各种法规要求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724150" algn="l" rtl="0" eaLnBrk="0">
              <a:lnSpc>
                <a:spcPct val="95000"/>
              </a:lnSpc>
              <a:spcBef>
                <a:spcPts val="1640"/>
              </a:spcBef>
            </a:pP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1500" kern="0" spc="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GDPR</a:t>
            </a:r>
            <a:r>
              <a:rPr sz="1500" kern="0" spc="13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kern="0" spc="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HIPAA</a:t>
            </a:r>
            <a:r>
              <a:rPr sz="1500" kern="0" spc="13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500" kern="0" spc="130" dirty="0" err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个保法等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),自动生成所需的报告，减少人工审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计的工作量和成</a:t>
            </a:r>
            <a:endParaRPr sz="1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97150" algn="l" rtl="0" eaLnBrk="0">
              <a:lnSpc>
                <a:spcPts val="2180"/>
              </a:lnSpc>
            </a:pP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81407" y="4502109"/>
            <a:ext cx="482620" cy="736625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3346" y="228615"/>
            <a:ext cx="558789" cy="8190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FmZWIzNDg2MmIzZjExOTIzMmViNTBmYTMwYTk0ZWY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782</Words>
  <Application>Microsoft Office PowerPoint</Application>
  <PresentationFormat>自定义</PresentationFormat>
  <Paragraphs>762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黑体</vt:lpstr>
      <vt:lpstr>宋体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Frank Zhao</cp:lastModifiedBy>
  <cp:revision>4</cp:revision>
  <dcterms:created xsi:type="dcterms:W3CDTF">2025-04-12T18:36:49Z</dcterms:created>
  <dcterms:modified xsi:type="dcterms:W3CDTF">2026-08-25T08:40:16Z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2025-04-13T02:36:00Z</vt:filetime>
  </property>
  <property fmtid="{D5CDD505-2E9C-101B-9397-08002B2CF9AE}" pid="4" name="UsrData">
    <vt:lpwstr>67fab27a428e8c0020095ff3wl</vt:lpwstr>
  </property>
  <property fmtid="{D5CDD505-2E9C-101B-9397-08002B2CF9AE}" pid="5" name="ICV">
    <vt:lpwstr>6471B84F7E944698AE307D5D07F0CDE3_13</vt:lpwstr>
  </property>
  <property fmtid="{D5CDD505-2E9C-101B-9397-08002B2CF9AE}" pid="6" name="KSOProductBuildVer">
    <vt:lpwstr>2052-12.1.0.16250</vt:lpwstr>
  </property>
</Properties>
</file>