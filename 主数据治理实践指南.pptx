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57483700" r:id="rId2"/>
  </p:sldMasterIdLst>
  <p:notesMasterIdLst>
    <p:notesMasterId r:id="rId25"/>
  </p:notesMasterIdLst>
  <p:sldIdLst>
    <p:sldId id="256" r:id="rId3"/>
    <p:sldId id="259" r:id="rId4"/>
    <p:sldId id="261" r:id="rId5"/>
    <p:sldId id="262" r:id="rId6"/>
    <p:sldId id="264" r:id="rId7"/>
    <p:sldId id="564" r:id="rId8"/>
    <p:sldId id="566" r:id="rId9"/>
    <p:sldId id="567" r:id="rId10"/>
    <p:sldId id="568" r:id="rId11"/>
    <p:sldId id="569" r:id="rId12"/>
    <p:sldId id="266" r:id="rId13"/>
    <p:sldId id="270" r:id="rId14"/>
    <p:sldId id="267" r:id="rId15"/>
    <p:sldId id="268" r:id="rId16"/>
    <p:sldId id="533" r:id="rId17"/>
    <p:sldId id="561" r:id="rId18"/>
    <p:sldId id="562" r:id="rId19"/>
    <p:sldId id="563" r:id="rId20"/>
    <p:sldId id="534" r:id="rId21"/>
    <p:sldId id="271" r:id="rId22"/>
    <p:sldId id="272" r:id="rId23"/>
    <p:sldId id="27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5026" autoAdjust="0"/>
  </p:normalViewPr>
  <p:slideViewPr>
    <p:cSldViewPr snapToGrid="0">
      <p:cViewPr>
        <p:scale>
          <a:sx n="75" d="100"/>
          <a:sy n="75" d="100"/>
        </p:scale>
        <p:origin x="1104" y="1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290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主数据治理的分享。在今天的议程中，我们将深入探讨如何通过系统化的方法，构建坚实的企业数据基石。这份实践指南将为您揭示主数据治理的核心价值、关键步骤和实施路径，帮助企业从数据混乱走向秩序，真正释放数据资产的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数据治理的范围覆盖了企业最核心的业务对象。根据我们的战略优先级，本期将重点治理物料、供应商、客户、BOM、工艺路线和员工这六类主数据。我们的目标是实现“统一标准、唯一来源、全程留痕、跨系统一致”，从而为企业各部门的协同工作提供坚实的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物料主数据分散在SAP、金蝶、用友等多个ERP系统以及MES、WMS等专业系统中。多系统并存本身不是问题，但标准不统一导致了严重的数据孤岛。因此，我们的管理要求是：明确一个主源系统，统一字段映射，并建立自动化的同步机制，实现“一个标准、一个主源、多系统共享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源头治理的核心原则是“谁发起、谁负责；谁审批、谁把关”。物料主数据通常由研发、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需求部门</a:t>
            </a:r>
            <a:r>
              <a:rPr lang="en-US" sz="1400" b="0" i="0" u="none" strike="noStrike">
                <a:solidFill>
                  <a:srgbClr val="000000"/>
                </a:solidFill>
              </a:rPr>
              <a:t>或生产部门发起。为了管住入口，我们需要建立统一的申请入口，通过系统进行前置校验，并由主数据管理员进行最终复核。只有从源头上保证数据质量，后续的治理工作才能事半功倍。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统一基本信息的核心抓手可以概括为“五件套”。首先是统一数据标准，告诉我们数据应该是什么样。其次是统一数据字典，解释每个字段的含义。然后是统一属性模板，确保同类物料结构一致。接着是统一校验规则，作为质检员防止不合格数据流入。最后是统一流程机制，确保每一步都按规矩来。这五者环环相扣，缺一不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743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7161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分发的关键是“发得准、发得稳、可追踪、可回溯”。我们采用事件驱动的机制，在数据新增、变更、冻结时自动触发分发。通过精细化的范围策略，确保数据只发给需要的系统。同步方式采用全量初始化加增量实时同步。最后，通过失败重试、异常告警等机制，保障分发过程的稳定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从五个维度来描述业务价值。效率价值，体现在缩短流程周期；成本价值，体现在降低库存和采购成本；质量价值，体现在减少业务差错；风控价值，体现在满足合规要求；战略价值，则是为企业的长远发展夯实数据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第六个问题，我们来探讨如何利用AI技术，让主数据治理变得更智能、更高效。AI不是要取代人，而是要成为数据管理员的超级助手。本章将介绍AI在智能识别、智能推荐、智能风控和智能助手四个方面的应用。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在主数据治理中大有可为。它可以帮助我们智能识别重复和异常数据，主动发现问题。它可以通过智能推荐，辅助用户更规范地创建数据。它还能进行变更影响分析和风险预警，加强风控。最后，AI助手可以提供7x24小时的规则问答和流程指引。我们建议从重复检测、分类推荐等小切口试点，见效快，易推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61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1902-DC64-8165-937C-E6D1E37D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CAF3E3-4E87-01E0-C813-7EF991054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BDEA62-3A90-CB7B-5224-3B8D0F8D0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06F5FC-753F-956A-E5EA-47CDFAF74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851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7413-F7C5-E872-B15B-A4D5DFCA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7A31A6-EDAC-0BB1-685F-FFEE798BD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68810E-69FC-8B1F-2874-85142E8D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0B5C8-4FF1-39B9-E6AC-01119D03C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087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F109-EBE4-E5C9-4114-ED2E80FD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7811B5-CFEB-BDE3-ACA8-386224E85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3E163C-D8C2-1E43-A407-B25F0DBE2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5F1F05-2DE5-297D-87E4-C528D27C7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981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164FB8-64F5-424B-B98F-58E04AE162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45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最后，我们来介绍一个强大的工具——OpenMetadata。它是一个一体化的开源数据治理平台，能够帮助我们更高效地实现前面提到的各项治理目标。本章将详细介绍它的核心能力、架构优势以及与其他工具的对比。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我的分享到此结束。主数据治理是一项长期但价值巨大的工程，它为企业的数字化转型奠定了坚实的基础。希望今天的内容能对大家有所启发。现在是问答环节，欢迎大家提问交流。谢谢！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/>
          <a:srcRect l="3398" t="3448" r="3398" b="3448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F0312A-D157-1893-2661-EF76DED226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E3303-607B-12CE-BD16-3FE589E3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E788ED-33A4-9EC6-C623-4BD86E9A2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DBC69-DEC6-E909-B8D9-0ECE7204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B66A0F-A122-A85B-4C1B-46ECDF0A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3DE7F-79D0-E543-4CC3-B7765A1A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070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63320-E5AD-1C1B-5467-2478B301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3FC99F-67A2-B862-5128-4E1AD02B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CCBB3-31DD-DDCA-B60D-57A6F710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98C36A-50DC-EC2A-4558-7BDA40C1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04955-388E-8046-84DC-E64CAF23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70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F00E0-4381-3A67-6007-19D2AF44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B338C3-893E-1239-AC1B-24690B0CF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AD943D-91B8-CA13-FFEF-C3F7C891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1338A-51D3-A87B-B60D-B6FE4FCC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4E3783-7B8B-B17F-8819-B2499B694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50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FF9FF-DE02-20E7-8718-06222206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85EF34-8012-F242-85A5-E1385B00A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BFEBBB-75D3-E68C-93CE-FFE7B5EC4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69552-3EAD-4EE5-572F-3267BAF1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E6B09B-533A-6A1C-EB98-F8930A60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4713B5-A9B0-1793-2EA9-60B6A9CE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83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C4FC2-1B7D-2CA5-6E4D-86E6C99E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CA372-65E9-5AC9-60BD-2862090E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67A962-2CB2-86C9-409A-2F7F73D7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C22154-BBC4-F64A-C8D7-692F9F3A3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9B279F-34A7-789B-578C-D001E1844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7B96BF-54C8-7AC7-7364-D8388345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70C35F-83E4-3892-0AC1-7495F4F5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C16966-A595-6055-48D8-CF6DD2B0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06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78421-00F5-D07F-A812-D49CCA50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B3DDAC-1180-3874-88F2-48476BCA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059D0-5858-332D-C3B1-E5250C32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B930E7-300D-169B-858E-B0721B47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73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714D5E-00E1-955C-C43F-0E80C7BC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3B54A9-5B19-50D7-F92E-B67974EB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EB298E-8B08-0F98-7768-BEC81886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97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09509-2E06-729F-CEAF-4A454F49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948BDE-EF4A-C159-9304-21290325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215E5-DA2D-754B-0255-2967C13AD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CC210-6CA6-1EB8-DA21-A1C55540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B66BE0-D61E-55E3-CFC2-9D09BE08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B64C3-2748-985B-3B5D-E45B5DCE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28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D8867-8425-CCF3-CB9F-33E6ECF6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E529FE-871E-5720-89E9-B2C74B6D6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76013-36A0-3F54-ED33-FFDD35A48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D9AD3-19E9-452C-608C-9D69065E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B41AD0-943D-5521-62FC-9FCA9FB3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AE9B1B-EEA7-C857-7C58-7F1DA0F0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40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C4C84-453A-F55F-CC08-F93F1635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9D3B5D-17AA-C6C3-2B34-32D44DEFD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9CF61-8FD9-A552-4A4A-2AE33E6C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61490-C9FA-C882-E0DB-65599257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0F329-2A6C-6FE8-F98D-6EADB8FA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94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4C864A-034E-2B42-1F81-A8F567C24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4AF6DA-7341-D3E4-9F51-2A1BF9A38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BA36A-009B-0A6B-5F64-8533F38C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7CDE8-C282-F563-CB47-9CE3E6F5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1FB51-934C-E683-419F-84D0E39E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316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peaker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287925" y="5130490"/>
            <a:ext cx="10896336" cy="430887"/>
          </a:xfrm>
        </p:spPr>
        <p:txBody>
          <a:bodyPr wrap="square" anchor="t" anchorCtr="0">
            <a:noAutofit/>
          </a:bodyPr>
          <a:lstStyle>
            <a:lvl1pPr marL="0" marR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defRPr sz="1400" b="0" baseline="0">
                <a:solidFill>
                  <a:schemeClr val="tx1"/>
                </a:solidFill>
              </a:defRPr>
            </a:lvl1pPr>
            <a:lvl2pPr marL="5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8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2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Speaker’s Name, SAP</a:t>
            </a:r>
          </a:p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defRPr/>
            </a:pPr>
            <a:r>
              <a:rPr lang="en-US"/>
              <a:t>Month 00, 2021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Presentation Title </a:t>
            </a:r>
            <a:br>
              <a:rPr lang="en-US"/>
            </a:br>
            <a:r>
              <a:rPr lang="en-US"/>
              <a:t>Goes Here and Here.</a:t>
            </a:r>
          </a:p>
        </p:txBody>
      </p:sp>
      <p:sp>
        <p:nvSpPr>
          <p:cNvPr id="5" name="Title Image Placeholder" descr="Placeholder title image" title="Title image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0"/>
            <a:ext cx="12191999" cy="3430006"/>
          </a:xfrm>
          <a:noFill/>
        </p:spPr>
        <p:txBody>
          <a:bodyPr tIns="504000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title image 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421712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757132" y="6515425"/>
            <a:ext cx="42367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© 2018~2026 IOE Navigator. All rights reserved</a:t>
            </a: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等腰三角形 3"/>
          <p:cNvSpPr/>
          <p:nvPr userDrawn="1"/>
        </p:nvSpPr>
        <p:spPr bwMode="auto">
          <a:xfrm rot="5400000">
            <a:off x="-48768" y="256826"/>
            <a:ext cx="707136" cy="609600"/>
          </a:xfrm>
          <a:prstGeom prst="triangle">
            <a:avLst/>
          </a:prstGeom>
          <a:solidFill>
            <a:srgbClr val="0189E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609601" y="334771"/>
            <a:ext cx="4982344" cy="453708"/>
          </a:xfrm>
        </p:spPr>
        <p:txBody>
          <a:bodyPr>
            <a:normAutofit/>
          </a:bodyPr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6" name="矩形 5"/>
          <p:cNvSpPr/>
          <p:nvPr userDrawn="1"/>
        </p:nvSpPr>
        <p:spPr bwMode="gray">
          <a:xfrm>
            <a:off x="-1442147" y="779746"/>
            <a:ext cx="798414" cy="368743"/>
          </a:xfrm>
          <a:prstGeom prst="rect">
            <a:avLst/>
          </a:prstGeom>
          <a:solidFill>
            <a:srgbClr val="F0AB00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矩形 6"/>
          <p:cNvSpPr/>
          <p:nvPr userDrawn="1"/>
        </p:nvSpPr>
        <p:spPr bwMode="gray">
          <a:xfrm>
            <a:off x="-1442147" y="1645511"/>
            <a:ext cx="798414" cy="368743"/>
          </a:xfrm>
          <a:prstGeom prst="rect">
            <a:avLst/>
          </a:prstGeom>
          <a:solidFill>
            <a:srgbClr val="0189E5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矩形 7"/>
          <p:cNvSpPr/>
          <p:nvPr userDrawn="1"/>
        </p:nvSpPr>
        <p:spPr bwMode="gray">
          <a:xfrm>
            <a:off x="-1442147" y="2074049"/>
            <a:ext cx="798414" cy="368743"/>
          </a:xfrm>
          <a:prstGeom prst="rect">
            <a:avLst/>
          </a:prstGeom>
          <a:solidFill>
            <a:srgbClr val="52B5F9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矩形 8"/>
          <p:cNvSpPr/>
          <p:nvPr userDrawn="1"/>
        </p:nvSpPr>
        <p:spPr bwMode="gray">
          <a:xfrm>
            <a:off x="-1442147" y="2512548"/>
            <a:ext cx="798414" cy="368743"/>
          </a:xfrm>
          <a:prstGeom prst="rect">
            <a:avLst/>
          </a:prstGeom>
          <a:solidFill>
            <a:srgbClr val="CCEEED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矩形 9"/>
          <p:cNvSpPr/>
          <p:nvPr userDrawn="1"/>
        </p:nvSpPr>
        <p:spPr bwMode="gray">
          <a:xfrm>
            <a:off x="-1442147" y="2941100"/>
            <a:ext cx="798414" cy="36874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矩形 10"/>
          <p:cNvSpPr/>
          <p:nvPr userDrawn="1"/>
        </p:nvSpPr>
        <p:spPr bwMode="gray">
          <a:xfrm>
            <a:off x="-1442147" y="341247"/>
            <a:ext cx="798414" cy="368743"/>
          </a:xfrm>
          <a:prstGeom prst="rect">
            <a:avLst/>
          </a:prstGeom>
          <a:solidFill>
            <a:srgbClr val="D00000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矩形 11"/>
          <p:cNvSpPr/>
          <p:nvPr userDrawn="1"/>
        </p:nvSpPr>
        <p:spPr bwMode="gray">
          <a:xfrm>
            <a:off x="-1442147" y="1216225"/>
            <a:ext cx="798414" cy="368743"/>
          </a:xfrm>
          <a:prstGeom prst="rect">
            <a:avLst/>
          </a:prstGeom>
          <a:solidFill>
            <a:srgbClr val="607E47"/>
          </a:solidFill>
          <a:ln w="25400" algn="ctr">
            <a:noFill/>
            <a:miter lim="800000"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-588878" y="1695080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主色调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-579200" y="2105063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主色调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-588878" y="1298066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-592243" y="2598298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603881" y="3059040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次色调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579200" y="421291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点缀色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579200" y="871592"/>
            <a:ext cx="40395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CN" altLang="en-US" sz="1050" kern="0" dirty="0">
                <a:solidFill>
                  <a:schemeClr val="tx1">
                    <a:lumMod val="50000"/>
                    <a:lumOff val="50000"/>
                  </a:schemeClr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点缀色</a:t>
            </a:r>
          </a:p>
        </p:txBody>
      </p:sp>
    </p:spTree>
    <p:extLst>
      <p:ext uri="{BB962C8B-B14F-4D97-AF65-F5344CB8AC3E}">
        <p14:creationId xmlns:p14="http://schemas.microsoft.com/office/powerpoint/2010/main" val="4176050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57806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C520DB-241D-4EA4-EE31-491ABB1101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704E0A1-C6EE-711F-1DCE-A2F6391045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8B5F03-C5D0-0689-8D96-9977D717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CC8E6-95AA-9558-12CE-F256410AA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72A0B-A45F-010B-2EB0-49F3AD829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E9672-51A4-F743-A457-4224EDF49017}" type="datetimeFigureOut">
              <a:rPr kumimoji="1" lang="zh-CN" altLang="en-US" smtClean="0"/>
              <a:t>2026/5/6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F4E66-0169-9DCE-57DC-27FA96E70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A806E-B2D6-692B-C7C9-709991E8F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FC5B9-65E3-B542-B3FA-D55EB4D846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314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1" r:id="rId1"/>
    <p:sldLayoutId id="2157483702" r:id="rId2"/>
    <p:sldLayoutId id="2157483703" r:id="rId3"/>
    <p:sldLayoutId id="2157483704" r:id="rId4"/>
    <p:sldLayoutId id="2157483705" r:id="rId5"/>
    <p:sldLayoutId id="2157483706" r:id="rId6"/>
    <p:sldLayoutId id="2157483707" r:id="rId7"/>
    <p:sldLayoutId id="2157483708" r:id="rId8"/>
    <p:sldLayoutId id="2157483709" r:id="rId9"/>
    <p:sldLayoutId id="2157483710" r:id="rId10"/>
    <p:sldLayoutId id="2157483711" r:id="rId11"/>
    <p:sldLayoutId id="2157483712" r:id="rId12"/>
    <p:sldLayoutId id="2157483713" r:id="rId13"/>
    <p:sldLayoutId id="215748371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10" Type="http://schemas.openxmlformats.org/officeDocument/2006/relationships/image" Target="../media/image21.svg"/><Relationship Id="rId4" Type="http://schemas.openxmlformats.org/officeDocument/2006/relationships/image" Target="../media/image16.svg"/><Relationship Id="rId9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1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14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1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1.jpe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32.svg"/><Relationship Id="rId4" Type="http://schemas.openxmlformats.org/officeDocument/2006/relationships/image" Target="../media/image4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7D32">
              <a:alpha val="92000"/>
            </a:srgbClr>
          </a:solidFill>
          <a:ln cap="flat" cmpd="sng">
            <a:solidFill>
              <a:srgbClr val="1B631E">
                <a:alpha val="9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1143000"/>
            <a:ext cx="1016000" cy="1016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主数据治理：构建企业数据基石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3492500"/>
            <a:ext cx="5080000" cy="50800"/>
          </a:xfrm>
          <a:prstGeom prst="roundRect">
            <a:avLst>
              <a:gd name="adj" fmla="val 40000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51000" y="3937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从数据混乱走向秩序 · 释放数据资产核心价值 · 打造企业数字化底座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5334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8448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数据安全合规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200" y="5334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资产价值挖掘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5334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823200" y="6032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标准规范落地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49693" y="85429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需要做哪些主数据的治理？</a:t>
            </a:r>
            <a:endParaRPr lang="en-US" sz="1000"/>
          </a:p>
        </p:txBody>
      </p:sp>
      <p:sp>
        <p:nvSpPr>
          <p:cNvPr id="5" name="AutoShape 5"/>
          <p:cNvSpPr/>
          <p:nvPr/>
        </p:nvSpPr>
        <p:spPr>
          <a:xfrm>
            <a:off x="349693" y="615691"/>
            <a:ext cx="8787219" cy="36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主数据治理覆盖企业核心业务对象，旨在确保数据口径统一、责任归属清晰，并实现全生命周期的可管控性。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200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计量单位</a:t>
            </a:r>
            <a:endParaRPr lang="en-US" altLang="zh-CN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物料组</a:t>
            </a:r>
            <a:endParaRPr lang="en-US" altLang="zh-CN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品类清单</a:t>
            </a:r>
            <a:endParaRPr lang="en-US" sz="1050"/>
          </a:p>
        </p:txBody>
      </p:sp>
      <p:sp>
        <p:nvSpPr>
          <p:cNvPr id="9" name="AutoShape 9"/>
          <p:cNvSpPr/>
          <p:nvPr/>
        </p:nvSpPr>
        <p:spPr>
          <a:xfrm>
            <a:off x="3175000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270650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供应商主数据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zh-CN" altLang="en-US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供应商编码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供应商状态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供应商等级</a:t>
            </a:r>
            <a:endParaRPr lang="en-US" sz="11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342617" y="2281473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469417" y="2440223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内部订单/项目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成本中心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会计科目</a:t>
            </a:r>
            <a:endParaRPr lang="en-US" sz="11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41228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预算类型</a:t>
            </a:r>
            <a:endParaRPr lang="en-US" altLang="zh-CN" sz="15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预算</a:t>
            </a:r>
            <a:r>
              <a:rPr lang="en-US" altLang="zh-CN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费控苍穹费用</a:t>
            </a:r>
            <a:r>
              <a:rPr lang="en-US" altLang="zh-CN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175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36000" tIns="36000" rIns="36000" bIns="360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309636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付款条件</a:t>
            </a:r>
            <a:endParaRPr lang="en-US" altLang="zh-CN" sz="15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付款方式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税码、汇率、币别</a:t>
            </a:r>
            <a:endParaRPr lang="en-US" altLang="zh-CN" sz="110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国际贸易条件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334000" y="37465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469417" y="3905250"/>
            <a:ext cx="17784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员工主数据</a:t>
            </a:r>
            <a:endParaRPr lang="en-US" sz="1100"/>
          </a:p>
          <a:p>
            <a:pPr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组织</a:t>
            </a:r>
            <a:endParaRPr lang="en-US" altLang="zh-CN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  <a:p>
            <a:pPr algn="ctr">
              <a:lnSpc>
                <a:spcPct val="125000"/>
              </a:lnSpc>
              <a:defRPr/>
            </a:pPr>
            <a:r>
              <a:rPr lang="zh-CN" altLang="en-US" sz="1500" b="1">
                <a:solidFill>
                  <a:srgbClr val="2E7D32"/>
                </a:solidFill>
                <a:latin typeface="Noto Sans SC"/>
                <a:ea typeface="Noto Sans SC"/>
                <a:sym typeface="Noto Sans SC"/>
              </a:rPr>
              <a:t>岗位</a:t>
            </a:r>
            <a:endParaRPr lang="en-US" sz="1500" b="1">
              <a:solidFill>
                <a:srgbClr val="2E7D32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5334000"/>
            <a:ext cx="6350000" cy="762000"/>
          </a:xfrm>
          <a:prstGeom prst="roundRect">
            <a:avLst>
              <a:gd name="adj" fmla="val 16666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334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治理目标：统一标准 · 唯一来源 · 全程留痕 · 跨系统一致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937500" y="5414524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资金支付系统（</a:t>
            </a:r>
            <a:r>
              <a:rPr lang="en-US" altLang="zh-CN" sz="1100"/>
              <a:t>BFS</a:t>
            </a:r>
            <a:r>
              <a:rPr lang="zh-CN" altLang="en-US" sz="1100"/>
              <a:t>）</a:t>
            </a:r>
            <a:endParaRPr sz="1100"/>
          </a:p>
        </p:txBody>
      </p:sp>
      <p:sp>
        <p:nvSpPr>
          <p:cNvPr id="31" name="AutoShape 27">
            <a:extLst>
              <a:ext uri="{FF2B5EF4-FFF2-40B4-BE49-F238E27FC236}">
                <a16:creationId xmlns:a16="http://schemas.microsoft.com/office/drawing/2014/main" id="{4DFE2ECC-3B15-D079-095C-E054BBA150EA}"/>
              </a:ext>
            </a:extLst>
          </p:cNvPr>
          <p:cNvSpPr/>
          <p:nvPr/>
        </p:nvSpPr>
        <p:spPr>
          <a:xfrm>
            <a:off x="7937500" y="4935188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财务共享平台</a:t>
            </a:r>
            <a:endParaRPr sz="1100"/>
          </a:p>
        </p:txBody>
      </p:sp>
      <p:sp>
        <p:nvSpPr>
          <p:cNvPr id="32" name="AutoShape 27">
            <a:extLst>
              <a:ext uri="{FF2B5EF4-FFF2-40B4-BE49-F238E27FC236}">
                <a16:creationId xmlns:a16="http://schemas.microsoft.com/office/drawing/2014/main" id="{EFA720A6-6EBA-491F-05C7-25C174C4E495}"/>
              </a:ext>
            </a:extLst>
          </p:cNvPr>
          <p:cNvSpPr/>
          <p:nvPr/>
        </p:nvSpPr>
        <p:spPr>
          <a:xfrm>
            <a:off x="7937500" y="4455852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100"/>
              <a:t>SAP Ariba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3" name="AutoShape 27">
            <a:extLst>
              <a:ext uri="{FF2B5EF4-FFF2-40B4-BE49-F238E27FC236}">
                <a16:creationId xmlns:a16="http://schemas.microsoft.com/office/drawing/2014/main" id="{4072B0FC-3CC3-88F7-5BD4-F70CEEDD0737}"/>
              </a:ext>
            </a:extLst>
          </p:cNvPr>
          <p:cNvSpPr/>
          <p:nvPr/>
        </p:nvSpPr>
        <p:spPr>
          <a:xfrm>
            <a:off x="7937500" y="3976516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费控系统</a:t>
            </a:r>
            <a:endParaRPr sz="1100"/>
          </a:p>
        </p:txBody>
      </p:sp>
      <p:sp>
        <p:nvSpPr>
          <p:cNvPr id="34" name="AutoShape 27">
            <a:extLst>
              <a:ext uri="{FF2B5EF4-FFF2-40B4-BE49-F238E27FC236}">
                <a16:creationId xmlns:a16="http://schemas.microsoft.com/office/drawing/2014/main" id="{2655D5D8-89EE-5096-C126-D6DFEA4EE597}"/>
              </a:ext>
            </a:extLst>
          </p:cNvPr>
          <p:cNvSpPr/>
          <p:nvPr/>
        </p:nvSpPr>
        <p:spPr>
          <a:xfrm>
            <a:off x="7937500" y="3497180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FONE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5" name="AutoShape 27">
            <a:extLst>
              <a:ext uri="{FF2B5EF4-FFF2-40B4-BE49-F238E27FC236}">
                <a16:creationId xmlns:a16="http://schemas.microsoft.com/office/drawing/2014/main" id="{CA2A3658-1586-850D-94FD-08181002BE52}"/>
              </a:ext>
            </a:extLst>
          </p:cNvPr>
          <p:cNvSpPr/>
          <p:nvPr/>
        </p:nvSpPr>
        <p:spPr>
          <a:xfrm>
            <a:off x="7937500" y="2538508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OA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F7AB1336-1C8C-58B5-B58B-E4B13F31431A}"/>
              </a:ext>
            </a:extLst>
          </p:cNvPr>
          <p:cNvSpPr/>
          <p:nvPr/>
        </p:nvSpPr>
        <p:spPr>
          <a:xfrm>
            <a:off x="7937500" y="1579836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sz="1100"/>
              <a:t>SAP ERP( </a:t>
            </a:r>
            <a:r>
              <a:rPr lang="zh-CN" altLang="en-US" sz="1100"/>
              <a:t>集团</a:t>
            </a:r>
            <a:r>
              <a:rPr lang="en-US" altLang="zh-CN" sz="1100"/>
              <a:t>ECC</a:t>
            </a:r>
            <a:r>
              <a:rPr lang="zh-CN" altLang="en-US" sz="1100"/>
              <a:t>、欧洲</a:t>
            </a:r>
            <a:r>
              <a:rPr lang="en-US" altLang="zh-CN" sz="1100"/>
              <a:t>ECC</a:t>
            </a:r>
            <a:r>
              <a:rPr lang="zh-CN" altLang="en-US" sz="1100"/>
              <a:t>、墨西哥</a:t>
            </a:r>
            <a:r>
              <a:rPr lang="en-US" altLang="zh-CN" sz="1100"/>
              <a:t>S/4</a:t>
            </a:r>
            <a:r>
              <a:rPr lang="zh-CN" altLang="en-US" sz="1100"/>
              <a:t>、金属</a:t>
            </a:r>
            <a:r>
              <a:rPr lang="en-US" altLang="zh-CN" sz="1100"/>
              <a:t>ECC)</a:t>
            </a:r>
            <a:endParaRPr sz="1100"/>
          </a:p>
        </p:txBody>
      </p:sp>
      <p:sp>
        <p:nvSpPr>
          <p:cNvPr id="37" name="AutoShape 27">
            <a:extLst>
              <a:ext uri="{FF2B5EF4-FFF2-40B4-BE49-F238E27FC236}">
                <a16:creationId xmlns:a16="http://schemas.microsoft.com/office/drawing/2014/main" id="{655C48F6-1741-7515-7E5E-E74581506336}"/>
              </a:ext>
            </a:extLst>
          </p:cNvPr>
          <p:cNvSpPr/>
          <p:nvPr/>
        </p:nvSpPr>
        <p:spPr>
          <a:xfrm>
            <a:off x="7937500" y="3017844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100"/>
              <a:t>HR</a:t>
            </a:r>
            <a:r>
              <a:rPr lang="zh-CN" altLang="en-US" sz="1100"/>
              <a:t>系统</a:t>
            </a:r>
            <a:endParaRPr sz="1100"/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AD76AB05-EBB7-0E16-F50D-9CEEC224F9A7}"/>
              </a:ext>
            </a:extLst>
          </p:cNvPr>
          <p:cNvSpPr/>
          <p:nvPr/>
        </p:nvSpPr>
        <p:spPr>
          <a:xfrm>
            <a:off x="7937500" y="2059172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1100"/>
              <a:t>金蝶</a:t>
            </a:r>
            <a:r>
              <a:rPr lang="en-US" altLang="zh-CN" sz="1100"/>
              <a:t>K3</a:t>
            </a:r>
            <a:r>
              <a:rPr lang="zh-CN" altLang="en-US" sz="1100"/>
              <a:t>， 金蝶</a:t>
            </a:r>
            <a:r>
              <a:rPr lang="en-US" altLang="zh-CN" sz="1100"/>
              <a:t>K3 Cloud</a:t>
            </a:r>
            <a:r>
              <a:rPr lang="zh-CN" altLang="en-US" sz="1100"/>
              <a:t>， </a:t>
            </a:r>
            <a:r>
              <a:rPr lang="en-US" altLang="zh-CN" sz="1100"/>
              <a:t>QAD</a:t>
            </a:r>
            <a:endParaRPr sz="1100"/>
          </a:p>
        </p:txBody>
      </p:sp>
      <p:sp>
        <p:nvSpPr>
          <p:cNvPr id="39" name="AutoShape 27">
            <a:extLst>
              <a:ext uri="{FF2B5EF4-FFF2-40B4-BE49-F238E27FC236}">
                <a16:creationId xmlns:a16="http://schemas.microsoft.com/office/drawing/2014/main" id="{3A46CB1C-9756-8ADC-A6E5-9891148A884B}"/>
              </a:ext>
            </a:extLst>
          </p:cNvPr>
          <p:cNvSpPr/>
          <p:nvPr/>
        </p:nvSpPr>
        <p:spPr>
          <a:xfrm>
            <a:off x="7937500" y="5893855"/>
            <a:ext cx="3683000" cy="360000"/>
          </a:xfrm>
          <a:prstGeom prst="roundRect">
            <a:avLst>
              <a:gd name="adj" fmla="val 22222"/>
            </a:avLst>
          </a:prstGeom>
          <a:solidFill>
            <a:schemeClr val="accent1">
              <a:lumMod val="40000"/>
              <a:lumOff val="6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de-DE" sz="1100"/>
              <a:t>supplier-Portal/Web EDI</a:t>
            </a:r>
            <a:endParaRPr sz="1100"/>
          </a:p>
        </p:txBody>
      </p:sp>
      <p:sp>
        <p:nvSpPr>
          <p:cNvPr id="29" name="AutoShape 29"/>
          <p:cNvSpPr/>
          <p:nvPr/>
        </p:nvSpPr>
        <p:spPr>
          <a:xfrm>
            <a:off x="7937500" y="1079500"/>
            <a:ext cx="3683000" cy="381000"/>
          </a:xfrm>
          <a:prstGeom prst="roundRect">
            <a:avLst>
              <a:gd name="adj" fmla="val 33333"/>
            </a:avLst>
          </a:prstGeom>
          <a:solidFill>
            <a:srgbClr val="0020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b="1"/>
              <a:t>宁波华翔集团</a:t>
            </a:r>
            <a:r>
              <a:rPr lang="en-US" altLang="zh-CN" b="1"/>
              <a:t>(NBHX) IT</a:t>
            </a:r>
            <a:r>
              <a:rPr lang="zh-CN" altLang="en-US" b="1"/>
              <a:t>系统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42604" y="10795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物料主数据多系统治理与统一管理</a:t>
            </a:r>
            <a:endParaRPr lang="en-US" sz="1050"/>
          </a:p>
        </p:txBody>
      </p:sp>
      <p:sp>
        <p:nvSpPr>
          <p:cNvPr id="5" name="AutoShape 5"/>
          <p:cNvSpPr/>
          <p:nvPr/>
        </p:nvSpPr>
        <p:spPr>
          <a:xfrm>
            <a:off x="280755" y="1031393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▍ 当前涉及系统生态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80755" y="1475893"/>
            <a:ext cx="17145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SAP ECC集团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4255" y="2021993"/>
            <a:ext cx="10160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金蝶 K3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668355" y="2021993"/>
            <a:ext cx="10160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QAD ERP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47855" y="2021993"/>
            <a:ext cx="2219791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OA/MES / WMS / PLM / FONE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0755" y="2822091"/>
            <a:ext cx="5588000" cy="952500"/>
          </a:xfrm>
          <a:prstGeom prst="roundRect">
            <a:avLst>
              <a:gd name="adj" fmla="val 13333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255" y="3012591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69755" y="2910991"/>
            <a:ext cx="450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现状挑战：数据口径不一</a:t>
            </a:r>
            <a:r>
              <a:rPr lang="zh-CN" alt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，在多个工厂有多个编码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多系统并行下，编码、命名及单位等标准缺失，导致数据无法互通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80755" y="4219095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核心治理策略与要求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0755" y="4663595"/>
            <a:ext cx="1727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955" y="4854095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44255" y="5489095"/>
            <a:ext cx="160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明确主源系统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确立“唯一真实来源”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084155" y="4663595"/>
            <a:ext cx="1727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8355" y="4854095"/>
            <a:ext cx="558800" cy="558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147655" y="5489095"/>
            <a:ext cx="160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统一字段映射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建立跨系统映射关系</a:t>
            </a:r>
          </a:p>
        </p:txBody>
      </p:sp>
      <p:sp>
        <p:nvSpPr>
          <p:cNvPr id="20" name="AutoShape 20"/>
          <p:cNvSpPr/>
          <p:nvPr/>
        </p:nvSpPr>
        <p:spPr>
          <a:xfrm>
            <a:off x="3887555" y="4663595"/>
            <a:ext cx="17272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1755" y="4854095"/>
            <a:ext cx="558800" cy="558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951055" y="5489095"/>
            <a:ext cx="160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建立同步机制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自动化变更与分发</a:t>
            </a:r>
          </a:p>
        </p:txBody>
      </p:sp>
      <p:sp>
        <p:nvSpPr>
          <p:cNvPr id="27" name="AutoShape 27"/>
          <p:cNvSpPr/>
          <p:nvPr/>
        </p:nvSpPr>
        <p:spPr>
          <a:xfrm>
            <a:off x="0" y="6334004"/>
            <a:ext cx="12192000" cy="317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436455" y="2021993"/>
            <a:ext cx="1194477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金蝶 K3 Cloud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084155" y="1494943"/>
            <a:ext cx="17145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SAP ECC欧洲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000500" y="1539393"/>
            <a:ext cx="1714500" cy="406400"/>
          </a:xfrm>
          <a:prstGeom prst="roundRect">
            <a:avLst>
              <a:gd name="adj" fmla="val 3125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SAP S/4 墨西哥</a:t>
            </a:r>
            <a:endParaRPr lang="en-US" sz="11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C6FE619-2A10-4DB2-EC18-5B3B8FFD41DE}"/>
              </a:ext>
            </a:extLst>
          </p:cNvPr>
          <p:cNvSpPr txBox="1"/>
          <p:nvPr/>
        </p:nvSpPr>
        <p:spPr>
          <a:xfrm>
            <a:off x="254000" y="679450"/>
            <a:ext cx="10031228" cy="309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altLang="zh-CN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梳理当前数据在各业务系统中的分布现状，识别数据孤岛与流转瓶颈，为治理方案提供依据。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6096000" y="1038991"/>
            <a:ext cx="5905500" cy="1397000"/>
          </a:xfrm>
          <a:prstGeom prst="roundRect">
            <a:avLst>
              <a:gd name="adj" fmla="val 9090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7"/>
          <p:cNvSpPr/>
          <p:nvPr/>
        </p:nvSpPr>
        <p:spPr>
          <a:xfrm>
            <a:off x="6350000" y="1292991"/>
            <a:ext cx="889000" cy="889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5100" y="1458091"/>
            <a:ext cx="558800" cy="558800"/>
          </a:xfrm>
          <a:prstGeom prst="rect">
            <a:avLst/>
          </a:prstGeom>
        </p:spPr>
      </p:pic>
      <p:sp>
        <p:nvSpPr>
          <p:cNvPr id="37" name="AutoShape 9"/>
          <p:cNvSpPr/>
          <p:nvPr/>
        </p:nvSpPr>
        <p:spPr>
          <a:xfrm>
            <a:off x="7493000" y="1165991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源头核心原则：权责分明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谁发起、谁负责（首要责任） 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谁审批、谁把关（第二防线）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谁生效、谁发布（最终校验）</a:t>
            </a:r>
          </a:p>
        </p:txBody>
      </p:sp>
      <p:sp>
        <p:nvSpPr>
          <p:cNvPr id="38" name="AutoShape 10"/>
          <p:cNvSpPr/>
          <p:nvPr/>
        </p:nvSpPr>
        <p:spPr>
          <a:xfrm>
            <a:off x="6096000" y="2626491"/>
            <a:ext cx="5905500" cy="1397000"/>
          </a:xfrm>
          <a:prstGeom prst="roundRect">
            <a:avLst>
              <a:gd name="adj" fmla="val 9090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1"/>
          <p:cNvSpPr/>
          <p:nvPr/>
        </p:nvSpPr>
        <p:spPr>
          <a:xfrm>
            <a:off x="6350000" y="2880491"/>
            <a:ext cx="889000" cy="889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5100" y="3045591"/>
            <a:ext cx="558800" cy="558800"/>
          </a:xfrm>
          <a:prstGeom prst="rect">
            <a:avLst/>
          </a:prstGeom>
        </p:spPr>
      </p:pic>
      <p:sp>
        <p:nvSpPr>
          <p:cNvPr id="41" name="AutoShape 13"/>
          <p:cNvSpPr/>
          <p:nvPr/>
        </p:nvSpPr>
        <p:spPr>
          <a:xfrm>
            <a:off x="7493000" y="2753491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典型业务发起场景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研发/技术：新产品导入 (New Product Introduction)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工艺/生产：新物料需求、替代料优化与质量变更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需求部门：采购需求发起时，匹配物料数据/品类数据</a:t>
            </a:r>
          </a:p>
        </p:txBody>
      </p:sp>
      <p:sp>
        <p:nvSpPr>
          <p:cNvPr id="42" name="AutoShape 14"/>
          <p:cNvSpPr/>
          <p:nvPr/>
        </p:nvSpPr>
        <p:spPr>
          <a:xfrm>
            <a:off x="6096000" y="4213990"/>
            <a:ext cx="5905500" cy="1858335"/>
          </a:xfrm>
          <a:prstGeom prst="roundRect">
            <a:avLst>
              <a:gd name="adj" fmla="val 9090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15"/>
          <p:cNvSpPr/>
          <p:nvPr/>
        </p:nvSpPr>
        <p:spPr>
          <a:xfrm>
            <a:off x="6350000" y="4467991"/>
            <a:ext cx="889000" cy="889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4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15100" y="4633091"/>
            <a:ext cx="558800" cy="558800"/>
          </a:xfrm>
          <a:prstGeom prst="rect">
            <a:avLst/>
          </a:prstGeom>
        </p:spPr>
      </p:pic>
      <p:sp>
        <p:nvSpPr>
          <p:cNvPr id="45" name="AutoShape 17"/>
          <p:cNvSpPr/>
          <p:nvPr/>
        </p:nvSpPr>
        <p:spPr>
          <a:xfrm>
            <a:off x="7493000" y="4475669"/>
            <a:ext cx="4953000" cy="132729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源头治理管控机制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1. 统一门户入口提交 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2. 必填项</a:t>
            </a:r>
            <a:r>
              <a:rPr lang="zh-CN" alt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、重码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的校验拦截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3. 主数据管理员人工复核唯一性</a:t>
            </a:r>
          </a:p>
          <a:p>
            <a:pPr indent="0" algn="l">
              <a:lnSpc>
                <a:spcPct val="116666"/>
              </a:lnSpc>
            </a:pPr>
            <a:r>
              <a:rPr 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每一项主数据确定唯一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权威数据源系统</a:t>
            </a:r>
            <a:endParaRPr lang="en-US" altLang="zh-CN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5. </a:t>
            </a:r>
            <a:r>
              <a:rPr lang="zh-CN" alt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自动分发（订阅）到使用系统</a:t>
            </a:r>
            <a:endParaRPr lang="en-US" altLang="zh-CN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6. 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个性化字段</a:t>
            </a:r>
            <a:r>
              <a:rPr lang="en-US" altLang="zh-CN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参数由各自系统维护管理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82507" y="228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物料主数据的源头治理体系</a:t>
            </a:r>
            <a:endParaRPr lang="en-US" sz="1000"/>
          </a:p>
        </p:txBody>
      </p:sp>
      <p:sp>
        <p:nvSpPr>
          <p:cNvPr id="5" name="AutoShape 5"/>
          <p:cNvSpPr/>
          <p:nvPr/>
        </p:nvSpPr>
        <p:spPr>
          <a:xfrm>
            <a:off x="582507" y="863600"/>
            <a:ext cx="1016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82507" y="980436"/>
            <a:ext cx="10339493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数据质量的根本在于源头，管住入口是提升全链路数据质量的关键。</a:t>
            </a:r>
            <a:endParaRPr lang="en-US" sz="11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27F0A50-BD5D-CF0F-EBF5-FAF02F75EE26}"/>
              </a:ext>
            </a:extLst>
          </p:cNvPr>
          <p:cNvSpPr/>
          <p:nvPr/>
        </p:nvSpPr>
        <p:spPr>
          <a:xfrm>
            <a:off x="5874863" y="1707181"/>
            <a:ext cx="1105786" cy="416046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>
                <a:solidFill>
                  <a:srgbClr val="424242"/>
                </a:solidFill>
                <a:latin typeface="Noto Sans SC"/>
                <a:ea typeface="Noto Sans SC"/>
              </a:rPr>
              <a:t>研发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DD823552-6F19-A3A8-EEA9-03CE9417400B}"/>
              </a:ext>
            </a:extLst>
          </p:cNvPr>
          <p:cNvSpPr/>
          <p:nvPr/>
        </p:nvSpPr>
        <p:spPr>
          <a:xfrm>
            <a:off x="7168570" y="1707181"/>
            <a:ext cx="1105786" cy="416046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>
                <a:solidFill>
                  <a:srgbClr val="424242"/>
                </a:solidFill>
                <a:latin typeface="Noto Sans SC"/>
                <a:ea typeface="Noto Sans SC"/>
              </a:rPr>
              <a:t>工艺</a:t>
            </a:r>
            <a:r>
              <a:rPr lang="en-US" altLang="zh-CN" sz="900">
                <a:solidFill>
                  <a:srgbClr val="424242"/>
                </a:solidFill>
                <a:latin typeface="Noto Sans SC"/>
                <a:ea typeface="Noto Sans SC"/>
              </a:rPr>
              <a:t>/</a:t>
            </a:r>
            <a:r>
              <a:rPr lang="zh-CN" altLang="en-US" sz="900">
                <a:solidFill>
                  <a:srgbClr val="424242"/>
                </a:solidFill>
                <a:latin typeface="Noto Sans SC"/>
                <a:ea typeface="Noto Sans SC"/>
              </a:rPr>
              <a:t>技术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DE01C66-EF09-10A3-76B8-1F840186D898}"/>
              </a:ext>
            </a:extLst>
          </p:cNvPr>
          <p:cNvSpPr/>
          <p:nvPr/>
        </p:nvSpPr>
        <p:spPr>
          <a:xfrm>
            <a:off x="8462040" y="1707181"/>
            <a:ext cx="1105786" cy="416046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生产</a:t>
            </a:r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E78C456-B86A-7492-1056-67F0AE7AD843}"/>
              </a:ext>
            </a:extLst>
          </p:cNvPr>
          <p:cNvSpPr/>
          <p:nvPr/>
        </p:nvSpPr>
        <p:spPr>
          <a:xfrm>
            <a:off x="7037064" y="2649414"/>
            <a:ext cx="2686494" cy="4191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>
                <a:solidFill>
                  <a:schemeClr val="bg1"/>
                </a:solidFill>
              </a:rPr>
              <a:t>接受申请（新增、修改、冻结）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B59B10C-7ACD-4434-1BC6-7E3E98DCFEA0}"/>
              </a:ext>
            </a:extLst>
          </p:cNvPr>
          <p:cNvSpPr/>
          <p:nvPr/>
        </p:nvSpPr>
        <p:spPr>
          <a:xfrm>
            <a:off x="7639324" y="3320287"/>
            <a:ext cx="673708" cy="4191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100" b="1">
                <a:solidFill>
                  <a:schemeClr val="bg1"/>
                </a:solidFill>
              </a:rPr>
              <a:t>程序校验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CAC2321-3B37-D9A3-CCE4-F8EBCD34E48A}"/>
              </a:ext>
            </a:extLst>
          </p:cNvPr>
          <p:cNvSpPr/>
          <p:nvPr/>
        </p:nvSpPr>
        <p:spPr>
          <a:xfrm>
            <a:off x="7037065" y="3953752"/>
            <a:ext cx="2686493" cy="4191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bg1"/>
                </a:solidFill>
              </a:rPr>
              <a:t>主数据管理员</a:t>
            </a:r>
            <a:r>
              <a:rPr lang="zh-CN" altLang="en-US" sz="1100" b="1">
                <a:solidFill>
                  <a:schemeClr val="bg1"/>
                </a:solidFill>
              </a:rPr>
              <a:t>审批、发布</a:t>
            </a:r>
          </a:p>
        </p:txBody>
      </p:sp>
      <p:sp>
        <p:nvSpPr>
          <p:cNvPr id="30" name="圆柱体 29">
            <a:extLst>
              <a:ext uri="{FF2B5EF4-FFF2-40B4-BE49-F238E27FC236}">
                <a16:creationId xmlns:a16="http://schemas.microsoft.com/office/drawing/2014/main" id="{E75B78B2-8AAE-9C67-5261-6D98FF3B0DA8}"/>
              </a:ext>
            </a:extLst>
          </p:cNvPr>
          <p:cNvSpPr/>
          <p:nvPr/>
        </p:nvSpPr>
        <p:spPr>
          <a:xfrm>
            <a:off x="6755439" y="5028644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sp>
        <p:nvSpPr>
          <p:cNvPr id="31" name="圆柱体 30">
            <a:extLst>
              <a:ext uri="{FF2B5EF4-FFF2-40B4-BE49-F238E27FC236}">
                <a16:creationId xmlns:a16="http://schemas.microsoft.com/office/drawing/2014/main" id="{C7B60625-9494-10C6-A3E8-0D54154F5184}"/>
              </a:ext>
            </a:extLst>
          </p:cNvPr>
          <p:cNvSpPr/>
          <p:nvPr/>
        </p:nvSpPr>
        <p:spPr>
          <a:xfrm>
            <a:off x="7666294" y="5028644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sp>
        <p:nvSpPr>
          <p:cNvPr id="32" name="圆柱体 31">
            <a:extLst>
              <a:ext uri="{FF2B5EF4-FFF2-40B4-BE49-F238E27FC236}">
                <a16:creationId xmlns:a16="http://schemas.microsoft.com/office/drawing/2014/main" id="{37DD44FC-B104-9738-139C-637B8DB4A852}"/>
              </a:ext>
            </a:extLst>
          </p:cNvPr>
          <p:cNvSpPr/>
          <p:nvPr/>
        </p:nvSpPr>
        <p:spPr>
          <a:xfrm>
            <a:off x="8564823" y="5028644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sp>
        <p:nvSpPr>
          <p:cNvPr id="33" name="圆柱体 32">
            <a:extLst>
              <a:ext uri="{FF2B5EF4-FFF2-40B4-BE49-F238E27FC236}">
                <a16:creationId xmlns:a16="http://schemas.microsoft.com/office/drawing/2014/main" id="{6BA7E2E9-87C4-A299-C0AB-F70EC03CA92E}"/>
              </a:ext>
            </a:extLst>
          </p:cNvPr>
          <p:cNvSpPr/>
          <p:nvPr/>
        </p:nvSpPr>
        <p:spPr>
          <a:xfrm>
            <a:off x="9475678" y="5028644"/>
            <a:ext cx="576000" cy="396000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</a:rPr>
              <a:t>XX</a:t>
            </a:r>
            <a:r>
              <a:rPr lang="zh-CN" altLang="en-US" sz="900">
                <a:solidFill>
                  <a:schemeClr val="tx1"/>
                </a:solidFill>
              </a:rPr>
              <a:t>系统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E7FE0377-9840-9114-74D1-1CD0EF9C5164}"/>
              </a:ext>
            </a:extLst>
          </p:cNvPr>
          <p:cNvCxnSpPr>
            <a:cxnSpLocks/>
            <a:stCxn id="23" idx="4"/>
            <a:endCxn id="86" idx="0"/>
          </p:cNvCxnSpPr>
          <p:nvPr/>
        </p:nvCxnSpPr>
        <p:spPr>
          <a:xfrm rot="16200000" flipH="1">
            <a:off x="7224885" y="1326098"/>
            <a:ext cx="358298" cy="19525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4D383C88-46F7-B6A2-9050-EFEA001C6273}"/>
              </a:ext>
            </a:extLst>
          </p:cNvPr>
          <p:cNvCxnSpPr>
            <a:cxnSpLocks/>
            <a:stCxn id="24" idx="4"/>
            <a:endCxn id="86" idx="0"/>
          </p:cNvCxnSpPr>
          <p:nvPr/>
        </p:nvCxnSpPr>
        <p:spPr>
          <a:xfrm rot="16200000" flipH="1">
            <a:off x="7871738" y="1972951"/>
            <a:ext cx="358298" cy="6588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790FED9A-D777-95A0-68C2-295584435EEB}"/>
              </a:ext>
            </a:extLst>
          </p:cNvPr>
          <p:cNvCxnSpPr>
            <a:cxnSpLocks/>
            <a:stCxn id="25" idx="4"/>
            <a:endCxn id="86" idx="0"/>
          </p:cNvCxnSpPr>
          <p:nvPr/>
        </p:nvCxnSpPr>
        <p:spPr>
          <a:xfrm rot="5400000">
            <a:off x="8518474" y="1985066"/>
            <a:ext cx="358298" cy="6346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F8C737D-3ED9-7C00-705F-8C8C8C452A30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7976178" y="3068514"/>
            <a:ext cx="404133" cy="251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264FD56-E94A-52BD-51F2-1586CBC5E3B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7976178" y="3739387"/>
            <a:ext cx="404134" cy="21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FB93974-305A-3AAB-BEA6-832C7F7BB51E}"/>
              </a:ext>
            </a:extLst>
          </p:cNvPr>
          <p:cNvCxnSpPr>
            <a:cxnSpLocks/>
            <a:stCxn id="86" idx="2"/>
            <a:endCxn id="30" idx="1"/>
          </p:cNvCxnSpPr>
          <p:nvPr/>
        </p:nvCxnSpPr>
        <p:spPr>
          <a:xfrm rot="5400000">
            <a:off x="7470118" y="4118450"/>
            <a:ext cx="483516" cy="13368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CE8C639-F125-7908-2783-A9342E940FA4}"/>
              </a:ext>
            </a:extLst>
          </p:cNvPr>
          <p:cNvCxnSpPr>
            <a:cxnSpLocks/>
            <a:stCxn id="86" idx="2"/>
            <a:endCxn id="30" idx="1"/>
          </p:cNvCxnSpPr>
          <p:nvPr/>
        </p:nvCxnSpPr>
        <p:spPr>
          <a:xfrm rot="5400000">
            <a:off x="7470118" y="4118450"/>
            <a:ext cx="483516" cy="13368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5C2227C-5E6B-0F8E-37CD-F3FCB16A6180}"/>
              </a:ext>
            </a:extLst>
          </p:cNvPr>
          <p:cNvCxnSpPr>
            <a:cxnSpLocks/>
            <a:stCxn id="86" idx="2"/>
            <a:endCxn id="31" idx="1"/>
          </p:cNvCxnSpPr>
          <p:nvPr/>
        </p:nvCxnSpPr>
        <p:spPr>
          <a:xfrm rot="5400000">
            <a:off x="7925545" y="4573877"/>
            <a:ext cx="483516" cy="4260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9D9E91B-2B5C-C334-9D0D-9D1F4FDAA7B9}"/>
              </a:ext>
            </a:extLst>
          </p:cNvPr>
          <p:cNvCxnSpPr>
            <a:cxnSpLocks/>
            <a:stCxn id="86" idx="2"/>
            <a:endCxn id="32" idx="1"/>
          </p:cNvCxnSpPr>
          <p:nvPr/>
        </p:nvCxnSpPr>
        <p:spPr>
          <a:xfrm rot="16200000" flipH="1">
            <a:off x="8374809" y="4550630"/>
            <a:ext cx="483516" cy="4725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2D2070A1-33ED-52FB-CEBA-4D02A9C47058}"/>
              </a:ext>
            </a:extLst>
          </p:cNvPr>
          <p:cNvCxnSpPr>
            <a:cxnSpLocks/>
            <a:stCxn id="86" idx="2"/>
            <a:endCxn id="33" idx="1"/>
          </p:cNvCxnSpPr>
          <p:nvPr/>
        </p:nvCxnSpPr>
        <p:spPr>
          <a:xfrm rot="16200000" flipH="1">
            <a:off x="8830237" y="4095203"/>
            <a:ext cx="483516" cy="13833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3B3585A-C5A4-F3A7-A186-AB1EEBA6F6F8}"/>
              </a:ext>
            </a:extLst>
          </p:cNvPr>
          <p:cNvSpPr txBox="1"/>
          <p:nvPr/>
        </p:nvSpPr>
        <p:spPr>
          <a:xfrm>
            <a:off x="10151853" y="2570423"/>
            <a:ext cx="1506747" cy="654025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lgDash"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050" b="1"/>
              <a:t>新增、修改、冻结</a:t>
            </a:r>
            <a:endParaRPr lang="en-US" altLang="zh-CN" sz="1050" b="1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基本视图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类、属性、属性值</a:t>
            </a:r>
          </a:p>
        </p:txBody>
      </p:sp>
      <p:sp>
        <p:nvSpPr>
          <p:cNvPr id="71" name="AutoShape 24"/>
          <p:cNvSpPr/>
          <p:nvPr/>
        </p:nvSpPr>
        <p:spPr>
          <a:xfrm>
            <a:off x="600334" y="1432516"/>
            <a:ext cx="4341034" cy="9525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2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334" y="1623016"/>
            <a:ext cx="558800" cy="558800"/>
          </a:xfrm>
          <a:prstGeom prst="rect">
            <a:avLst/>
          </a:prstGeom>
        </p:spPr>
      </p:pic>
      <p:sp>
        <p:nvSpPr>
          <p:cNvPr id="73" name="AutoShape 26"/>
          <p:cNvSpPr/>
          <p:nvPr/>
        </p:nvSpPr>
        <p:spPr>
          <a:xfrm>
            <a:off x="1552834" y="1521416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“一个标准、一个主源”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实现多系统数据共享与实时互通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08CBF2D-AF58-6747-A576-AF3DD1E32AAC}"/>
              </a:ext>
            </a:extLst>
          </p:cNvPr>
          <p:cNvSpPr/>
          <p:nvPr/>
        </p:nvSpPr>
        <p:spPr>
          <a:xfrm>
            <a:off x="600334" y="2481525"/>
            <a:ext cx="4285992" cy="414787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t"/>
          <a:lstStyle/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确定标准与规则：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确定数据</a:t>
            </a:r>
            <a:r>
              <a:rPr lang="en-US" altLang="zh-CN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Owner</a:t>
            </a: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确定数据标准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梳理字段清单以及字段规则（分物料类型、工厂）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未来标准与现有字段的映射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确定源系统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系统改造与开发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开发数据治理系统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源系统、目标系统改造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接口开发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en-US" altLang="zh-CN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AI</a:t>
            </a: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数据治理（二期）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存量数据治理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存量数据校验、治理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存量数据汇集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存量数据变更与分发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增量数据</a:t>
            </a:r>
            <a:r>
              <a:rPr lang="en-US" altLang="zh-CN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(</a:t>
            </a: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新流程</a:t>
            </a:r>
            <a:r>
              <a:rPr lang="en-US" altLang="zh-CN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)</a:t>
            </a:r>
            <a:r>
              <a:rPr lang="zh-CN" altLang="en-US" sz="1300" b="1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上线</a:t>
            </a:r>
            <a:endParaRPr lang="en-US" altLang="zh-CN" sz="1300" b="1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操作手册与培训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252000" indent="-252000">
              <a:buFont typeface="Arial"/>
              <a:buAutoNum type="arabicPeriod"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运维与支持</a:t>
            </a:r>
            <a:endParaRPr lang="en-US" altLang="zh-CN" sz="1300">
              <a:solidFill>
                <a:schemeClr val="tx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342900" indent="-342900">
              <a:buAutoNum type="arabicPeriod"/>
            </a:pPr>
            <a:endParaRPr lang="en-US" altLang="zh-CN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altLang="zh-CN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CB03F061-D1F4-D4BA-DEFB-F3593DEAEA50}"/>
              </a:ext>
            </a:extLst>
          </p:cNvPr>
          <p:cNvSpPr/>
          <p:nvPr/>
        </p:nvSpPr>
        <p:spPr>
          <a:xfrm>
            <a:off x="9755510" y="1707180"/>
            <a:ext cx="1105786" cy="416046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其他</a:t>
            </a:r>
            <a:r>
              <a:rPr lang="en-US" altLang="zh-CN" sz="9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部门</a:t>
            </a:r>
            <a:endParaRPr lang="zh-CN" altLang="en-US" sz="900">
              <a:solidFill>
                <a:schemeClr val="tx1"/>
              </a:solidFill>
            </a:endParaRPr>
          </a:p>
        </p:txBody>
      </p: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962CE744-9909-9A6D-DA22-77DD2D503649}"/>
              </a:ext>
            </a:extLst>
          </p:cNvPr>
          <p:cNvCxnSpPr>
            <a:cxnSpLocks/>
            <a:stCxn id="82" idx="4"/>
            <a:endCxn id="86" idx="0"/>
          </p:cNvCxnSpPr>
          <p:nvPr/>
        </p:nvCxnSpPr>
        <p:spPr>
          <a:xfrm rot="5400000">
            <a:off x="9165209" y="1338330"/>
            <a:ext cx="358299" cy="19280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FD0E1C27-58AA-502C-BBED-2E517985F4F8}"/>
              </a:ext>
            </a:extLst>
          </p:cNvPr>
          <p:cNvSpPr/>
          <p:nvPr/>
        </p:nvSpPr>
        <p:spPr>
          <a:xfrm>
            <a:off x="6817726" y="2481525"/>
            <a:ext cx="3125171" cy="2063603"/>
          </a:xfrm>
          <a:prstGeom prst="roundRect">
            <a:avLst>
              <a:gd name="adj" fmla="val 7196"/>
            </a:avLst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圆柱体 95">
            <a:extLst>
              <a:ext uri="{FF2B5EF4-FFF2-40B4-BE49-F238E27FC236}">
                <a16:creationId xmlns:a16="http://schemas.microsoft.com/office/drawing/2014/main" id="{EA930AE5-D4EC-EA44-55E8-2493A36BBFA9}"/>
              </a:ext>
            </a:extLst>
          </p:cNvPr>
          <p:cNvSpPr/>
          <p:nvPr/>
        </p:nvSpPr>
        <p:spPr>
          <a:xfrm>
            <a:off x="7026683" y="3288891"/>
            <a:ext cx="490937" cy="481892"/>
          </a:xfrm>
          <a:prstGeom prst="can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规则标准</a:t>
            </a:r>
          </a:p>
        </p:txBody>
      </p:sp>
      <p:sp>
        <p:nvSpPr>
          <p:cNvPr id="97" name="圆柱体 96">
            <a:extLst>
              <a:ext uri="{FF2B5EF4-FFF2-40B4-BE49-F238E27FC236}">
                <a16:creationId xmlns:a16="http://schemas.microsoft.com/office/drawing/2014/main" id="{8D885698-5293-4F14-4159-A1E2FD07F92D}"/>
              </a:ext>
            </a:extLst>
          </p:cNvPr>
          <p:cNvSpPr/>
          <p:nvPr/>
        </p:nvSpPr>
        <p:spPr>
          <a:xfrm>
            <a:off x="9261014" y="3288891"/>
            <a:ext cx="490937" cy="481892"/>
          </a:xfrm>
          <a:prstGeom prst="can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知识库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9F9DEB11-BC47-E910-9E53-CBD74D693F82}"/>
              </a:ext>
            </a:extLst>
          </p:cNvPr>
          <p:cNvSpPr/>
          <p:nvPr/>
        </p:nvSpPr>
        <p:spPr>
          <a:xfrm>
            <a:off x="8467115" y="3320287"/>
            <a:ext cx="673708" cy="4191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bg1"/>
                </a:solidFill>
              </a:rPr>
              <a:t>AI</a:t>
            </a:r>
            <a:r>
              <a:rPr lang="zh-CN" altLang="en-US" sz="1100" b="1">
                <a:solidFill>
                  <a:schemeClr val="bg1"/>
                </a:solidFill>
              </a:rPr>
              <a:t>校验</a:t>
            </a: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1861804-21FD-9A0D-FECD-2994FAF387F6}"/>
              </a:ext>
            </a:extLst>
          </p:cNvPr>
          <p:cNvCxnSpPr>
            <a:cxnSpLocks/>
            <a:stCxn id="26" idx="2"/>
            <a:endCxn id="98" idx="0"/>
          </p:cNvCxnSpPr>
          <p:nvPr/>
        </p:nvCxnSpPr>
        <p:spPr>
          <a:xfrm>
            <a:off x="8380311" y="3068514"/>
            <a:ext cx="423658" cy="251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130B0135-DD19-7517-8AD4-222FF5B795EC}"/>
              </a:ext>
            </a:extLst>
          </p:cNvPr>
          <p:cNvCxnSpPr>
            <a:cxnSpLocks/>
            <a:stCxn id="98" idx="2"/>
            <a:endCxn id="28" idx="0"/>
          </p:cNvCxnSpPr>
          <p:nvPr/>
        </p:nvCxnSpPr>
        <p:spPr>
          <a:xfrm flipH="1">
            <a:off x="8380312" y="3739387"/>
            <a:ext cx="423657" cy="21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F913444C-1128-F1B0-242B-CAF21CD15B50}"/>
              </a:ext>
            </a:extLst>
          </p:cNvPr>
          <p:cNvCxnSpPr>
            <a:stCxn id="96" idx="4"/>
            <a:endCxn id="27" idx="1"/>
          </p:cNvCxnSpPr>
          <p:nvPr/>
        </p:nvCxnSpPr>
        <p:spPr>
          <a:xfrm>
            <a:off x="7517620" y="3529837"/>
            <a:ext cx="121704" cy="0"/>
          </a:xfrm>
          <a:prstGeom prst="straightConnector1">
            <a:avLst/>
          </a:prstGeom>
          <a:ln w="3175">
            <a:noFill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C79B2BE-5F94-97BB-31CF-7AF78EAE222A}"/>
              </a:ext>
            </a:extLst>
          </p:cNvPr>
          <p:cNvCxnSpPr>
            <a:cxnSpLocks/>
            <a:stCxn id="97" idx="2"/>
            <a:endCxn id="98" idx="3"/>
          </p:cNvCxnSpPr>
          <p:nvPr/>
        </p:nvCxnSpPr>
        <p:spPr>
          <a:xfrm flipH="1">
            <a:off x="9140823" y="3529837"/>
            <a:ext cx="120191" cy="0"/>
          </a:xfrm>
          <a:prstGeom prst="straightConnector1">
            <a:avLst/>
          </a:prstGeom>
          <a:ln w="3175">
            <a:noFill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E291780-CC81-0DD6-3300-DAAD061B13DB}"/>
              </a:ext>
            </a:extLst>
          </p:cNvPr>
          <p:cNvSpPr txBox="1"/>
          <p:nvPr/>
        </p:nvSpPr>
        <p:spPr>
          <a:xfrm>
            <a:off x="10151854" y="3422837"/>
            <a:ext cx="1506742" cy="113877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zh-CN" altLang="en-US" sz="1050" b="1"/>
              <a:t>子公司</a:t>
            </a:r>
            <a:r>
              <a:rPr lang="en-US" altLang="zh-CN" sz="1050" b="1"/>
              <a:t>/</a:t>
            </a:r>
            <a:r>
              <a:rPr lang="zh-CN" altLang="en-US" sz="1050" b="1"/>
              <a:t>工厂层面</a:t>
            </a:r>
            <a:endParaRPr lang="en-US" altLang="zh-CN" sz="1050" b="1"/>
          </a:p>
          <a:p>
            <a:pPr>
              <a:spcAft>
                <a:spcPts val="600"/>
              </a:spcAft>
            </a:pPr>
            <a:r>
              <a:rPr lang="zh-CN" altLang="en-US" sz="1050" b="1"/>
              <a:t>引入、修改、冻结</a:t>
            </a:r>
            <a:endParaRPr lang="en-US" altLang="zh-CN" sz="1050" b="1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工厂采购视图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</a:t>
            </a:r>
            <a:r>
              <a:rPr lang="en-US" altLang="zh-CN" sz="1050"/>
              <a:t>MRP</a:t>
            </a:r>
            <a:r>
              <a:rPr lang="zh-CN" altLang="en-US" sz="1050"/>
              <a:t>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工厂库存视图</a:t>
            </a:r>
            <a:endParaRPr lang="en-US" altLang="zh-CN" sz="105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1050"/>
              <a:t>工厂财务视图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11573" y="1651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如何统一基本信息？</a:t>
            </a:r>
            <a:endParaRPr lang="en-US" sz="1000"/>
          </a:p>
        </p:txBody>
      </p:sp>
      <p:sp>
        <p:nvSpPr>
          <p:cNvPr id="5" name="AutoShape 5"/>
          <p:cNvSpPr/>
          <p:nvPr/>
        </p:nvSpPr>
        <p:spPr>
          <a:xfrm>
            <a:off x="311573" y="8636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7780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304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18542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统一数据标准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明确命名规范、分类体系、编码规则与计量单位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6924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26924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8448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27686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02 统一数据字典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规范字段定义、业务口径、取值范围及必填项要求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068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36068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37592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36830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 统一属性模板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按物料大类配置属性模板，确保数据结构高度一致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5212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45212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6736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905000" y="4597400"/>
            <a:ext cx="5588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04 统一校验规则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执行格式、重复及逻辑校验，拦截不合格数据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435600"/>
            <a:ext cx="6604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435600"/>
            <a:ext cx="762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0000" y="5588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904999" y="5511800"/>
            <a:ext cx="5774267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05 统一流程机制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申请、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治理、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审批、建档、发布全流程标准化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rcRect l="6250" r="6250"/>
          <a:stretch>
            <a:fillRect/>
          </a:stretch>
        </p:blipFill>
        <p:spPr>
          <a:xfrm>
            <a:off x="7874000" y="1778000"/>
            <a:ext cx="3556000" cy="2286000"/>
          </a:xfrm>
          <a:prstGeom prst="roundRect">
            <a:avLst>
              <a:gd name="adj" fmla="val 8333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7" name="AutoShape 27"/>
          <p:cNvSpPr/>
          <p:nvPr/>
        </p:nvSpPr>
        <p:spPr>
          <a:xfrm>
            <a:off x="7874000" y="4254500"/>
            <a:ext cx="3556000" cy="139700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2E7D32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8000" y="4508500"/>
            <a:ext cx="609600" cy="609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890000" y="4445000"/>
            <a:ext cx="234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五件套环环相扣，构建可信数据底座，保障信息一致性。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408940" y="1016000"/>
            <a:ext cx="1059095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从标准定义、模型设计到清洗落地与质量监控，全方位建立主数据一致性保障机制，彻底解决企业数据孤岛与混乱难题。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64C73E4-98B1-2164-21E7-A27D05404A4F}"/>
              </a:ext>
            </a:extLst>
          </p:cNvPr>
          <p:cNvSpPr txBox="1"/>
          <p:nvPr/>
        </p:nvSpPr>
        <p:spPr>
          <a:xfrm>
            <a:off x="257175" y="200621"/>
            <a:ext cx="11172825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zh-CN" altLang="zh-CN" sz="1800" b="1"/>
              <a:t>元数据框架</a:t>
            </a:r>
            <a:endParaRPr lang="zh-CN" altLang="zh-CN" sz="1800"/>
          </a:p>
          <a:p>
            <a:pPr fontAlgn="ctr"/>
            <a:endParaRPr lang="zh-CN" altLang="zh-CN" sz="100"/>
          </a:p>
          <a:p>
            <a:pPr fontAlgn="ctr"/>
            <a:r>
              <a:rPr lang="zh-CN" altLang="zh-CN" b="1"/>
              <a:t>（一）基础标识元数据</a:t>
            </a:r>
            <a:endParaRPr lang="zh-CN" altLang="zh-CN"/>
          </a:p>
          <a:p>
            <a:pPr fontAlgn="ctr"/>
            <a:r>
              <a:rPr lang="zh-CN" altLang="zh-CN"/>
              <a:t> </a:t>
            </a:r>
            <a:r>
              <a:rPr lang="en-US" altLang="zh-CN"/>
              <a:t>1. </a:t>
            </a:r>
            <a:r>
              <a:rPr lang="zh-CN" altLang="zh-CN"/>
              <a:t>物料编码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企业统一编码，遵循编码规则，无重复、无冗余。与 </a:t>
            </a:r>
            <a:r>
              <a:rPr lang="en-US" altLang="zh-CN"/>
              <a:t>SAP ECC </a:t>
            </a:r>
            <a:r>
              <a:rPr lang="zh-CN" altLang="en-US"/>
              <a:t>、</a:t>
            </a:r>
            <a:r>
              <a:rPr lang="en-US" altLang="zh-CN"/>
              <a:t>SAP S/4 </a:t>
            </a:r>
            <a:r>
              <a:rPr lang="zh-CN" altLang="zh-CN"/>
              <a:t>、金蝶</a:t>
            </a:r>
            <a:r>
              <a:rPr lang="en-US" altLang="zh-CN"/>
              <a:t>K3</a:t>
            </a:r>
            <a:r>
              <a:rPr lang="zh-CN" altLang="en-US"/>
              <a:t>、金蝶</a:t>
            </a:r>
            <a:r>
              <a:rPr lang="en-US" altLang="zh-CN"/>
              <a:t>K3 Cloud</a:t>
            </a:r>
            <a:r>
              <a:rPr lang="zh-CN" altLang="zh-CN"/>
              <a:t>、</a:t>
            </a:r>
            <a:r>
              <a:rPr lang="en-US" altLang="zh-CN"/>
              <a:t>QAD</a:t>
            </a:r>
            <a:r>
              <a:rPr lang="zh-CN" altLang="en-US"/>
              <a:t>的</a:t>
            </a:r>
            <a:r>
              <a:rPr lang="zh-CN" altLang="zh-CN"/>
              <a:t>物料代码保持映射</a:t>
            </a:r>
            <a:r>
              <a:rPr lang="zh-CN" altLang="en-US"/>
              <a:t>关系</a:t>
            </a:r>
            <a:endParaRPr lang="en-US" altLang="zh-CN"/>
          </a:p>
          <a:p>
            <a:pPr fontAlgn="ctr"/>
            <a:r>
              <a:rPr lang="zh-CN" altLang="zh-CN"/>
              <a:t> </a:t>
            </a:r>
            <a:r>
              <a:rPr lang="en-US" altLang="zh-CN"/>
              <a:t>2. </a:t>
            </a:r>
            <a:r>
              <a:rPr lang="zh-CN" altLang="zh-CN"/>
              <a:t>物料</a:t>
            </a:r>
            <a:r>
              <a:rPr lang="zh-CN" altLang="en-US"/>
              <a:t>描述</a:t>
            </a:r>
            <a:r>
              <a:rPr lang="zh-CN" altLang="zh-CN"/>
              <a:t>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标准化中文／英文</a:t>
            </a:r>
            <a:r>
              <a:rPr lang="en-US" altLang="zh-CN"/>
              <a:t> / </a:t>
            </a:r>
            <a:r>
              <a:rPr lang="zh-CN" altLang="en-US"/>
              <a:t>德文</a:t>
            </a:r>
            <a:r>
              <a:rPr lang="zh-CN" altLang="zh-CN"/>
              <a:t>名称</a:t>
            </a:r>
            <a:endParaRPr lang="en-US" altLang="zh-CN"/>
          </a:p>
          <a:p>
            <a:pPr fontAlgn="ctr"/>
            <a:r>
              <a:rPr lang="zh-CN" altLang="zh-CN"/>
              <a:t> </a:t>
            </a:r>
            <a:r>
              <a:rPr lang="en-US" altLang="zh-CN"/>
              <a:t>3. </a:t>
            </a:r>
            <a:r>
              <a:rPr lang="zh-CN" altLang="en-US"/>
              <a:t>长</a:t>
            </a:r>
            <a:r>
              <a:rPr lang="zh-CN" altLang="zh-CN"/>
              <a:t>描述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补充属性描述（规格、材质、型号等），精准定义物料特征</a:t>
            </a:r>
          </a:p>
          <a:p>
            <a:pPr fontAlgn="ctr"/>
            <a:r>
              <a:rPr lang="zh-CN" altLang="zh-CN"/>
              <a:t> </a:t>
            </a:r>
            <a:r>
              <a:rPr lang="en-US" altLang="zh-CN"/>
              <a:t>4. </a:t>
            </a:r>
            <a:r>
              <a:rPr lang="zh-CN" altLang="zh-CN"/>
              <a:t>物料类型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分类编码：原材料 </a:t>
            </a:r>
            <a:r>
              <a:rPr lang="en-US" altLang="zh-CN"/>
              <a:t>/ </a:t>
            </a:r>
            <a:r>
              <a:rPr lang="zh-CN" altLang="zh-CN"/>
              <a:t>半成品 </a:t>
            </a:r>
            <a:r>
              <a:rPr lang="en-US" altLang="zh-CN"/>
              <a:t>/ </a:t>
            </a:r>
            <a:r>
              <a:rPr lang="zh-CN" altLang="zh-CN"/>
              <a:t>成品 </a:t>
            </a:r>
            <a:r>
              <a:rPr lang="en-US" altLang="zh-CN"/>
              <a:t>/ </a:t>
            </a:r>
            <a:r>
              <a:rPr lang="zh-CN" altLang="zh-CN"/>
              <a:t>辅料 </a:t>
            </a:r>
            <a:r>
              <a:rPr lang="en-US" altLang="zh-CN"/>
              <a:t>/ </a:t>
            </a:r>
            <a:r>
              <a:rPr lang="zh-CN" altLang="zh-CN"/>
              <a:t>备品备件 等</a:t>
            </a:r>
          </a:p>
          <a:p>
            <a:pPr fontAlgn="ctr"/>
            <a:r>
              <a:rPr lang="zh-CN" altLang="zh-CN"/>
              <a:t> </a:t>
            </a:r>
            <a:r>
              <a:rPr lang="en-US" altLang="zh-CN"/>
              <a:t>5. </a:t>
            </a:r>
            <a:r>
              <a:rPr lang="zh-CN" altLang="zh-CN"/>
              <a:t>物料状态  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正常 </a:t>
            </a:r>
            <a:r>
              <a:rPr lang="en-US" altLang="zh-CN"/>
              <a:t>/ </a:t>
            </a:r>
            <a:r>
              <a:rPr lang="zh-CN" altLang="zh-CN"/>
              <a:t>冻结 </a:t>
            </a:r>
            <a:r>
              <a:rPr lang="en-US" altLang="zh-CN"/>
              <a:t>/ </a:t>
            </a:r>
            <a:r>
              <a:rPr lang="zh-CN" altLang="zh-CN"/>
              <a:t>删除标志 </a:t>
            </a:r>
            <a:endParaRPr lang="en-US" altLang="zh-CN"/>
          </a:p>
          <a:p>
            <a:pPr fontAlgn="ctr"/>
            <a:endParaRPr lang="en-US" altLang="zh-CN"/>
          </a:p>
          <a:p>
            <a:pPr fontAlgn="ctr"/>
            <a:r>
              <a:rPr lang="zh-CN" altLang="en-US" b="1"/>
              <a:t>（二）核心业务属性元数据</a:t>
            </a:r>
            <a:endParaRPr lang="en-US" altLang="zh-CN" b="1"/>
          </a:p>
          <a:p>
            <a:pPr fontAlgn="ctr"/>
            <a:r>
              <a:rPr lang="en-US" altLang="zh-CN"/>
              <a:t>1. </a:t>
            </a:r>
            <a:r>
              <a:rPr lang="zh-CN" altLang="en-US"/>
              <a:t>类</a:t>
            </a:r>
            <a:r>
              <a:rPr lang="en-US" altLang="zh-CN"/>
              <a:t>+</a:t>
            </a:r>
            <a:r>
              <a:rPr lang="zh-CN" altLang="en-US"/>
              <a:t>属性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en-US"/>
              <a:t>类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en-US"/>
              <a:t>属性</a:t>
            </a:r>
            <a:endParaRPr lang="en-US" altLang="zh-CN"/>
          </a:p>
          <a:p>
            <a:pPr fontAlgn="ctr"/>
            <a:r>
              <a:rPr lang="en-US" altLang="zh-CN" b="1"/>
              <a:t>2. </a:t>
            </a:r>
            <a:r>
              <a:rPr lang="zh-CN" altLang="zh-CN"/>
              <a:t>物理参数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尺寸  长 </a:t>
            </a:r>
            <a:r>
              <a:rPr lang="en-US" altLang="zh-CN"/>
              <a:t>× </a:t>
            </a:r>
            <a:r>
              <a:rPr lang="zh-CN" altLang="zh-CN"/>
              <a:t>宽 </a:t>
            </a:r>
            <a:r>
              <a:rPr lang="en-US" altLang="zh-CN"/>
              <a:t>× </a:t>
            </a:r>
            <a:r>
              <a:rPr lang="zh-CN" altLang="zh-CN"/>
              <a:t>高，单位 </a:t>
            </a:r>
            <a:r>
              <a:rPr lang="en-US" altLang="zh-CN"/>
              <a:t>mm </a:t>
            </a:r>
            <a:endParaRPr lang="zh-CN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重量  净重 </a:t>
            </a:r>
            <a:r>
              <a:rPr lang="en-US" altLang="zh-CN"/>
              <a:t>/ </a:t>
            </a:r>
            <a:r>
              <a:rPr lang="zh-CN" altLang="zh-CN"/>
              <a:t>毛重，单位 </a:t>
            </a:r>
            <a:r>
              <a:rPr lang="en-US" altLang="zh-CN"/>
              <a:t>kg </a:t>
            </a:r>
            <a:endParaRPr lang="zh-CN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密度  材料密度，单位 </a:t>
            </a:r>
            <a:r>
              <a:rPr lang="en-US" altLang="zh-CN"/>
              <a:t>g/cm³ </a:t>
            </a:r>
            <a:endParaRPr lang="zh-CN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材质  材质牌号（如 </a:t>
            </a:r>
            <a:r>
              <a:rPr lang="en-US" altLang="zh-CN"/>
              <a:t>Q235</a:t>
            </a:r>
            <a:r>
              <a:rPr lang="zh-CN" altLang="zh-CN"/>
              <a:t>、</a:t>
            </a:r>
            <a:r>
              <a:rPr lang="en-US" altLang="zh-CN"/>
              <a:t>304 </a:t>
            </a:r>
            <a:r>
              <a:rPr lang="zh-CN" altLang="zh-CN"/>
              <a:t>不锈钢）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型号规格  标准型号描述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执行标准  国标（</a:t>
            </a:r>
            <a:r>
              <a:rPr lang="en-US" altLang="zh-CN"/>
              <a:t>GB</a:t>
            </a:r>
            <a:r>
              <a:rPr lang="zh-CN" altLang="zh-CN"/>
              <a:t>）</a:t>
            </a:r>
            <a:r>
              <a:rPr lang="en-US" altLang="zh-CN"/>
              <a:t>/ </a:t>
            </a:r>
            <a:r>
              <a:rPr lang="zh-CN" altLang="zh-CN"/>
              <a:t>行标（</a:t>
            </a:r>
            <a:r>
              <a:rPr lang="en-US" altLang="zh-CN"/>
              <a:t>YB/QC </a:t>
            </a:r>
            <a:r>
              <a:rPr lang="zh-CN" altLang="zh-CN"/>
              <a:t>等）</a:t>
            </a:r>
            <a:r>
              <a:rPr lang="en-US" altLang="zh-CN"/>
              <a:t>/ </a:t>
            </a:r>
            <a:r>
              <a:rPr lang="zh-CN" altLang="zh-CN"/>
              <a:t>企标 </a:t>
            </a:r>
          </a:p>
          <a:p>
            <a:pPr fontAlgn="ctr"/>
            <a:r>
              <a:rPr lang="en-US" altLang="zh-CN"/>
              <a:t>3.</a:t>
            </a:r>
            <a:r>
              <a:rPr lang="zh-CN" altLang="zh-CN"/>
              <a:t>工艺参数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生产工艺要求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加工精度  公差等级（</a:t>
            </a:r>
            <a:r>
              <a:rPr lang="en-US" altLang="zh-CN"/>
              <a:t>IT </a:t>
            </a:r>
            <a:r>
              <a:rPr lang="zh-CN" altLang="zh-CN"/>
              <a:t>级别）、粗糙度（</a:t>
            </a:r>
            <a:r>
              <a:rPr lang="en-US" altLang="zh-CN"/>
              <a:t>Ra </a:t>
            </a:r>
            <a:r>
              <a:rPr lang="zh-CN" altLang="zh-CN"/>
              <a:t>值） 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zh-CN"/>
              <a:t>材质等级  热处理状态、硬度要求（</a:t>
            </a:r>
            <a:r>
              <a:rPr lang="en-US" altLang="zh-CN"/>
              <a:t>HRC/HRB</a:t>
            </a:r>
            <a:r>
              <a:rPr lang="zh-CN" altLang="zh-CN"/>
              <a:t>） </a:t>
            </a:r>
            <a:endParaRPr lang="en-US" altLang="zh-CN"/>
          </a:p>
          <a:p>
            <a:pPr fontAlgn="ctr"/>
            <a:r>
              <a:rPr lang="en-US" altLang="zh-CN"/>
              <a:t>4. </a:t>
            </a:r>
            <a:r>
              <a:rPr lang="zh-CN" altLang="en-US"/>
              <a:t>附件</a:t>
            </a:r>
            <a:endParaRPr lang="en-US" altLang="zh-CN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zh-CN" altLang="en-US"/>
              <a:t>相关附件、图纸、说明文件等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900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7554454-FE0E-4CD0-6AFC-0A328636634B}"/>
              </a:ext>
            </a:extLst>
          </p:cNvPr>
          <p:cNvSpPr txBox="1"/>
          <p:nvPr/>
        </p:nvSpPr>
        <p:spPr>
          <a:xfrm>
            <a:off x="190500" y="111111"/>
            <a:ext cx="118110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b="1"/>
              <a:t> </a:t>
            </a:r>
            <a:r>
              <a:rPr lang="zh-CN" altLang="en-US" b="1"/>
              <a:t>（三）工厂属性元数据</a:t>
            </a:r>
          </a:p>
          <a:p>
            <a:r>
              <a:rPr lang="en-US" altLang="zh-CN"/>
              <a:t>1. </a:t>
            </a:r>
            <a:r>
              <a:rPr lang="zh-CN" altLang="en-US"/>
              <a:t>采购相关属性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采购单位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最小采购批量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采购提前期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制造商信息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采购类型 </a:t>
            </a:r>
            <a:r>
              <a:rPr lang="en-US" altLang="zh-CN"/>
              <a:t> </a:t>
            </a:r>
            <a:r>
              <a:rPr lang="zh-CN" altLang="en-US"/>
              <a:t>自制（</a:t>
            </a:r>
            <a:r>
              <a:rPr lang="en-US" altLang="zh-CN"/>
              <a:t>E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外购（</a:t>
            </a:r>
            <a:r>
              <a:rPr lang="en-US" altLang="zh-CN"/>
              <a:t>F</a:t>
            </a:r>
            <a:r>
              <a:rPr lang="zh-CN" altLang="en-US"/>
              <a:t>） </a:t>
            </a:r>
            <a:br>
              <a:rPr lang="en-US" altLang="zh-CN"/>
            </a:br>
            <a:endParaRPr lang="en-US" altLang="zh-CN"/>
          </a:p>
          <a:p>
            <a:r>
              <a:rPr lang="en-US" altLang="zh-CN"/>
              <a:t> 2. </a:t>
            </a:r>
            <a:r>
              <a:rPr lang="zh-CN" altLang="en-US"/>
              <a:t>仓储与物流属性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库存单位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存储类型 </a:t>
            </a:r>
            <a:r>
              <a:rPr lang="en-US" altLang="zh-CN"/>
              <a:t> </a:t>
            </a:r>
            <a:r>
              <a:rPr lang="zh-CN" altLang="en-US"/>
              <a:t>常温 </a:t>
            </a:r>
            <a:r>
              <a:rPr lang="en-US" altLang="zh-CN"/>
              <a:t>/ </a:t>
            </a:r>
            <a:r>
              <a:rPr lang="zh-CN" altLang="en-US"/>
              <a:t>冷藏 </a:t>
            </a:r>
            <a:r>
              <a:rPr lang="en-US" altLang="zh-CN"/>
              <a:t>/ </a:t>
            </a:r>
            <a:r>
              <a:rPr lang="zh-CN" altLang="en-US"/>
              <a:t>危险品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仓储仓位要求 </a:t>
            </a:r>
            <a:r>
              <a:rPr lang="en-US" altLang="zh-CN"/>
              <a:t> </a:t>
            </a:r>
            <a:r>
              <a:rPr lang="zh-CN" altLang="en-US"/>
              <a:t>货位类型、温湿度要求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保质期 </a:t>
            </a:r>
            <a:r>
              <a:rPr lang="en-US" altLang="zh-CN"/>
              <a:t>/ </a:t>
            </a:r>
            <a:r>
              <a:rPr lang="zh-CN" altLang="en-US"/>
              <a:t>有效期 </a:t>
            </a:r>
            <a:r>
              <a:rPr lang="en-US" altLang="zh-CN"/>
              <a:t> </a:t>
            </a:r>
            <a:r>
              <a:rPr lang="zh-CN" altLang="en-US"/>
              <a:t>天数或日期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批次管理 </a:t>
            </a:r>
            <a:r>
              <a:rPr lang="en-US" altLang="zh-CN"/>
              <a:t> </a:t>
            </a:r>
            <a:r>
              <a:rPr lang="zh-CN" altLang="en-US"/>
              <a:t>是否启用批次，批次分类规则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序列号管理 </a:t>
            </a:r>
            <a:r>
              <a:rPr lang="en-US" altLang="zh-CN"/>
              <a:t> </a:t>
            </a:r>
            <a:r>
              <a:rPr lang="zh-CN" altLang="en-US"/>
              <a:t>是否启用序列号跟踪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安全库存 </a:t>
            </a:r>
            <a:r>
              <a:rPr lang="en-US" altLang="zh-CN"/>
              <a:t> </a:t>
            </a:r>
            <a:r>
              <a:rPr lang="zh-CN" altLang="en-US"/>
              <a:t>触发补货的最低库存水位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ABC </a:t>
            </a:r>
            <a:r>
              <a:rPr lang="zh-CN" altLang="en-US"/>
              <a:t>分类 </a:t>
            </a:r>
            <a:r>
              <a:rPr lang="en-US" altLang="zh-CN"/>
              <a:t> </a:t>
            </a:r>
            <a:r>
              <a:rPr lang="zh-CN" altLang="en-US"/>
              <a:t>库存价值分类（</a:t>
            </a:r>
            <a:r>
              <a:rPr lang="en-US" altLang="zh-CN"/>
              <a:t>A/B/C</a:t>
            </a:r>
            <a:r>
              <a:rPr lang="zh-CN" altLang="en-US"/>
              <a:t>）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3. MRP </a:t>
            </a:r>
            <a:r>
              <a:rPr lang="zh-CN" altLang="en-US"/>
              <a:t>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MRP </a:t>
            </a:r>
            <a:r>
              <a:rPr lang="zh-CN" altLang="en-US"/>
              <a:t>类型 </a:t>
            </a:r>
            <a:r>
              <a:rPr lang="en-US" altLang="zh-CN"/>
              <a:t> </a:t>
            </a:r>
            <a:r>
              <a:rPr lang="zh-CN" altLang="en-US"/>
              <a:t>计划策略：</a:t>
            </a:r>
            <a:r>
              <a:rPr lang="en-US" altLang="zh-CN"/>
              <a:t>MRP</a:t>
            </a:r>
            <a:r>
              <a:rPr lang="zh-CN" altLang="en-US"/>
              <a:t>（</a:t>
            </a:r>
            <a:r>
              <a:rPr lang="en-US" altLang="zh-CN"/>
              <a:t>PD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再订货点计划（</a:t>
            </a:r>
            <a:r>
              <a:rPr lang="en-US" altLang="zh-CN"/>
              <a:t>VB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无计划（</a:t>
            </a:r>
            <a:r>
              <a:rPr lang="en-US" altLang="zh-CN"/>
              <a:t>ND</a:t>
            </a:r>
            <a:r>
              <a:rPr lang="zh-CN" altLang="en-US"/>
              <a:t>）等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计划策略 </a:t>
            </a:r>
            <a:r>
              <a:rPr lang="en-US" altLang="zh-CN"/>
              <a:t> </a:t>
            </a:r>
            <a:r>
              <a:rPr lang="zh-CN" altLang="en-US"/>
              <a:t>按订单生产（</a:t>
            </a:r>
            <a:r>
              <a:rPr lang="en-US" altLang="zh-CN"/>
              <a:t>MTO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按库存生产（</a:t>
            </a:r>
            <a:r>
              <a:rPr lang="en-US" altLang="zh-CN"/>
              <a:t>MTS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按订单装配（</a:t>
            </a:r>
            <a:r>
              <a:rPr lang="en-US" altLang="zh-CN"/>
              <a:t>ATO</a:t>
            </a:r>
            <a:r>
              <a:rPr lang="zh-CN" altLang="en-US"/>
              <a:t>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批量规程 </a:t>
            </a:r>
            <a:r>
              <a:rPr lang="en-US" altLang="zh-CN"/>
              <a:t> </a:t>
            </a:r>
            <a:r>
              <a:rPr lang="zh-CN" altLang="en-US"/>
              <a:t>固定批量（</a:t>
            </a:r>
            <a:r>
              <a:rPr lang="en-US" altLang="zh-CN"/>
              <a:t>FX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最优批量（</a:t>
            </a:r>
            <a:r>
              <a:rPr lang="en-US" altLang="zh-CN"/>
              <a:t>OB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精确需求批量（</a:t>
            </a:r>
            <a:r>
              <a:rPr lang="en-US" altLang="zh-CN"/>
              <a:t>EX</a:t>
            </a:r>
            <a:r>
              <a:rPr lang="zh-CN" altLang="en-US"/>
              <a:t>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固定批量大小 </a:t>
            </a:r>
            <a:r>
              <a:rPr lang="en-US" altLang="zh-CN"/>
              <a:t> </a:t>
            </a:r>
            <a:r>
              <a:rPr lang="zh-CN" altLang="en-US"/>
              <a:t>当批量规程为固定批量时使用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舍入值 </a:t>
            </a:r>
            <a:r>
              <a:rPr lang="en-US" altLang="zh-CN"/>
              <a:t> </a:t>
            </a:r>
            <a:r>
              <a:rPr lang="zh-CN" altLang="en-US"/>
              <a:t>计划产出或采购量的最小倍数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自制提前期 </a:t>
            </a:r>
            <a:r>
              <a:rPr lang="en-US" altLang="zh-CN"/>
              <a:t> </a:t>
            </a:r>
            <a:r>
              <a:rPr lang="zh-CN" altLang="en-US"/>
              <a:t>生产完成所需天数（工厂内部）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计划提前期 </a:t>
            </a:r>
            <a:r>
              <a:rPr lang="en-US" altLang="zh-CN"/>
              <a:t> </a:t>
            </a:r>
            <a:r>
              <a:rPr lang="zh-CN" altLang="en-US"/>
              <a:t>系统用于向后推算交货日期的缓冲天数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独立需求 </a:t>
            </a:r>
            <a:r>
              <a:rPr lang="en-US" altLang="zh-CN"/>
              <a:t>/ </a:t>
            </a:r>
            <a:r>
              <a:rPr lang="zh-CN" altLang="en-US"/>
              <a:t>相关需求 </a:t>
            </a:r>
            <a:r>
              <a:rPr lang="en-US" altLang="zh-CN"/>
              <a:t> </a:t>
            </a:r>
            <a:r>
              <a:rPr lang="zh-CN" altLang="en-US"/>
              <a:t>是否参与主生产计划（</a:t>
            </a:r>
            <a:r>
              <a:rPr lang="en-US" altLang="zh-CN"/>
              <a:t>MPS</a:t>
            </a:r>
            <a:r>
              <a:rPr lang="zh-CN" altLang="en-US"/>
              <a:t>）驱动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特殊采购类型 </a:t>
            </a:r>
            <a:r>
              <a:rPr lang="en-US" altLang="zh-CN"/>
              <a:t> </a:t>
            </a:r>
            <a:r>
              <a:rPr lang="zh-CN" altLang="en-US"/>
              <a:t>寄售 </a:t>
            </a:r>
            <a:r>
              <a:rPr lang="en-US" altLang="zh-CN"/>
              <a:t>/ </a:t>
            </a:r>
            <a:r>
              <a:rPr lang="zh-CN" altLang="en-US"/>
              <a:t>外协生产 </a:t>
            </a:r>
            <a:r>
              <a:rPr lang="en-US" altLang="zh-CN"/>
              <a:t>/ </a:t>
            </a:r>
            <a:r>
              <a:rPr lang="zh-CN" altLang="en-US"/>
              <a:t>跨工厂采购等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消耗方式 </a:t>
            </a:r>
            <a:r>
              <a:rPr lang="en-US" altLang="zh-CN"/>
              <a:t> </a:t>
            </a:r>
            <a:r>
              <a:rPr lang="zh-CN" altLang="en-US"/>
              <a:t>前向消耗 </a:t>
            </a:r>
            <a:r>
              <a:rPr lang="en-US" altLang="zh-CN"/>
              <a:t>/ </a:t>
            </a:r>
            <a:r>
              <a:rPr lang="zh-CN" altLang="en-US"/>
              <a:t>后向消耗 </a:t>
            </a:r>
            <a:r>
              <a:rPr lang="en-US" altLang="zh-CN"/>
              <a:t>/ </a:t>
            </a:r>
            <a:r>
              <a:rPr lang="zh-CN" altLang="en-US"/>
              <a:t>周期消耗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安全时间提前期 </a:t>
            </a:r>
            <a:r>
              <a:rPr lang="en-US" altLang="zh-CN"/>
              <a:t> </a:t>
            </a:r>
            <a:r>
              <a:rPr lang="zh-CN" altLang="en-US"/>
              <a:t>为应对不确定性额外预留的提前天数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最大库存 </a:t>
            </a:r>
            <a:r>
              <a:rPr lang="en-US" altLang="zh-CN"/>
              <a:t> </a:t>
            </a:r>
            <a:r>
              <a:rPr lang="zh-CN" altLang="en-US"/>
              <a:t>再订货点计划中的库存上限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54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0DAD15-545B-7E28-F2A9-103E9E94E45D}"/>
              </a:ext>
            </a:extLst>
          </p:cNvPr>
          <p:cNvSpPr txBox="1"/>
          <p:nvPr/>
        </p:nvSpPr>
        <p:spPr>
          <a:xfrm>
            <a:off x="319120" y="366623"/>
            <a:ext cx="1095847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4. </a:t>
            </a:r>
            <a:r>
              <a:rPr lang="zh-CN" altLang="en-US"/>
              <a:t>生产属性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生产单位  件 </a:t>
            </a:r>
            <a:r>
              <a:rPr lang="en-US" altLang="zh-CN"/>
              <a:t>/ </a:t>
            </a:r>
            <a:r>
              <a:rPr lang="zh-CN" altLang="en-US"/>
              <a:t>套 </a:t>
            </a:r>
            <a:r>
              <a:rPr lang="en-US" altLang="zh-CN"/>
              <a:t>/ </a:t>
            </a:r>
            <a:r>
              <a:rPr lang="zh-CN" altLang="en-US"/>
              <a:t>米 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生产版本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损耗率  生产过程中的物料损耗比例（</a:t>
            </a:r>
            <a:r>
              <a:rPr lang="en-US" altLang="zh-CN"/>
              <a:t>%</a:t>
            </a:r>
            <a:r>
              <a:rPr lang="zh-CN" altLang="en-US"/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产能适配性  所需设备类型、产线适配标识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替代物料标识  可替换的备选物料编码及优先级 </a:t>
            </a:r>
          </a:p>
          <a:p>
            <a:br>
              <a:rPr lang="zh-CN" altLang="en-US"/>
            </a:b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5. </a:t>
            </a:r>
            <a:r>
              <a:rPr lang="zh-CN" altLang="en-US"/>
              <a:t>销售属性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销售单位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销售价格  含税 </a:t>
            </a:r>
            <a:r>
              <a:rPr lang="en-US" altLang="zh-CN"/>
              <a:t>/ </a:t>
            </a:r>
            <a:r>
              <a:rPr lang="zh-CN" altLang="en-US"/>
              <a:t>不含税价格，价格有效期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客户适配范围  适用客户群体或车型范围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包装规格  单箱数量、包装尺寸、包装材料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交付周期  标准交货提前期（天）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产品等级  一等品 </a:t>
            </a:r>
            <a:r>
              <a:rPr lang="en-US" altLang="zh-CN"/>
              <a:t>/ </a:t>
            </a:r>
            <a:r>
              <a:rPr lang="zh-CN" altLang="en-US"/>
              <a:t>合格品 </a:t>
            </a:r>
            <a:r>
              <a:rPr lang="en-US" altLang="zh-CN"/>
              <a:t>/ </a:t>
            </a:r>
            <a:r>
              <a:rPr lang="zh-CN" altLang="en-US"/>
              <a:t>返工品 </a:t>
            </a:r>
          </a:p>
          <a:p>
            <a:br>
              <a:rPr lang="zh-CN" altLang="en-US"/>
            </a:b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6. </a:t>
            </a:r>
            <a:r>
              <a:rPr lang="zh-CN" altLang="en-US"/>
              <a:t>财务属性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评估类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存货计价方式  标准价（</a:t>
            </a:r>
            <a:r>
              <a:rPr lang="en-US" altLang="zh-CN"/>
              <a:t>S</a:t>
            </a:r>
            <a:r>
              <a:rPr lang="zh-CN" altLang="en-US"/>
              <a:t>）</a:t>
            </a:r>
            <a:r>
              <a:rPr lang="en-US" altLang="zh-CN"/>
              <a:t>/ </a:t>
            </a:r>
            <a:r>
              <a:rPr lang="zh-CN" altLang="en-US"/>
              <a:t>移动平均价（</a:t>
            </a:r>
            <a:r>
              <a:rPr lang="en-US" altLang="zh-CN"/>
              <a:t>V</a:t>
            </a:r>
            <a:r>
              <a:rPr lang="zh-CN" altLang="en-US"/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税务编码  进项税 </a:t>
            </a:r>
            <a:r>
              <a:rPr lang="en-US" altLang="zh-CN"/>
              <a:t>/ </a:t>
            </a:r>
            <a:r>
              <a:rPr lang="zh-CN" altLang="en-US"/>
              <a:t>销项税税率分类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应税 </a:t>
            </a:r>
            <a:r>
              <a:rPr lang="en-US" altLang="zh-CN"/>
              <a:t>/ </a:t>
            </a:r>
            <a:r>
              <a:rPr lang="zh-CN" altLang="en-US"/>
              <a:t>免税标识  是否为应税物料 </a:t>
            </a:r>
          </a:p>
        </p:txBody>
      </p:sp>
    </p:spTree>
    <p:extLst>
      <p:ext uri="{BB962C8B-B14F-4D97-AF65-F5344CB8AC3E}">
        <p14:creationId xmlns:p14="http://schemas.microsoft.com/office/powerpoint/2010/main" val="30800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79CEED-18CE-9560-C464-F3FB2FBB65E7}"/>
              </a:ext>
            </a:extLst>
          </p:cNvPr>
          <p:cNvSpPr txBox="1"/>
          <p:nvPr/>
        </p:nvSpPr>
        <p:spPr>
          <a:xfrm>
            <a:off x="249028" y="0"/>
            <a:ext cx="9624311" cy="67453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/>
              <a:t>（四）技术元数据</a:t>
            </a:r>
          </a:p>
          <a:p>
            <a:pPr>
              <a:lnSpc>
                <a:spcPct val="150000"/>
              </a:lnSpc>
            </a:pPr>
            <a:r>
              <a:rPr lang="zh-CN" altLang="en-US" sz="1300"/>
              <a:t> </a:t>
            </a:r>
            <a:r>
              <a:rPr lang="en-US" altLang="zh-CN" sz="1300"/>
              <a:t>1. </a:t>
            </a:r>
            <a:r>
              <a:rPr lang="zh-CN" altLang="en-US" sz="1300"/>
              <a:t>编码映射与数据分发</a:t>
            </a:r>
          </a:p>
          <a:p>
            <a:pPr>
              <a:lnSpc>
                <a:spcPct val="150000"/>
              </a:lnSpc>
            </a:pPr>
            <a:r>
              <a:rPr lang="en-US" altLang="zh-CN" sz="1300"/>
              <a:t>SAP ECC / S4 / </a:t>
            </a:r>
            <a:r>
              <a:rPr lang="zh-CN" altLang="en-US" sz="1300"/>
              <a:t> 金蝶</a:t>
            </a:r>
            <a:r>
              <a:rPr lang="en-US" altLang="zh-CN" sz="1300"/>
              <a:t>K3 / K3 Cloud / QAD / SAP Ariba / PLM / WMS / MES / OA / FONE</a:t>
            </a:r>
            <a:endParaRPr lang="zh-CN" altLang="en-US" sz="1300"/>
          </a:p>
          <a:p>
            <a:pPr>
              <a:lnSpc>
                <a:spcPct val="150000"/>
              </a:lnSpc>
            </a:pPr>
            <a:endParaRPr lang="zh-CN" altLang="en-US" sz="1300"/>
          </a:p>
          <a:p>
            <a:pPr>
              <a:lnSpc>
                <a:spcPct val="150000"/>
              </a:lnSpc>
            </a:pPr>
            <a:r>
              <a:rPr lang="en-US" altLang="zh-CN" sz="1300"/>
              <a:t>2. </a:t>
            </a:r>
            <a:r>
              <a:rPr lang="zh-CN" altLang="en-US" sz="1300"/>
              <a:t>数据类型与格式规范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数据类型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字段长度  最大字符数或数值精度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精度  小数位数（如重量保留 </a:t>
            </a:r>
            <a:r>
              <a:rPr lang="en-US" altLang="zh-CN" sz="1300"/>
              <a:t>3 </a:t>
            </a:r>
            <a:r>
              <a:rPr lang="zh-CN" altLang="en-US" sz="1300"/>
              <a:t>位小数）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必填 </a:t>
            </a:r>
            <a:r>
              <a:rPr lang="en-US" altLang="zh-CN" sz="1300"/>
              <a:t>/ </a:t>
            </a:r>
            <a:r>
              <a:rPr lang="zh-CN" altLang="en-US" sz="1300"/>
              <a:t>选填规则  标注哪些字段为必填项，哪些为条件必填 </a:t>
            </a:r>
          </a:p>
          <a:p>
            <a:pPr>
              <a:lnSpc>
                <a:spcPct val="150000"/>
              </a:lnSpc>
            </a:pPr>
            <a:endParaRPr lang="zh-CN" altLang="en-US" sz="1300"/>
          </a:p>
          <a:p>
            <a:pPr>
              <a:lnSpc>
                <a:spcPct val="150000"/>
              </a:lnSpc>
            </a:pPr>
            <a:r>
              <a:rPr lang="zh-CN" altLang="en-US" sz="1300"/>
              <a:t> </a:t>
            </a:r>
            <a:r>
              <a:rPr lang="en-US" altLang="zh-CN" sz="1300"/>
              <a:t>3. </a:t>
            </a:r>
            <a:r>
              <a:rPr lang="zh-CN" altLang="en-US" sz="1300"/>
              <a:t>数据来源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300"/>
              <a:t>PLM </a:t>
            </a:r>
            <a:r>
              <a:rPr lang="zh-CN" altLang="en-US" sz="1300"/>
              <a:t>导入  研发</a:t>
            </a:r>
            <a:r>
              <a:rPr lang="en-US" altLang="zh-CN" sz="1300"/>
              <a:t>/</a:t>
            </a:r>
            <a:r>
              <a:rPr lang="zh-CN" altLang="en-US" sz="1300"/>
              <a:t>工程系统下发，自动同步至 </a:t>
            </a:r>
            <a:r>
              <a:rPr lang="en-US" altLang="zh-CN" sz="1300"/>
              <a:t>ERP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手工创建  主数据管理员在数据治理平台录入 </a:t>
            </a:r>
            <a:endParaRPr lang="en-US" altLang="zh-CN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300"/>
              <a:t>ERP </a:t>
            </a:r>
            <a:r>
              <a:rPr lang="zh-CN" altLang="en-US" sz="1300"/>
              <a:t>中录入 </a:t>
            </a:r>
            <a:endParaRPr lang="en-US" altLang="zh-CN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300"/>
              <a:t>OA</a:t>
            </a:r>
            <a:r>
              <a:rPr lang="zh-CN" altLang="en-US" sz="1300"/>
              <a:t>上录入申请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供应商申请  通过 </a:t>
            </a:r>
            <a:r>
              <a:rPr lang="en-US" altLang="zh-CN" sz="1300"/>
              <a:t>SAP Ariba / SRM </a:t>
            </a:r>
            <a:r>
              <a:rPr lang="zh-CN" altLang="en-US" sz="1300"/>
              <a:t>由供应商提交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系统接口  其他上下游系统通过 </a:t>
            </a:r>
            <a:r>
              <a:rPr lang="en-US" altLang="zh-CN" sz="1300"/>
              <a:t>API/</a:t>
            </a:r>
            <a:r>
              <a:rPr lang="zh-CN" altLang="en-US" sz="1300"/>
              <a:t>中间件自动推送 </a:t>
            </a:r>
          </a:p>
          <a:p>
            <a:pPr>
              <a:lnSpc>
                <a:spcPct val="150000"/>
              </a:lnSpc>
            </a:pPr>
            <a:endParaRPr lang="zh-CN" altLang="en-US" sz="400"/>
          </a:p>
          <a:p>
            <a:pPr>
              <a:lnSpc>
                <a:spcPct val="150000"/>
              </a:lnSpc>
            </a:pPr>
            <a:r>
              <a:rPr lang="en-US" altLang="zh-CN" sz="1300"/>
              <a:t>4. </a:t>
            </a:r>
            <a:r>
              <a:rPr lang="zh-CN" altLang="en-US" sz="1300"/>
              <a:t>数据版本管理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版本号  物料主数据当前版本（如 </a:t>
            </a:r>
            <a:r>
              <a:rPr lang="en-US" altLang="zh-CN" sz="1300"/>
              <a:t>V1.0</a:t>
            </a:r>
            <a:r>
              <a:rPr lang="zh-CN" altLang="en-US" sz="1300"/>
              <a:t>、</a:t>
            </a:r>
            <a:r>
              <a:rPr lang="en-US" altLang="zh-CN" sz="1300"/>
              <a:t>V2.3</a:t>
            </a:r>
            <a:r>
              <a:rPr lang="zh-CN" altLang="en-US" sz="1300"/>
              <a:t>）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变更记录  每次变更的时间戳、变更人、变更字段及原值</a:t>
            </a:r>
            <a:r>
              <a:rPr lang="en-US" altLang="zh-CN" sz="1300"/>
              <a:t>/</a:t>
            </a:r>
            <a:r>
              <a:rPr lang="zh-CN" altLang="en-US" sz="1300"/>
              <a:t>新值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生效日期  版本正式生效的日期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/>
              <a:t>变更原因  技术变更 </a:t>
            </a:r>
            <a:r>
              <a:rPr lang="en-US" altLang="zh-CN" sz="1300"/>
              <a:t>/ </a:t>
            </a:r>
            <a:r>
              <a:rPr lang="zh-CN" altLang="en-US" sz="1300"/>
              <a:t>采购变更 </a:t>
            </a:r>
            <a:r>
              <a:rPr lang="en-US" altLang="zh-CN" sz="1300"/>
              <a:t>/ </a:t>
            </a:r>
            <a:r>
              <a:rPr lang="zh-CN" altLang="en-US" sz="1300"/>
              <a:t>质量变更 等分类</a:t>
            </a:r>
          </a:p>
        </p:txBody>
      </p:sp>
    </p:spTree>
    <p:extLst>
      <p:ext uri="{BB962C8B-B14F-4D97-AF65-F5344CB8AC3E}">
        <p14:creationId xmlns:p14="http://schemas.microsoft.com/office/powerpoint/2010/main" val="222764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0E53AB5-4129-EB3A-539D-7D403F0C4481}"/>
              </a:ext>
            </a:extLst>
          </p:cNvPr>
          <p:cNvSpPr txBox="1"/>
          <p:nvPr/>
        </p:nvSpPr>
        <p:spPr>
          <a:xfrm>
            <a:off x="439770" y="1035050"/>
            <a:ext cx="10882279" cy="509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/>
              <a:t># </a:t>
            </a:r>
            <a:r>
              <a:rPr lang="zh-CN" altLang="en-US" sz="1600" b="1"/>
              <a:t>附：</a:t>
            </a:r>
            <a:r>
              <a:rPr lang="en-US" altLang="zh-CN" sz="1600" b="1"/>
              <a:t>IT </a:t>
            </a:r>
            <a:r>
              <a:rPr lang="zh-CN" altLang="en-US" sz="1600" b="1"/>
              <a:t>系统管控建议</a:t>
            </a:r>
          </a:p>
          <a:p>
            <a:pPr>
              <a:lnSpc>
                <a:spcPct val="150000"/>
              </a:lnSpc>
            </a:pPr>
            <a:br>
              <a:rPr lang="zh-CN" altLang="en-US" sz="1600"/>
            </a:br>
            <a:r>
              <a:rPr lang="en-US" altLang="zh-CN" sz="1600"/>
              <a:t>1.</a:t>
            </a:r>
            <a:r>
              <a:rPr lang="zh-CN" altLang="en-US" sz="1600"/>
              <a:t>主数据平台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建立 </a:t>
            </a:r>
            <a:r>
              <a:rPr lang="en-US" altLang="zh-CN" sz="1600"/>
              <a:t>MDM</a:t>
            </a:r>
            <a:r>
              <a:rPr lang="zh-CN" altLang="en-US" sz="1600"/>
              <a:t>（或集团</a:t>
            </a:r>
            <a:r>
              <a:rPr lang="en-US" altLang="zh-CN" sz="1600"/>
              <a:t>SAP ECC</a:t>
            </a:r>
            <a:r>
              <a:rPr lang="zh-CN" altLang="en-US" sz="1600"/>
              <a:t>）平台作为唯一数据源（</a:t>
            </a:r>
            <a:r>
              <a:rPr lang="en-US" altLang="zh-CN" sz="1600"/>
              <a:t>Golden Record</a:t>
            </a:r>
            <a:r>
              <a:rPr lang="zh-CN" altLang="en-US" sz="1600"/>
              <a:t>），统一向 其他系统分发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2.</a:t>
            </a:r>
            <a:r>
              <a:rPr lang="zh-CN" altLang="en-US" sz="1600"/>
              <a:t>数据质量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配置必填项校验、编码规则校验（正则）、重复检测，在物料创建时自动拦截不规范数据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3.</a:t>
            </a:r>
            <a:r>
              <a:rPr lang="zh-CN" altLang="en-US" sz="1600"/>
              <a:t>变更管控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建立主数据变更审批流程，变更请求 → 规则校验 → </a:t>
            </a:r>
            <a:r>
              <a:rPr lang="en-US" altLang="zh-CN" sz="1600"/>
              <a:t>AI</a:t>
            </a:r>
            <a:r>
              <a:rPr lang="zh-CN" altLang="en-US" sz="1600"/>
              <a:t>识别 → 主数据管理员审批 → 数据入库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4.</a:t>
            </a:r>
            <a:r>
              <a:rPr lang="zh-CN" altLang="en-US" sz="1600"/>
              <a:t>跨系统同步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使用 集成中间件（如 </a:t>
            </a:r>
            <a:r>
              <a:rPr lang="en-US" altLang="zh-CN" sz="1600"/>
              <a:t>SAP PI/PO</a:t>
            </a:r>
            <a:r>
              <a:rPr lang="zh-CN" altLang="en-US" sz="1600"/>
              <a:t>）实现实时或批量同步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5.</a:t>
            </a:r>
            <a:r>
              <a:rPr lang="zh-CN" altLang="en-US" sz="1600"/>
              <a:t>数据版本追溯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启用变更日志（</a:t>
            </a:r>
            <a:r>
              <a:rPr lang="en-US" altLang="zh-CN" sz="1600"/>
              <a:t>Change Documents</a:t>
            </a:r>
            <a:r>
              <a:rPr lang="zh-CN" altLang="en-US" sz="1600"/>
              <a:t>） </a:t>
            </a:r>
          </a:p>
          <a:p>
            <a:pPr>
              <a:lnSpc>
                <a:spcPct val="150000"/>
              </a:lnSpc>
            </a:pPr>
            <a:r>
              <a:rPr lang="en-US" altLang="zh-CN" sz="1600"/>
              <a:t>6.</a:t>
            </a:r>
            <a:r>
              <a:rPr lang="zh-CN" altLang="en-US" sz="1600"/>
              <a:t>权限管控  </a:t>
            </a:r>
            <a:endParaRPr lang="en-US" altLang="zh-CN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按角色分配主数据维护权限（创建 </a:t>
            </a:r>
            <a:r>
              <a:rPr lang="en-US" altLang="zh-CN" sz="1600"/>
              <a:t>/ </a:t>
            </a:r>
            <a:r>
              <a:rPr lang="zh-CN" altLang="en-US" sz="1600"/>
              <a:t>修改 </a:t>
            </a:r>
            <a:r>
              <a:rPr lang="en-US" altLang="zh-CN" sz="1600"/>
              <a:t>/ </a:t>
            </a:r>
            <a:r>
              <a:rPr lang="zh-CN" altLang="en-US" sz="1600"/>
              <a:t>冻结 </a:t>
            </a:r>
            <a:r>
              <a:rPr lang="en-US" altLang="zh-CN" sz="1600"/>
              <a:t>/ </a:t>
            </a:r>
            <a:r>
              <a:rPr lang="zh-CN" altLang="en-US" sz="1600"/>
              <a:t>删除）</a:t>
            </a:r>
          </a:p>
        </p:txBody>
      </p:sp>
    </p:spTree>
    <p:extLst>
      <p:ext uri="{BB962C8B-B14F-4D97-AF65-F5344CB8AC3E}">
        <p14:creationId xmlns:p14="http://schemas.microsoft.com/office/powerpoint/2010/main" val="3834742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785" r="2000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5600" y="2159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如何分发主数据？—— 构建精准高效的分发体系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841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78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分发触发机制（事件驱动）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1844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新增自动下发  变更分级推送  冻结触发停用通知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8575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048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2984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分发范围策略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33909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按系统、组织、工厂、业务域进行精准定向分发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0640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254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4191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数据同步方式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45974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全量初始化构建基准 + 增量实时/准实时同步更新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270500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  <a:effectLst>
            <a:outerShdw blurRad="762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5461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032000" y="5397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运行保障机制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032000" y="58039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失败自动重试、异常实时告警、全链路日志留痕可追溯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t="934" b="934"/>
          <a:stretch>
            <a:fillRect/>
          </a:stretch>
        </p:blipFill>
        <p:spPr>
          <a:xfrm>
            <a:off x="6858000" y="1651000"/>
            <a:ext cx="4826000" cy="2667000"/>
          </a:xfrm>
          <a:prstGeom prst="roundRect">
            <a:avLst>
              <a:gd name="adj" fmla="val 7142"/>
            </a:avLst>
          </a:prstGeom>
          <a:noFill/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2E7D32">
                <a:alpha val="20000"/>
              </a:srgbClr>
            </a:outerShdw>
          </a:effectLst>
        </p:spPr>
      </p:pic>
      <p:sp>
        <p:nvSpPr>
          <p:cNvPr id="22" name="AutoShape 22"/>
          <p:cNvSpPr/>
          <p:nvPr/>
        </p:nvSpPr>
        <p:spPr>
          <a:xfrm>
            <a:off x="6858000" y="4508500"/>
            <a:ext cx="4826000" cy="1841500"/>
          </a:xfrm>
          <a:prstGeom prst="roundRect">
            <a:avLst>
              <a:gd name="adj" fmla="val 6896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5500" y="4762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747000" y="476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核心价值：分发闭环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75500" y="5270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确保主数据“发得准、发得稳、可追踪”，通过自动化策略减少人工干预，大幅提升数据流转效率与准确性。</a:t>
            </a:r>
            <a:endParaRPr lang="en-US" sz="1100"/>
          </a:p>
        </p:txBody>
      </p:sp>
      <p:sp>
        <p:nvSpPr>
          <p:cNvPr id="26" name="AutoShape 9"/>
          <p:cNvSpPr/>
          <p:nvPr/>
        </p:nvSpPr>
        <p:spPr>
          <a:xfrm>
            <a:off x="414867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涵盖分发触发机制、范围策略、同步方式与运行保障体系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14605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有哪些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54000" y="84455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68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</a:t>
            </a: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质量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603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提升数据准确率与完整率，大幅减少业务差错。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数据质量提升XX分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5085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1968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40250" y="2603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关键变更全程可追溯，降低合规与经营风险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zh-CN" altLang="en-US" sz="13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预期物料主数据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变更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时，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同步及时率XX%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1714500"/>
            <a:ext cx="317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1968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战略价值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603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夯实数字化与AI应用的数据底座，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集团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的数字化和智能化经营打好基础</a:t>
            </a: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构建企业级数据资产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，发挥</a:t>
            </a:r>
            <a:r>
              <a:rPr lang="en-US" altLang="zh-CN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的作用</a:t>
            </a:r>
            <a:endParaRPr lang="en-US" sz="13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4064000"/>
            <a:ext cx="4953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18652" r="19170"/>
          <a:stretch>
            <a:fillRect/>
          </a:stretch>
        </p:blipFill>
        <p:spPr>
          <a:xfrm>
            <a:off x="1206500" y="4216400"/>
            <a:ext cx="1524000" cy="1473200"/>
          </a:xfrm>
          <a:prstGeom prst="roundRect">
            <a:avLst>
              <a:gd name="adj" fmla="val 862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2857500" y="4254500"/>
            <a:ext cx="298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提速增效</a:t>
            </a:r>
            <a:endParaRPr lang="en-US" sz="1100"/>
          </a:p>
          <a:p>
            <a:pPr indent="0" algn="l"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缩短新增与变更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物料主数据的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周期，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提高效率，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减少跨部门沟通成本。</a:t>
            </a:r>
          </a:p>
          <a:p>
            <a:pPr indent="0" algn="l">
              <a:lnSpc>
                <a:spcPct val="108333"/>
              </a:lnSpc>
            </a:pP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zh-CN" altLang="en-US" sz="1300" b="1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新增主数据的时间</a:t>
            </a:r>
            <a:r>
              <a:rPr 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周期缩短XX%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4953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6DC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 l="18652" r="19170"/>
          <a:stretch>
            <a:fillRect/>
          </a:stretch>
        </p:blipFill>
        <p:spPr>
          <a:xfrm>
            <a:off x="6413500" y="4216400"/>
            <a:ext cx="1524000" cy="1473200"/>
          </a:xfrm>
          <a:prstGeom prst="roundRect">
            <a:avLst>
              <a:gd name="adj" fmla="val 862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8064500" y="4254500"/>
            <a:ext cx="298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降本控费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降低重复采购与呆滞库存，提升物料复用率。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endParaRPr lang="en-US" sz="13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杜绝“一物多码”，节约成本</a:t>
            </a:r>
            <a:r>
              <a:rPr lang="en-US" altLang="zh-CN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XX</a:t>
            </a:r>
            <a:r>
              <a:rPr lang="zh-CN" altLang="en-US" sz="13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元</a:t>
            </a:r>
            <a:endParaRPr lang="en-US" sz="1300" b="1" i="0" u="none" strike="noStrike">
              <a:solidFill>
                <a:srgbClr val="2E7D3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6096000"/>
            <a:ext cx="10160000" cy="457200"/>
          </a:xfrm>
          <a:prstGeom prst="roundRect">
            <a:avLst>
              <a:gd name="adj" fmla="val 27777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61468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核心洞察：</a:t>
            </a:r>
            <a:r>
              <a:rPr lang="zh-CN" alt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不但能够缩短周期，提升数据治理，而且杜绝一物多码，能有效降低库存</a:t>
            </a:r>
            <a:endParaRPr lang="en-US" sz="1100"/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81FC475F-0E3D-511D-6B38-92F404AE0977}"/>
              </a:ext>
            </a:extLst>
          </p:cNvPr>
          <p:cNvSpPr/>
          <p:nvPr/>
        </p:nvSpPr>
        <p:spPr>
          <a:xfrm>
            <a:off x="254000" y="946150"/>
            <a:ext cx="10278533" cy="49317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五维价值评估框架，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阐述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治理成果转化为可量化的业务收益指标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7620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5A23">
                  <a:alpha val="96000"/>
                </a:srgbClr>
              </a:gs>
              <a:gs pos="60000">
                <a:srgbClr val="2E7D32">
                  <a:alpha val="85000"/>
                </a:srgbClr>
              </a:gs>
              <a:gs pos="100000">
                <a:srgbClr val="2E7D32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sz="2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30480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如何基于AI进行主数据治理？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5715000" cy="254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利用AI技术重塑数据治理流程，从智能识别、推荐、风控到助手，让数据管理更智能、高效。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5880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55880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04800" y="12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如何基于AI进行主数据治理？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223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3223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33500" y="15128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00" y="1652585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22500" y="14239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智能识别：发现异常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自动识别重复物料与近似项，精准发现命名、编码及属性的异常数据。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25288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25288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333500" y="27193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200" y="2859085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222500" y="26304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智能推荐：规范创建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自动推荐分类、属性模板与编码规则，提示历史相似物料，辅助数据复用。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37353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37353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333500" y="39258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3200" y="4065585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222500" y="38369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智能风控：规避风险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深度分析变更对BOM、工艺及订单的影响，提供质量评分与实时风险预警。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16000" y="4941885"/>
            <a:ext cx="558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4941885"/>
            <a:ext cx="76200" cy="1079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333500" y="5132385"/>
            <a:ext cx="685800" cy="6858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3200" y="5272085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222500" y="5043485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智能助手：全程辅助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提供7x24小时治理规则问答服务，实时指引操作流程并辅助填单。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 l="7908" r="7908"/>
          <a:stretch>
            <a:fillRect/>
          </a:stretch>
        </p:blipFill>
        <p:spPr>
          <a:xfrm>
            <a:off x="6985000" y="1322385"/>
            <a:ext cx="4191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6" name="AutoShape 26"/>
          <p:cNvSpPr/>
          <p:nvPr/>
        </p:nvSpPr>
        <p:spPr>
          <a:xfrm>
            <a:off x="6985000" y="4370385"/>
            <a:ext cx="4191000" cy="165100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4CAF50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4624385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810500" y="4624385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推动主数据治理从“被动清洗”转向“主动智能治理”，实现治理效率与数据质量的双重飞跃。</a:t>
            </a:r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8DB5CF31-6E61-0F09-70CA-D90475A32C04}"/>
              </a:ext>
            </a:extLst>
          </p:cNvPr>
          <p:cNvSpPr/>
          <p:nvPr/>
        </p:nvSpPr>
        <p:spPr>
          <a:xfrm>
            <a:off x="304800" y="596900"/>
            <a:ext cx="1046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利用AI技术重塑数据治理流程，智能识别、推荐、风控</a:t>
            </a:r>
            <a:r>
              <a:rPr lang="zh-CN" alt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扫描、智能助手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，让数据管理更智能、高效</a:t>
            </a:r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1D6A1B-07EA-C800-103F-8272BAFC1FCF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AD05623-27CB-E601-E8F2-8E0C93687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1" y="1363180"/>
            <a:ext cx="9443757" cy="4746928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07509876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E1248-7A08-D722-EC8C-04E5A465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01A6E-BAFB-C6AC-C5DD-8B27C69E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9A4EB6-DB2C-E10B-0023-CB42450A140A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D88A524-AFBA-BFC8-ACA1-8745BD983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313" y="1372540"/>
            <a:ext cx="9949095" cy="5017345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48694784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60A3-B8C9-1AD5-082E-0F570E05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95D25-D67C-C15F-09E2-B1D04AE6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0C7567-D55B-DFC4-9A56-B28815C2B1C7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8737695-32C1-625E-2742-F3B3B7EE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17" y="1337593"/>
            <a:ext cx="10088243" cy="5100871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167479640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1C98-564B-4CC6-4F27-4047ABAF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DB0DC-E8FA-DBC6-62FE-4C335526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8CCE2E-9B09-5139-4E86-2DE99D57D61A}"/>
              </a:ext>
            </a:extLst>
          </p:cNvPr>
          <p:cNvSpPr txBox="1"/>
          <p:nvPr/>
        </p:nvSpPr>
        <p:spPr>
          <a:xfrm>
            <a:off x="816151" y="878370"/>
            <a:ext cx="5017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由经验归纳到智能判断，实现自动审核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8B49B90-5EA0-58BC-755C-77540E75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95" y="1219217"/>
            <a:ext cx="10056970" cy="5058435"/>
          </a:xfrm>
          <a:prstGeom prst="rect">
            <a:avLst/>
          </a:prstGeom>
          <a:ln>
            <a:solidFill>
              <a:srgbClr val="315678"/>
            </a:solidFill>
          </a:ln>
        </p:spPr>
      </p:pic>
    </p:spTree>
    <p:extLst>
      <p:ext uri="{BB962C8B-B14F-4D97-AF65-F5344CB8AC3E}">
        <p14:creationId xmlns:p14="http://schemas.microsoft.com/office/powerpoint/2010/main" val="225117285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334771"/>
            <a:ext cx="6372348" cy="45370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数据治理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健康管家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93C1EF7-1401-37C6-B217-FC1ECEA3E165}"/>
              </a:ext>
            </a:extLst>
          </p:cNvPr>
          <p:cNvSpPr txBox="1"/>
          <p:nvPr/>
        </p:nvSpPr>
        <p:spPr>
          <a:xfrm>
            <a:off x="816151" y="719346"/>
            <a:ext cx="5618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把“被动数据治理”变成“主动体检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+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自动修复”的闭环</a:t>
            </a:r>
          </a:p>
        </p:txBody>
      </p:sp>
      <p:sp>
        <p:nvSpPr>
          <p:cNvPr id="114" name="矩形 16">
            <a:extLst>
              <a:ext uri="{FF2B5EF4-FFF2-40B4-BE49-F238E27FC236}">
                <a16:creationId xmlns:a16="http://schemas.microsoft.com/office/drawing/2014/main" id="{E58A84AD-E5F9-CC99-B283-643020A220E8}"/>
              </a:ext>
            </a:extLst>
          </p:cNvPr>
          <p:cNvSpPr/>
          <p:nvPr/>
        </p:nvSpPr>
        <p:spPr>
          <a:xfrm>
            <a:off x="11475511" y="354550"/>
            <a:ext cx="747459" cy="6858280"/>
          </a:xfrm>
          <a:custGeom>
            <a:avLst/>
            <a:gdLst>
              <a:gd name="connsiteX0" fmla="*/ 0 w 3238500"/>
              <a:gd name="connsiteY0" fmla="*/ 0 h 1981200"/>
              <a:gd name="connsiteX1" fmla="*/ 3238500 w 3238500"/>
              <a:gd name="connsiteY1" fmla="*/ 0 h 1981200"/>
              <a:gd name="connsiteX2" fmla="*/ 3238500 w 3238500"/>
              <a:gd name="connsiteY2" fmla="*/ 1981200 h 1981200"/>
              <a:gd name="connsiteX3" fmla="*/ 0 w 3238500"/>
              <a:gd name="connsiteY3" fmla="*/ 1981200 h 1981200"/>
              <a:gd name="connsiteX4" fmla="*/ 0 w 3238500"/>
              <a:gd name="connsiteY4" fmla="*/ 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19050 w 3257550"/>
              <a:gd name="connsiteY3" fmla="*/ 1981200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0 w 3257550"/>
              <a:gd name="connsiteY3" fmla="*/ 1771650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285750 h 1981200"/>
              <a:gd name="connsiteX1" fmla="*/ 3257550 w 3257550"/>
              <a:gd name="connsiteY1" fmla="*/ 0 h 1981200"/>
              <a:gd name="connsiteX2" fmla="*/ 3257550 w 3257550"/>
              <a:gd name="connsiteY2" fmla="*/ 1981200 h 1981200"/>
              <a:gd name="connsiteX3" fmla="*/ 9625 w 3257550"/>
              <a:gd name="connsiteY3" fmla="*/ 1723523 h 1981200"/>
              <a:gd name="connsiteX4" fmla="*/ 0 w 3257550"/>
              <a:gd name="connsiteY4" fmla="*/ 285750 h 1981200"/>
              <a:gd name="connsiteX0" fmla="*/ 0 w 3257550"/>
              <a:gd name="connsiteY0" fmla="*/ 1811385 h 3506835"/>
              <a:gd name="connsiteX1" fmla="*/ 3257550 w 3257550"/>
              <a:gd name="connsiteY1" fmla="*/ 0 h 3506835"/>
              <a:gd name="connsiteX2" fmla="*/ 3257550 w 3257550"/>
              <a:gd name="connsiteY2" fmla="*/ 3506835 h 3506835"/>
              <a:gd name="connsiteX3" fmla="*/ 9625 w 3257550"/>
              <a:gd name="connsiteY3" fmla="*/ 3249158 h 3506835"/>
              <a:gd name="connsiteX4" fmla="*/ 0 w 3257550"/>
              <a:gd name="connsiteY4" fmla="*/ 1811385 h 3506835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81138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81138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24915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9625 w 3273677"/>
              <a:gd name="connsiteY3" fmla="*/ 3331308 h 4739079"/>
              <a:gd name="connsiteX4" fmla="*/ 0 w 3273677"/>
              <a:gd name="connsiteY4" fmla="*/ 1705765 h 4739079"/>
              <a:gd name="connsiteX0" fmla="*/ 0 w 3273677"/>
              <a:gd name="connsiteY0" fmla="*/ 1705765 h 4739079"/>
              <a:gd name="connsiteX1" fmla="*/ 3257550 w 3273677"/>
              <a:gd name="connsiteY1" fmla="*/ 0 h 4739079"/>
              <a:gd name="connsiteX2" fmla="*/ 3273677 w 3273677"/>
              <a:gd name="connsiteY2" fmla="*/ 4739079 h 4739079"/>
              <a:gd name="connsiteX3" fmla="*/ 105054 w 3273677"/>
              <a:gd name="connsiteY3" fmla="*/ 3479323 h 4739079"/>
              <a:gd name="connsiteX4" fmla="*/ 0 w 3273677"/>
              <a:gd name="connsiteY4" fmla="*/ 1705765 h 4739079"/>
              <a:gd name="connsiteX0" fmla="*/ 0 w 3241866"/>
              <a:gd name="connsiteY0" fmla="*/ 1625029 h 4739079"/>
              <a:gd name="connsiteX1" fmla="*/ 3225739 w 3241866"/>
              <a:gd name="connsiteY1" fmla="*/ 0 h 4739079"/>
              <a:gd name="connsiteX2" fmla="*/ 3241866 w 3241866"/>
              <a:gd name="connsiteY2" fmla="*/ 4739079 h 4739079"/>
              <a:gd name="connsiteX3" fmla="*/ 73243 w 3241866"/>
              <a:gd name="connsiteY3" fmla="*/ 3479323 h 4739079"/>
              <a:gd name="connsiteX4" fmla="*/ 0 w 3241866"/>
              <a:gd name="connsiteY4" fmla="*/ 1625029 h 4739079"/>
              <a:gd name="connsiteX0" fmla="*/ 0 w 3241866"/>
              <a:gd name="connsiteY0" fmla="*/ 1974881 h 5088931"/>
              <a:gd name="connsiteX1" fmla="*/ 3225740 w 3241866"/>
              <a:gd name="connsiteY1" fmla="*/ 0 h 5088931"/>
              <a:gd name="connsiteX2" fmla="*/ 3241866 w 3241866"/>
              <a:gd name="connsiteY2" fmla="*/ 5088931 h 5088931"/>
              <a:gd name="connsiteX3" fmla="*/ 73243 w 3241866"/>
              <a:gd name="connsiteY3" fmla="*/ 3829175 h 5088931"/>
              <a:gd name="connsiteX4" fmla="*/ 0 w 3241866"/>
              <a:gd name="connsiteY4" fmla="*/ 1974881 h 5088931"/>
              <a:gd name="connsiteX0" fmla="*/ 0 w 3241866"/>
              <a:gd name="connsiteY0" fmla="*/ 1974881 h 5088931"/>
              <a:gd name="connsiteX1" fmla="*/ 3225740 w 3241866"/>
              <a:gd name="connsiteY1" fmla="*/ 0 h 5088931"/>
              <a:gd name="connsiteX2" fmla="*/ 3241866 w 3241866"/>
              <a:gd name="connsiteY2" fmla="*/ 5088931 h 5088931"/>
              <a:gd name="connsiteX3" fmla="*/ 73243 w 3241866"/>
              <a:gd name="connsiteY3" fmla="*/ 3829175 h 5088931"/>
              <a:gd name="connsiteX4" fmla="*/ 0 w 3241866"/>
              <a:gd name="connsiteY4" fmla="*/ 1974881 h 5088931"/>
              <a:gd name="connsiteX0" fmla="*/ 0 w 3241866"/>
              <a:gd name="connsiteY0" fmla="*/ 1974881 h 5546431"/>
              <a:gd name="connsiteX1" fmla="*/ 3225740 w 3241866"/>
              <a:gd name="connsiteY1" fmla="*/ 0 h 5546431"/>
              <a:gd name="connsiteX2" fmla="*/ 3241866 w 3241866"/>
              <a:gd name="connsiteY2" fmla="*/ 5546431 h 5546431"/>
              <a:gd name="connsiteX3" fmla="*/ 73243 w 3241866"/>
              <a:gd name="connsiteY3" fmla="*/ 3829175 h 5546431"/>
              <a:gd name="connsiteX4" fmla="*/ 0 w 3241866"/>
              <a:gd name="connsiteY4" fmla="*/ 1974881 h 5546431"/>
              <a:gd name="connsiteX0" fmla="*/ 0 w 3241866"/>
              <a:gd name="connsiteY0" fmla="*/ 1974881 h 5546431"/>
              <a:gd name="connsiteX1" fmla="*/ 3225740 w 3241866"/>
              <a:gd name="connsiteY1" fmla="*/ 0 h 5546431"/>
              <a:gd name="connsiteX2" fmla="*/ 3241866 w 3241866"/>
              <a:gd name="connsiteY2" fmla="*/ 5546431 h 5546431"/>
              <a:gd name="connsiteX3" fmla="*/ 73243 w 3241866"/>
              <a:gd name="connsiteY3" fmla="*/ 3829175 h 5546431"/>
              <a:gd name="connsiteX4" fmla="*/ 0 w 3241866"/>
              <a:gd name="connsiteY4" fmla="*/ 1974881 h 5546431"/>
              <a:gd name="connsiteX0" fmla="*/ 0 w 3182293"/>
              <a:gd name="connsiteY0" fmla="*/ 1701084 h 5546431"/>
              <a:gd name="connsiteX1" fmla="*/ 3166167 w 3182293"/>
              <a:gd name="connsiteY1" fmla="*/ 0 h 5546431"/>
              <a:gd name="connsiteX2" fmla="*/ 3182293 w 3182293"/>
              <a:gd name="connsiteY2" fmla="*/ 5546431 h 5546431"/>
              <a:gd name="connsiteX3" fmla="*/ 13670 w 3182293"/>
              <a:gd name="connsiteY3" fmla="*/ 3829175 h 5546431"/>
              <a:gd name="connsiteX4" fmla="*/ 0 w 3182293"/>
              <a:gd name="connsiteY4" fmla="*/ 1701084 h 554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2293" h="5546431">
                <a:moveTo>
                  <a:pt x="0" y="1701084"/>
                </a:moveTo>
                <a:cubicBezTo>
                  <a:pt x="1382121" y="1560332"/>
                  <a:pt x="2491757" y="1290485"/>
                  <a:pt x="3166167" y="0"/>
                </a:cubicBezTo>
                <a:cubicBezTo>
                  <a:pt x="3171543" y="1579693"/>
                  <a:pt x="3176917" y="3966738"/>
                  <a:pt x="3182293" y="5546431"/>
                </a:cubicBezTo>
                <a:cubicBezTo>
                  <a:pt x="2681491" y="4669468"/>
                  <a:pt x="1537809" y="3945797"/>
                  <a:pt x="13670" y="3829175"/>
                </a:cubicBezTo>
                <a:cubicBezTo>
                  <a:pt x="10462" y="3349917"/>
                  <a:pt x="3208" y="2180342"/>
                  <a:pt x="0" y="1701084"/>
                </a:cubicBezTo>
                <a:close/>
              </a:path>
            </a:pathLst>
          </a:custGeom>
          <a:gradFill>
            <a:gsLst>
              <a:gs pos="0">
                <a:srgbClr val="F1B871">
                  <a:alpha val="40145"/>
                </a:srgbClr>
              </a:gs>
              <a:gs pos="93000">
                <a:srgbClr val="F1B871">
                  <a:lumMod val="20000"/>
                  <a:lumOff val="80000"/>
                  <a:alpha val="0"/>
                </a:srgbClr>
              </a:gs>
            </a:gsLst>
            <a:lin ang="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54506FB9-6D69-5CA2-121A-C627F4089D95}"/>
              </a:ext>
            </a:extLst>
          </p:cNvPr>
          <p:cNvSpPr/>
          <p:nvPr/>
        </p:nvSpPr>
        <p:spPr>
          <a:xfrm>
            <a:off x="344774" y="1057338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BAAE29E9-2273-F52C-E33B-FFA1E78C5E93}"/>
              </a:ext>
            </a:extLst>
          </p:cNvPr>
          <p:cNvSpPr/>
          <p:nvPr/>
        </p:nvSpPr>
        <p:spPr>
          <a:xfrm>
            <a:off x="344774" y="3180891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7" name="圆角矩形 116">
            <a:extLst>
              <a:ext uri="{FF2B5EF4-FFF2-40B4-BE49-F238E27FC236}">
                <a16:creationId xmlns:a16="http://schemas.microsoft.com/office/drawing/2014/main" id="{124F5EF7-B524-7E8B-05A0-7D1EAD357CD4}"/>
              </a:ext>
            </a:extLst>
          </p:cNvPr>
          <p:cNvSpPr/>
          <p:nvPr/>
        </p:nvSpPr>
        <p:spPr>
          <a:xfrm>
            <a:off x="344774" y="4852555"/>
            <a:ext cx="9720000" cy="1548000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 cap="flat" cmpd="sng" algn="ctr">
            <a:solidFill>
              <a:srgbClr val="464F68">
                <a:lumMod val="75000"/>
                <a:alpha val="30000"/>
              </a:srgbClr>
            </a:solidFill>
            <a:prstDash val="dash"/>
            <a:miter lim="800000"/>
          </a:ln>
          <a:effectLst>
            <a:outerShdw blurRad="228600" dist="190500" dir="5400000" sx="95000" sy="95000" algn="ctr" rotWithShape="0">
              <a:srgbClr val="464F68">
                <a:lumMod val="75000"/>
                <a:alpha val="1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AE7EC0F9-1A2C-F0FE-2BF4-2065CA2BEC7F}"/>
              </a:ext>
            </a:extLst>
          </p:cNvPr>
          <p:cNvSpPr/>
          <p:nvPr/>
        </p:nvSpPr>
        <p:spPr>
          <a:xfrm>
            <a:off x="10193832" y="1057337"/>
            <a:ext cx="1294151" cy="5343217"/>
          </a:xfrm>
          <a:prstGeom prst="roundRect">
            <a:avLst>
              <a:gd name="adj" fmla="val 5293"/>
            </a:avLst>
          </a:prstGeom>
          <a:solidFill>
            <a:srgbClr val="F1B871">
              <a:lumMod val="20000"/>
              <a:lumOff val="80000"/>
            </a:srgbClr>
          </a:solidFill>
          <a:ln w="6350" cap="flat" cmpd="sng" algn="ctr">
            <a:solidFill>
              <a:srgbClr val="F1B871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19" name="圆角矩形 118">
            <a:extLst>
              <a:ext uri="{FF2B5EF4-FFF2-40B4-BE49-F238E27FC236}">
                <a16:creationId xmlns:a16="http://schemas.microsoft.com/office/drawing/2014/main" id="{80115821-138D-600A-C089-4D67C4625A7F}"/>
              </a:ext>
            </a:extLst>
          </p:cNvPr>
          <p:cNvSpPr/>
          <p:nvPr/>
        </p:nvSpPr>
        <p:spPr>
          <a:xfrm>
            <a:off x="1144703" y="1148471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0070C0"/>
              </a:gs>
              <a:gs pos="100000">
                <a:srgbClr val="0070C0">
                  <a:lumMod val="80000"/>
                  <a:lumOff val="2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0" name="右箭头 119">
            <a:extLst>
              <a:ext uri="{FF2B5EF4-FFF2-40B4-BE49-F238E27FC236}">
                <a16:creationId xmlns:a16="http://schemas.microsoft.com/office/drawing/2014/main" id="{9B68E2CB-1A1E-F85B-EC03-54D5172E906B}"/>
              </a:ext>
            </a:extLst>
          </p:cNvPr>
          <p:cNvSpPr/>
          <p:nvPr/>
        </p:nvSpPr>
        <p:spPr>
          <a:xfrm>
            <a:off x="0" y="2681481"/>
            <a:ext cx="10064774" cy="432000"/>
          </a:xfrm>
          <a:prstGeom prst="rightArrow">
            <a:avLst>
              <a:gd name="adj1" fmla="val 77196"/>
              <a:gd name="adj2" fmla="val 56516"/>
            </a:avLst>
          </a:prstGeom>
          <a:gradFill flip="none" rotWithShape="1">
            <a:gsLst>
              <a:gs pos="0">
                <a:srgbClr val="F0AB00"/>
              </a:gs>
              <a:gs pos="100000">
                <a:srgbClr val="F1B871"/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70419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6B1B499-5D48-EC84-CAA9-7E793977DE1C}"/>
              </a:ext>
            </a:extLst>
          </p:cNvPr>
          <p:cNvSpPr txBox="1"/>
          <p:nvPr/>
        </p:nvSpPr>
        <p:spPr>
          <a:xfrm>
            <a:off x="4467782" y="2810631"/>
            <a:ext cx="52578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把数据质量从被动修补，变为主动检测、预防与自修正，降低人工排查成本并提升数据可信度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22D5164-A65F-98E4-A7D2-6B2322787604}"/>
              </a:ext>
            </a:extLst>
          </p:cNvPr>
          <p:cNvSpPr txBox="1"/>
          <p:nvPr/>
        </p:nvSpPr>
        <p:spPr>
          <a:xfrm>
            <a:off x="1303225" y="1370697"/>
            <a:ext cx="184666" cy="923330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数据检查报告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F355E60-C9C3-7F20-9784-72D0C0DB427D}"/>
              </a:ext>
            </a:extLst>
          </p:cNvPr>
          <p:cNvSpPr txBox="1"/>
          <p:nvPr/>
        </p:nvSpPr>
        <p:spPr>
          <a:xfrm>
            <a:off x="495833" y="1588799"/>
            <a:ext cx="5556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2D4F6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Report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D4F6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31FF4DF-5C5C-0DF3-8BBA-DEA90440261E}"/>
              </a:ext>
            </a:extLst>
          </p:cNvPr>
          <p:cNvSpPr txBox="1"/>
          <p:nvPr/>
        </p:nvSpPr>
        <p:spPr>
          <a:xfrm>
            <a:off x="495832" y="1794157"/>
            <a:ext cx="56098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让数据不再生病，</a:t>
            </a:r>
            <a:r>
              <a:rPr kumimoji="1" lang="en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AI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做您的健康管家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A2088547-088F-AD27-10BD-C04068F7FC34}"/>
              </a:ext>
            </a:extLst>
          </p:cNvPr>
          <p:cNvSpPr/>
          <p:nvPr/>
        </p:nvSpPr>
        <p:spPr>
          <a:xfrm>
            <a:off x="1152850" y="3283477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26" name="圆角矩形 125">
            <a:extLst>
              <a:ext uri="{FF2B5EF4-FFF2-40B4-BE49-F238E27FC236}">
                <a16:creationId xmlns:a16="http://schemas.microsoft.com/office/drawing/2014/main" id="{522B8845-31FA-4D0D-7EE5-0E9A7C45B938}"/>
              </a:ext>
            </a:extLst>
          </p:cNvPr>
          <p:cNvSpPr/>
          <p:nvPr/>
        </p:nvSpPr>
        <p:spPr>
          <a:xfrm>
            <a:off x="1932903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F95B056-52F1-25E6-D866-AD17C17C6CB9}"/>
              </a:ext>
            </a:extLst>
          </p:cNvPr>
          <p:cNvSpPr txBox="1"/>
          <p:nvPr/>
        </p:nvSpPr>
        <p:spPr>
          <a:xfrm>
            <a:off x="1986243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数据采集层</a:t>
            </a:r>
          </a:p>
        </p:txBody>
      </p:sp>
      <p:sp>
        <p:nvSpPr>
          <p:cNvPr id="128" name="圆角矩形 127">
            <a:extLst>
              <a:ext uri="{FF2B5EF4-FFF2-40B4-BE49-F238E27FC236}">
                <a16:creationId xmlns:a16="http://schemas.microsoft.com/office/drawing/2014/main" id="{4849444E-048D-21BF-1321-F5478FCA1A1B}"/>
              </a:ext>
            </a:extLst>
          </p:cNvPr>
          <p:cNvSpPr/>
          <p:nvPr/>
        </p:nvSpPr>
        <p:spPr>
          <a:xfrm>
            <a:off x="325807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9F1841C-8561-67FF-36C0-FEE1BCEBFF07}"/>
              </a:ext>
            </a:extLst>
          </p:cNvPr>
          <p:cNvSpPr txBox="1"/>
          <p:nvPr/>
        </p:nvSpPr>
        <p:spPr>
          <a:xfrm>
            <a:off x="331141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存储与索引</a:t>
            </a:r>
          </a:p>
        </p:txBody>
      </p: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897194FF-A74F-4294-E699-237422222A9F}"/>
              </a:ext>
            </a:extLst>
          </p:cNvPr>
          <p:cNvSpPr/>
          <p:nvPr/>
        </p:nvSpPr>
        <p:spPr>
          <a:xfrm>
            <a:off x="4577140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7EA6B4A-9907-2997-CEFE-AE2CC8755454}"/>
              </a:ext>
            </a:extLst>
          </p:cNvPr>
          <p:cNvSpPr txBox="1"/>
          <p:nvPr/>
        </p:nvSpPr>
        <p:spPr>
          <a:xfrm>
            <a:off x="4630480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规则引擎</a:t>
            </a:r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C97AF081-8E99-9358-78A8-0F5F626267A2}"/>
              </a:ext>
            </a:extLst>
          </p:cNvPr>
          <p:cNvSpPr/>
          <p:nvPr/>
        </p:nvSpPr>
        <p:spPr>
          <a:xfrm>
            <a:off x="590629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DCB12E0-FC52-905D-E423-2D88BFAC42FA}"/>
              </a:ext>
            </a:extLst>
          </p:cNvPr>
          <p:cNvSpPr txBox="1"/>
          <p:nvPr/>
        </p:nvSpPr>
        <p:spPr>
          <a:xfrm>
            <a:off x="595963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评分与告警层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276D498B-E032-6E7E-C2B6-0FFD15FB1D6D}"/>
              </a:ext>
            </a:extLst>
          </p:cNvPr>
          <p:cNvSpPr txBox="1"/>
          <p:nvPr/>
        </p:nvSpPr>
        <p:spPr>
          <a:xfrm>
            <a:off x="1982885" y="3627476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CDC (</a:t>
            </a:r>
            <a:r>
              <a:rPr kumimoji="1" lang="en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Debezium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) / ETL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作业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7D88AC3-A42B-73E7-4A8F-AE8FD0DB4FC8}"/>
              </a:ext>
            </a:extLst>
          </p:cNvPr>
          <p:cNvSpPr txBox="1"/>
          <p:nvPr/>
        </p:nvSpPr>
        <p:spPr>
          <a:xfrm>
            <a:off x="1982885" y="4274593"/>
            <a:ext cx="9488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定期抽取或订阅变更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86A42E76-0D27-E071-1221-E1503D8A7C3A}"/>
              </a:ext>
            </a:extLst>
          </p:cNvPr>
          <p:cNvSpPr txBox="1"/>
          <p:nvPr/>
        </p:nvSpPr>
        <p:spPr>
          <a:xfrm>
            <a:off x="3309733" y="3626587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数据仓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数据湖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（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Snowflake / </a:t>
            </a:r>
            <a:r>
              <a:rPr kumimoji="1" lang="en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BigQuery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 / Hive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）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7FDB2694-D8A8-A05C-1E84-51C2F004C92D}"/>
              </a:ext>
            </a:extLst>
          </p:cNvPr>
          <p:cNvSpPr txBox="1"/>
          <p:nvPr/>
        </p:nvSpPr>
        <p:spPr>
          <a:xfrm>
            <a:off x="3277361" y="4151482"/>
            <a:ext cx="845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向量库（</a:t>
            </a: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Milvus/FAISS</a:t>
            </a:r>
            <a:r>
              <a:rPr kumimoji="1" lang="zh-CN" altLang="e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）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用于语义匹配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F378E353-7FA2-0CC8-4ABE-AFE55E1B4AD6}"/>
              </a:ext>
            </a:extLst>
          </p:cNvPr>
          <p:cNvSpPr txBox="1"/>
          <p:nvPr/>
        </p:nvSpPr>
        <p:spPr>
          <a:xfrm>
            <a:off x="4498420" y="3621064"/>
            <a:ext cx="110967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SQL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的规则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Drools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或开源规则引擎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35ACB8CE-B5A3-07AC-BC77-5B27B4C0B1A7}"/>
              </a:ext>
            </a:extLst>
          </p:cNvPr>
          <p:cNvSpPr txBox="1"/>
          <p:nvPr/>
        </p:nvSpPr>
        <p:spPr>
          <a:xfrm>
            <a:off x="4630480" y="4274593"/>
            <a:ext cx="977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高效执行结构化校验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2626960-361E-DCE3-FF40-0D7C35EA22AC}"/>
              </a:ext>
            </a:extLst>
          </p:cNvPr>
          <p:cNvSpPr txBox="1"/>
          <p:nvPr/>
        </p:nvSpPr>
        <p:spPr>
          <a:xfrm>
            <a:off x="5961158" y="3621064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健康评分计算服务 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6D9C1AB8-DE99-F2FD-A49E-6E2D1208B7D7}"/>
              </a:ext>
            </a:extLst>
          </p:cNvPr>
          <p:cNvSpPr txBox="1"/>
          <p:nvPr/>
        </p:nvSpPr>
        <p:spPr>
          <a:xfrm>
            <a:off x="5961158" y="4213038"/>
            <a:ext cx="8455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告警通道（邮件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 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钉钉 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 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企微）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7CD999E-677C-08AC-C9D9-CF4487092A54}"/>
              </a:ext>
            </a:extLst>
          </p:cNvPr>
          <p:cNvSpPr txBox="1"/>
          <p:nvPr/>
        </p:nvSpPr>
        <p:spPr>
          <a:xfrm>
            <a:off x="1311372" y="3330385"/>
            <a:ext cx="184666" cy="1301638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技术栈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&amp;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核心组件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7971326D-F859-0931-A233-85C6D9792A2E}"/>
              </a:ext>
            </a:extLst>
          </p:cNvPr>
          <p:cNvSpPr txBox="1"/>
          <p:nvPr/>
        </p:nvSpPr>
        <p:spPr>
          <a:xfrm>
            <a:off x="417863" y="3659323"/>
            <a:ext cx="7004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1B87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Tech&amp;Core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1B87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5CBAB191-B6DF-C6E3-110C-C99A2FBD08B3}"/>
              </a:ext>
            </a:extLst>
          </p:cNvPr>
          <p:cNvSpPr txBox="1"/>
          <p:nvPr/>
        </p:nvSpPr>
        <p:spPr>
          <a:xfrm>
            <a:off x="511785" y="4004731"/>
            <a:ext cx="56098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技术实现要点</a:t>
            </a:r>
          </a:p>
        </p:txBody>
      </p:sp>
      <p:sp>
        <p:nvSpPr>
          <p:cNvPr id="145" name="圆角矩形 144">
            <a:extLst>
              <a:ext uri="{FF2B5EF4-FFF2-40B4-BE49-F238E27FC236}">
                <a16:creationId xmlns:a16="http://schemas.microsoft.com/office/drawing/2014/main" id="{8C090377-593A-6BDE-A44F-5ACF04D1610E}"/>
              </a:ext>
            </a:extLst>
          </p:cNvPr>
          <p:cNvSpPr/>
          <p:nvPr/>
        </p:nvSpPr>
        <p:spPr>
          <a:xfrm>
            <a:off x="1152850" y="4959137"/>
            <a:ext cx="501710" cy="1345763"/>
          </a:xfrm>
          <a:prstGeom prst="roundRect">
            <a:avLst>
              <a:gd name="adj" fmla="val 9799"/>
            </a:avLst>
          </a:prstGeom>
          <a:gradFill flip="none" rotWithShape="1">
            <a:gsLst>
              <a:gs pos="30000">
                <a:srgbClr val="2D4F6E"/>
              </a:gs>
              <a:gs pos="100000">
                <a:srgbClr val="2D4F6E">
                  <a:lumMod val="80000"/>
                  <a:lumOff val="2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24C09DE-9F3B-8F56-9E81-0CDD3B6CE068}"/>
              </a:ext>
            </a:extLst>
          </p:cNvPr>
          <p:cNvSpPr txBox="1"/>
          <p:nvPr/>
        </p:nvSpPr>
        <p:spPr>
          <a:xfrm>
            <a:off x="1311372" y="5324242"/>
            <a:ext cx="184666" cy="615553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治理闭环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60499003-2B0E-70D9-0C48-605657A26FF7}"/>
              </a:ext>
            </a:extLst>
          </p:cNvPr>
          <p:cNvSpPr txBox="1"/>
          <p:nvPr/>
        </p:nvSpPr>
        <p:spPr>
          <a:xfrm>
            <a:off x="503980" y="5164290"/>
            <a:ext cx="7195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2D4F6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rPr>
              <a:t>Trigger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2D4F6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H" pitchFamily="18" charset="-122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B0E8896-45FF-36D2-5B0A-3F77CFC9B3BC}"/>
              </a:ext>
            </a:extLst>
          </p:cNvPr>
          <p:cNvSpPr txBox="1"/>
          <p:nvPr/>
        </p:nvSpPr>
        <p:spPr>
          <a:xfrm>
            <a:off x="503979" y="5369648"/>
            <a:ext cx="60724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周期性 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按需：日常（夜间全量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增量）体检 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+ 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事件驱动（新批量导入</a:t>
            </a:r>
            <a:r>
              <a:rPr kumimoji="1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系统变更时触发）</a:t>
            </a:r>
          </a:p>
        </p:txBody>
      </p:sp>
      <p:sp>
        <p:nvSpPr>
          <p:cNvPr id="149" name="五边形 148">
            <a:extLst>
              <a:ext uri="{FF2B5EF4-FFF2-40B4-BE49-F238E27FC236}">
                <a16:creationId xmlns:a16="http://schemas.microsoft.com/office/drawing/2014/main" id="{93C1D7E8-006E-9A5D-4D70-DB1380A94F88}"/>
              </a:ext>
            </a:extLst>
          </p:cNvPr>
          <p:cNvSpPr/>
          <p:nvPr/>
        </p:nvSpPr>
        <p:spPr>
          <a:xfrm>
            <a:off x="1850314" y="4959137"/>
            <a:ext cx="3007006" cy="288000"/>
          </a:xfrm>
          <a:prstGeom prst="homePlate">
            <a:avLst>
              <a:gd name="adj" fmla="val 17819"/>
            </a:avLst>
          </a:prstGeom>
          <a:gradFill flip="none" rotWithShape="1">
            <a:gsLst>
              <a:gs pos="32000">
                <a:srgbClr val="2D4F6E"/>
              </a:gs>
              <a:gs pos="100000">
                <a:srgbClr val="2D4F6E">
                  <a:lumMod val="80000"/>
                  <a:lumOff val="2000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0" name="燕尾形箭头 84">
            <a:extLst>
              <a:ext uri="{FF2B5EF4-FFF2-40B4-BE49-F238E27FC236}">
                <a16:creationId xmlns:a16="http://schemas.microsoft.com/office/drawing/2014/main" id="{634BA95E-5885-C746-F5DA-C2B6C29A0C04}"/>
              </a:ext>
            </a:extLst>
          </p:cNvPr>
          <p:cNvSpPr/>
          <p:nvPr/>
        </p:nvSpPr>
        <p:spPr>
          <a:xfrm>
            <a:off x="4891696" y="4959137"/>
            <a:ext cx="5042718" cy="288000"/>
          </a:xfrm>
          <a:custGeom>
            <a:avLst/>
            <a:gdLst>
              <a:gd name="connsiteX0" fmla="*/ 0 w 9015037"/>
              <a:gd name="connsiteY0" fmla="*/ 0 h 576821"/>
              <a:gd name="connsiteX1" fmla="*/ 8925509 w 9015037"/>
              <a:gd name="connsiteY1" fmla="*/ 0 h 576821"/>
              <a:gd name="connsiteX2" fmla="*/ 8925509 w 9015037"/>
              <a:gd name="connsiteY2" fmla="*/ 0 h 576821"/>
              <a:gd name="connsiteX3" fmla="*/ 9015037 w 9015037"/>
              <a:gd name="connsiteY3" fmla="*/ 288411 h 576821"/>
              <a:gd name="connsiteX4" fmla="*/ 8925509 w 9015037"/>
              <a:gd name="connsiteY4" fmla="*/ 576821 h 576821"/>
              <a:gd name="connsiteX5" fmla="*/ 8925509 w 9015037"/>
              <a:gd name="connsiteY5" fmla="*/ 576821 h 576821"/>
              <a:gd name="connsiteX6" fmla="*/ 0 w 9015037"/>
              <a:gd name="connsiteY6" fmla="*/ 576821 h 576821"/>
              <a:gd name="connsiteX7" fmla="*/ 89528 w 9015037"/>
              <a:gd name="connsiteY7" fmla="*/ 288411 h 576821"/>
              <a:gd name="connsiteX8" fmla="*/ 0 w 9015037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303401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281176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5509" h="576821">
                <a:moveTo>
                  <a:pt x="0" y="0"/>
                </a:moveTo>
                <a:lnTo>
                  <a:pt x="8925509" y="0"/>
                </a:lnTo>
                <a:lnTo>
                  <a:pt x="8925509" y="0"/>
                </a:lnTo>
                <a:cubicBezTo>
                  <a:pt x="8925371" y="101134"/>
                  <a:pt x="8925234" y="180042"/>
                  <a:pt x="8925096" y="281176"/>
                </a:cubicBezTo>
                <a:cubicBezTo>
                  <a:pt x="8925234" y="372316"/>
                  <a:pt x="8925371" y="485681"/>
                  <a:pt x="8925509" y="576821"/>
                </a:cubicBezTo>
                <a:lnTo>
                  <a:pt x="8925509" y="576821"/>
                </a:lnTo>
                <a:lnTo>
                  <a:pt x="0" y="576821"/>
                </a:lnTo>
                <a:lnTo>
                  <a:pt x="89528" y="2884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1000">
                <a:srgbClr val="2D4F6E"/>
              </a:gs>
              <a:gs pos="4000">
                <a:srgbClr val="2D4F6E">
                  <a:lumMod val="80000"/>
                  <a:lumOff val="20000"/>
                </a:srgbClr>
              </a:gs>
            </a:gsLst>
            <a:lin ang="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BBB5B2B-C48D-AE0E-5E99-A1253EDDE5AD}"/>
              </a:ext>
            </a:extLst>
          </p:cNvPr>
          <p:cNvSpPr txBox="1"/>
          <p:nvPr/>
        </p:nvSpPr>
        <p:spPr>
          <a:xfrm>
            <a:off x="2886463" y="5015293"/>
            <a:ext cx="934708" cy="175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自动化流程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A255D7D4-A708-B227-09A0-901245B8FB5F}"/>
              </a:ext>
            </a:extLst>
          </p:cNvPr>
          <p:cNvSpPr txBox="1"/>
          <p:nvPr/>
        </p:nvSpPr>
        <p:spPr>
          <a:xfrm>
            <a:off x="6176759" y="5015293"/>
            <a:ext cx="2472592" cy="175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自动修正策略（示例）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A4F18963-E444-F7D1-1FFA-5B8CD738C236}"/>
              </a:ext>
            </a:extLst>
          </p:cNvPr>
          <p:cNvSpPr/>
          <p:nvPr/>
        </p:nvSpPr>
        <p:spPr>
          <a:xfrm>
            <a:off x="1850314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636B0C38-018F-3C13-170F-F2105C9A2CDE}"/>
              </a:ext>
            </a:extLst>
          </p:cNvPr>
          <p:cNvSpPr/>
          <p:nvPr/>
        </p:nvSpPr>
        <p:spPr>
          <a:xfrm>
            <a:off x="2633089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AC78FB6-1F12-8262-E06F-B1F5FD46AAE5}"/>
              </a:ext>
            </a:extLst>
          </p:cNvPr>
          <p:cNvSpPr/>
          <p:nvPr/>
        </p:nvSpPr>
        <p:spPr>
          <a:xfrm>
            <a:off x="3415864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360305D-C5D6-5980-2E06-F81463D5F396}"/>
              </a:ext>
            </a:extLst>
          </p:cNvPr>
          <p:cNvSpPr/>
          <p:nvPr/>
        </p:nvSpPr>
        <p:spPr>
          <a:xfrm>
            <a:off x="4198640" y="5393801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D11ED8E-E1F7-1B38-49CB-1B43803C17CE}"/>
              </a:ext>
            </a:extLst>
          </p:cNvPr>
          <p:cNvSpPr/>
          <p:nvPr/>
        </p:nvSpPr>
        <p:spPr>
          <a:xfrm>
            <a:off x="1850314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308BE799-A62A-2CA8-F11F-CD38A7CD61AD}"/>
              </a:ext>
            </a:extLst>
          </p:cNvPr>
          <p:cNvSpPr/>
          <p:nvPr/>
        </p:nvSpPr>
        <p:spPr>
          <a:xfrm>
            <a:off x="2633089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1E5FAB30-592C-9CD1-BC0E-4EED429B0BD8}"/>
              </a:ext>
            </a:extLst>
          </p:cNvPr>
          <p:cNvSpPr/>
          <p:nvPr/>
        </p:nvSpPr>
        <p:spPr>
          <a:xfrm>
            <a:off x="3415864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3FE32EF-84AF-7263-28FD-FF98A53D2AA2}"/>
              </a:ext>
            </a:extLst>
          </p:cNvPr>
          <p:cNvSpPr/>
          <p:nvPr/>
        </p:nvSpPr>
        <p:spPr>
          <a:xfrm>
            <a:off x="4198640" y="6000759"/>
            <a:ext cx="654847" cy="2880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1" name="左箭头 160">
            <a:extLst>
              <a:ext uri="{FF2B5EF4-FFF2-40B4-BE49-F238E27FC236}">
                <a16:creationId xmlns:a16="http://schemas.microsoft.com/office/drawing/2014/main" id="{8BE255C5-18C3-8599-AC39-154A4143C835}"/>
              </a:ext>
            </a:extLst>
          </p:cNvPr>
          <p:cNvSpPr/>
          <p:nvPr/>
        </p:nvSpPr>
        <p:spPr>
          <a:xfrm rot="10800000">
            <a:off x="250403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2" name="左箭头 161">
            <a:extLst>
              <a:ext uri="{FF2B5EF4-FFF2-40B4-BE49-F238E27FC236}">
                <a16:creationId xmlns:a16="http://schemas.microsoft.com/office/drawing/2014/main" id="{F9EF2F97-44E2-3311-75B8-8737E635FAD7}"/>
              </a:ext>
            </a:extLst>
          </p:cNvPr>
          <p:cNvSpPr/>
          <p:nvPr/>
        </p:nvSpPr>
        <p:spPr>
          <a:xfrm rot="10800000">
            <a:off x="328688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3" name="左箭头 162">
            <a:extLst>
              <a:ext uri="{FF2B5EF4-FFF2-40B4-BE49-F238E27FC236}">
                <a16:creationId xmlns:a16="http://schemas.microsoft.com/office/drawing/2014/main" id="{CE95EA23-F7E2-40B7-B704-6D7C68A2BEA3}"/>
              </a:ext>
            </a:extLst>
          </p:cNvPr>
          <p:cNvSpPr/>
          <p:nvPr/>
        </p:nvSpPr>
        <p:spPr>
          <a:xfrm rot="10800000">
            <a:off x="4069731" y="5499656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4" name="左箭头 163">
            <a:extLst>
              <a:ext uri="{FF2B5EF4-FFF2-40B4-BE49-F238E27FC236}">
                <a16:creationId xmlns:a16="http://schemas.microsoft.com/office/drawing/2014/main" id="{EC4550A4-C29F-E6DE-C9CA-9EF168CEAFED}"/>
              </a:ext>
            </a:extLst>
          </p:cNvPr>
          <p:cNvSpPr/>
          <p:nvPr/>
        </p:nvSpPr>
        <p:spPr>
          <a:xfrm rot="16200000">
            <a:off x="4387472" y="5786403"/>
            <a:ext cx="287999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5" name="左箭头 164">
            <a:extLst>
              <a:ext uri="{FF2B5EF4-FFF2-40B4-BE49-F238E27FC236}">
                <a16:creationId xmlns:a16="http://schemas.microsoft.com/office/drawing/2014/main" id="{D5BF13EF-7D1B-7773-816E-3C67E15CA35C}"/>
              </a:ext>
            </a:extLst>
          </p:cNvPr>
          <p:cNvSpPr/>
          <p:nvPr/>
        </p:nvSpPr>
        <p:spPr>
          <a:xfrm>
            <a:off x="4084339" y="6106614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6" name="左箭头 165">
            <a:extLst>
              <a:ext uri="{FF2B5EF4-FFF2-40B4-BE49-F238E27FC236}">
                <a16:creationId xmlns:a16="http://schemas.microsoft.com/office/drawing/2014/main" id="{5C7A6990-714E-FC16-538E-A790B8F0B5F0}"/>
              </a:ext>
            </a:extLst>
          </p:cNvPr>
          <p:cNvSpPr/>
          <p:nvPr/>
        </p:nvSpPr>
        <p:spPr>
          <a:xfrm>
            <a:off x="3302473" y="6106614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7" name="左箭头 166">
            <a:extLst>
              <a:ext uri="{FF2B5EF4-FFF2-40B4-BE49-F238E27FC236}">
                <a16:creationId xmlns:a16="http://schemas.microsoft.com/office/drawing/2014/main" id="{13D2A741-69BE-0E2C-AA79-810678EF4872}"/>
              </a:ext>
            </a:extLst>
          </p:cNvPr>
          <p:cNvSpPr/>
          <p:nvPr/>
        </p:nvSpPr>
        <p:spPr>
          <a:xfrm>
            <a:off x="2521964" y="6105972"/>
            <a:ext cx="114300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8" name="左箭头 167">
            <a:extLst>
              <a:ext uri="{FF2B5EF4-FFF2-40B4-BE49-F238E27FC236}">
                <a16:creationId xmlns:a16="http://schemas.microsoft.com/office/drawing/2014/main" id="{F7823D50-AF9F-DFC2-8856-7B7E9D979AC5}"/>
              </a:ext>
            </a:extLst>
          </p:cNvPr>
          <p:cNvSpPr/>
          <p:nvPr/>
        </p:nvSpPr>
        <p:spPr>
          <a:xfrm rot="5400000">
            <a:off x="2033738" y="5824520"/>
            <a:ext cx="287999" cy="76289"/>
          </a:xfrm>
          <a:prstGeom prst="leftArrow">
            <a:avLst>
              <a:gd name="adj1" fmla="val 66648"/>
              <a:gd name="adj2" fmla="val 66648"/>
            </a:avLst>
          </a:prstGeom>
          <a:solidFill>
            <a:srgbClr val="2D4F6E"/>
          </a:soli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2D4F6E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D07410FC-EF93-727E-6198-0EED980188FC}"/>
              </a:ext>
            </a:extLst>
          </p:cNvPr>
          <p:cNvSpPr txBox="1"/>
          <p:nvPr/>
        </p:nvSpPr>
        <p:spPr>
          <a:xfrm>
            <a:off x="1905298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调度触发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09C10614-D72F-02B5-21AB-A5952BBA42BF}"/>
              </a:ext>
            </a:extLst>
          </p:cNvPr>
          <p:cNvSpPr txBox="1"/>
          <p:nvPr/>
        </p:nvSpPr>
        <p:spPr>
          <a:xfrm>
            <a:off x="2689134" y="5422994"/>
            <a:ext cx="54275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全量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/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增量采样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0AC80D5A-547C-0453-9D44-71579C381BF8}"/>
              </a:ext>
            </a:extLst>
          </p:cNvPr>
          <p:cNvSpPr txBox="1"/>
          <p:nvPr/>
        </p:nvSpPr>
        <p:spPr>
          <a:xfrm>
            <a:off x="3471909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AI 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校验引擎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EE04808-67B6-B138-53F8-DA68E51891D7}"/>
              </a:ext>
            </a:extLst>
          </p:cNvPr>
          <p:cNvSpPr txBox="1"/>
          <p:nvPr/>
        </p:nvSpPr>
        <p:spPr>
          <a:xfrm>
            <a:off x="4254685" y="5476246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评分与分级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F6790A7-912D-255F-8AFD-17CACA604EFA}"/>
              </a:ext>
            </a:extLst>
          </p:cNvPr>
          <p:cNvSpPr txBox="1"/>
          <p:nvPr/>
        </p:nvSpPr>
        <p:spPr>
          <a:xfrm>
            <a:off x="1905298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持续体检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AAF81A4D-6A70-2BB6-5369-9B33123716E9}"/>
              </a:ext>
            </a:extLst>
          </p:cNvPr>
          <p:cNvSpPr txBox="1"/>
          <p:nvPr/>
        </p:nvSpPr>
        <p:spPr>
          <a:xfrm>
            <a:off x="2689134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复检回路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3D0DE3F-7358-71E1-A1EF-84854309E7B5}"/>
              </a:ext>
            </a:extLst>
          </p:cNvPr>
          <p:cNvSpPr txBox="1"/>
          <p:nvPr/>
        </p:nvSpPr>
        <p:spPr>
          <a:xfrm>
            <a:off x="3471909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自动修正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5631D07-0FBB-A8AC-D2A3-D81797FF84E1}"/>
              </a:ext>
            </a:extLst>
          </p:cNvPr>
          <p:cNvSpPr txBox="1"/>
          <p:nvPr/>
        </p:nvSpPr>
        <p:spPr>
          <a:xfrm>
            <a:off x="4254685" y="6085549"/>
            <a:ext cx="542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自动报告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5FDF403-20A7-D242-E654-E07DA3A1FFD1}"/>
              </a:ext>
            </a:extLst>
          </p:cNvPr>
          <p:cNvSpPr/>
          <p:nvPr/>
        </p:nvSpPr>
        <p:spPr>
          <a:xfrm>
            <a:off x="5032388" y="5391481"/>
            <a:ext cx="1258946" cy="897278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7653D936-F06B-2BAB-85B5-A28E9FF881B0}"/>
              </a:ext>
            </a:extLst>
          </p:cNvPr>
          <p:cNvSpPr/>
          <p:nvPr/>
        </p:nvSpPr>
        <p:spPr>
          <a:xfrm>
            <a:off x="6393323" y="5391481"/>
            <a:ext cx="1728000" cy="8964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2D2C1B2-0736-01C1-ACD0-6B49238DED10}"/>
              </a:ext>
            </a:extLst>
          </p:cNvPr>
          <p:cNvSpPr/>
          <p:nvPr/>
        </p:nvSpPr>
        <p:spPr>
          <a:xfrm>
            <a:off x="8205748" y="5391481"/>
            <a:ext cx="1728000" cy="896400"/>
          </a:xfrm>
          <a:prstGeom prst="rect">
            <a:avLst/>
          </a:prstGeom>
          <a:noFill/>
          <a:ln w="12700" cap="flat" cmpd="sng" algn="ctr">
            <a:solidFill>
              <a:srgbClr val="2D4F6E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AC29B29-6454-4B63-FCA9-3253A687DE62}"/>
              </a:ext>
            </a:extLst>
          </p:cNvPr>
          <p:cNvSpPr txBox="1"/>
          <p:nvPr/>
        </p:nvSpPr>
        <p:spPr>
          <a:xfrm>
            <a:off x="5386958" y="5591145"/>
            <a:ext cx="6921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格式不规范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4E59CDF1-D48D-71B0-C9CF-1038CE346E86}"/>
              </a:ext>
            </a:extLst>
          </p:cNvPr>
          <p:cNvSpPr txBox="1"/>
          <p:nvPr/>
        </p:nvSpPr>
        <p:spPr>
          <a:xfrm>
            <a:off x="5139913" y="5791081"/>
            <a:ext cx="1036846" cy="466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自动用正则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脚本做标准化（如编码补零、统一大小写）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1F683D7E-93CA-CE4D-0249-7899977DED43}"/>
              </a:ext>
            </a:extLst>
          </p:cNvPr>
          <p:cNvSpPr txBox="1"/>
          <p:nvPr/>
        </p:nvSpPr>
        <p:spPr>
          <a:xfrm>
            <a:off x="6695404" y="5591145"/>
            <a:ext cx="1078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缺失可推断字段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E1876479-44D1-92A3-9DD8-8FCB133F607F}"/>
              </a:ext>
            </a:extLst>
          </p:cNvPr>
          <p:cNvSpPr txBox="1"/>
          <p:nvPr/>
        </p:nvSpPr>
        <p:spPr>
          <a:xfrm>
            <a:off x="6478860" y="5791081"/>
            <a:ext cx="1556926" cy="3066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用模型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规则基于同类物料推断（并标注“待确认”）自动填充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E887BAE-B2A3-CF95-F242-E5FDC03345CD}"/>
              </a:ext>
            </a:extLst>
          </p:cNvPr>
          <p:cNvSpPr txBox="1"/>
          <p:nvPr/>
        </p:nvSpPr>
        <p:spPr>
          <a:xfrm>
            <a:off x="8580585" y="5591145"/>
            <a:ext cx="9783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重复记录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464F68">
                  <a:lumMod val="75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20CD876-6FC3-D16D-7B3B-1F1736326405}"/>
              </a:ext>
            </a:extLst>
          </p:cNvPr>
          <p:cNvSpPr txBox="1"/>
          <p:nvPr/>
        </p:nvSpPr>
        <p:spPr>
          <a:xfrm>
            <a:off x="8291285" y="5791081"/>
            <a:ext cx="1556926" cy="3066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合并策略（保留最新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64F68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最长记录），并在合并日志中记录来源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50EE36A-BF2A-C61C-D096-220A0DA4FC9D}"/>
              </a:ext>
            </a:extLst>
          </p:cNvPr>
          <p:cNvSpPr txBox="1"/>
          <p:nvPr/>
        </p:nvSpPr>
        <p:spPr>
          <a:xfrm>
            <a:off x="10283028" y="2590943"/>
            <a:ext cx="1110907" cy="2402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1B87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健康报告指标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1B871">
                  <a:lumMod val="50000"/>
                </a:srgb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M" pitchFamily="18" charset="-122"/>
            </a:endParaRPr>
          </a:p>
        </p:txBody>
      </p:sp>
      <p:sp>
        <p:nvSpPr>
          <p:cNvPr id="187" name="圆角矩形 186">
            <a:extLst>
              <a:ext uri="{FF2B5EF4-FFF2-40B4-BE49-F238E27FC236}">
                <a16:creationId xmlns:a16="http://schemas.microsoft.com/office/drawing/2014/main" id="{172E4283-10C5-AA9C-A367-B143E474C1B5}"/>
              </a:ext>
            </a:extLst>
          </p:cNvPr>
          <p:cNvSpPr/>
          <p:nvPr/>
        </p:nvSpPr>
        <p:spPr>
          <a:xfrm>
            <a:off x="10366471" y="2976414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FDFA5105-90DB-7706-4BB4-40C6F3A4D069}"/>
              </a:ext>
            </a:extLst>
          </p:cNvPr>
          <p:cNvSpPr txBox="1"/>
          <p:nvPr/>
        </p:nvSpPr>
        <p:spPr>
          <a:xfrm>
            <a:off x="10419811" y="3064498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完整性</a:t>
            </a: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4008C366-054B-B781-1158-FAD2EE6B6AB2}"/>
              </a:ext>
            </a:extLst>
          </p:cNvPr>
          <p:cNvSpPr/>
          <p:nvPr/>
        </p:nvSpPr>
        <p:spPr>
          <a:xfrm>
            <a:off x="10363488" y="3473461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C76F5BB-1650-5B93-8AC7-5935526E30FE}"/>
              </a:ext>
            </a:extLst>
          </p:cNvPr>
          <p:cNvSpPr txBox="1"/>
          <p:nvPr/>
        </p:nvSpPr>
        <p:spPr>
          <a:xfrm>
            <a:off x="10416828" y="3561545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唯一性</a:t>
            </a:r>
          </a:p>
        </p:txBody>
      </p:sp>
      <p:sp>
        <p:nvSpPr>
          <p:cNvPr id="191" name="圆角矩形 190">
            <a:extLst>
              <a:ext uri="{FF2B5EF4-FFF2-40B4-BE49-F238E27FC236}">
                <a16:creationId xmlns:a16="http://schemas.microsoft.com/office/drawing/2014/main" id="{B07532AC-6D2B-153B-F43D-A7648DABB63F}"/>
              </a:ext>
            </a:extLst>
          </p:cNvPr>
          <p:cNvSpPr/>
          <p:nvPr/>
        </p:nvSpPr>
        <p:spPr>
          <a:xfrm>
            <a:off x="10360505" y="3970508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0861163E-7433-03D7-EE57-CA427D115091}"/>
              </a:ext>
            </a:extLst>
          </p:cNvPr>
          <p:cNvSpPr txBox="1"/>
          <p:nvPr/>
        </p:nvSpPr>
        <p:spPr>
          <a:xfrm>
            <a:off x="10413845" y="4058592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准确性</a:t>
            </a:r>
          </a:p>
        </p:txBody>
      </p:sp>
      <p:sp>
        <p:nvSpPr>
          <p:cNvPr id="193" name="圆角矩形 192">
            <a:extLst>
              <a:ext uri="{FF2B5EF4-FFF2-40B4-BE49-F238E27FC236}">
                <a16:creationId xmlns:a16="http://schemas.microsoft.com/office/drawing/2014/main" id="{DF2B234F-BF3C-2D02-972D-4B9DCEE2D87E}"/>
              </a:ext>
            </a:extLst>
          </p:cNvPr>
          <p:cNvSpPr/>
          <p:nvPr/>
        </p:nvSpPr>
        <p:spPr>
          <a:xfrm>
            <a:off x="10357522" y="4467555"/>
            <a:ext cx="948872" cy="314667"/>
          </a:xfrm>
          <a:prstGeom prst="roundRect">
            <a:avLst>
              <a:gd name="adj" fmla="val 13665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024CFBA1-DD9A-CD06-818D-E03F1F860483}"/>
              </a:ext>
            </a:extLst>
          </p:cNvPr>
          <p:cNvSpPr txBox="1"/>
          <p:nvPr/>
        </p:nvSpPr>
        <p:spPr>
          <a:xfrm>
            <a:off x="10410862" y="4555639"/>
            <a:ext cx="8421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合规性</a:t>
            </a:r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47292724-EAFE-24AB-B36B-1CF4FFB73249}"/>
              </a:ext>
            </a:extLst>
          </p:cNvPr>
          <p:cNvSpPr/>
          <p:nvPr/>
        </p:nvSpPr>
        <p:spPr>
          <a:xfrm>
            <a:off x="7208232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EC1BCC1D-5669-8E84-D2B7-7F46385F4A82}"/>
              </a:ext>
            </a:extLst>
          </p:cNvPr>
          <p:cNvSpPr txBox="1"/>
          <p:nvPr/>
        </p:nvSpPr>
        <p:spPr>
          <a:xfrm>
            <a:off x="7261572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自动修正执行层</a:t>
            </a: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741A79D2-AB44-B554-72D1-BD4D1EE9C325}"/>
              </a:ext>
            </a:extLst>
          </p:cNvPr>
          <p:cNvSpPr txBox="1"/>
          <p:nvPr/>
        </p:nvSpPr>
        <p:spPr>
          <a:xfrm>
            <a:off x="7263098" y="3621064"/>
            <a:ext cx="942650" cy="252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自动化脚本</a:t>
            </a:r>
            <a:r>
              <a:rPr kumimoji="1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/</a:t>
            </a: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微服务（支持回滚）</a:t>
            </a: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1890DBF-A36E-6B19-1ADB-ED7743621527}"/>
              </a:ext>
            </a:extLst>
          </p:cNvPr>
          <p:cNvSpPr txBox="1"/>
          <p:nvPr/>
        </p:nvSpPr>
        <p:spPr>
          <a:xfrm>
            <a:off x="7263098" y="4274593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审批流（必要时）</a:t>
            </a:r>
          </a:p>
        </p:txBody>
      </p:sp>
      <p:sp>
        <p:nvSpPr>
          <p:cNvPr id="199" name="圆角矩形 198">
            <a:extLst>
              <a:ext uri="{FF2B5EF4-FFF2-40B4-BE49-F238E27FC236}">
                <a16:creationId xmlns:a16="http://schemas.microsoft.com/office/drawing/2014/main" id="{EEF5AAAD-D24C-93CD-54A7-DB9714A057F1}"/>
              </a:ext>
            </a:extLst>
          </p:cNvPr>
          <p:cNvSpPr/>
          <p:nvPr/>
        </p:nvSpPr>
        <p:spPr>
          <a:xfrm>
            <a:off x="8489911" y="3283477"/>
            <a:ext cx="948872" cy="25483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rgbClr val="FFC000"/>
              </a:gs>
              <a:gs pos="99000">
                <a:srgbClr val="FFC000">
                  <a:lumMod val="70000"/>
                  <a:lumOff val="3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81000" dist="190500" dir="5400000" sx="90000" sy="90000" algn="ctr" rotWithShape="0">
              <a:srgbClr val="F1B871">
                <a:alpha val="3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661A41A2-0FD3-A1C6-B332-AC9C13BB4A67}"/>
              </a:ext>
            </a:extLst>
          </p:cNvPr>
          <p:cNvSpPr txBox="1"/>
          <p:nvPr/>
        </p:nvSpPr>
        <p:spPr>
          <a:xfrm>
            <a:off x="8543251" y="3349340"/>
            <a:ext cx="84219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M" pitchFamily="18" charset="-122"/>
              </a:rPr>
              <a:t>监控与可视化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6002472-B852-EEEE-B789-F648173251CD}"/>
              </a:ext>
            </a:extLst>
          </p:cNvPr>
          <p:cNvSpPr txBox="1"/>
          <p:nvPr/>
        </p:nvSpPr>
        <p:spPr>
          <a:xfrm>
            <a:off x="8541572" y="3621064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Dashboards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1707EA1-B6CA-2464-B844-DA042D4A722A}"/>
              </a:ext>
            </a:extLst>
          </p:cNvPr>
          <p:cNvSpPr txBox="1"/>
          <p:nvPr/>
        </p:nvSpPr>
        <p:spPr>
          <a:xfrm>
            <a:off x="8541572" y="3732656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健康仪表盘</a:t>
            </a:r>
            <a:endParaRPr kumimoji="1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OPPOSans R" pitchFamily="18" charset="-122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1C17A737-B4A4-8188-BFE5-99431899A52B}"/>
              </a:ext>
            </a:extLst>
          </p:cNvPr>
          <p:cNvSpPr txBox="1"/>
          <p:nvPr/>
        </p:nvSpPr>
        <p:spPr>
          <a:xfrm>
            <a:off x="8541572" y="4274593"/>
            <a:ext cx="8455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R" pitchFamily="18" charset="-122"/>
              </a:rPr>
              <a:t>问题明细与趋势</a:t>
            </a:r>
          </a:p>
        </p:txBody>
      </p:sp>
      <p:pic>
        <p:nvPicPr>
          <p:cNvPr id="204" name="图片 203">
            <a:extLst>
              <a:ext uri="{FF2B5EF4-FFF2-40B4-BE49-F238E27FC236}">
                <a16:creationId xmlns:a16="http://schemas.microsoft.com/office/drawing/2014/main" id="{5C395D94-2BDC-EF6B-716F-40426AA2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88" y="1867339"/>
            <a:ext cx="2425615" cy="723165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pic>
        <p:nvPicPr>
          <p:cNvPr id="205" name="图片 204">
            <a:extLst>
              <a:ext uri="{FF2B5EF4-FFF2-40B4-BE49-F238E27FC236}">
                <a16:creationId xmlns:a16="http://schemas.microsoft.com/office/drawing/2014/main" id="{8DE548AD-85FC-C68F-8C5F-2AB0FA9F8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206" y="1120890"/>
            <a:ext cx="5635914" cy="667859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pic>
        <p:nvPicPr>
          <p:cNvPr id="206" name="图片 205">
            <a:extLst>
              <a:ext uri="{FF2B5EF4-FFF2-40B4-BE49-F238E27FC236}">
                <a16:creationId xmlns:a16="http://schemas.microsoft.com/office/drawing/2014/main" id="{85FB3C97-FE7F-F73E-CABE-6A2709179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897" y="1850544"/>
            <a:ext cx="3344092" cy="712954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04A93922-A65E-954D-834A-4A169F82363F}"/>
              </a:ext>
            </a:extLst>
          </p:cNvPr>
          <p:cNvGrpSpPr>
            <a:grpSpLocks noChangeAspect="1"/>
          </p:cNvGrpSpPr>
          <p:nvPr/>
        </p:nvGrpSpPr>
        <p:grpSpPr>
          <a:xfrm>
            <a:off x="5109460" y="1864892"/>
            <a:ext cx="663674" cy="756000"/>
            <a:chOff x="1126931" y="1779359"/>
            <a:chExt cx="3962310" cy="4513469"/>
          </a:xfrm>
        </p:grpSpPr>
        <p:grpSp>
          <p:nvGrpSpPr>
            <p:cNvPr id="208" name="图形 12">
              <a:extLst>
                <a:ext uri="{FF2B5EF4-FFF2-40B4-BE49-F238E27FC236}">
                  <a16:creationId xmlns:a16="http://schemas.microsoft.com/office/drawing/2014/main" id="{D9B8FC6A-D688-1512-4452-A9C67FA2C858}"/>
                </a:ext>
              </a:extLst>
            </p:cNvPr>
            <p:cNvGrpSpPr/>
            <p:nvPr/>
          </p:nvGrpSpPr>
          <p:grpSpPr>
            <a:xfrm>
              <a:off x="1147745" y="1884644"/>
              <a:ext cx="3742439" cy="3737808"/>
              <a:chOff x="1462078" y="1774570"/>
              <a:chExt cx="3742439" cy="3737808"/>
            </a:xfrm>
            <a:solidFill>
              <a:srgbClr val="000000"/>
            </a:solidFill>
          </p:grpSpPr>
          <p:sp>
            <p:nvSpPr>
              <p:cNvPr id="218" name="任意形状 217">
                <a:extLst>
                  <a:ext uri="{FF2B5EF4-FFF2-40B4-BE49-F238E27FC236}">
                    <a16:creationId xmlns:a16="http://schemas.microsoft.com/office/drawing/2014/main" id="{7603DC6C-B276-EC4C-6D04-4F906287DD30}"/>
                  </a:ext>
                </a:extLst>
              </p:cNvPr>
              <p:cNvSpPr/>
              <p:nvPr/>
            </p:nvSpPr>
            <p:spPr>
              <a:xfrm>
                <a:off x="1462078" y="1776396"/>
                <a:ext cx="2001807" cy="3005061"/>
              </a:xfrm>
              <a:custGeom>
                <a:avLst/>
                <a:gdLst>
                  <a:gd name="connsiteX0" fmla="*/ 387498 w 2001807"/>
                  <a:gd name="connsiteY0" fmla="*/ 3005062 h 3005061"/>
                  <a:gd name="connsiteX1" fmla="*/ 0 w 2001807"/>
                  <a:gd name="connsiteY1" fmla="*/ 1864772 h 3005061"/>
                  <a:gd name="connsiteX2" fmla="*/ 497286 w 2001807"/>
                  <a:gd name="connsiteY2" fmla="*/ 594432 h 3005061"/>
                  <a:gd name="connsiteX3" fmla="*/ 1714995 w 2001807"/>
                  <a:gd name="connsiteY3" fmla="*/ 0 h 3005061"/>
                  <a:gd name="connsiteX4" fmla="*/ 2001808 w 2001807"/>
                  <a:gd name="connsiteY4" fmla="*/ 435034 h 3005061"/>
                  <a:gd name="connsiteX5" fmla="*/ 1796636 w 2001807"/>
                  <a:gd name="connsiteY5" fmla="*/ 984218 h 3005061"/>
                  <a:gd name="connsiteX6" fmla="*/ 987592 w 2001807"/>
                  <a:gd name="connsiteY6" fmla="*/ 1864772 h 3005061"/>
                  <a:gd name="connsiteX7" fmla="*/ 1170231 w 2001807"/>
                  <a:gd name="connsiteY7" fmla="*/ 2402845 h 3005061"/>
                  <a:gd name="connsiteX8" fmla="*/ 667974 w 2001807"/>
                  <a:gd name="connsiteY8" fmla="*/ 2568217 h 3005061"/>
                  <a:gd name="connsiteX9" fmla="*/ 387498 w 2001807"/>
                  <a:gd name="connsiteY9" fmla="*/ 3005062 h 300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01807" h="3005061">
                    <a:moveTo>
                      <a:pt x="387498" y="3005062"/>
                    </a:moveTo>
                    <a:cubicBezTo>
                      <a:pt x="134000" y="2675568"/>
                      <a:pt x="0" y="2281272"/>
                      <a:pt x="0" y="1864772"/>
                    </a:cubicBezTo>
                    <a:cubicBezTo>
                      <a:pt x="0" y="1392275"/>
                      <a:pt x="176614" y="941126"/>
                      <a:pt x="497286" y="594432"/>
                    </a:cubicBezTo>
                    <a:cubicBezTo>
                      <a:pt x="816031" y="249795"/>
                      <a:pt x="1248498" y="38697"/>
                      <a:pt x="1714995" y="0"/>
                    </a:cubicBezTo>
                    <a:lnTo>
                      <a:pt x="2001808" y="435034"/>
                    </a:lnTo>
                    <a:lnTo>
                      <a:pt x="1796636" y="984218"/>
                    </a:lnTo>
                    <a:cubicBezTo>
                      <a:pt x="1342977" y="1021845"/>
                      <a:pt x="987592" y="1408636"/>
                      <a:pt x="987592" y="1864772"/>
                    </a:cubicBezTo>
                    <a:cubicBezTo>
                      <a:pt x="987592" y="2061483"/>
                      <a:pt x="1050749" y="2247546"/>
                      <a:pt x="1170231" y="2402845"/>
                    </a:cubicBezTo>
                    <a:lnTo>
                      <a:pt x="667974" y="2568217"/>
                    </a:lnTo>
                    <a:lnTo>
                      <a:pt x="387498" y="3005062"/>
                    </a:lnTo>
                    <a:close/>
                  </a:path>
                </a:pathLst>
              </a:custGeom>
              <a:solidFill>
                <a:srgbClr val="2D4F6E"/>
              </a:soli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666666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19" name="任意形状 218">
                <a:extLst>
                  <a:ext uri="{FF2B5EF4-FFF2-40B4-BE49-F238E27FC236}">
                    <a16:creationId xmlns:a16="http://schemas.microsoft.com/office/drawing/2014/main" id="{B2B07EFA-C8DD-A5E9-1A21-F3E3F277678E}"/>
                  </a:ext>
                </a:extLst>
              </p:cNvPr>
              <p:cNvSpPr/>
              <p:nvPr/>
            </p:nvSpPr>
            <p:spPr>
              <a:xfrm>
                <a:off x="2064396" y="4290711"/>
                <a:ext cx="2517658" cy="1221667"/>
              </a:xfrm>
              <a:custGeom>
                <a:avLst/>
                <a:gdLst>
                  <a:gd name="connsiteX0" fmla="*/ 1268914 w 2517658"/>
                  <a:gd name="connsiteY0" fmla="*/ 1221668 h 1221667"/>
                  <a:gd name="connsiteX1" fmla="*/ 0 w 2517658"/>
                  <a:gd name="connsiteY1" fmla="*/ 725732 h 1221667"/>
                  <a:gd name="connsiteX2" fmla="*/ 170903 w 2517658"/>
                  <a:gd name="connsiteY2" fmla="*/ 193979 h 1221667"/>
                  <a:gd name="connsiteX3" fmla="*/ 669834 w 2517658"/>
                  <a:gd name="connsiteY3" fmla="*/ 0 h 1221667"/>
                  <a:gd name="connsiteX4" fmla="*/ 1268914 w 2517658"/>
                  <a:gd name="connsiteY4" fmla="*/ 234076 h 1221667"/>
                  <a:gd name="connsiteX5" fmla="*/ 1858424 w 2517658"/>
                  <a:gd name="connsiteY5" fmla="*/ 8707 h 1221667"/>
                  <a:gd name="connsiteX6" fmla="*/ 2009855 w 2517658"/>
                  <a:gd name="connsiteY6" fmla="*/ 514009 h 1221667"/>
                  <a:gd name="connsiteX7" fmla="*/ 2517659 w 2517658"/>
                  <a:gd name="connsiteY7" fmla="*/ 744052 h 1221667"/>
                  <a:gd name="connsiteX8" fmla="*/ 1268914 w 2517658"/>
                  <a:gd name="connsiteY8" fmla="*/ 1221668 h 1221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7658" h="1221667">
                    <a:moveTo>
                      <a:pt x="1268914" y="1221668"/>
                    </a:moveTo>
                    <a:cubicBezTo>
                      <a:pt x="797151" y="1221668"/>
                      <a:pt x="346513" y="1045531"/>
                      <a:pt x="0" y="725732"/>
                    </a:cubicBezTo>
                    <a:lnTo>
                      <a:pt x="170903" y="193979"/>
                    </a:lnTo>
                    <a:lnTo>
                      <a:pt x="669834" y="0"/>
                    </a:lnTo>
                    <a:cubicBezTo>
                      <a:pt x="833380" y="150953"/>
                      <a:pt x="1046130" y="234076"/>
                      <a:pt x="1268914" y="234076"/>
                    </a:cubicBezTo>
                    <a:cubicBezTo>
                      <a:pt x="1486958" y="234076"/>
                      <a:pt x="1696311" y="154031"/>
                      <a:pt x="1858424" y="8707"/>
                    </a:cubicBezTo>
                    <a:lnTo>
                      <a:pt x="2009855" y="514009"/>
                    </a:lnTo>
                    <a:lnTo>
                      <a:pt x="2517659" y="744052"/>
                    </a:lnTo>
                    <a:cubicBezTo>
                      <a:pt x="2174108" y="1052049"/>
                      <a:pt x="1730630" y="1221668"/>
                      <a:pt x="1268914" y="1221668"/>
                    </a:cubicBezTo>
                  </a:path>
                </a:pathLst>
              </a:custGeom>
              <a:gradFill flip="none" rotWithShape="1">
                <a:gsLst>
                  <a:gs pos="30000">
                    <a:srgbClr val="F0AB00"/>
                  </a:gs>
                  <a:gs pos="100000">
                    <a:srgbClr val="F0AB00">
                      <a:lumMod val="80000"/>
                      <a:lumOff val="20000"/>
                    </a:srgbClr>
                  </a:gs>
                </a:gsLst>
                <a:lin ang="13500000" scaled="1"/>
                <a:tileRect/>
              </a:gra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F0AB00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  <p:sp>
            <p:nvSpPr>
              <p:cNvPr id="220" name="任意形状 219">
                <a:extLst>
                  <a:ext uri="{FF2B5EF4-FFF2-40B4-BE49-F238E27FC236}">
                    <a16:creationId xmlns:a16="http://schemas.microsoft.com/office/drawing/2014/main" id="{9393A4BD-5C78-9BC4-AB09-D3916281CDC9}"/>
                  </a:ext>
                </a:extLst>
              </p:cNvPr>
              <p:cNvSpPr/>
              <p:nvPr/>
            </p:nvSpPr>
            <p:spPr>
              <a:xfrm>
                <a:off x="3396516" y="1774570"/>
                <a:ext cx="1808001" cy="3046297"/>
              </a:xfrm>
              <a:custGeom>
                <a:avLst/>
                <a:gdLst>
                  <a:gd name="connsiteX0" fmla="*/ 1389462 w 1808001"/>
                  <a:gd name="connsiteY0" fmla="*/ 3046297 h 3046297"/>
                  <a:gd name="connsiteX1" fmla="*/ 811079 w 1808001"/>
                  <a:gd name="connsiteY1" fmla="*/ 2940296 h 3046297"/>
                  <a:gd name="connsiteX2" fmla="*/ 623124 w 1808001"/>
                  <a:gd name="connsiteY2" fmla="*/ 2423341 h 3046297"/>
                  <a:gd name="connsiteX3" fmla="*/ 820527 w 1808001"/>
                  <a:gd name="connsiteY3" fmla="*/ 1866602 h 3046297"/>
                  <a:gd name="connsiteX4" fmla="*/ 118 w 1808001"/>
                  <a:gd name="connsiteY4" fmla="*/ 985173 h 3046297"/>
                  <a:gd name="connsiteX5" fmla="*/ 228581 w 1808001"/>
                  <a:gd name="connsiteY5" fmla="*/ 483328 h 3046297"/>
                  <a:gd name="connsiteX6" fmla="*/ 69200 w 1808001"/>
                  <a:gd name="connsiteY6" fmla="*/ 0 h 3046297"/>
                  <a:gd name="connsiteX7" fmla="*/ 1303130 w 1808001"/>
                  <a:gd name="connsiteY7" fmla="*/ 587979 h 3046297"/>
                  <a:gd name="connsiteX8" fmla="*/ 1808119 w 1808001"/>
                  <a:gd name="connsiteY8" fmla="*/ 1866602 h 3046297"/>
                  <a:gd name="connsiteX9" fmla="*/ 1389462 w 1808001"/>
                  <a:gd name="connsiteY9" fmla="*/ 3046297 h 304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8001" h="3046297">
                    <a:moveTo>
                      <a:pt x="1389462" y="3046297"/>
                    </a:moveTo>
                    <a:lnTo>
                      <a:pt x="811079" y="2940296"/>
                    </a:lnTo>
                    <a:lnTo>
                      <a:pt x="623124" y="2423341"/>
                    </a:lnTo>
                    <a:cubicBezTo>
                      <a:pt x="752268" y="2264470"/>
                      <a:pt x="820527" y="2071955"/>
                      <a:pt x="820527" y="1866602"/>
                    </a:cubicBezTo>
                    <a:cubicBezTo>
                      <a:pt x="820527" y="1404603"/>
                      <a:pt x="460171" y="1017434"/>
                      <a:pt x="118" y="985173"/>
                    </a:cubicBezTo>
                    <a:lnTo>
                      <a:pt x="228581" y="483328"/>
                    </a:lnTo>
                    <a:lnTo>
                      <a:pt x="69200" y="0"/>
                    </a:lnTo>
                    <a:cubicBezTo>
                      <a:pt x="540923" y="33084"/>
                      <a:pt x="979151" y="241894"/>
                      <a:pt x="1303130" y="587979"/>
                    </a:cubicBezTo>
                    <a:cubicBezTo>
                      <a:pt x="1628789" y="935826"/>
                      <a:pt x="1808119" y="1389921"/>
                      <a:pt x="1808119" y="1866602"/>
                    </a:cubicBezTo>
                    <a:cubicBezTo>
                      <a:pt x="1808119" y="2295217"/>
                      <a:pt x="1659437" y="2714170"/>
                      <a:pt x="1389462" y="3046297"/>
                    </a:cubicBezTo>
                  </a:path>
                </a:pathLst>
              </a:custGeom>
              <a:gradFill flip="none" rotWithShape="1">
                <a:gsLst>
                  <a:gs pos="30000">
                    <a:srgbClr val="008FD3"/>
                  </a:gs>
                  <a:gs pos="100000">
                    <a:srgbClr val="008FD3">
                      <a:lumMod val="80000"/>
                      <a:lumOff val="20000"/>
                    </a:srgbClr>
                  </a:gs>
                </a:gsLst>
                <a:lin ang="13500000" scaled="1"/>
                <a:tileRect/>
              </a:gradFill>
              <a:ln w="19050" cap="flat" cmpd="sng" algn="ctr">
                <a:noFill/>
                <a:prstDash val="solid"/>
              </a:ln>
              <a:effectLst>
                <a:outerShdw blurRad="381000" dist="190500" dir="5400000" sx="90000" sy="90000" algn="ctr" rotWithShape="0">
                  <a:srgbClr val="008FD3">
                    <a:alpha val="3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2DA613D2-54D5-DEFC-37E1-ECDF46F602D0}"/>
                </a:ext>
              </a:extLst>
            </p:cNvPr>
            <p:cNvSpPr/>
            <p:nvPr/>
          </p:nvSpPr>
          <p:spPr>
            <a:xfrm>
              <a:off x="1735249" y="6076340"/>
              <a:ext cx="2693868" cy="216488"/>
            </a:xfrm>
            <a:prstGeom prst="ellipse">
              <a:avLst/>
            </a:prstGeom>
            <a:solidFill>
              <a:srgbClr val="999999">
                <a:lumMod val="60000"/>
                <a:lumOff val="40000"/>
                <a:alpha val="40000"/>
              </a:srgbClr>
            </a:solidFill>
            <a:ln w="19050" cap="flat" cmpd="sng" algn="ctr">
              <a:noFill/>
              <a:prstDash val="solid"/>
            </a:ln>
            <a:effectLst>
              <a:softEdge rad="76200"/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0" name="任意形状 209">
              <a:extLst>
                <a:ext uri="{FF2B5EF4-FFF2-40B4-BE49-F238E27FC236}">
                  <a16:creationId xmlns:a16="http://schemas.microsoft.com/office/drawing/2014/main" id="{C97F2B72-14BD-0612-574C-AF50B4784E57}"/>
                </a:ext>
              </a:extLst>
            </p:cNvPr>
            <p:cNvSpPr/>
            <p:nvPr/>
          </p:nvSpPr>
          <p:spPr>
            <a:xfrm>
              <a:off x="4359266" y="2196966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9000">
                    <a:srgbClr val="008FD3">
                      <a:alpha val="0"/>
                    </a:srgbClr>
                  </a:gs>
                  <a:gs pos="78000">
                    <a:srgbClr val="008FD3"/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1" name="任意形状 210">
              <a:extLst>
                <a:ext uri="{FF2B5EF4-FFF2-40B4-BE49-F238E27FC236}">
                  <a16:creationId xmlns:a16="http://schemas.microsoft.com/office/drawing/2014/main" id="{F07FE7DE-4354-2C3E-F84F-501F7B29FB4E}"/>
                </a:ext>
              </a:extLst>
            </p:cNvPr>
            <p:cNvSpPr/>
            <p:nvPr/>
          </p:nvSpPr>
          <p:spPr>
            <a:xfrm rot="5958898">
              <a:off x="2710118" y="4256148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11000">
                    <a:srgbClr val="F0AB00">
                      <a:alpha val="0"/>
                    </a:srgbClr>
                  </a:gs>
                  <a:gs pos="78000">
                    <a:srgbClr val="F0AB00">
                      <a:alpha val="66000"/>
                    </a:srgbClr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2" name="任意形状 211">
              <a:extLst>
                <a:ext uri="{FF2B5EF4-FFF2-40B4-BE49-F238E27FC236}">
                  <a16:creationId xmlns:a16="http://schemas.microsoft.com/office/drawing/2014/main" id="{C5B94016-C8BB-EEB4-7F34-6377DBCDC074}"/>
                </a:ext>
              </a:extLst>
            </p:cNvPr>
            <p:cNvSpPr/>
            <p:nvPr/>
          </p:nvSpPr>
          <p:spPr>
            <a:xfrm rot="13054194">
              <a:off x="1126931" y="1779359"/>
              <a:ext cx="729975" cy="2441316"/>
            </a:xfrm>
            <a:custGeom>
              <a:avLst/>
              <a:gdLst>
                <a:gd name="connsiteX0" fmla="*/ 0 w 816792"/>
                <a:gd name="connsiteY0" fmla="*/ 0 h 3239162"/>
                <a:gd name="connsiteX1" fmla="*/ 814387 w 816792"/>
                <a:gd name="connsiteY1" fmla="*/ 1485900 h 3239162"/>
                <a:gd name="connsiteX2" fmla="*/ 371475 w 816792"/>
                <a:gd name="connsiteY2" fmla="*/ 2928937 h 3239162"/>
                <a:gd name="connsiteX0" fmla="*/ 0 w 823654"/>
                <a:gd name="connsiteY0" fmla="*/ 0 h 2928937"/>
                <a:gd name="connsiteX1" fmla="*/ 814387 w 823654"/>
                <a:gd name="connsiteY1" fmla="*/ 1485900 h 2928937"/>
                <a:gd name="connsiteX2" fmla="*/ 371475 w 823654"/>
                <a:gd name="connsiteY2" fmla="*/ 2928937 h 2928937"/>
                <a:gd name="connsiteX0" fmla="*/ 0 w 825077"/>
                <a:gd name="connsiteY0" fmla="*/ 0 h 2743200"/>
                <a:gd name="connsiteX1" fmla="*/ 814387 w 825077"/>
                <a:gd name="connsiteY1" fmla="*/ 1485900 h 2743200"/>
                <a:gd name="connsiteX2" fmla="*/ 414338 w 825077"/>
                <a:gd name="connsiteY2" fmla="*/ 2743200 h 2743200"/>
                <a:gd name="connsiteX0" fmla="*/ 0 w 704900"/>
                <a:gd name="connsiteY0" fmla="*/ 0 h 2743200"/>
                <a:gd name="connsiteX1" fmla="*/ 685800 w 704900"/>
                <a:gd name="connsiteY1" fmla="*/ 1328738 h 2743200"/>
                <a:gd name="connsiteX2" fmla="*/ 414338 w 704900"/>
                <a:gd name="connsiteY2" fmla="*/ 2743200 h 274320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904925"/>
                <a:gd name="connsiteY0" fmla="*/ 0 h 2686050"/>
                <a:gd name="connsiteX1" fmla="*/ 885825 w 904925"/>
                <a:gd name="connsiteY1" fmla="*/ 1271588 h 2686050"/>
                <a:gd name="connsiteX2" fmla="*/ 614363 w 904925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44851"/>
                <a:gd name="connsiteY0" fmla="*/ 0 h 2686050"/>
                <a:gd name="connsiteX1" fmla="*/ 814388 w 844851"/>
                <a:gd name="connsiteY1" fmla="*/ 1228725 h 2686050"/>
                <a:gd name="connsiteX2" fmla="*/ 614363 w 844851"/>
                <a:gd name="connsiteY2" fmla="*/ 2686050 h 2686050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837090"/>
                <a:gd name="connsiteY0" fmla="*/ 0 h 2643187"/>
                <a:gd name="connsiteX1" fmla="*/ 814388 w 837090"/>
                <a:gd name="connsiteY1" fmla="*/ 1228725 h 2643187"/>
                <a:gd name="connsiteX2" fmla="*/ 571500 w 837090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93282"/>
                <a:gd name="connsiteY0" fmla="*/ 0 h 2643187"/>
                <a:gd name="connsiteX1" fmla="*/ 760144 w 793282"/>
                <a:gd name="connsiteY1" fmla="*/ 1244223 h 2643187"/>
                <a:gd name="connsiteX2" fmla="*/ 571500 w 793282"/>
                <a:gd name="connsiteY2" fmla="*/ 2643187 h 2643187"/>
                <a:gd name="connsiteX0" fmla="*/ 0 w 789840"/>
                <a:gd name="connsiteY0" fmla="*/ 0 h 2643187"/>
                <a:gd name="connsiteX1" fmla="*/ 760144 w 789840"/>
                <a:gd name="connsiteY1" fmla="*/ 1244223 h 2643187"/>
                <a:gd name="connsiteX2" fmla="*/ 571500 w 789840"/>
                <a:gd name="connsiteY2" fmla="*/ 2643187 h 2643187"/>
                <a:gd name="connsiteX0" fmla="*/ 0 w 783928"/>
                <a:gd name="connsiteY0" fmla="*/ 0 h 2643187"/>
                <a:gd name="connsiteX1" fmla="*/ 760144 w 783928"/>
                <a:gd name="connsiteY1" fmla="*/ 1244223 h 2643187"/>
                <a:gd name="connsiteX2" fmla="*/ 571500 w 783928"/>
                <a:gd name="connsiteY2" fmla="*/ 2643187 h 2643187"/>
                <a:gd name="connsiteX0" fmla="*/ 0 w 797482"/>
                <a:gd name="connsiteY0" fmla="*/ 0 h 2643187"/>
                <a:gd name="connsiteX1" fmla="*/ 760144 w 797482"/>
                <a:gd name="connsiteY1" fmla="*/ 1244223 h 2643187"/>
                <a:gd name="connsiteX2" fmla="*/ 571500 w 797482"/>
                <a:gd name="connsiteY2" fmla="*/ 2643187 h 2643187"/>
                <a:gd name="connsiteX0" fmla="*/ 0 w 811119"/>
                <a:gd name="connsiteY0" fmla="*/ 0 h 2643187"/>
                <a:gd name="connsiteX1" fmla="*/ 760144 w 811119"/>
                <a:gd name="connsiteY1" fmla="*/ 1244223 h 2643187"/>
                <a:gd name="connsiteX2" fmla="*/ 571500 w 811119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800886"/>
                <a:gd name="connsiteY0" fmla="*/ 0 h 2643187"/>
                <a:gd name="connsiteX1" fmla="*/ 760144 w 800886"/>
                <a:gd name="connsiteY1" fmla="*/ 1244223 h 2643187"/>
                <a:gd name="connsiteX2" fmla="*/ 571500 w 800886"/>
                <a:gd name="connsiteY2" fmla="*/ 2643187 h 2643187"/>
                <a:gd name="connsiteX0" fmla="*/ 0 w 794084"/>
                <a:gd name="connsiteY0" fmla="*/ 0 h 2643187"/>
                <a:gd name="connsiteX1" fmla="*/ 760144 w 794084"/>
                <a:gd name="connsiteY1" fmla="*/ 1244223 h 2643187"/>
                <a:gd name="connsiteX2" fmla="*/ 571500 w 794084"/>
                <a:gd name="connsiteY2" fmla="*/ 2643187 h 2643187"/>
                <a:gd name="connsiteX0" fmla="*/ 0 w 787305"/>
                <a:gd name="connsiteY0" fmla="*/ 0 h 2643187"/>
                <a:gd name="connsiteX1" fmla="*/ 760144 w 787305"/>
                <a:gd name="connsiteY1" fmla="*/ 1244223 h 2643187"/>
                <a:gd name="connsiteX2" fmla="*/ 571500 w 787305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96758"/>
                <a:gd name="connsiteY0" fmla="*/ 0 h 2643187"/>
                <a:gd name="connsiteX1" fmla="*/ 760144 w 796758"/>
                <a:gd name="connsiteY1" fmla="*/ 1244223 h 2643187"/>
                <a:gd name="connsiteX2" fmla="*/ 571500 w 796758"/>
                <a:gd name="connsiteY2" fmla="*/ 2643187 h 2643187"/>
                <a:gd name="connsiteX0" fmla="*/ 0 w 789877"/>
                <a:gd name="connsiteY0" fmla="*/ 0 h 2643187"/>
                <a:gd name="connsiteX1" fmla="*/ 760144 w 789877"/>
                <a:gd name="connsiteY1" fmla="*/ 1244223 h 2643187"/>
                <a:gd name="connsiteX2" fmla="*/ 571500 w 789877"/>
                <a:gd name="connsiteY2" fmla="*/ 2643187 h 2643187"/>
                <a:gd name="connsiteX0" fmla="*/ 0 w 797455"/>
                <a:gd name="connsiteY0" fmla="*/ 0 h 2643187"/>
                <a:gd name="connsiteX1" fmla="*/ 760144 w 797455"/>
                <a:gd name="connsiteY1" fmla="*/ 1244223 h 2643187"/>
                <a:gd name="connsiteX2" fmla="*/ 571500 w 797455"/>
                <a:gd name="connsiteY2" fmla="*/ 2643187 h 2643187"/>
                <a:gd name="connsiteX0" fmla="*/ 0 w 790335"/>
                <a:gd name="connsiteY0" fmla="*/ 0 h 2643187"/>
                <a:gd name="connsiteX1" fmla="*/ 760144 w 790335"/>
                <a:gd name="connsiteY1" fmla="*/ 1244223 h 2643187"/>
                <a:gd name="connsiteX2" fmla="*/ 571500 w 790335"/>
                <a:gd name="connsiteY2" fmla="*/ 2643187 h 26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0335" h="2643187">
                  <a:moveTo>
                    <a:pt x="0" y="0"/>
                  </a:moveTo>
                  <a:cubicBezTo>
                    <a:pt x="490537" y="370285"/>
                    <a:pt x="696660" y="874556"/>
                    <a:pt x="760144" y="1244223"/>
                  </a:cubicBezTo>
                  <a:cubicBezTo>
                    <a:pt x="823628" y="1613890"/>
                    <a:pt x="798708" y="2194295"/>
                    <a:pt x="571500" y="2643187"/>
                  </a:cubicBezTo>
                </a:path>
              </a:pathLst>
            </a:custGeom>
            <a:noFill/>
            <a:ln w="25400" cap="rnd" cmpd="sng" algn="ctr">
              <a:gradFill>
                <a:gsLst>
                  <a:gs pos="11000">
                    <a:srgbClr val="666666">
                      <a:alpha val="0"/>
                    </a:srgbClr>
                  </a:gs>
                  <a:gs pos="78000">
                    <a:srgbClr val="666666">
                      <a:alpha val="80000"/>
                    </a:srgbClr>
                  </a:gs>
                </a:gsLst>
                <a:lin ang="1200000" scaled="0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D6F91FB2-4525-7CB9-F04D-BC65A6B1B75D}"/>
                </a:ext>
              </a:extLst>
            </p:cNvPr>
            <p:cNvSpPr txBox="1"/>
            <p:nvPr/>
          </p:nvSpPr>
          <p:spPr>
            <a:xfrm rot="1230996">
              <a:off x="1613478" y="2273697"/>
              <a:ext cx="378258" cy="2204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健康评分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97470650-D2C8-E980-F13F-455246ED6638}"/>
                </a:ext>
              </a:extLst>
            </p:cNvPr>
            <p:cNvSpPr txBox="1"/>
            <p:nvPr/>
          </p:nvSpPr>
          <p:spPr>
            <a:xfrm rot="20524706">
              <a:off x="4068594" y="2273697"/>
              <a:ext cx="378258" cy="2204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问题诊断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5549D509-04B6-5EB2-D8D3-62775950E4E0}"/>
                </a:ext>
              </a:extLst>
            </p:cNvPr>
            <p:cNvSpPr txBox="1"/>
            <p:nvPr/>
          </p:nvSpPr>
          <p:spPr>
            <a:xfrm>
              <a:off x="1913854" y="4855861"/>
              <a:ext cx="1925094" cy="5512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M" pitchFamily="18" charset="-122"/>
                </a:rPr>
                <a:t>自动修复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62090C8F-EAF1-CA1B-4A80-48BFDCB916A6}"/>
                </a:ext>
              </a:extLst>
            </p:cNvPr>
            <p:cNvSpPr txBox="1"/>
            <p:nvPr/>
          </p:nvSpPr>
          <p:spPr>
            <a:xfrm>
              <a:off x="2253377" y="3314535"/>
              <a:ext cx="1531254" cy="4593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999999">
                      <a:lumMod val="50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H" pitchFamily="18" charset="-122"/>
                </a:rPr>
                <a:t>三大报告</a:t>
              </a:r>
              <a:endParaRPr kumimoji="1" lang="zh-CN" altLang="en-US" sz="300" b="0" i="0" u="none" strike="noStrike" kern="0" cap="none" spc="0" normalizeH="0" baseline="0" noProof="0" dirty="0">
                <a:ln>
                  <a:noFill/>
                </a:ln>
                <a:solidFill>
                  <a:srgbClr val="999999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endParaRP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35752B58-24DA-BBA1-5DA7-0206B97A6C70}"/>
                </a:ext>
              </a:extLst>
            </p:cNvPr>
            <p:cNvSpPr txBox="1"/>
            <p:nvPr/>
          </p:nvSpPr>
          <p:spPr>
            <a:xfrm>
              <a:off x="2511776" y="3996463"/>
              <a:ext cx="1014456" cy="18375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" altLang="zh-CN" sz="200" b="0" i="0" u="none" strike="noStrike" kern="0" cap="none" spc="0" normalizeH="0" baseline="0" noProof="0" dirty="0">
                  <a:ln>
                    <a:noFill/>
                  </a:ln>
                  <a:solidFill>
                    <a:srgbClr val="999999">
                      <a:lumMod val="50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OPPOSans H" pitchFamily="18" charset="-122"/>
                </a:rPr>
                <a:t>THREE CORES</a:t>
              </a:r>
              <a:endParaRPr kumimoji="1" lang="zh-CN" altLang="en-US" sz="200" b="0" i="0" u="none" strike="noStrike" kern="0" cap="none" spc="0" normalizeH="0" baseline="0" noProof="0" dirty="0">
                <a:ln>
                  <a:noFill/>
                </a:ln>
                <a:solidFill>
                  <a:srgbClr val="999999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OPPOSans H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32630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515" t="1438" r="1515" b="143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77078" y="1999974"/>
            <a:ext cx="76200" cy="2286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31078" y="2063474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spc="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31078" y="2444474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31078" y="3333474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OpenMetadata 介绍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31078" y="4095474"/>
            <a:ext cx="597452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一体化开源数据治理平台，高效实现全链路数据治理目标，打通数据孤岛，提升协作效率。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78" y="4984474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88278" y="5022574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7D32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Data Governance Platform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0" y="6096000"/>
            <a:ext cx="508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304800" y="25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OpenMetadata - 一体化开源数据治理平台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04800" y="6604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5985" r="5985"/>
          <a:stretch>
            <a:fillRect/>
          </a:stretch>
        </p:blipFill>
        <p:spPr>
          <a:xfrm>
            <a:off x="4051247" y="1790700"/>
            <a:ext cx="3175000" cy="2032000"/>
          </a:xfrm>
          <a:prstGeom prst="roundRect">
            <a:avLst>
              <a:gd name="adj" fmla="val 937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4055377" y="4228229"/>
            <a:ext cx="3175000" cy="1524000"/>
          </a:xfrm>
          <a:prstGeom prst="roundRect">
            <a:avLst>
              <a:gd name="adj" fmla="val 8333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106125" y="4304429"/>
            <a:ext cx="3162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⚡ 轻量架构与极速部署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90+连接器，覆盖主流数据源</a:t>
            </a:r>
          </a:p>
          <a:p>
            <a:pPr>
              <a:lnSpc>
                <a:spcPct val="108333"/>
              </a:lnSpc>
            </a:pPr>
            <a:r>
              <a:rPr lang="en-US" altLang="zh-CN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 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API + </a:t>
            </a:r>
            <a:r>
              <a:rPr lang="zh-CN" alt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元数据存储（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MySQL/PostgreSQL + Elasticsearch）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•一键启动，支持K8s生产级集群部署</a:t>
            </a:r>
          </a:p>
        </p:txBody>
      </p:sp>
      <p:sp>
        <p:nvSpPr>
          <p:cNvPr id="9" name="AutoShape 9"/>
          <p:cNvSpPr/>
          <p:nvPr/>
        </p:nvSpPr>
        <p:spPr>
          <a:xfrm>
            <a:off x="474108" y="15993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608" y="1764429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36108" y="16882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数据发现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强大的搜索与高级查询能力，快速定位表、报表、仪表盘等数据资产。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74108" y="25518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608" y="2716929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36108" y="26407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列级血缘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可视化数据流向，支持影响分析与问题追溯，提升变更可控性。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74108" y="3504329"/>
            <a:ext cx="3302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608" y="3669429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36108" y="35932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无代码数据质量测试框架，支持规则配置与主动监控数据健康度。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74108" y="4456828"/>
            <a:ext cx="3302000" cy="991471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608" y="4621929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36108" y="4545729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提供活动流、通知、任务、公告等机制，让治理从“少数人维护”转为“团队共建”。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E172D23-4854-646F-DD4B-0618AA93B4D7}"/>
              </a:ext>
            </a:extLst>
          </p:cNvPr>
          <p:cNvSpPr txBox="1"/>
          <p:nvPr/>
        </p:nvSpPr>
        <p:spPr>
          <a:xfrm>
            <a:off x="304799" y="762000"/>
            <a:ext cx="11353801" cy="35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666"/>
              </a:lnSpc>
              <a:defRPr/>
            </a:pPr>
            <a:r>
              <a:rPr lang="zh-CN" altLang="en-US" sz="1600">
                <a:solidFill>
                  <a:srgbClr val="666666"/>
                </a:solidFill>
                <a:latin typeface="Noto Sans SC"/>
                <a:ea typeface="Noto Sans SC"/>
              </a:rPr>
              <a:t>一个集数据发现、血缘、质量和协作于一体的开源平台，架构轻量，部署快速，不止数据发现，覆盖治理全链条。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F8D93-38EE-FE13-1DD2-CBF6C4A1E2BA}"/>
              </a:ext>
            </a:extLst>
          </p:cNvPr>
          <p:cNvSpPr txBox="1"/>
          <p:nvPr/>
        </p:nvSpPr>
        <p:spPr>
          <a:xfrm>
            <a:off x="7425292" y="1179255"/>
            <a:ext cx="456353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b="1"/>
              <a:t>1) </a:t>
            </a:r>
            <a:r>
              <a:rPr lang="zh-CN" altLang="en-US" b="1"/>
              <a:t>连接器（</a:t>
            </a:r>
            <a:r>
              <a:rPr lang="en-US" altLang="zh-CN" b="1"/>
              <a:t>Connectors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从数据源</a:t>
            </a:r>
            <a:r>
              <a:rPr lang="en-US" altLang="zh-CN" sz="1100"/>
              <a:t>/</a:t>
            </a:r>
            <a:r>
              <a:rPr lang="zh-CN" altLang="en-US" sz="1100"/>
              <a:t>系统里“采集元数据”。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典型输入： 数据库（表</a:t>
            </a:r>
            <a:r>
              <a:rPr lang="en-US" altLang="zh-CN" sz="1100"/>
              <a:t>/</a:t>
            </a:r>
            <a:r>
              <a:rPr lang="zh-CN" altLang="en-US" sz="1100"/>
              <a:t>字段</a:t>
            </a:r>
            <a:r>
              <a:rPr lang="en-US" altLang="zh-CN" sz="1100"/>
              <a:t>/</a:t>
            </a:r>
            <a:r>
              <a:rPr lang="zh-CN" altLang="en-US" sz="1100"/>
              <a:t>权限）、</a:t>
            </a:r>
            <a:r>
              <a:rPr lang="en-US" altLang="zh-CN" sz="1100"/>
              <a:t>BI</a:t>
            </a:r>
            <a:r>
              <a:rPr lang="zh-CN" altLang="en-US" sz="1100"/>
              <a:t>（数据集</a:t>
            </a:r>
            <a:r>
              <a:rPr lang="en-US" altLang="zh-CN" sz="1100"/>
              <a:t>/</a:t>
            </a:r>
            <a:r>
              <a:rPr lang="zh-CN" altLang="en-US" sz="1100"/>
              <a:t>仪表盘）、数据管道</a:t>
            </a:r>
            <a:r>
              <a:rPr lang="en-US" altLang="zh-CN" sz="1100"/>
              <a:t>/</a:t>
            </a:r>
            <a:r>
              <a:rPr lang="zh-CN" altLang="en-US" sz="1100"/>
              <a:t>任务（作业信息）、数据仓库</a:t>
            </a:r>
            <a:r>
              <a:rPr lang="en-US" altLang="zh-CN" sz="1100"/>
              <a:t>/</a:t>
            </a:r>
            <a:r>
              <a:rPr lang="zh-CN" altLang="en-US" sz="1100"/>
              <a:t>湖仓等。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关键点：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负责“发现</a:t>
            </a:r>
            <a:r>
              <a:rPr lang="en-US" altLang="zh-CN" sz="1100"/>
              <a:t>/</a:t>
            </a:r>
            <a:r>
              <a:rPr lang="zh-CN" altLang="en-US" sz="1100"/>
              <a:t>抽取”元数据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抽取频率可配置（定时</a:t>
            </a:r>
            <a:r>
              <a:rPr lang="en-US" altLang="zh-CN" sz="1100"/>
              <a:t>/</a:t>
            </a:r>
            <a:r>
              <a:rPr lang="zh-CN" altLang="en-US" sz="1100"/>
              <a:t>增量）</a:t>
            </a:r>
            <a:endParaRPr lang="en-US" altLang="zh-CN" sz="1100"/>
          </a:p>
          <a:p>
            <a:pPr>
              <a:spcBef>
                <a:spcPts val="300"/>
              </a:spcBef>
            </a:pPr>
            <a:r>
              <a:rPr lang="en-US" altLang="zh-CN" b="1"/>
              <a:t>2) API</a:t>
            </a:r>
            <a:r>
              <a:rPr lang="zh-CN" altLang="en-US" b="1"/>
              <a:t>（</a:t>
            </a:r>
            <a:r>
              <a:rPr lang="en-US" altLang="zh-CN" b="1"/>
              <a:t>Metadata API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平台对内对外的“服务层”。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对外： 提供 </a:t>
            </a:r>
            <a:r>
              <a:rPr lang="en-US" altLang="zh-CN" sz="1100"/>
              <a:t>UI/</a:t>
            </a:r>
            <a:r>
              <a:rPr lang="zh-CN" altLang="en-US" sz="1100"/>
              <a:t>前端、第三方工具调用的接口（搜索、血缘查询、质量规则管理等）。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对内： 负责把“连接器抽取到的元数据”进行统一建模、校验、写入请求的编排。</a:t>
            </a:r>
          </a:p>
          <a:p>
            <a:pPr>
              <a:spcBef>
                <a:spcPts val="300"/>
              </a:spcBef>
            </a:pPr>
            <a:r>
              <a:rPr lang="en-US" altLang="zh-CN" b="1"/>
              <a:t>3)</a:t>
            </a:r>
            <a:r>
              <a:rPr lang="zh-CN" altLang="en-US" b="1"/>
              <a:t>元数据存储（</a:t>
            </a:r>
            <a:r>
              <a:rPr lang="en-US" altLang="zh-CN" b="1"/>
              <a:t> MySQL/PostgreSQL 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 元数据的“可信来源库”，持久化保存所有治理信息。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这里存：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资产（库</a:t>
            </a:r>
            <a:r>
              <a:rPr lang="en-US" altLang="zh-CN" sz="1100"/>
              <a:t>/</a:t>
            </a:r>
            <a:r>
              <a:rPr lang="zh-CN" altLang="en-US" sz="1100"/>
              <a:t>表</a:t>
            </a:r>
            <a:r>
              <a:rPr lang="en-US" altLang="zh-CN" sz="1100"/>
              <a:t>/</a:t>
            </a:r>
            <a:r>
              <a:rPr lang="zh-CN" altLang="en-US" sz="1100"/>
              <a:t>字段</a:t>
            </a:r>
            <a:r>
              <a:rPr lang="en-US" altLang="zh-CN" sz="1100"/>
              <a:t>/</a:t>
            </a:r>
            <a:r>
              <a:rPr lang="zh-CN" altLang="en-US" sz="1100"/>
              <a:t>仪表盘等）的元数据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血缘</a:t>
            </a:r>
            <a:r>
              <a:rPr lang="en-US" altLang="zh-CN" sz="1100"/>
              <a:t>/</a:t>
            </a:r>
            <a:r>
              <a:rPr lang="zh-CN" altLang="en-US" sz="1100"/>
              <a:t>关系（依赖、流转关系的描述）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质量规则、质量结果、治理活动状态等（取决于启用的模块）</a:t>
            </a:r>
          </a:p>
          <a:p>
            <a:pPr>
              <a:spcBef>
                <a:spcPts val="300"/>
              </a:spcBef>
            </a:pPr>
            <a:r>
              <a:rPr lang="en-US" altLang="zh-CN" b="1"/>
              <a:t>4) </a:t>
            </a:r>
            <a:r>
              <a:rPr lang="zh-CN" altLang="en-US" b="1"/>
              <a:t>搜索索引（</a:t>
            </a:r>
            <a:r>
              <a:rPr lang="en-US" altLang="zh-CN" b="1"/>
              <a:t>Elasticsearch</a:t>
            </a:r>
            <a:r>
              <a:rPr lang="zh-CN" altLang="en-US" b="1"/>
              <a:t>）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元数据的可搜索版本（便于全文检索、过滤查询、快速定位资产）。</a:t>
            </a:r>
          </a:p>
          <a:p>
            <a:pPr>
              <a:spcBef>
                <a:spcPts val="300"/>
              </a:spcBef>
            </a:pPr>
            <a:r>
              <a:rPr lang="zh-CN" altLang="en-US" sz="1100"/>
              <a:t>关键点：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把复杂检索从“全表扫描”变成“索引检索”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100"/>
              <a:t>支撑高响应的搜索与高级查询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61A2C3-0C28-FF58-E613-83C4708EFD21}"/>
              </a:ext>
            </a:extLst>
          </p:cNvPr>
          <p:cNvSpPr txBox="1"/>
          <p:nvPr/>
        </p:nvSpPr>
        <p:spPr>
          <a:xfrm>
            <a:off x="4796339" y="1539313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连接器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B3C432-C5ED-CA1E-737C-15F5AB4EF92D}"/>
              </a:ext>
            </a:extLst>
          </p:cNvPr>
          <p:cNvSpPr txBox="1"/>
          <p:nvPr/>
        </p:nvSpPr>
        <p:spPr>
          <a:xfrm>
            <a:off x="6582780" y="1914905"/>
            <a:ext cx="550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API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D81C1CE-0FE6-CF63-0721-C3C6D5BA3044}"/>
              </a:ext>
            </a:extLst>
          </p:cNvPr>
          <p:cNvSpPr txBox="1"/>
          <p:nvPr/>
        </p:nvSpPr>
        <p:spPr>
          <a:xfrm>
            <a:off x="6189055" y="3512804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存储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CA96ABB-011D-7CA0-434E-C445A9F7EC97}"/>
              </a:ext>
            </a:extLst>
          </p:cNvPr>
          <p:cNvSpPr txBox="1"/>
          <p:nvPr/>
        </p:nvSpPr>
        <p:spPr>
          <a:xfrm>
            <a:off x="3826931" y="2277726"/>
            <a:ext cx="8424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chemeClr val="tx1"/>
                </a:solidFill>
              </a:rPr>
              <a:t>搜索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5555" t="5737" r="5555" b="57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B5E2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0" y="203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04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主数据治理是一项长期但价值巨大的工程，为企业数字化转型奠定坚实基石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461000" y="4953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期待与您深入交流，共同探讨数据价值挖掘之道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4103</Words>
  <Application>Microsoft Office PowerPoint</Application>
  <PresentationFormat>宽屏</PresentationFormat>
  <Paragraphs>457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 Unicode MS</vt:lpstr>
      <vt:lpstr>Noto Sans SC</vt:lpstr>
      <vt:lpstr>等线</vt:lpstr>
      <vt:lpstr>等线 Light</vt:lpstr>
      <vt:lpstr>Microsoft YaHei</vt:lpstr>
      <vt:lpstr>Microsoft YaHei</vt:lpstr>
      <vt:lpstr>Arial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数据治理-审核员Agent</vt:lpstr>
      <vt:lpstr>数据治理-审核员Agent</vt:lpstr>
      <vt:lpstr>数据治理-审核员Agent</vt:lpstr>
      <vt:lpstr>数据治理-审核员Agent</vt:lpstr>
      <vt:lpstr>数据治理-健康管家 Agent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Zhao</cp:lastModifiedBy>
  <cp:revision>12</cp:revision>
  <dcterms:modified xsi:type="dcterms:W3CDTF">2026-05-06T02:36:24Z</dcterms:modified>
</cp:coreProperties>
</file>