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  <p:sldMasterId id="2147483674" r:id="rId4"/>
  </p:sldMasterIdLst>
  <p:notesMasterIdLst>
    <p:notesMasterId r:id="rId31"/>
  </p:notesMasterIdLst>
  <p:sldIdLst>
    <p:sldId id="256" r:id="rId5"/>
    <p:sldId id="270" r:id="rId6"/>
    <p:sldId id="272" r:id="rId7"/>
    <p:sldId id="289" r:id="rId8"/>
    <p:sldId id="2147471457" r:id="rId9"/>
    <p:sldId id="2147471433" r:id="rId10"/>
    <p:sldId id="2147471466" r:id="rId11"/>
    <p:sldId id="2147471467" r:id="rId12"/>
    <p:sldId id="2147471468" r:id="rId13"/>
    <p:sldId id="2147471469" r:id="rId14"/>
    <p:sldId id="271" r:id="rId15"/>
    <p:sldId id="257" r:id="rId16"/>
    <p:sldId id="2147471471" r:id="rId17"/>
    <p:sldId id="2147471470" r:id="rId18"/>
    <p:sldId id="2147471472" r:id="rId19"/>
    <p:sldId id="2147471473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9" r:id="rId28"/>
    <p:sldId id="644" r:id="rId29"/>
    <p:sldId id="214747145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10" autoAdjust="0"/>
    <p:restoredTop sz="96649" autoAdjust="0"/>
  </p:normalViewPr>
  <p:slideViewPr>
    <p:cSldViewPr snapToGrid="0" snapToObjects="1">
      <p:cViewPr varScale="1">
        <p:scale>
          <a:sx n="110" d="100"/>
          <a:sy n="110" d="100"/>
        </p:scale>
        <p:origin x="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0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开场：本方案回答一个问题——AI 在制造业主数据治理里到底能干什么。先看中某油和 SAP MDG 两个实践，再给我们的方案。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这页讲清 AI 接手什么、人保留什么：重复规则判断交给 AI，取舍和拍板留给人。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读法：L5 集成现状系统，L4 是主数据服务本体，L3/L2 是 AI 增量，L1 面向业务用户。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对话式入口是降低使用门槛的关键，理念借鉴中翰（厂商官方口径），按制造业场景落地。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个智能体覆盖治理全流程。协同方式是并行、互相校验，不是串行接力。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多模型各司其职是成本与效果平衡的关键：不是所有任务都值得用大模型。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要点三条：AI 发起预警和诊断，清洗必须人确认，复核结果用来调规则。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治理对象与前期专题一致。试点从三个小切口进，先做出可量化的效果再推广。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可信可控是落地底线：白盒、人在回路、权限审计，哪一块缺了都不敢上线。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五维价值。量化指标待试点实测后回填，不拍脑袋。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032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4768A-6B82-9FF5-653A-86F03DA4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824617-7A2B-D420-288A-30851675B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36310-F206-8228-FE1D-7D09631F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F196D-1A06-2BAF-B5B5-AB631EB2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B3C01-EE3D-7D92-4093-D56E188E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14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38167-A044-1E28-C7A0-1D48413B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353D-0358-7C51-3A53-643DED56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74FBC-1128-04F7-EBBC-FEEE28C1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5FA60-B157-FA9C-D969-AC47B3CB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B2A99-2C47-FAA5-ECA9-285513FA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614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676C8-886D-5F4F-3562-8C8C04A7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4719EE-4625-E024-C1B5-973401EA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23EE-454F-92C2-38AF-3CD4C83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6FB6B-E492-CC91-FC5A-03E0269E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821D1-E78D-2319-175A-94B29B6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87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A71F2-C28E-18F3-460A-5FD893E9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52DA7-9D2D-E030-3B4D-3447CA7D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C4358-FEEF-15D7-808C-CDBEDB0F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011A4-71B6-2F9E-D9C4-82D6F9BA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9D025-426C-6EBF-3160-14EAAADE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1D737-7367-784C-9B28-4C4F71A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53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290D1-3C35-5E33-2398-A69B954D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4F2CA4-2460-2C8B-3F33-7573412C7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1B6218-824E-D8BA-55FB-E3A5E5A7E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A3A2CB-C263-E24B-D5BC-9CCD0AC56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4CC6A1-455E-411B-EC7C-B3DD12B29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25AD9-4C52-AD12-C841-B392F61B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D3C6A8-ADB1-7AA0-B6EC-6FBA482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98069A-392B-0BA7-2AB7-5D51CC7D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829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13D64-2215-371D-BB55-715B86DD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8C47D-5068-D148-1B02-8161290A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46198-9303-AE63-FB80-CBA2153C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09CEF7-330D-B3D0-B597-3201FA4A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412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05862-99C2-3A0A-7C9D-52ECA5E5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72AFE8-6FB5-325E-A05D-5C4BC68E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E331F-03D7-576E-08AB-F509079A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34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80732-7840-D87D-4D7A-BBC10FE4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B7B04-84E6-B872-6FE8-FECB9F39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CC971-EBFA-E10D-5C0A-F94D07D9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45E8A4-EAA0-E766-C6F4-F70FB346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82711B-D33C-5DAC-4514-3EC8677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D4F7D-C5A2-DF91-A746-41335BF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32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F9563-BD2E-6F34-2543-0DABA5C6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655169-8FF1-8D72-E65B-51356145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38772A-7450-AEC1-AA15-04DF645D1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903F7-C0A9-1738-2AAC-E76F149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61597F-98A6-6EEF-53E9-2B0BC6D5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9C81-FB81-29A4-3BE4-4221198C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92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5F0C7-3449-4C64-29D1-4CD44304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073E94-3ECA-B9D8-9C5C-755BD81E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7FBC4-5E79-7E68-F7DE-ED016F7B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4CB0B-4423-29D6-E522-09C81848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650DB-DEC3-A11E-49D6-B4CAF621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48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B00AE5-A0F2-D00A-6A12-C85EF85D7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A5CA-DD0E-CDD4-1500-8DD958B0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8403-BBF7-0074-D002-5FDA6602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E628-7C8C-257F-0705-B610911E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0AC12-5868-A009-1930-62EF9D07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6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94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95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35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14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37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58095" y="304800"/>
            <a:ext cx="10785764" cy="5334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200" b="1"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39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62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0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>
            <a:xfrm>
              <a:off x="0" y="0"/>
              <a:ext cx="1305921" cy="858638"/>
            </a:xfrm>
            <a:custGeom>
              <a:avLst/>
              <a:gdLst>
                <a:gd name="connsiteX0" fmla="*/ 0 w 1305921"/>
                <a:gd name="connsiteY0" fmla="*/ 0 h 858638"/>
                <a:gd name="connsiteX1" fmla="*/ 1305921 w 1305921"/>
                <a:gd name="connsiteY1" fmla="*/ 0 h 858638"/>
                <a:gd name="connsiteX2" fmla="*/ 1305921 w 1305921"/>
                <a:gd name="connsiteY2" fmla="*/ 858638 h 858638"/>
                <a:gd name="connsiteX3" fmla="*/ 0 w 1305921"/>
                <a:gd name="connsiteY3" fmla="*/ 858638 h 85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5921" h="858638">
                  <a:moveTo>
                    <a:pt x="0" y="0"/>
                  </a:moveTo>
                  <a:lnTo>
                    <a:pt x="1305921" y="0"/>
                  </a:lnTo>
                  <a:lnTo>
                    <a:pt x="1305921" y="858638"/>
                  </a:lnTo>
                  <a:lnTo>
                    <a:pt x="0" y="858638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5" cstate="screen"/>
            <a:srcRect/>
            <a:stretch>
              <a:fillRect/>
            </a:stretch>
          </p:blipFill>
          <p:spPr>
            <a:xfrm>
              <a:off x="5120000" y="0"/>
              <a:ext cx="2322777" cy="862954"/>
            </a:xfrm>
            <a:custGeom>
              <a:avLst/>
              <a:gdLst>
                <a:gd name="connsiteX0" fmla="*/ 0 w 2322777"/>
                <a:gd name="connsiteY0" fmla="*/ 0 h 862954"/>
                <a:gd name="connsiteX1" fmla="*/ 2322777 w 2322777"/>
                <a:gd name="connsiteY1" fmla="*/ 0 h 862954"/>
                <a:gd name="connsiteX2" fmla="*/ 2322777 w 2322777"/>
                <a:gd name="connsiteY2" fmla="*/ 862954 h 862954"/>
                <a:gd name="connsiteX3" fmla="*/ 0 w 2322777"/>
                <a:gd name="connsiteY3" fmla="*/ 862954 h 862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2777" h="862954">
                  <a:moveTo>
                    <a:pt x="0" y="0"/>
                  </a:moveTo>
                  <a:lnTo>
                    <a:pt x="2322777" y="0"/>
                  </a:lnTo>
                  <a:lnTo>
                    <a:pt x="2322777" y="862954"/>
                  </a:lnTo>
                  <a:lnTo>
                    <a:pt x="0" y="862954"/>
                  </a:lnTo>
                  <a:close/>
                </a:path>
              </a:pathLst>
            </a:custGeom>
          </p:spPr>
        </p:pic>
        <p:sp>
          <p:nvSpPr>
            <p:cNvPr id="8" name="矩形 7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310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419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34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228E66-C223-D689-9490-73FEF130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A6952D-8DF8-C931-20DE-22717639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4FA42-5F0C-4D9F-8521-E65D2F0F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01FDE-EE34-4252-8565-52FED61FF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5208A-D594-29DB-DAFD-7E7193996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1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动物&#10;&#10;描述已自动生成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8" name="图片 7" descr="logo"/>
          <p:cNvPicPr>
            <a:picLocks noChangeAspect="1" noChangeArrowheads="1"/>
          </p:cNvPicPr>
          <p:nvPr userDrawn="1"/>
        </p:nvPicPr>
        <p:blipFill>
          <a:blip r:embed="rId13">
            <a:biLevel thresh="5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984" y="6408601"/>
            <a:ext cx="1830331" cy="29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7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slideLayout" Target="../slideLayouts/slideLayout30.xml"/><Relationship Id="rId7" Type="http://schemas.openxmlformats.org/officeDocument/2006/relationships/notesSlide" Target="../notesSlides/notesSlide11.xml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2212848"/>
            <a:ext cx="822960" cy="64008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395728"/>
            <a:ext cx="923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AI Native </a:t>
            </a:r>
            <a:r>
              <a:rPr dirty="0" err="1">
                <a:solidFill>
                  <a:schemeClr val="bg1"/>
                </a:solidFill>
              </a:rPr>
              <a:t>数据治理方案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9235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</a:rPr>
              <a:t>AI </a:t>
            </a:r>
            <a:r>
              <a:rPr sz="1400" dirty="0" err="1">
                <a:solidFill>
                  <a:schemeClr val="bg1"/>
                </a:solidFill>
              </a:rPr>
              <a:t>在制造业主数据治理中的应用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5806440"/>
            <a:ext cx="9601200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数据治理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Agents </a:t>
            </a: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协作平台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 </a:t>
            </a:r>
            <a:endParaRPr lang="en-US" sz="1100" b="0" dirty="0">
              <a:solidFill>
                <a:srgbClr val="9FB3C8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AAF4533-A52A-9864-3BAB-7D2A1424DFF7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12BDF05-37E0-91D0-8016-6C1607B4948C}"/>
              </a:ext>
            </a:extLst>
          </p:cNvPr>
          <p:cNvSpPr txBox="1"/>
          <p:nvPr/>
        </p:nvSpPr>
        <p:spPr>
          <a:xfrm>
            <a:off x="539496" y="37141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多法人、多基地的中大型制造型企业的基础数据管理现状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1ED070-6BCC-FAC1-B2CB-499ABBFAA4DD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C618E-C680-7840-276F-14F4A8DE3367}"/>
              </a:ext>
            </a:extLst>
          </p:cNvPr>
          <p:cNvSpPr txBox="1"/>
          <p:nvPr/>
        </p:nvSpPr>
        <p:spPr>
          <a:xfrm>
            <a:off x="318516" y="1001479"/>
            <a:ext cx="11333683" cy="102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通常有</a:t>
            </a:r>
            <a:r>
              <a:rPr lang="en-US" altLang="zh-CN" sz="1400" dirty="0"/>
              <a:t>ERP</a:t>
            </a:r>
            <a:r>
              <a:rPr lang="zh-CN" altLang="en-US" sz="1400" dirty="0"/>
              <a:t>、</a:t>
            </a:r>
            <a:r>
              <a:rPr lang="en-US" altLang="zh-CN" sz="1400" dirty="0"/>
              <a:t>MES</a:t>
            </a:r>
            <a:r>
              <a:rPr lang="zh-CN" altLang="en-US" sz="1400" dirty="0"/>
              <a:t>、</a:t>
            </a:r>
            <a:r>
              <a:rPr lang="en-US" altLang="zh-CN" sz="1400" dirty="0"/>
              <a:t>SRM</a:t>
            </a:r>
            <a:r>
              <a:rPr lang="zh-CN" altLang="en-US" sz="1400" dirty="0"/>
              <a:t>、</a:t>
            </a:r>
            <a:r>
              <a:rPr lang="en-US" altLang="zh-CN" sz="1400" dirty="0"/>
              <a:t>CRM</a:t>
            </a:r>
            <a:r>
              <a:rPr lang="zh-CN" altLang="en-US" sz="1400" dirty="0"/>
              <a:t>等系统；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ERP</a:t>
            </a:r>
            <a:r>
              <a:rPr lang="zh-CN" altLang="en-US" sz="1400" dirty="0"/>
              <a:t>以</a:t>
            </a:r>
            <a:r>
              <a:rPr lang="en-US" altLang="zh-CN" sz="1400" dirty="0"/>
              <a:t>SAP</a:t>
            </a:r>
            <a:r>
              <a:rPr lang="zh-CN" altLang="en-US" sz="1400" dirty="0"/>
              <a:t>为主，可能还有金蝶、用友等多品牌</a:t>
            </a:r>
            <a:r>
              <a:rPr lang="en-US" altLang="zh-CN" sz="1400" dirty="0"/>
              <a:t>ERP</a:t>
            </a:r>
            <a:r>
              <a:rPr lang="zh-CN" altLang="en-US" sz="1400" dirty="0"/>
              <a:t>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经过多年运行，基础数据出现不少问题，比如一物多码、属性缺失、数据不准确、不一致等问题。</a:t>
            </a:r>
            <a:endParaRPr lang="en-US" altLang="zh-CN" sz="1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15E1C7E-BB90-4533-FFF9-2B5A2BD1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34" y="2962399"/>
            <a:ext cx="5736833" cy="296291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3F1D411-C889-919D-E7E0-864B2443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96" y="3101768"/>
            <a:ext cx="5474682" cy="27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DBCD-F039-D16F-B33A-97F2CE20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A6E28E0-82C5-19B3-A09F-81DDE4563B05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8BCCD53-C45A-4833-C25D-AC8E038DB981}"/>
              </a:ext>
            </a:extLst>
          </p:cNvPr>
          <p:cNvSpPr txBox="1"/>
          <p:nvPr/>
        </p:nvSpPr>
        <p:spPr>
          <a:xfrm>
            <a:off x="498348" y="35968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企业需要制定自己的各项基础数据的具体的标准，但通常意义上，都遵循以下八个原则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3D943EF-274A-A1BA-9849-FA5F7FCCCA10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8255FB-6F53-2C9A-FF3D-3336A02F6FBA}"/>
              </a:ext>
            </a:extLst>
          </p:cNvPr>
          <p:cNvSpPr txBox="1"/>
          <p:nvPr/>
        </p:nvSpPr>
        <p:spPr>
          <a:xfrm>
            <a:off x="400812" y="944413"/>
            <a:ext cx="11333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数据标准</a:t>
            </a:r>
            <a:r>
              <a:rPr lang="en-US" altLang="zh-CN" sz="1400" dirty="0"/>
              <a:t>(Business data standard,</a:t>
            </a:r>
            <a:r>
              <a:rPr lang="zh-CN" altLang="en-US" sz="1400" dirty="0"/>
              <a:t>业务数据标准</a:t>
            </a:r>
            <a:r>
              <a:rPr lang="en-US" altLang="zh-CN" sz="1400" dirty="0"/>
              <a:t>)</a:t>
            </a:r>
            <a:r>
              <a:rPr lang="zh-CN" altLang="en-US" sz="1400" dirty="0"/>
              <a:t>用于描述公司层面需共同遵守的数据属性层面的含义和业务规则。</a:t>
            </a:r>
          </a:p>
          <a:p>
            <a:r>
              <a:rPr lang="zh-CN" altLang="en-US" sz="1400" dirty="0"/>
              <a:t>其描述了公司层面对某个数据的共同理解，这些理解一旦确定下来，就应做为企业层面的标准在企业内被共同遵守。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9F1640-BD21-838A-94EE-5E8C686742C1}"/>
              </a:ext>
            </a:extLst>
          </p:cNvPr>
          <p:cNvSpPr txBox="1"/>
          <p:nvPr/>
        </p:nvSpPr>
        <p:spPr>
          <a:xfrm>
            <a:off x="318516" y="1624574"/>
            <a:ext cx="2556000" cy="4344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1. </a:t>
            </a:r>
            <a:r>
              <a:rPr lang="zh-CN" altLang="en-US" sz="1100" b="1" dirty="0"/>
              <a:t>完备性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所有必填的数据都存在吗？有没有缺失的记录或字段？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一个“客户信息表”中，有</a:t>
            </a:r>
            <a:r>
              <a:rPr lang="en-US" altLang="zh-CN" sz="1000" dirty="0"/>
              <a:t>10%</a:t>
            </a:r>
            <a:r>
              <a:rPr lang="zh-CN" altLang="en-US" sz="1000" dirty="0"/>
              <a:t>的记录的“电子邮箱”字段是空的。在进行电子邮件营销时，这些客户就无法被覆盖。这里的“电子邮箱”就是业务上“必要的数据”。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2. </a:t>
            </a:r>
            <a:r>
              <a:rPr lang="zh-CN" altLang="en-US" sz="1100" b="1" dirty="0"/>
              <a:t>准确性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数据是否准确反映了它意图描述的“真实世界”实体或事件？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不准确： 员工档案中，某位员工的出生日期被错误录入为 </a:t>
            </a:r>
            <a:r>
              <a:rPr lang="en-US" altLang="zh-CN" sz="1000" dirty="0"/>
              <a:t>1995-13-45</a:t>
            </a:r>
            <a:r>
              <a:rPr lang="zh-CN" altLang="en-US" sz="1000" dirty="0"/>
              <a:t>（月份和日期无效）。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准确： 该员工的出生日期与身份证件完全一致，为 </a:t>
            </a:r>
            <a:r>
              <a:rPr lang="en-US" altLang="zh-CN" sz="1000" dirty="0"/>
              <a:t>1995-07-21</a:t>
            </a:r>
            <a:r>
              <a:rPr lang="zh-CN" altLang="en-US" sz="1000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4EAEA3-F91A-3D38-5782-380097A954D3}"/>
              </a:ext>
            </a:extLst>
          </p:cNvPr>
          <p:cNvSpPr txBox="1"/>
          <p:nvPr/>
        </p:nvSpPr>
        <p:spPr>
          <a:xfrm>
            <a:off x="3200613" y="1624574"/>
            <a:ext cx="2556000" cy="411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3. </a:t>
            </a:r>
            <a:r>
              <a:rPr lang="zh-CN" altLang="en-US" sz="1100" b="1" dirty="0"/>
              <a:t>一致性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同一数据在不同地方的表现形式是否一致？逻辑关系是否冲突？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格式不一致： 在</a:t>
            </a:r>
            <a:r>
              <a:rPr lang="en-US" altLang="zh-CN" sz="1000" dirty="0"/>
              <a:t>A</a:t>
            </a:r>
            <a:r>
              <a:rPr lang="zh-CN" altLang="en-US" sz="1000" dirty="0"/>
              <a:t>系统中，国家代码存储为 </a:t>
            </a:r>
            <a:r>
              <a:rPr lang="en-US" altLang="zh-CN" sz="1000" dirty="0"/>
              <a:t>CN</a:t>
            </a:r>
            <a:r>
              <a:rPr lang="zh-CN" altLang="en-US" sz="1000" dirty="0"/>
              <a:t>，在</a:t>
            </a:r>
            <a:r>
              <a:rPr lang="en-US" altLang="zh-CN" sz="1000" dirty="0"/>
              <a:t>B</a:t>
            </a:r>
            <a:r>
              <a:rPr lang="zh-CN" altLang="en-US" sz="1000" dirty="0"/>
              <a:t>系统中存储为 </a:t>
            </a:r>
            <a:r>
              <a:rPr lang="en-US" altLang="zh-CN" sz="1000" dirty="0"/>
              <a:t>China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逻辑不一致： 在</a:t>
            </a:r>
            <a:r>
              <a:rPr lang="en-US" altLang="zh-CN" sz="1000" dirty="0"/>
              <a:t>CRM</a:t>
            </a:r>
            <a:r>
              <a:rPr lang="zh-CN" altLang="en-US" sz="1000" dirty="0"/>
              <a:t>系统中，客户</a:t>
            </a:r>
            <a:r>
              <a:rPr lang="en-US" altLang="zh-CN" sz="1000" dirty="0"/>
              <a:t>X</a:t>
            </a:r>
            <a:r>
              <a:rPr lang="zh-CN" altLang="en-US" sz="1000" dirty="0"/>
              <a:t>的“客户等级”为“</a:t>
            </a:r>
            <a:r>
              <a:rPr lang="en-US" altLang="zh-CN" sz="1000" dirty="0"/>
              <a:t>VIP”</a:t>
            </a:r>
            <a:r>
              <a:rPr lang="zh-CN" altLang="en-US" sz="1000" dirty="0"/>
              <a:t>，但在</a:t>
            </a:r>
            <a:r>
              <a:rPr lang="en-US" altLang="zh-CN" sz="1000" dirty="0"/>
              <a:t>ERP</a:t>
            </a:r>
            <a:r>
              <a:rPr lang="zh-CN" altLang="en-US" sz="1000" dirty="0"/>
              <a:t>系统中，同一客户的“优先级”却适用普通客户标准。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4. </a:t>
            </a:r>
            <a:r>
              <a:rPr lang="zh-CN" altLang="en-US" sz="1100" b="1" dirty="0"/>
              <a:t>及时性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数据在需要的时候是否“足够新”且可用？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对于月度销售报告，每月</a:t>
            </a:r>
            <a:r>
              <a:rPr lang="en-US" altLang="zh-CN" sz="1000" dirty="0"/>
              <a:t>5</a:t>
            </a:r>
            <a:r>
              <a:rPr lang="zh-CN" altLang="en-US" sz="1000" dirty="0"/>
              <a:t>号产出上个月的数据可能是及时的，但如果是每日决策需要的实时销售看板，数据延迟</a:t>
            </a:r>
            <a:r>
              <a:rPr lang="en-US" altLang="zh-CN" sz="1000" dirty="0"/>
              <a:t>1</a:t>
            </a:r>
            <a:r>
              <a:rPr lang="zh-CN" altLang="en-US" sz="1000" dirty="0"/>
              <a:t>小时就可能被视为不及时。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33940-ECE4-B432-E285-00BD657C431C}"/>
              </a:ext>
            </a:extLst>
          </p:cNvPr>
          <p:cNvSpPr txBox="1"/>
          <p:nvPr/>
        </p:nvSpPr>
        <p:spPr>
          <a:xfrm>
            <a:off x="6082710" y="1624574"/>
            <a:ext cx="2556000" cy="457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5. </a:t>
            </a:r>
            <a:r>
              <a:rPr lang="zh-CN" altLang="en-US" sz="1100" b="1" dirty="0"/>
              <a:t>唯一性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数据集中，同一个现实实体是否只被表示了一次？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客户“张三”，因为录入时姓名格式不同（如“张三”、“张 三”、“张三先生”），或使用了不同手机号，在系统中被创建了三条记录。这会导致营销成本浪费、客户服务体验差和报表统计失真。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6. </a:t>
            </a:r>
            <a:r>
              <a:rPr lang="zh-CN" altLang="en-US" sz="1100" b="1" dirty="0"/>
              <a:t>合理性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数据的值、类型或格式是否符合常识或特定领域内的预期模式？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员工的“年龄”字段值为 </a:t>
            </a:r>
            <a:r>
              <a:rPr lang="en-US" altLang="zh-CN" sz="1000" dirty="0"/>
              <a:t>150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某款畅销手机的“日销量”平时为</a:t>
            </a:r>
            <a:r>
              <a:rPr lang="en-US" altLang="zh-CN" sz="1000" dirty="0"/>
              <a:t>1000</a:t>
            </a:r>
            <a:r>
              <a:rPr lang="zh-CN" altLang="en-US" sz="1000" dirty="0"/>
              <a:t>台左右，某天突然变为 </a:t>
            </a:r>
            <a:r>
              <a:rPr lang="en-US" altLang="zh-CN" sz="1000" dirty="0"/>
              <a:t>0 </a:t>
            </a:r>
            <a:r>
              <a:rPr lang="zh-CN" altLang="en-US" sz="1000" dirty="0"/>
              <a:t>或 </a:t>
            </a:r>
            <a:r>
              <a:rPr lang="en-US" altLang="zh-CN" sz="1000" dirty="0"/>
              <a:t>100000</a:t>
            </a:r>
            <a:r>
              <a:rPr lang="zh-CN" altLang="en-US" sz="1000" dirty="0"/>
              <a:t>，而没有合理的促销或缺货解释。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温度传感器传回的数据是 </a:t>
            </a:r>
            <a:r>
              <a:rPr lang="en-US" altLang="zh-CN" sz="1000" dirty="0"/>
              <a:t>-1000°C</a:t>
            </a:r>
            <a:r>
              <a:rPr lang="zh-CN" altLang="en-US" sz="1000" dirty="0"/>
              <a:t>（在常规地球环境下不合理）。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2C4517-A037-928D-667E-5DA387C3FE3E}"/>
              </a:ext>
            </a:extLst>
          </p:cNvPr>
          <p:cNvSpPr txBox="1"/>
          <p:nvPr/>
        </p:nvSpPr>
        <p:spPr>
          <a:xfrm>
            <a:off x="8964806" y="1624574"/>
            <a:ext cx="2556000" cy="48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7. </a:t>
            </a:r>
            <a:r>
              <a:rPr lang="zh-CN" altLang="en-US" sz="1100" b="1" dirty="0"/>
              <a:t>完整性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数据之间的关联关系是否完整、有效？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在“订单表”中，有一条订单的“客户</a:t>
            </a:r>
            <a:r>
              <a:rPr lang="en-US" altLang="zh-CN" sz="1000" dirty="0"/>
              <a:t>ID”</a:t>
            </a:r>
            <a:r>
              <a:rPr lang="zh-CN" altLang="en-US" sz="1000" dirty="0"/>
              <a:t>字段值为 </a:t>
            </a:r>
            <a:r>
              <a:rPr lang="en-US" altLang="zh-CN" sz="1000" dirty="0"/>
              <a:t>C10086</a:t>
            </a:r>
            <a:r>
              <a:rPr lang="zh-CN" altLang="en-US" sz="1000" dirty="0"/>
              <a:t>，但在“客户信息表”中却找不到</a:t>
            </a:r>
            <a:r>
              <a:rPr lang="en-US" altLang="zh-CN" sz="1000" dirty="0"/>
              <a:t>ID</a:t>
            </a:r>
            <a:r>
              <a:rPr lang="zh-CN" altLang="en-US" sz="1000" dirty="0"/>
              <a:t>为 </a:t>
            </a:r>
            <a:r>
              <a:rPr lang="en-US" altLang="zh-CN" sz="1000" dirty="0"/>
              <a:t>C10086 </a:t>
            </a:r>
            <a:r>
              <a:rPr lang="zh-CN" altLang="en-US" sz="1000" dirty="0"/>
              <a:t>的客户记录。这就破坏了引用完整性。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8. </a:t>
            </a:r>
            <a:r>
              <a:rPr lang="zh-CN" altLang="en-US" sz="1100" b="1" dirty="0"/>
              <a:t>有效性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数据是否符合预先定义的业务规则、语法（格式）和范围？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格式有效性： “电子邮件地址”必须包含 </a:t>
            </a:r>
            <a:r>
              <a:rPr lang="en-US" altLang="zh-CN" sz="1000" dirty="0"/>
              <a:t>@ </a:t>
            </a:r>
            <a:r>
              <a:rPr lang="zh-CN" altLang="en-US" sz="1000" dirty="0"/>
              <a:t>符号和有效域名。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值域有效性： “性别”字段只能输入预先定义的代码，如 </a:t>
            </a:r>
            <a:r>
              <a:rPr lang="en-US" altLang="zh-CN" sz="1000" dirty="0"/>
              <a:t>M</a:t>
            </a:r>
            <a:r>
              <a:rPr lang="zh-CN" altLang="en-US" sz="1000" dirty="0"/>
              <a:t>（男）、</a:t>
            </a:r>
            <a:r>
              <a:rPr lang="en-US" altLang="zh-CN" sz="1000" dirty="0"/>
              <a:t>F</a:t>
            </a:r>
            <a:r>
              <a:rPr lang="zh-CN" altLang="en-US" sz="1000" dirty="0"/>
              <a:t>（女）、</a:t>
            </a:r>
            <a:r>
              <a:rPr lang="en-US" altLang="zh-CN" sz="1000" dirty="0"/>
              <a:t>U</a:t>
            </a:r>
            <a:r>
              <a:rPr lang="zh-CN" altLang="en-US" sz="1000" dirty="0"/>
              <a:t>（未知）。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业务规则有效性： “订单发货日期”不能早于“订单创建日期”；“保险合同生效日期”必须在“投保人出生日期”之后。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1627632"/>
            <a:ext cx="73152" cy="4297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27248" y="1627632"/>
            <a:ext cx="73152" cy="411480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07608" y="1627632"/>
            <a:ext cx="73152" cy="4297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87968" y="1627632"/>
            <a:ext cx="73152" cy="4297680"/>
          </a:xfrm>
          <a:prstGeom prst="rect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" y="6204204"/>
            <a:ext cx="11338560" cy="512064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375597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八大质量维度</a:t>
            </a:r>
          </a:p>
        </p:txBody>
      </p:sp>
      <p:sp>
        <p:nvSpPr>
          <p:cNvPr id="24" name="Oval 23"/>
          <p:cNvSpPr/>
          <p:nvPr/>
        </p:nvSpPr>
        <p:spPr>
          <a:xfrm>
            <a:off x="1874519" y="640080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3847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完备性</a:t>
            </a:r>
          </a:p>
        </p:txBody>
      </p:sp>
      <p:sp>
        <p:nvSpPr>
          <p:cNvPr id="26" name="Oval 25"/>
          <p:cNvSpPr/>
          <p:nvPr/>
        </p:nvSpPr>
        <p:spPr>
          <a:xfrm>
            <a:off x="3182111" y="6400800"/>
            <a:ext cx="118872" cy="118872"/>
          </a:xfrm>
          <a:prstGeom prst="ellipse">
            <a:avLst/>
          </a:prstGeom>
          <a:solidFill>
            <a:srgbClr val="3B8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5584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准确性</a:t>
            </a:r>
          </a:p>
        </p:txBody>
      </p:sp>
      <p:sp>
        <p:nvSpPr>
          <p:cNvPr id="28" name="Oval 27"/>
          <p:cNvSpPr/>
          <p:nvPr/>
        </p:nvSpPr>
        <p:spPr>
          <a:xfrm>
            <a:off x="4489703" y="6400800"/>
            <a:ext cx="118872" cy="118872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一致性</a:t>
            </a:r>
          </a:p>
        </p:txBody>
      </p:sp>
      <p:sp>
        <p:nvSpPr>
          <p:cNvPr id="30" name="Oval 29"/>
          <p:cNvSpPr/>
          <p:nvPr/>
        </p:nvSpPr>
        <p:spPr>
          <a:xfrm>
            <a:off x="5797295" y="6400800"/>
            <a:ext cx="118872" cy="118872"/>
          </a:xfrm>
          <a:prstGeom prst="ellipse">
            <a:avLst/>
          </a:prstGeom>
          <a:solidFill>
            <a:srgbClr val="41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1031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及时性</a:t>
            </a:r>
          </a:p>
        </p:txBody>
      </p:sp>
      <p:sp>
        <p:nvSpPr>
          <p:cNvPr id="32" name="Oval 31"/>
          <p:cNvSpPr/>
          <p:nvPr/>
        </p:nvSpPr>
        <p:spPr>
          <a:xfrm>
            <a:off x="7104887" y="6400800"/>
            <a:ext cx="118872" cy="11887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78623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唯一性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6400800"/>
            <a:ext cx="118872" cy="118872"/>
          </a:xfrm>
          <a:prstGeom prst="ellipse">
            <a:avLst/>
          </a:prstGeom>
          <a:solidFill>
            <a:srgbClr val="F2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86215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合理性</a:t>
            </a:r>
          </a:p>
        </p:txBody>
      </p:sp>
      <p:sp>
        <p:nvSpPr>
          <p:cNvPr id="36" name="Oval 35"/>
          <p:cNvSpPr/>
          <p:nvPr/>
        </p:nvSpPr>
        <p:spPr>
          <a:xfrm>
            <a:off x="9720072" y="6400800"/>
            <a:ext cx="118872" cy="118872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9380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完整性</a:t>
            </a:r>
          </a:p>
        </p:txBody>
      </p:sp>
      <p:sp>
        <p:nvSpPr>
          <p:cNvPr id="38" name="Oval 37"/>
          <p:cNvSpPr/>
          <p:nvPr/>
        </p:nvSpPr>
        <p:spPr>
          <a:xfrm>
            <a:off x="11027663" y="6400800"/>
            <a:ext cx="118872" cy="118872"/>
          </a:xfrm>
          <a:prstGeom prst="ellipse">
            <a:avLst/>
          </a:prstGeom>
          <a:solidFill>
            <a:srgbClr val="9B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01399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有效性</a:t>
            </a:r>
          </a:p>
        </p:txBody>
      </p:sp>
    </p:spTree>
    <p:extLst>
      <p:ext uri="{BB962C8B-B14F-4D97-AF65-F5344CB8AC3E}">
        <p14:creationId xmlns:p14="http://schemas.microsoft.com/office/powerpoint/2010/main" val="45258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picture 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259586"/>
            <a:ext cx="5760720" cy="4338828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219" y="1259586"/>
            <a:ext cx="5760720" cy="4338828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281978" y="275832"/>
            <a:ext cx="10619740" cy="670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28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00964" marR="0" lvl="0" indent="0" algn="l" defTabSz="914400" rtl="0" eaLnBrk="0" fontAlgn="auto" latinLnBrk="0" hangingPunct="1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19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2733C8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	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数据标准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的示例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295909" marR="0" lvl="0" indent="0" algn="l" defTabSz="914400" rtl="0" eaLnBrk="0" fontAlgn="auto" latinLnBrk="0" hangingPunct="1">
              <a:lnSpc>
                <a:spcPct val="140000"/>
              </a:lnSpc>
              <a:spcBef>
                <a:spcPts val="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基于企业已有数据模型及业务表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单</a:t>
            </a:r>
            <a:r>
              <a:rPr kumimoji="0" sz="1400" b="0" i="0" u="none" strike="noStrike" kern="0" cap="none" spc="-2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对业务上认为重要的、跨部门或跨系统共享的数据</a:t>
            </a:r>
            <a:r>
              <a:rPr kumimoji="0" lang="zh-CN" alt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进行属性统一定义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4" name="picture 1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3446" y="238861"/>
            <a:ext cx="88353" cy="394729"/>
          </a:xfrm>
          <a:prstGeom prst="rect">
            <a:avLst/>
          </a:prstGeom>
        </p:spPr>
      </p:pic>
      <p:sp>
        <p:nvSpPr>
          <p:cNvPr id="1526" name="rect 1526"/>
          <p:cNvSpPr/>
          <p:nvPr/>
        </p:nvSpPr>
        <p:spPr>
          <a:xfrm>
            <a:off x="12130108" y="4448737"/>
            <a:ext cx="61891" cy="764917"/>
          </a:xfrm>
          <a:prstGeom prst="rect">
            <a:avLst/>
          </a:prstGeom>
          <a:solidFill>
            <a:srgbClr val="24AAFF">
              <a:alpha val="823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14">
            <a:extLst>
              <a:ext uri="{FF2B5EF4-FFF2-40B4-BE49-F238E27FC236}">
                <a16:creationId xmlns:a16="http://schemas.microsoft.com/office/drawing/2014/main" id="{C2573D63-2CD8-F20A-1052-C2D07D52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5888" y="2812285"/>
            <a:ext cx="10394100" cy="3777491"/>
          </a:xfrm>
          <a:prstGeom prst="rect">
            <a:avLst/>
          </a:prstGeom>
        </p:spPr>
      </p:pic>
      <p:sp>
        <p:nvSpPr>
          <p:cNvPr id="3" name="textbox 1416">
            <a:extLst>
              <a:ext uri="{FF2B5EF4-FFF2-40B4-BE49-F238E27FC236}">
                <a16:creationId xmlns:a16="http://schemas.microsoft.com/office/drawing/2014/main" id="{E10BE92E-980A-083C-D1B1-101F4D572DA1}"/>
              </a:ext>
            </a:extLst>
          </p:cNvPr>
          <p:cNvSpPr/>
          <p:nvPr/>
        </p:nvSpPr>
        <p:spPr>
          <a:xfrm>
            <a:off x="324078" y="654562"/>
            <a:ext cx="10754052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AFEF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数据质量规则是判断数据是否符合数据质量要求的逻辑约束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。在整个数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据质量监控的过程中，数据质量规则的好坏直接影响监控的效果，因此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如何设计数据质量规则很重要。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依据数据在数据库落地时的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质量特性及数据质量规则类型，设计如下四类数据质量分类框架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3210" marR="0" lvl="0" indent="0" algn="l" defTabSz="914400" rtl="0" eaLnBrk="0" fontAlgn="auto" latinLnBrk="0" hangingPunct="1">
              <a:lnSpc>
                <a:spcPct val="95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：关注数据属性值的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有无以及是否符合自身规范的逻辑判断。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8130" marR="0" lvl="0" indent="0" algn="l" defTabSz="914400" rtl="0" eaLnBrk="0" fontAlgn="auto" latinLnBrk="0" hangingPunct="1">
              <a:lnSpc>
                <a:spcPct val="95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：关注数据属性间关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1305" marR="0" lvl="0" indent="0" algn="l" defTabSz="914400" rtl="0" eaLnBrk="0" fontAlgn="auto" latinLnBrk="0" hangingPunct="1">
              <a:lnSpc>
                <a:spcPct val="95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跨行数据质量规则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录之间关联关系的逻辑判断。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685" marR="0" lvl="0" indent="0" algn="l" defTabSz="914400" rtl="0" eaLnBrk="0" fontAlgn="auto" latinLnBrk="0" hangingPunct="1">
              <a:lnSpc>
                <a:spcPct val="86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跨表数据质量规则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：关注数据集关联关系的逻辑判断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华为结合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ISO8000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数据质量标准、数据质量控制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与评估原则（国标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SY/T 7005—2014</a:t>
            </a:r>
            <a:r>
              <a:rPr kumimoji="0" sz="1400" b="0" i="0" u="none" strike="noStrike" kern="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共设计了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类规则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88B46-39A6-CC40-CA33-F055E9B30EC2}"/>
              </a:ext>
            </a:extLst>
          </p:cNvPr>
          <p:cNvSpPr txBox="1"/>
          <p:nvPr/>
        </p:nvSpPr>
        <p:spPr>
          <a:xfrm>
            <a:off x="210584" y="192424"/>
            <a:ext cx="6274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全面监控企业业务异常数据（数据质量规则）</a:t>
            </a:r>
          </a:p>
        </p:txBody>
      </p:sp>
    </p:spTree>
    <p:extLst>
      <p:ext uri="{BB962C8B-B14F-4D97-AF65-F5344CB8AC3E}">
        <p14:creationId xmlns:p14="http://schemas.microsoft.com/office/powerpoint/2010/main" val="82172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054E6B-DA56-BE30-50BF-ED34D455773A}"/>
              </a:ext>
            </a:extLst>
          </p:cNvPr>
          <p:cNvSpPr txBox="1"/>
          <p:nvPr/>
        </p:nvSpPr>
        <p:spPr>
          <a:xfrm>
            <a:off x="466976" y="28926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数据质量管理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监控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改进）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E548889-0D76-2A5B-8201-31170F6812D3}"/>
              </a:ext>
            </a:extLst>
          </p:cNvPr>
          <p:cNvCxnSpPr>
            <a:stCxn id="4" idx="3"/>
          </p:cNvCxnSpPr>
          <p:nvPr/>
        </p:nvCxnSpPr>
        <p:spPr>
          <a:xfrm>
            <a:off x="3020455" y="2154637"/>
            <a:ext cx="8742800" cy="0"/>
          </a:xfrm>
          <a:prstGeom prst="straightConnector1">
            <a:avLst/>
          </a:prstGeom>
          <a:noFill/>
          <a:ln w="127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3ACAF9F-0A20-0F5C-8EFC-EF50598B9F10}"/>
              </a:ext>
            </a:extLst>
          </p:cNvPr>
          <p:cNvSpPr/>
          <p:nvPr/>
        </p:nvSpPr>
        <p:spPr>
          <a:xfrm>
            <a:off x="536455" y="1697437"/>
            <a:ext cx="2484000" cy="914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数据质量标准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69402D-FF1D-C7BA-A5ED-79C17A13D9EE}"/>
              </a:ext>
            </a:extLst>
          </p:cNvPr>
          <p:cNvSpPr/>
          <p:nvPr/>
        </p:nvSpPr>
        <p:spPr>
          <a:xfrm>
            <a:off x="3734804" y="1697437"/>
            <a:ext cx="2484000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3A68E7-D762-11C8-D5F3-2B0F758AB8BE}"/>
              </a:ext>
            </a:extLst>
          </p:cNvPr>
          <p:cNvSpPr/>
          <p:nvPr/>
        </p:nvSpPr>
        <p:spPr>
          <a:xfrm>
            <a:off x="6933153" y="1697437"/>
            <a:ext cx="1889760" cy="914400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3D2E6-FBDA-76AC-2097-CE4E78F754B2}"/>
              </a:ext>
            </a:extLst>
          </p:cNvPr>
          <p:cNvSpPr/>
          <p:nvPr/>
        </p:nvSpPr>
        <p:spPr>
          <a:xfrm>
            <a:off x="9456149" y="1697437"/>
            <a:ext cx="1889760" cy="914400"/>
          </a:xfrm>
          <a:prstGeom prst="rect">
            <a:avLst/>
          </a:prstGeom>
          <a:solidFill>
            <a:srgbClr val="196B24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数据质量改进流程</a:t>
            </a:r>
          </a:p>
        </p:txBody>
      </p:sp>
      <p:sp>
        <p:nvSpPr>
          <p:cNvPr id="8" name="文本框 43">
            <a:extLst>
              <a:ext uri="{FF2B5EF4-FFF2-40B4-BE49-F238E27FC236}">
                <a16:creationId xmlns:a16="http://schemas.microsoft.com/office/drawing/2014/main" id="{C9AE98F2-FACD-A364-4199-E0FA19AA0FF4}"/>
              </a:ext>
            </a:extLst>
          </p:cNvPr>
          <p:cNvSpPr txBox="1"/>
          <p:nvPr/>
        </p:nvSpPr>
        <p:spPr>
          <a:xfrm>
            <a:off x="513200" y="2725474"/>
            <a:ext cx="2507255" cy="318511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72000" rIns="0" rtlCol="0" anchor="ctr"/>
          <a:lstStyle>
            <a:defPPr>
              <a:defRPr lang="zh-CN"/>
            </a:defPPr>
            <a:lvl1pPr marL="0" indent="0" algn="ctr" defTabSz="914400">
              <a:spcBef>
                <a:spcPct val="50000"/>
              </a:spcBef>
              <a:buClr>
                <a:srgbClr val="1F3F5F"/>
              </a:buClr>
              <a:buNone/>
              <a:defRPr sz="1200">
                <a:solidFill>
                  <a:schemeClr val="l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1088786" rtl="0" eaLnBrk="1" fontAlgn="auto" latinLnBrk="0" hangingPunct="1">
              <a:lnSpc>
                <a:spcPts val="1760"/>
              </a:lnSpc>
              <a:spcBef>
                <a:spcPct val="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数据质量标准：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完整性：数据在创建、传递过程中无缺失和遗漏，包括实体完整、属性完整、记录完整、字段值完整；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及时性：及时记录、传递、抽取、和展现相关数据；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一致性：遵循统一的数据标准，取自唯一来源的管理系统；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准确性：真实、准确的记录原始数据，无虚假数据和信息；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唯一性：同一数据、同一对象实例只能有唯一的标识符，一个实体对象只能出现一次；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有效性：数据的值、格式和展现形式符合数据定义的要求。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78314D-8BD1-38A7-DCC3-F8237BEE0D3A}"/>
              </a:ext>
            </a:extLst>
          </p:cNvPr>
          <p:cNvSpPr/>
          <p:nvPr/>
        </p:nvSpPr>
        <p:spPr>
          <a:xfrm>
            <a:off x="6933153" y="289687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数据标准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C869B-4C65-D9EE-ACBE-D1FE072AD87D}"/>
              </a:ext>
            </a:extLst>
          </p:cNvPr>
          <p:cNvSpPr/>
          <p:nvPr/>
        </p:nvSpPr>
        <p:spPr>
          <a:xfrm>
            <a:off x="6933153" y="424174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B69551-9F2E-2C27-05E5-9FAC0BCE63C7}"/>
              </a:ext>
            </a:extLst>
          </p:cNvPr>
          <p:cNvSpPr/>
          <p:nvPr/>
        </p:nvSpPr>
        <p:spPr>
          <a:xfrm>
            <a:off x="6933153" y="3569309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确定监控内容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7F5418-17AC-D157-119E-A1DE902F0E17}"/>
              </a:ext>
            </a:extLst>
          </p:cNvPr>
          <p:cNvSpPr/>
          <p:nvPr/>
        </p:nvSpPr>
        <p:spPr>
          <a:xfrm>
            <a:off x="6933153" y="4914171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获取异常数据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F767DA-CF53-CF15-F9DB-E0DC8FF5882D}"/>
              </a:ext>
            </a:extLst>
          </p:cNvPr>
          <p:cNvSpPr/>
          <p:nvPr/>
        </p:nvSpPr>
        <p:spPr>
          <a:xfrm>
            <a:off x="693315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分析异常数据</a:t>
            </a:r>
          </a:p>
        </p:txBody>
      </p:sp>
      <p:sp>
        <p:nvSpPr>
          <p:cNvPr id="14" name="箭头: 下 49">
            <a:extLst>
              <a:ext uri="{FF2B5EF4-FFF2-40B4-BE49-F238E27FC236}">
                <a16:creationId xmlns:a16="http://schemas.microsoft.com/office/drawing/2014/main" id="{31AE0F52-CA8D-1380-AE53-ED6D37D40645}"/>
              </a:ext>
            </a:extLst>
          </p:cNvPr>
          <p:cNvSpPr/>
          <p:nvPr/>
        </p:nvSpPr>
        <p:spPr>
          <a:xfrm>
            <a:off x="774849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箭头: 下 50">
            <a:extLst>
              <a:ext uri="{FF2B5EF4-FFF2-40B4-BE49-F238E27FC236}">
                <a16:creationId xmlns:a16="http://schemas.microsoft.com/office/drawing/2014/main" id="{F1C13FBA-2C18-4AD3-69A2-CEB2F04B81F6}"/>
              </a:ext>
            </a:extLst>
          </p:cNvPr>
          <p:cNvSpPr/>
          <p:nvPr/>
        </p:nvSpPr>
        <p:spPr>
          <a:xfrm>
            <a:off x="774849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6" name="箭头: 下 51">
            <a:extLst>
              <a:ext uri="{FF2B5EF4-FFF2-40B4-BE49-F238E27FC236}">
                <a16:creationId xmlns:a16="http://schemas.microsoft.com/office/drawing/2014/main" id="{A8A99759-45FD-A395-E5FF-B55D526F13C8}"/>
              </a:ext>
            </a:extLst>
          </p:cNvPr>
          <p:cNvSpPr/>
          <p:nvPr/>
        </p:nvSpPr>
        <p:spPr>
          <a:xfrm>
            <a:off x="7748493" y="462823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7" name="箭头: 下 52">
            <a:extLst>
              <a:ext uri="{FF2B5EF4-FFF2-40B4-BE49-F238E27FC236}">
                <a16:creationId xmlns:a16="http://schemas.microsoft.com/office/drawing/2014/main" id="{680FFFC5-1970-FAAC-D48F-CCA04257074C}"/>
              </a:ext>
            </a:extLst>
          </p:cNvPr>
          <p:cNvSpPr/>
          <p:nvPr/>
        </p:nvSpPr>
        <p:spPr>
          <a:xfrm>
            <a:off x="774849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08F3A2-4246-4F1B-7D7B-42BD2CECCDC0}"/>
              </a:ext>
            </a:extLst>
          </p:cNvPr>
          <p:cNvSpPr/>
          <p:nvPr/>
        </p:nvSpPr>
        <p:spPr>
          <a:xfrm>
            <a:off x="945914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确认数据质量达成情况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57818D-0475-9871-7236-CC5D485C3BF5}"/>
              </a:ext>
            </a:extLst>
          </p:cNvPr>
          <p:cNvSpPr/>
          <p:nvPr/>
        </p:nvSpPr>
        <p:spPr>
          <a:xfrm>
            <a:off x="9459143" y="4915264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执行数据质量评测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7DC7F8-D29A-4589-BDBC-6A81C418BF8C}"/>
              </a:ext>
            </a:extLst>
          </p:cNvPr>
          <p:cNvSpPr/>
          <p:nvPr/>
        </p:nvSpPr>
        <p:spPr>
          <a:xfrm>
            <a:off x="9459143" y="4243926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执行改进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修复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1999B1-BAFE-2018-A186-93F50C46DBEA}"/>
              </a:ext>
            </a:extLst>
          </p:cNvPr>
          <p:cNvSpPr/>
          <p:nvPr/>
        </p:nvSpPr>
        <p:spPr>
          <a:xfrm>
            <a:off x="9459143" y="357258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设计质量问题解决方案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D3323-C3F7-CAFC-B539-87FC7C6F10F0}"/>
              </a:ext>
            </a:extLst>
          </p:cNvPr>
          <p:cNvSpPr/>
          <p:nvPr/>
        </p:nvSpPr>
        <p:spPr>
          <a:xfrm>
            <a:off x="9459143" y="290125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界定质量问题</a:t>
            </a:r>
          </a:p>
        </p:txBody>
      </p:sp>
      <p:sp>
        <p:nvSpPr>
          <p:cNvPr id="23" name="箭头: 下 62">
            <a:extLst>
              <a:ext uri="{FF2B5EF4-FFF2-40B4-BE49-F238E27FC236}">
                <a16:creationId xmlns:a16="http://schemas.microsoft.com/office/drawing/2014/main" id="{5AB6021B-1996-4A9E-7006-A5CC853AD3C6}"/>
              </a:ext>
            </a:extLst>
          </p:cNvPr>
          <p:cNvSpPr/>
          <p:nvPr/>
        </p:nvSpPr>
        <p:spPr>
          <a:xfrm>
            <a:off x="1027448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4" name="箭头: 下 63">
            <a:extLst>
              <a:ext uri="{FF2B5EF4-FFF2-40B4-BE49-F238E27FC236}">
                <a16:creationId xmlns:a16="http://schemas.microsoft.com/office/drawing/2014/main" id="{E480F661-AA75-E366-970E-3BD124AA3468}"/>
              </a:ext>
            </a:extLst>
          </p:cNvPr>
          <p:cNvSpPr/>
          <p:nvPr/>
        </p:nvSpPr>
        <p:spPr>
          <a:xfrm>
            <a:off x="1027448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" name="箭头: 下 64">
            <a:extLst>
              <a:ext uri="{FF2B5EF4-FFF2-40B4-BE49-F238E27FC236}">
                <a16:creationId xmlns:a16="http://schemas.microsoft.com/office/drawing/2014/main" id="{16EE4D68-9C5F-E45F-D3EE-D32DAD26129B}"/>
              </a:ext>
            </a:extLst>
          </p:cNvPr>
          <p:cNvSpPr/>
          <p:nvPr/>
        </p:nvSpPr>
        <p:spPr>
          <a:xfrm>
            <a:off x="10274483" y="4626171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6" name="箭头: 下 65">
            <a:extLst>
              <a:ext uri="{FF2B5EF4-FFF2-40B4-BE49-F238E27FC236}">
                <a16:creationId xmlns:a16="http://schemas.microsoft.com/office/drawing/2014/main" id="{D36ED2D6-F41A-9686-32BD-2234B12CAFD4}"/>
              </a:ext>
            </a:extLst>
          </p:cNvPr>
          <p:cNvSpPr/>
          <p:nvPr/>
        </p:nvSpPr>
        <p:spPr>
          <a:xfrm>
            <a:off x="1027448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7" name="文本框 66">
            <a:extLst>
              <a:ext uri="{FF2B5EF4-FFF2-40B4-BE49-F238E27FC236}">
                <a16:creationId xmlns:a16="http://schemas.microsoft.com/office/drawing/2014/main" id="{B4773623-DF3D-5F9E-97E2-711F68A82120}"/>
              </a:ext>
            </a:extLst>
          </p:cNvPr>
          <p:cNvSpPr txBox="1"/>
          <p:nvPr/>
        </p:nvSpPr>
        <p:spPr>
          <a:xfrm>
            <a:off x="466976" y="698448"/>
            <a:ext cx="107260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企业数据散落在多个业务系统里，流转和处理环节多；上游数据出错，下游的报表、分析和决策都会跟着错。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数据质量管理靠标准、规则、监控、改进四个环节串起来，缺一个都转不动。</a:t>
            </a:r>
          </a:p>
        </p:txBody>
      </p:sp>
      <p:sp>
        <p:nvSpPr>
          <p:cNvPr id="28" name="文本框 67">
            <a:extLst>
              <a:ext uri="{FF2B5EF4-FFF2-40B4-BE49-F238E27FC236}">
                <a16:creationId xmlns:a16="http://schemas.microsoft.com/office/drawing/2014/main" id="{1C77A4D6-6542-3D91-B32E-6E5A3C9223A2}"/>
              </a:ext>
            </a:extLst>
          </p:cNvPr>
          <p:cNvSpPr txBox="1"/>
          <p:nvPr/>
        </p:nvSpPr>
        <p:spPr>
          <a:xfrm>
            <a:off x="3734804" y="2733452"/>
            <a:ext cx="2484000" cy="3177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数据质量规则：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单列数据质量规则。关注数据属性值的有无以及是否符合自身规范的逻辑判断，比如字段是否为空，语法约束，格式规范，长度约束和值约束；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跨列数据质量规则。关注数据属性间关联关系的逻辑判断，比如逻辑关联，时间关联等；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跨行数据质量规则。关注数据记录之间关联关系的逻辑判断，比如唯一记录，层级结构一致等；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跨表数据质量规则。关注数据集关联关系的逻辑判断。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4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曲线连接符 59">
            <a:extLst>
              <a:ext uri="{FF2B5EF4-FFF2-40B4-BE49-F238E27FC236}">
                <a16:creationId xmlns:a16="http://schemas.microsoft.com/office/drawing/2014/main" id="{26FF69B5-A53A-009B-64B5-FEC91F4EF7FD}"/>
              </a:ext>
            </a:extLst>
          </p:cNvPr>
          <p:cNvCxnSpPr>
            <a:stCxn id="20" idx="2"/>
          </p:cNvCxnSpPr>
          <p:nvPr/>
        </p:nvCxnSpPr>
        <p:spPr>
          <a:xfrm rot="16200000" flipH="1">
            <a:off x="2071760" y="3421081"/>
            <a:ext cx="1069840" cy="640419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" name="五边形 3">
            <a:extLst>
              <a:ext uri="{FF2B5EF4-FFF2-40B4-BE49-F238E27FC236}">
                <a16:creationId xmlns:a16="http://schemas.microsoft.com/office/drawing/2014/main" id="{F733B3DF-EDF9-4CE8-A2E1-71BA971CF2FD}"/>
              </a:ext>
            </a:extLst>
          </p:cNvPr>
          <p:cNvSpPr/>
          <p:nvPr/>
        </p:nvSpPr>
        <p:spPr bwMode="auto">
          <a:xfrm>
            <a:off x="971398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" name="五边形 4">
            <a:extLst>
              <a:ext uri="{FF2B5EF4-FFF2-40B4-BE49-F238E27FC236}">
                <a16:creationId xmlns:a16="http://schemas.microsoft.com/office/drawing/2014/main" id="{6E29D628-08AA-588A-4ABC-5BB2EA8AFC4C}"/>
              </a:ext>
            </a:extLst>
          </p:cNvPr>
          <p:cNvSpPr/>
          <p:nvPr/>
        </p:nvSpPr>
        <p:spPr bwMode="auto">
          <a:xfrm>
            <a:off x="2190371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5" name="五边形 5">
            <a:extLst>
              <a:ext uri="{FF2B5EF4-FFF2-40B4-BE49-F238E27FC236}">
                <a16:creationId xmlns:a16="http://schemas.microsoft.com/office/drawing/2014/main" id="{F7A81699-955A-EAA8-AF0C-6D8D1C8F997B}"/>
              </a:ext>
            </a:extLst>
          </p:cNvPr>
          <p:cNvSpPr/>
          <p:nvPr/>
        </p:nvSpPr>
        <p:spPr bwMode="auto">
          <a:xfrm>
            <a:off x="3409344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6" name="五边形 6">
            <a:extLst>
              <a:ext uri="{FF2B5EF4-FFF2-40B4-BE49-F238E27FC236}">
                <a16:creationId xmlns:a16="http://schemas.microsoft.com/office/drawing/2014/main" id="{D8BE6BF1-35CB-C57D-02B7-23D5380DDA64}"/>
              </a:ext>
            </a:extLst>
          </p:cNvPr>
          <p:cNvSpPr/>
          <p:nvPr/>
        </p:nvSpPr>
        <p:spPr bwMode="auto">
          <a:xfrm>
            <a:off x="4628317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903D4F5-7870-67BC-80BE-AAAB65179C5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17553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419F1-BD3B-F29D-5FA7-3A147BAFD5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36526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420C376-D5EB-1D4A-3B0A-0052A959779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55499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" name="五边形 10">
            <a:extLst>
              <a:ext uri="{FF2B5EF4-FFF2-40B4-BE49-F238E27FC236}">
                <a16:creationId xmlns:a16="http://schemas.microsoft.com/office/drawing/2014/main" id="{7A67D1FC-532A-7A7A-5EBB-8486FD47BCC2}"/>
              </a:ext>
            </a:extLst>
          </p:cNvPr>
          <p:cNvSpPr/>
          <p:nvPr/>
        </p:nvSpPr>
        <p:spPr bwMode="auto">
          <a:xfrm>
            <a:off x="5847290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1" name="五边形 11">
            <a:extLst>
              <a:ext uri="{FF2B5EF4-FFF2-40B4-BE49-F238E27FC236}">
                <a16:creationId xmlns:a16="http://schemas.microsoft.com/office/drawing/2014/main" id="{852B9363-408E-8657-F8D4-3417B456747B}"/>
              </a:ext>
            </a:extLst>
          </p:cNvPr>
          <p:cNvSpPr/>
          <p:nvPr/>
        </p:nvSpPr>
        <p:spPr bwMode="auto">
          <a:xfrm>
            <a:off x="7066263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2" name="五边形 12">
            <a:extLst>
              <a:ext uri="{FF2B5EF4-FFF2-40B4-BE49-F238E27FC236}">
                <a16:creationId xmlns:a16="http://schemas.microsoft.com/office/drawing/2014/main" id="{C5026EE1-092B-F767-7D79-593889A6CB65}"/>
              </a:ext>
            </a:extLst>
          </p:cNvPr>
          <p:cNvSpPr/>
          <p:nvPr/>
        </p:nvSpPr>
        <p:spPr bwMode="auto">
          <a:xfrm>
            <a:off x="8285235" y="1653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EBE3EA-2F40-9FC7-3856-63274A1A23FF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574472" y="1842767"/>
            <a:ext cx="272818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7F0C63-82A9-F1B4-A557-791DCA57DDB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793445" y="1842767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2AB810-6A51-ECCF-9B1E-53A70D991C0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8012418" y="1842766"/>
            <a:ext cx="272817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AEB380-FDC0-E6E1-4F92-A19E6ABA8AA8}"/>
              </a:ext>
            </a:extLst>
          </p:cNvPr>
          <p:cNvSpPr/>
          <p:nvPr/>
        </p:nvSpPr>
        <p:spPr bwMode="auto">
          <a:xfrm>
            <a:off x="971398" y="1086979"/>
            <a:ext cx="3389981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1C2236-B733-F3CE-5F0B-8B55C3B724B7}"/>
              </a:ext>
            </a:extLst>
          </p:cNvPr>
          <p:cNvSpPr/>
          <p:nvPr/>
        </p:nvSpPr>
        <p:spPr bwMode="auto">
          <a:xfrm>
            <a:off x="4628317" y="1086977"/>
            <a:ext cx="3384100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2A0185-C630-CBE9-E131-BEC415F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0" y="4246106"/>
            <a:ext cx="5598303" cy="174139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300E06F-BE88-9A66-E8E6-DE5780664747}"/>
              </a:ext>
            </a:extLst>
          </p:cNvPr>
          <p:cNvSpPr/>
          <p:nvPr/>
        </p:nvSpPr>
        <p:spPr bwMode="auto">
          <a:xfrm>
            <a:off x="658515" y="4204296"/>
            <a:ext cx="368437" cy="150607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查询结果页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3958451-B3E0-4403-5803-E9787AE6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45" y="2445906"/>
            <a:ext cx="2334452" cy="76046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3BEF69A-25D9-955F-C947-5A0F29FD4F46}"/>
              </a:ext>
            </a:extLst>
          </p:cNvPr>
          <p:cNvSpPr/>
          <p:nvPr/>
        </p:nvSpPr>
        <p:spPr bwMode="auto">
          <a:xfrm>
            <a:off x="658515" y="2454751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模糊搜索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431BFB-6A0D-F5E3-A7BD-CF1FA8E35530}"/>
              </a:ext>
            </a:extLst>
          </p:cNvPr>
          <p:cNvSpPr/>
          <p:nvPr/>
        </p:nvSpPr>
        <p:spPr>
          <a:xfrm>
            <a:off x="1303782" y="4246105"/>
            <a:ext cx="473077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B979A4-B9BA-9100-4880-F4297EC4122C}"/>
              </a:ext>
            </a:extLst>
          </p:cNvPr>
          <p:cNvSpPr/>
          <p:nvPr/>
        </p:nvSpPr>
        <p:spPr bwMode="auto">
          <a:xfrm>
            <a:off x="3535022" y="2449042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精确查询</a:t>
            </a:r>
          </a:p>
        </p:txBody>
      </p:sp>
      <p:sp>
        <p:nvSpPr>
          <p:cNvPr id="24" name="矩形标注 54">
            <a:extLst>
              <a:ext uri="{FF2B5EF4-FFF2-40B4-BE49-F238E27FC236}">
                <a16:creationId xmlns:a16="http://schemas.microsoft.com/office/drawing/2014/main" id="{7DD6997B-C692-B415-297F-33B0227D0D7B}"/>
              </a:ext>
            </a:extLst>
          </p:cNvPr>
          <p:cNvSpPr/>
          <p:nvPr/>
        </p:nvSpPr>
        <p:spPr>
          <a:xfrm>
            <a:off x="1115954" y="3344204"/>
            <a:ext cx="2257797" cy="677294"/>
          </a:xfrm>
          <a:prstGeom prst="wedgeRectCallout">
            <a:avLst>
              <a:gd name="adj1" fmla="val -24715"/>
              <a:gd name="adj2" fmla="val -75801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用户可以仅输入物料描述或描述的片段进行一键模糊查询，使用更简单方便；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这是十二五新支持的查询方式，类似搜索引擎的搜索，可使用户查询操作大大简化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987A00-5CAC-AE73-F08A-AFD343B60AC7}"/>
              </a:ext>
            </a:extLst>
          </p:cNvPr>
          <p:cNvSpPr/>
          <p:nvPr/>
        </p:nvSpPr>
        <p:spPr>
          <a:xfrm>
            <a:off x="5502857" y="4246105"/>
            <a:ext cx="1170546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矩形标注 63">
            <a:extLst>
              <a:ext uri="{FF2B5EF4-FFF2-40B4-BE49-F238E27FC236}">
                <a16:creationId xmlns:a16="http://schemas.microsoft.com/office/drawing/2014/main" id="{80ECC28A-ED7C-18C5-5A83-2527C5631190}"/>
              </a:ext>
            </a:extLst>
          </p:cNvPr>
          <p:cNvSpPr/>
          <p:nvPr/>
        </p:nvSpPr>
        <p:spPr>
          <a:xfrm>
            <a:off x="1036911" y="5889196"/>
            <a:ext cx="1820068" cy="673414"/>
          </a:xfrm>
          <a:prstGeom prst="wedgeRectCallout">
            <a:avLst>
              <a:gd name="adj1" fmla="val -20275"/>
              <a:gd name="adj2" fmla="val -69792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用户进行模糊查询时，平台根据描述的相似度进行打分，优先显示相似度高的数据，便于用户找到最相近的物料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1689D2A-8DAF-351F-6910-38CA78BB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069" y="2487477"/>
            <a:ext cx="2716704" cy="866301"/>
          </a:xfrm>
          <a:prstGeom prst="rect">
            <a:avLst/>
          </a:prstGeom>
        </p:spPr>
      </p:pic>
      <p:sp>
        <p:nvSpPr>
          <p:cNvPr id="28" name="矩形标注 67">
            <a:extLst>
              <a:ext uri="{FF2B5EF4-FFF2-40B4-BE49-F238E27FC236}">
                <a16:creationId xmlns:a16="http://schemas.microsoft.com/office/drawing/2014/main" id="{7DB1C0E6-494C-3C99-E771-931A6A7CFA3D}"/>
              </a:ext>
            </a:extLst>
          </p:cNvPr>
          <p:cNvSpPr/>
          <p:nvPr/>
        </p:nvSpPr>
        <p:spPr>
          <a:xfrm>
            <a:off x="4930944" y="5956711"/>
            <a:ext cx="1648578" cy="636687"/>
          </a:xfrm>
          <a:prstGeom prst="wedgeRectCallout">
            <a:avLst>
              <a:gd name="adj1" fmla="val 1638"/>
              <a:gd name="adj2" fmla="val -8220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查询结果可以按该数据的共享度和活跃时间进行排序，辅助用户查询选用物料</a:t>
            </a:r>
          </a:p>
        </p:txBody>
      </p:sp>
      <p:cxnSp>
        <p:nvCxnSpPr>
          <p:cNvPr id="29" name="曲线连接符 68">
            <a:extLst>
              <a:ext uri="{FF2B5EF4-FFF2-40B4-BE49-F238E27FC236}">
                <a16:creationId xmlns:a16="http://schemas.microsoft.com/office/drawing/2014/main" id="{0A9DBAA7-5DAF-4726-036D-9759480F0F6A}"/>
              </a:ext>
            </a:extLst>
          </p:cNvPr>
          <p:cNvCxnSpPr>
            <a:endCxn id="18" idx="0"/>
          </p:cNvCxnSpPr>
          <p:nvPr/>
        </p:nvCxnSpPr>
        <p:spPr>
          <a:xfrm rot="5400000">
            <a:off x="3667376" y="3560656"/>
            <a:ext cx="892326" cy="478574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" name="矩形标注 66">
            <a:extLst>
              <a:ext uri="{FF2B5EF4-FFF2-40B4-BE49-F238E27FC236}">
                <a16:creationId xmlns:a16="http://schemas.microsoft.com/office/drawing/2014/main" id="{35B75631-EA10-F0A4-DCE3-85BD30C56F8F}"/>
              </a:ext>
            </a:extLst>
          </p:cNvPr>
          <p:cNvSpPr/>
          <p:nvPr/>
        </p:nvSpPr>
        <p:spPr>
          <a:xfrm>
            <a:off x="4143273" y="3408852"/>
            <a:ext cx="2530130" cy="667720"/>
          </a:xfrm>
          <a:prstGeom prst="wedgeRectCallout">
            <a:avLst>
              <a:gd name="adj1" fmla="val -24344"/>
              <a:gd name="adj2" fmla="val -6961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用户可以通过输入具体信息进行精确查询，支持多种查询条件的组合，查询结果更聚焦更准确；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十二五重点就查询性能进行了提升，对查询条件进行了优化，做到更快速更便捷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2358D-B78D-7B36-2780-72A4311D14F1}"/>
              </a:ext>
            </a:extLst>
          </p:cNvPr>
          <p:cNvSpPr/>
          <p:nvPr/>
        </p:nvSpPr>
        <p:spPr>
          <a:xfrm>
            <a:off x="7105100" y="3092730"/>
            <a:ext cx="2249128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当用户通过主数据查询功能，可大大缩短获得编码的时间；创建申请一条物资主数据的时间通常在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天左右，而通过查询功能查询到编码，再进行分发申请，通常可在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天内完成。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查询选用一条编码耗时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分钟，申请一条编码耗时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分钟，每个审核节点耗时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分钟，总共需要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分钟，减少无效申请审核工作量。</a:t>
            </a: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E5E8367C-D248-21BE-50F9-DFC245C74330}"/>
              </a:ext>
            </a:extLst>
          </p:cNvPr>
          <p:cNvSpPr/>
          <p:nvPr/>
        </p:nvSpPr>
        <p:spPr>
          <a:xfrm rot="5400000">
            <a:off x="5373527" y="4151179"/>
            <a:ext cx="3129403" cy="177540"/>
          </a:xfrm>
          <a:prstGeom prst="triangle">
            <a:avLst/>
          </a:prstGeom>
          <a:solidFill>
            <a:srgbClr val="CBD9E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9ECB66-AC96-7B6A-AF3E-1260383459F8}"/>
              </a:ext>
            </a:extLst>
          </p:cNvPr>
          <p:cNvSpPr/>
          <p:nvPr/>
        </p:nvSpPr>
        <p:spPr>
          <a:xfrm>
            <a:off x="7105100" y="5613241"/>
            <a:ext cx="2249128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推行先查询再申请的政策，从源头避免数据重复申请，减少提报重码的可能。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0CF889C-5E71-26BA-29DB-231BE452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659" y="2487455"/>
            <a:ext cx="535431" cy="50790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BB6735A-E046-7F67-4654-34BA6D13EABA}"/>
              </a:ext>
            </a:extLst>
          </p:cNvPr>
          <p:cNvSpPr/>
          <p:nvPr/>
        </p:nvSpPr>
        <p:spPr>
          <a:xfrm>
            <a:off x="7665750" y="2528973"/>
            <a:ext cx="17210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减少无效申请审核工作量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CE344A-884B-688C-09FF-0FEAEA2196A5}"/>
              </a:ext>
            </a:extLst>
          </p:cNvPr>
          <p:cNvSpPr/>
          <p:nvPr/>
        </p:nvSpPr>
        <p:spPr>
          <a:xfrm>
            <a:off x="7702518" y="5193127"/>
            <a:ext cx="11272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保证数据唯一性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2E691F7-790F-31F0-DD34-9C2657529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874" y="5080597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5A3AEB1-DA30-40EB-41B5-080BC3D7C5E2}"/>
              </a:ext>
            </a:extLst>
          </p:cNvPr>
          <p:cNvSpPr txBox="1"/>
          <p:nvPr/>
        </p:nvSpPr>
        <p:spPr>
          <a:xfrm>
            <a:off x="432148" y="300625"/>
            <a:ext cx="9041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9C9D9-960F-D330-CB3B-7D9ED049ED0F}"/>
              </a:ext>
            </a:extLst>
          </p:cNvPr>
          <p:cNvSpPr txBox="1"/>
          <p:nvPr/>
        </p:nvSpPr>
        <p:spPr>
          <a:xfrm>
            <a:off x="475766" y="664638"/>
            <a:ext cx="1089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平台主数据查询功能，推行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先查询后申请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的数据管理模式</a:t>
            </a:r>
          </a:p>
        </p:txBody>
      </p:sp>
    </p:spTree>
    <p:extLst>
      <p:ext uri="{BB962C8B-B14F-4D97-AF65-F5344CB8AC3E}">
        <p14:creationId xmlns:p14="http://schemas.microsoft.com/office/powerpoint/2010/main" val="56757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ABAD-F250-D7A5-D5CB-DFF38EE9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3E5BC18-D90B-F4B4-6CC9-B0C2A233CFB0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9" name="五边形 3">
            <a:extLst>
              <a:ext uri="{FF2B5EF4-FFF2-40B4-BE49-F238E27FC236}">
                <a16:creationId xmlns:a16="http://schemas.microsoft.com/office/drawing/2014/main" id="{7685B2EE-9B5A-3BAF-096B-6821E8A479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0" name="五边形 4">
            <a:extLst>
              <a:ext uri="{FF2B5EF4-FFF2-40B4-BE49-F238E27FC236}">
                <a16:creationId xmlns:a16="http://schemas.microsoft.com/office/drawing/2014/main" id="{B02F9D02-22E7-339E-45B5-DDDF2114B4FB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1" name="五边形 5">
            <a:extLst>
              <a:ext uri="{FF2B5EF4-FFF2-40B4-BE49-F238E27FC236}">
                <a16:creationId xmlns:a16="http://schemas.microsoft.com/office/drawing/2014/main" id="{24739205-672C-4477-DDB7-D4DBF2D4F2FD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42" name="五边形 6">
            <a:extLst>
              <a:ext uri="{FF2B5EF4-FFF2-40B4-BE49-F238E27FC236}">
                <a16:creationId xmlns:a16="http://schemas.microsoft.com/office/drawing/2014/main" id="{B339E6CC-589D-3DD9-D1BE-454D09602964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B319282-3009-32C4-B647-66C45A89A29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1174683-6389-CE6D-82CE-B9A7AEF4733C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52339CE-4DD2-1740-1326-BBA96A529C3F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五边形 10">
            <a:extLst>
              <a:ext uri="{FF2B5EF4-FFF2-40B4-BE49-F238E27FC236}">
                <a16:creationId xmlns:a16="http://schemas.microsoft.com/office/drawing/2014/main" id="{657AFDBC-8D6A-DE8A-0E85-2B0B9DE639FC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47" name="五边形 11">
            <a:extLst>
              <a:ext uri="{FF2B5EF4-FFF2-40B4-BE49-F238E27FC236}">
                <a16:creationId xmlns:a16="http://schemas.microsoft.com/office/drawing/2014/main" id="{1319BF31-6967-B185-811E-E40FF8D5BDE0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8" name="五边形 12">
            <a:extLst>
              <a:ext uri="{FF2B5EF4-FFF2-40B4-BE49-F238E27FC236}">
                <a16:creationId xmlns:a16="http://schemas.microsoft.com/office/drawing/2014/main" id="{93402A07-CD86-436C-F37D-282554BF2A6B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6AC921D-B66D-D6C6-5CF9-09125F8EB18B}"/>
              </a:ext>
            </a:extLst>
          </p:cNvPr>
          <p:cNvCxnSpPr>
            <a:stCxn id="42" idx="3"/>
            <a:endCxn id="46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1A4E886-8DAA-210E-3359-3BECE800F409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4F77DF9-50C2-D789-2048-4C7A8FB2815E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E18922F4-B29A-2FF4-49E0-80A85A9FE069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7F59F8-D2AA-4F42-432C-BB002FC59C2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A4F67DD4-495F-733B-0D1B-770136255666}"/>
              </a:ext>
            </a:extLst>
          </p:cNvPr>
          <p:cNvSpPr/>
          <p:nvPr/>
        </p:nvSpPr>
        <p:spPr>
          <a:xfrm rot="5400000">
            <a:off x="4518844" y="4259424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B5DD2360-5F55-4C51-7712-849FEA20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57" y="3907341"/>
            <a:ext cx="5034451" cy="192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4262DC3-BCE1-793B-2745-2F3CAE3A686B}"/>
              </a:ext>
            </a:extLst>
          </p:cNvPr>
          <p:cNvSpPr txBox="1"/>
          <p:nvPr/>
        </p:nvSpPr>
        <p:spPr>
          <a:xfrm>
            <a:off x="429995" y="2366099"/>
            <a:ext cx="5006101" cy="1311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100">
                <a:latin typeface="+mn-ea"/>
                <a:ea typeface="+mn-ea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通过属性阈值管理，使用户在申请主数据填写属性时，只能从下拉列表中选择有效值，在申请阶段避免申请无效或格式不正确的属性值，从而从数据申请源头保证数据填写的规范性。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基于质量工具技术，将复杂的数据规则固化到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平台的申请界面，在用户申请时进行校验，即时提示错误和警告信息，在最前端控制数据规范性。存在错误信息则不允许提交，存在警告信息则可说明理由后进行提交。</a:t>
            </a:r>
          </a:p>
        </p:txBody>
      </p:sp>
      <p:sp>
        <p:nvSpPr>
          <p:cNvPr id="57" name="矩形标注 46">
            <a:extLst>
              <a:ext uri="{FF2B5EF4-FFF2-40B4-BE49-F238E27FC236}">
                <a16:creationId xmlns:a16="http://schemas.microsoft.com/office/drawing/2014/main" id="{A92DF5ED-645F-1D23-26B0-B443CEF13123}"/>
              </a:ext>
            </a:extLst>
          </p:cNvPr>
          <p:cNvSpPr/>
          <p:nvPr/>
        </p:nvSpPr>
        <p:spPr bwMode="auto">
          <a:xfrm>
            <a:off x="560264" y="4601477"/>
            <a:ext cx="1469957" cy="739391"/>
          </a:xfrm>
          <a:prstGeom prst="wedgeRectCallout">
            <a:avLst>
              <a:gd name="adj1" fmla="val 56022"/>
              <a:gd name="adj2" fmla="val -1088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用户在填写“型号”、“阀体材料代号”属性时，都只能从下拉列表中选择有效值，在申请阶段避免申请无效或格式不正确的属性值</a:t>
            </a:r>
          </a:p>
        </p:txBody>
      </p:sp>
      <p:sp>
        <p:nvSpPr>
          <p:cNvPr id="58" name="矩形标注 47">
            <a:extLst>
              <a:ext uri="{FF2B5EF4-FFF2-40B4-BE49-F238E27FC236}">
                <a16:creationId xmlns:a16="http://schemas.microsoft.com/office/drawing/2014/main" id="{85FEB943-586E-3883-1A65-B93195F7AE34}"/>
              </a:ext>
            </a:extLst>
          </p:cNvPr>
          <p:cNvSpPr/>
          <p:nvPr/>
        </p:nvSpPr>
        <p:spPr bwMode="auto">
          <a:xfrm>
            <a:off x="381966" y="5760876"/>
            <a:ext cx="2482495" cy="620452"/>
          </a:xfrm>
          <a:prstGeom prst="wedgeRectCallout">
            <a:avLst>
              <a:gd name="adj1" fmla="val 31537"/>
              <a:gd name="adj2" fmla="val -7884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输入“公称压力”属性时，会验证填写的值需在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1.6~6.4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之间，这是中压阀门的公称压力区间范围。避免错把“低压”或“高压”的阀门在“中压手动截止阀”品名下申请。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FA00A3-B947-EA94-6DF6-010174365871}"/>
              </a:ext>
            </a:extLst>
          </p:cNvPr>
          <p:cNvSpPr/>
          <p:nvPr/>
        </p:nvSpPr>
        <p:spPr>
          <a:xfrm>
            <a:off x="6398641" y="3211728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通过属性阈值管理，从源头保证了数据完整性、规范性。减少由于数据不规范被退回而增加的数据申请时间。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41C69C-43A4-A095-5A35-A23FE927EAB5}"/>
              </a:ext>
            </a:extLst>
          </p:cNvPr>
          <p:cNvSpPr/>
          <p:nvPr/>
        </p:nvSpPr>
        <p:spPr>
          <a:xfrm>
            <a:off x="6398641" y="5301208"/>
            <a:ext cx="224912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784FEC87-3831-3B0B-4E07-217F489A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606453"/>
            <a:ext cx="535431" cy="507909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31DB6CF-8EEB-1E4D-7679-E03EA63C7568}"/>
              </a:ext>
            </a:extLst>
          </p:cNvPr>
          <p:cNvSpPr/>
          <p:nvPr/>
        </p:nvSpPr>
        <p:spPr>
          <a:xfrm>
            <a:off x="6959291" y="2647971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77B793F-ACD6-465F-2B2E-4A36E57EFAC9}"/>
              </a:ext>
            </a:extLst>
          </p:cNvPr>
          <p:cNvSpPr/>
          <p:nvPr/>
        </p:nvSpPr>
        <p:spPr>
          <a:xfrm>
            <a:off x="6996059" y="4881094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保证数据完整性、规范性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819EF20-22CE-C4C6-22D4-EEB03BB1D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415" y="4768564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E09D106-FDC9-1E72-9C19-5613BDF572EF}"/>
              </a:ext>
            </a:extLst>
          </p:cNvPr>
          <p:cNvSpPr txBox="1"/>
          <p:nvPr/>
        </p:nvSpPr>
        <p:spPr>
          <a:xfrm>
            <a:off x="475765" y="664638"/>
            <a:ext cx="6520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属性阈值管理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从数据申请源头，保证数据填写的规范性</a:t>
            </a:r>
          </a:p>
        </p:txBody>
      </p:sp>
    </p:spTree>
    <p:extLst>
      <p:ext uri="{BB962C8B-B14F-4D97-AF65-F5344CB8AC3E}">
        <p14:creationId xmlns:p14="http://schemas.microsoft.com/office/powerpoint/2010/main" val="424747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A9C8-B34A-0FFC-AD34-2E436329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2DBD68E-EBF2-C6FA-9521-38D6C7798D48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D8F1EE-110D-2522-0C0D-7447D1BDFDC7}"/>
              </a:ext>
            </a:extLst>
          </p:cNvPr>
          <p:cNvGrpSpPr/>
          <p:nvPr/>
        </p:nvGrpSpPr>
        <p:grpSpPr>
          <a:xfrm>
            <a:off x="426515" y="3270755"/>
            <a:ext cx="4824536" cy="2419419"/>
            <a:chOff x="323528" y="2342103"/>
            <a:chExt cx="4824536" cy="28895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799F9A9-520A-0579-30B2-1717CEDC3C92}"/>
                </a:ext>
              </a:extLst>
            </p:cNvPr>
            <p:cNvSpPr/>
            <p:nvPr/>
          </p:nvSpPr>
          <p:spPr>
            <a:xfrm>
              <a:off x="323528" y="2342103"/>
              <a:ext cx="4824536" cy="2889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AA99DCC-7930-BEF5-4115-47F432EE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14" y="2493784"/>
              <a:ext cx="4587275" cy="2599184"/>
            </a:xfrm>
            <a:prstGeom prst="rect">
              <a:avLst/>
            </a:prstGeom>
          </p:spPr>
        </p:pic>
      </p:grpSp>
      <p:sp>
        <p:nvSpPr>
          <p:cNvPr id="5" name="五边形 4">
            <a:extLst>
              <a:ext uri="{FF2B5EF4-FFF2-40B4-BE49-F238E27FC236}">
                <a16:creationId xmlns:a16="http://schemas.microsoft.com/office/drawing/2014/main" id="{38AA5041-EC21-36D6-F68B-B16BCB42E22C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147E7C47-93E2-FDA2-0185-55A2CDAAF93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7" name="五边形 6">
            <a:extLst>
              <a:ext uri="{FF2B5EF4-FFF2-40B4-BE49-F238E27FC236}">
                <a16:creationId xmlns:a16="http://schemas.microsoft.com/office/drawing/2014/main" id="{42FF059F-E855-2090-34C4-B3AAC748EE81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2C6F0377-BBC0-4646-6839-CB9A941B55B6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42C06A-8584-9742-2998-F94BC3130D0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9AA0C4-6702-B741-8F7E-1D52BFB5DF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A44C3D-F8EC-8449-C6E0-A3D0F3F4ACD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>
            <a:extLst>
              <a:ext uri="{FF2B5EF4-FFF2-40B4-BE49-F238E27FC236}">
                <a16:creationId xmlns:a16="http://schemas.microsoft.com/office/drawing/2014/main" id="{058BBE35-5D74-EF80-EBE7-A6354DC2179F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64A7E5FE-BCAA-5D6D-E1BE-8FE1D4D38C6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7C423DF2-FBFC-489B-8853-1ABE6624A87D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D5FC74-70D4-C128-9ADC-477E651E84D7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3FF23-7E80-0861-1529-7971BA5E212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65823D-A233-E5FF-8FA0-41138446460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63E0333-E57A-21C5-DE08-FA8EB89E2C37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79D997-1002-072D-9A71-41E71063873A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20" name="矩形标注 21">
            <a:extLst>
              <a:ext uri="{FF2B5EF4-FFF2-40B4-BE49-F238E27FC236}">
                <a16:creationId xmlns:a16="http://schemas.microsoft.com/office/drawing/2014/main" id="{E73FA391-7DB9-0503-3D7E-780F16126B12}"/>
              </a:ext>
            </a:extLst>
          </p:cNvPr>
          <p:cNvSpPr/>
          <p:nvPr/>
        </p:nvSpPr>
        <p:spPr>
          <a:xfrm>
            <a:off x="878762" y="5767190"/>
            <a:ext cx="2106176" cy="470122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当用户确认与编码库中某条数据重复，则直接发起分发申请，使用该编码。</a:t>
            </a:r>
          </a:p>
        </p:txBody>
      </p:sp>
      <p:sp>
        <p:nvSpPr>
          <p:cNvPr id="21" name="矩形标注 22">
            <a:extLst>
              <a:ext uri="{FF2B5EF4-FFF2-40B4-BE49-F238E27FC236}">
                <a16:creationId xmlns:a16="http://schemas.microsoft.com/office/drawing/2014/main" id="{21E75BE7-9583-9B25-2000-4093CDE16877}"/>
              </a:ext>
            </a:extLst>
          </p:cNvPr>
          <p:cNvSpPr/>
          <p:nvPr/>
        </p:nvSpPr>
        <p:spPr>
          <a:xfrm>
            <a:off x="3291446" y="5767190"/>
            <a:ext cx="2007920" cy="667720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当用户确认所申请数据与编码库中数据不重复，则继续提交。在申请环节保证了数据唯一性。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F5E385-D584-1774-4F52-E23C773CCF6A}"/>
              </a:ext>
            </a:extLst>
          </p:cNvPr>
          <p:cNvSpPr txBox="1"/>
          <p:nvPr/>
        </p:nvSpPr>
        <p:spPr>
          <a:xfrm>
            <a:off x="412214" y="2420888"/>
            <a:ext cx="4838837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lvl="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pitchFamily="2" charset="-122"/>
              </a:rPr>
              <a:t>“十二五”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提升中，增加了预检查节点，当用户完成数据填写后，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平台的后台执行模糊排重，将用户申请的数据与全编码库数据进行模糊匹配，并将相似度高的数据显示给用户，确认是否重复，保证数据唯一性。</a:t>
            </a:r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16E06B73-A955-18AB-DD1C-0A164A163A73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D7E7D5-EF4C-4F54-67AE-2D95DA9A6199}"/>
              </a:ext>
            </a:extLst>
          </p:cNvPr>
          <p:cNvSpPr/>
          <p:nvPr/>
        </p:nvSpPr>
        <p:spPr>
          <a:xfrm>
            <a:off x="6012160" y="324415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通过数据预检查，使用户在申请环节即确认了数据是否重复。减少由于数据疑似重复被退回而增加的数据申请时间。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253F80-523F-6A3C-FC59-FEE8FA17D138}"/>
              </a:ext>
            </a:extLst>
          </p:cNvPr>
          <p:cNvSpPr/>
          <p:nvPr/>
        </p:nvSpPr>
        <p:spPr>
          <a:xfrm>
            <a:off x="6012160" y="533363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通过数据预检查，保证了数据申请阶段提交的数据质量，用户提交时进行的模糊排重确认保证了数据唯一性。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438F40B-5878-F7DF-33B8-D3C17175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4B7DEE9-5713-5BE8-CFDB-1BD7312CEE77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4CDFEA-F8CE-25C9-0BF9-86E3FF6AC064}"/>
              </a:ext>
            </a:extLst>
          </p:cNvPr>
          <p:cNvSpPr/>
          <p:nvPr/>
        </p:nvSpPr>
        <p:spPr>
          <a:xfrm>
            <a:off x="6609578" y="4913523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保证数据唯一性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DE4F507-A6EB-D036-B18F-4BBB89390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934" y="4800993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931CDAA-9FAC-DCD7-A07C-75998A806384}"/>
              </a:ext>
            </a:extLst>
          </p:cNvPr>
          <p:cNvSpPr txBox="1"/>
          <p:nvPr/>
        </p:nvSpPr>
        <p:spPr>
          <a:xfrm>
            <a:off x="475766" y="664638"/>
            <a:ext cx="8625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通过数据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质量预检查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（模糊匹配、模糊排重）从数据申请源头，保证数据填写的唯一性</a:t>
            </a:r>
          </a:p>
        </p:txBody>
      </p:sp>
    </p:spTree>
    <p:extLst>
      <p:ext uri="{BB962C8B-B14F-4D97-AF65-F5344CB8AC3E}">
        <p14:creationId xmlns:p14="http://schemas.microsoft.com/office/powerpoint/2010/main" val="308333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542C-474A-0F7D-82BE-B34671B2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3EFACB73-4FC4-5C28-AC1B-4D823768A689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0" name="五边形 4">
            <a:extLst>
              <a:ext uri="{FF2B5EF4-FFF2-40B4-BE49-F238E27FC236}">
                <a16:creationId xmlns:a16="http://schemas.microsoft.com/office/drawing/2014/main" id="{7A8A3F41-2390-D81E-1085-5DAB04CB10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31" name="五边形 5">
            <a:extLst>
              <a:ext uri="{FF2B5EF4-FFF2-40B4-BE49-F238E27FC236}">
                <a16:creationId xmlns:a16="http://schemas.microsoft.com/office/drawing/2014/main" id="{B3870D73-E130-9675-1E7E-52857EC4DA4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32" name="五边形 6">
            <a:extLst>
              <a:ext uri="{FF2B5EF4-FFF2-40B4-BE49-F238E27FC236}">
                <a16:creationId xmlns:a16="http://schemas.microsoft.com/office/drawing/2014/main" id="{F2CD36AD-71BD-703D-D6EC-CCDFC62459EB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33" name="五边形 7">
            <a:extLst>
              <a:ext uri="{FF2B5EF4-FFF2-40B4-BE49-F238E27FC236}">
                <a16:creationId xmlns:a16="http://schemas.microsoft.com/office/drawing/2014/main" id="{4E8214F2-9F0B-1F4F-F70B-E7A40D340C25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3A4590C-E06E-0F59-CF8B-BAAFE81A3C3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ABAD905-2509-4B08-3AE9-CB4787C716DD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3DB84C2-02EE-DA33-2424-05BB008A8CA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五边形 11">
            <a:extLst>
              <a:ext uri="{FF2B5EF4-FFF2-40B4-BE49-F238E27FC236}">
                <a16:creationId xmlns:a16="http://schemas.microsoft.com/office/drawing/2014/main" id="{61E9570A-3540-E90D-E11C-ECC608F633B6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39" name="五边形 12">
            <a:extLst>
              <a:ext uri="{FF2B5EF4-FFF2-40B4-BE49-F238E27FC236}">
                <a16:creationId xmlns:a16="http://schemas.microsoft.com/office/drawing/2014/main" id="{C6FACF5A-7064-303B-F992-8E90F0C447A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0" name="五边形 13">
            <a:extLst>
              <a:ext uri="{FF2B5EF4-FFF2-40B4-BE49-F238E27FC236}">
                <a16:creationId xmlns:a16="http://schemas.microsoft.com/office/drawing/2014/main" id="{608AEDBD-32C4-4EEC-EFE5-430995C337F2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D474CBC-F06B-98DC-3B06-371160788062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F514FB6-0992-8413-E92B-43910A23782B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CBB7C21-574D-964B-0170-7CAEF3650BD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CF8D6D2-C571-7E48-571B-3675EFCF414B}"/>
              </a:ext>
            </a:extLst>
          </p:cNvPr>
          <p:cNvSpPr txBox="1"/>
          <p:nvPr/>
        </p:nvSpPr>
        <p:spPr>
          <a:xfrm>
            <a:off x="412215" y="2420888"/>
            <a:ext cx="4890192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质量工具辅助审核：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由于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可量化的质量规则，在预检查阶段，已由数据质量规则引擎统一检查，其中的错误信息均已在申请阶段屏蔽掉，需要人工审核的警告信息做出标识，便于审核人员在审核阶段进行针对性审核。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8B7E643A-2E62-1E98-414A-E854ECEB1551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284D65-8001-BDF8-9FF1-3AC61E0C3410}"/>
              </a:ext>
            </a:extLst>
          </p:cNvPr>
          <p:cNvSpPr/>
          <p:nvPr/>
        </p:nvSpPr>
        <p:spPr bwMode="auto">
          <a:xfrm>
            <a:off x="336321" y="3249498"/>
            <a:ext cx="2866668" cy="4023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5608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ADBBDF-DD04-4055-5D80-DF51241A7A41}"/>
              </a:ext>
            </a:extLst>
          </p:cNvPr>
          <p:cNvSpPr txBox="1"/>
          <p:nvPr/>
        </p:nvSpPr>
        <p:spPr>
          <a:xfrm>
            <a:off x="428102" y="3259950"/>
            <a:ext cx="2706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△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警告：公称通径应填写为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开头加数字的格式，例如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CC6A88C-8E7A-4833-D667-B850425B3382}"/>
              </a:ext>
            </a:extLst>
          </p:cNvPr>
          <p:cNvSpPr txBox="1"/>
          <p:nvPr/>
        </p:nvSpPr>
        <p:spPr>
          <a:xfrm>
            <a:off x="336321" y="3651863"/>
            <a:ext cx="2866668" cy="470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申请人理由：该物资为进口阀门，采用英制表示法，无法换算为公制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表示法。</a:t>
            </a:r>
          </a:p>
        </p:txBody>
      </p:sp>
      <p:sp>
        <p:nvSpPr>
          <p:cNvPr id="49" name="矩形标注 31">
            <a:extLst>
              <a:ext uri="{FF2B5EF4-FFF2-40B4-BE49-F238E27FC236}">
                <a16:creationId xmlns:a16="http://schemas.microsoft.com/office/drawing/2014/main" id="{A4125088-F44B-C883-221D-B0A4E4C88F53}"/>
              </a:ext>
            </a:extLst>
          </p:cNvPr>
          <p:cNvSpPr/>
          <p:nvPr/>
        </p:nvSpPr>
        <p:spPr bwMode="auto">
          <a:xfrm>
            <a:off x="3337538" y="3268338"/>
            <a:ext cx="1806844" cy="876065"/>
          </a:xfrm>
          <a:prstGeom prst="wedgeRectCallout">
            <a:avLst>
              <a:gd name="adj1" fmla="val -58640"/>
              <a:gd name="adj2" fmla="val 134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数据校验工具按照数据质量规则遍历所有属性字段，其中错误部分进行错误信息提示，不允许提交，存疑的部分进行警告信息提示，由申请人在申请阶段说明原因，供审核人在审核阶段参考。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B561189-83AA-736A-E2FA-A355E0A33D01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C6B145-9030-3930-7905-47A3F626F9E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1BC44F7-AB0A-6804-6CC0-FE0174DDA9EE}"/>
              </a:ext>
            </a:extLst>
          </p:cNvPr>
          <p:cNvSpPr/>
          <p:nvPr/>
        </p:nvSpPr>
        <p:spPr>
          <a:xfrm>
            <a:off x="6012160" y="3244157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通过数据质量规则引擎的辅助，审核人员的审核内容更明确，效率更高。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审核意见的标准化使审核工作填写审核意见时更高效。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D12C001-E034-1B27-E228-E5DBB30E9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760F661D-F0BD-E57A-1B98-50AF4A55A422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提高主数据审核效率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7E60DB4-BF53-967C-70E6-F241EEDDCB3E}"/>
              </a:ext>
            </a:extLst>
          </p:cNvPr>
          <p:cNvSpPr/>
          <p:nvPr/>
        </p:nvSpPr>
        <p:spPr>
          <a:xfrm>
            <a:off x="5985440" y="5104106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将数据检查规范划分为可量化规则，形成数据质量规则库由程序统一检查，不可量化规则，形成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《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数据检查手册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》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。审核更标准化，尺度更统一。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6FB962C-EFBB-EDF9-3E31-D06AB9FE333C}"/>
              </a:ext>
            </a:extLst>
          </p:cNvPr>
          <p:cNvSpPr/>
          <p:nvPr/>
        </p:nvSpPr>
        <p:spPr>
          <a:xfrm>
            <a:off x="6546090" y="4540349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保证审核的标准化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A977D7AD-6314-DE21-D601-F1658F67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06" y="4429182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6E12B18-E05C-BCD4-0B94-CD264993B985}"/>
              </a:ext>
            </a:extLst>
          </p:cNvPr>
          <p:cNvSpPr txBox="1"/>
          <p:nvPr/>
        </p:nvSpPr>
        <p:spPr>
          <a:xfrm>
            <a:off x="412215" y="4394869"/>
            <a:ext cx="4890192" cy="498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审核意见标准化：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将常见的数据问题和对应的审核意见进行总结，形成标准化审核意见模板列表，审核人员审核时可直接选取，适当修改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4075BB8E-A310-26A5-78B7-147C2F7A8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71" y="4939351"/>
            <a:ext cx="2672117" cy="1747672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9754E17-C808-010D-F0E7-8EF98D5A0527}"/>
              </a:ext>
            </a:extLst>
          </p:cNvPr>
          <p:cNvSpPr txBox="1"/>
          <p:nvPr/>
        </p:nvSpPr>
        <p:spPr>
          <a:xfrm>
            <a:off x="475766" y="664638"/>
            <a:ext cx="6699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4.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审核</a:t>
            </a:r>
            <a:r>
              <a:rPr lang="zh-CN" altLang="en-US" sz="14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时，存疑的部分进行警告提示，常见数据问题提醒审核，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提高处理效率</a:t>
            </a:r>
          </a:p>
        </p:txBody>
      </p:sp>
    </p:spTree>
    <p:extLst>
      <p:ext uri="{BB962C8B-B14F-4D97-AF65-F5344CB8AC3E}">
        <p14:creationId xmlns:p14="http://schemas.microsoft.com/office/powerpoint/2010/main" val="147496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D47D-3B3C-E37F-A3A0-0545ED3C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3EF5285-5EA0-4201-5222-BCBF0606C4EE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88752C-4666-20E7-1D16-13C844755ECC}"/>
              </a:ext>
            </a:extLst>
          </p:cNvPr>
          <p:cNvSpPr txBox="1"/>
          <p:nvPr/>
        </p:nvSpPr>
        <p:spPr>
          <a:xfrm>
            <a:off x="539496" y="33210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altLang="zh-CN" sz="2400" b="1" dirty="0">
                <a:solidFill>
                  <a:srgbClr val="1F4E79"/>
                </a:solidFill>
                <a:latin typeface="微软雅黑"/>
                <a:ea typeface="微软雅黑"/>
              </a:rPr>
              <a:t>SAP MDG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产品广泛应用于企业的基础数据治理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64731A-A56A-823F-3904-5945B3E35B26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58651D-9E3C-C67C-C14D-54B053F3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" y="1103724"/>
            <a:ext cx="8822146" cy="48215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4AC0C7-CF68-86B1-9A24-2B44ACDD7EF7}"/>
              </a:ext>
            </a:extLst>
          </p:cNvPr>
          <p:cNvSpPr txBox="1"/>
          <p:nvPr/>
        </p:nvSpPr>
        <p:spPr>
          <a:xfrm>
            <a:off x="8962355" y="1172523"/>
            <a:ext cx="3041486" cy="49110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（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MDG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）产品的核心功能：</a:t>
            </a:r>
            <a:b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</a:b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1.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统一数据标准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制定统一编码规则，做到一物一码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实现一数一源，一源多用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2. 数据治理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数据标准定义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自动识别重复数据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灵活定义数据校验规则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数据质量监控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3.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全流程管控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从主数据创建、修改、冻结的全生命周期管理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多维度权限控制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4. 系统集成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支持与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ERP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CRM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SCM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等主流系统对接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实时数据同步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统一数据服务接口</a:t>
            </a:r>
          </a:p>
        </p:txBody>
      </p:sp>
    </p:spTree>
    <p:extLst>
      <p:ext uri="{BB962C8B-B14F-4D97-AF65-F5344CB8AC3E}">
        <p14:creationId xmlns:p14="http://schemas.microsoft.com/office/powerpoint/2010/main" val="107260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247141D4-729A-9BB5-5D7A-9AB9AAB4168C}"/>
              </a:ext>
            </a:extLst>
          </p:cNvPr>
          <p:cNvSpPr/>
          <p:nvPr/>
        </p:nvSpPr>
        <p:spPr>
          <a:xfrm>
            <a:off x="2868057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数据标准引擎</a:t>
            </a: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B18B2A0A-1C41-C2FD-7890-A1C89D1230E0}"/>
              </a:ext>
            </a:extLst>
          </p:cNvPr>
          <p:cNvSpPr/>
          <p:nvPr/>
        </p:nvSpPr>
        <p:spPr>
          <a:xfrm>
            <a:off x="1662628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数据清洗引擎</a:t>
            </a: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98EDB23E-D8A1-2124-D063-759490FC9611}"/>
              </a:ext>
            </a:extLst>
          </p:cNvPr>
          <p:cNvSpPr/>
          <p:nvPr/>
        </p:nvSpPr>
        <p:spPr>
          <a:xfrm>
            <a:off x="457199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数据质量引擎</a:t>
            </a: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A37C0156-575D-D725-35E9-DEC9FC1C871D}"/>
              </a:ext>
            </a:extLst>
          </p:cNvPr>
          <p:cNvSpPr/>
          <p:nvPr/>
        </p:nvSpPr>
        <p:spPr>
          <a:xfrm>
            <a:off x="4073486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数据模型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2472" y="34076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1F4E79"/>
                </a:solidFill>
                <a:latin typeface="微软雅黑"/>
                <a:ea typeface="微软雅黑"/>
              </a:rPr>
              <a:t>查重、校验、清洗这些重复活交给 AI，人只在拿不准和要拍板时介入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95AF0953-38ED-0E0C-8C37-E8D1D28E4C18}"/>
              </a:ext>
            </a:extLst>
          </p:cNvPr>
          <p:cNvSpPr/>
          <p:nvPr/>
        </p:nvSpPr>
        <p:spPr>
          <a:xfrm>
            <a:off x="9122775" y="86307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E57EF23-2348-E9B3-FC9C-77B17EA27B74}"/>
              </a:ext>
            </a:extLst>
          </p:cNvPr>
          <p:cNvSpPr/>
          <p:nvPr/>
        </p:nvSpPr>
        <p:spPr>
          <a:xfrm>
            <a:off x="9152493" y="11813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10F8E1BC-7DFB-4A31-8C95-29AE3D9CA520}"/>
              </a:ext>
            </a:extLst>
          </p:cNvPr>
          <p:cNvSpPr txBox="1"/>
          <p:nvPr/>
        </p:nvSpPr>
        <p:spPr>
          <a:xfrm>
            <a:off x="9204267" y="196035"/>
            <a:ext cx="2573203" cy="1301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对话式交互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查询、新增、变更，都在一个对话框；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铭牌拍照或粘贴文本，自动识别填单；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提交前列出相似编码，避免重复建档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B42638D2-E732-B51E-9B81-9A5045F5BB5E}"/>
              </a:ext>
            </a:extLst>
          </p:cNvPr>
          <p:cNvSpPr/>
          <p:nvPr/>
        </p:nvSpPr>
        <p:spPr>
          <a:xfrm>
            <a:off x="9103308" y="3555788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ED8F7216-ACB2-D5E5-48F5-53BD7FE2D8E5}"/>
              </a:ext>
            </a:extLst>
          </p:cNvPr>
          <p:cNvSpPr/>
          <p:nvPr/>
        </p:nvSpPr>
        <p:spPr>
          <a:xfrm>
            <a:off x="9152493" y="358324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7D2828BC-5F13-D4B9-968D-83A612DB7078}"/>
              </a:ext>
            </a:extLst>
          </p:cNvPr>
          <p:cNvSpPr txBox="1"/>
          <p:nvPr/>
        </p:nvSpPr>
        <p:spPr>
          <a:xfrm>
            <a:off x="9204268" y="3632925"/>
            <a:ext cx="2514905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主动</a:t>
            </a: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治理</a:t>
            </a:r>
            <a:endParaRPr lang="en-US"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先学存量数据的规律，定出合理阈值；</a:t>
            </a: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333333"/>
                </a:solidFill>
                <a:latin typeface="微软雅黑"/>
                <a:ea typeface="微软雅黑"/>
              </a:rPr>
              <a:t>质量报告按时推，不用人催；</a:t>
            </a:r>
            <a:endParaRPr lang="en-US" sz="110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发现异常先记下来，附清洗建议；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可疑数据主动预警；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分发失败自动查原因，不用翻日志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9D9E39C-7159-B6CA-18CB-A83256A61335}"/>
              </a:ext>
            </a:extLst>
          </p:cNvPr>
          <p:cNvSpPr/>
          <p:nvPr/>
        </p:nvSpPr>
        <p:spPr>
          <a:xfrm>
            <a:off x="9103308" y="183734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C7D857DD-635A-ED72-16C4-0BA12ADC2A09}"/>
              </a:ext>
            </a:extLst>
          </p:cNvPr>
          <p:cNvSpPr/>
          <p:nvPr/>
        </p:nvSpPr>
        <p:spPr>
          <a:xfrm>
            <a:off x="9152493" y="185068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3ACE954C-6A2D-9038-2B68-2195F87AC6B5}"/>
              </a:ext>
            </a:extLst>
          </p:cNvPr>
          <p:cNvSpPr txBox="1"/>
          <p:nvPr/>
        </p:nvSpPr>
        <p:spPr>
          <a:xfrm>
            <a:off x="9204268" y="1947071"/>
            <a:ext cx="2481072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多模型融合底座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大模型负责理解，知识库提供标准规范；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本体模型管物料-BOM-工艺-供应商关系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2E8ED891-9940-5E9E-765C-4E469D308EA1}"/>
              </a:ext>
            </a:extLst>
          </p:cNvPr>
          <p:cNvSpPr/>
          <p:nvPr/>
        </p:nvSpPr>
        <p:spPr>
          <a:xfrm>
            <a:off x="9103308" y="527423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1432F7A2-E757-3CBD-F538-64617F840C47}"/>
              </a:ext>
            </a:extLst>
          </p:cNvPr>
          <p:cNvSpPr/>
          <p:nvPr/>
        </p:nvSpPr>
        <p:spPr>
          <a:xfrm>
            <a:off x="9152493" y="531579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4E5EC2FD-1AF9-04F8-C773-82707DE054CA}"/>
              </a:ext>
            </a:extLst>
          </p:cNvPr>
          <p:cNvSpPr txBox="1"/>
          <p:nvPr/>
        </p:nvSpPr>
        <p:spPr>
          <a:xfrm>
            <a:off x="9204268" y="5383961"/>
            <a:ext cx="251490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知识沉淀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脏数据、驳回理由都攒下来更新案例；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标准变了，知识库跟着更新；</a:t>
            </a:r>
            <a:endParaRPr lang="en-US" altLang="zh-CN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常见问题不用重教，AI 按上次规则处理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7" name="五边形 4">
            <a:extLst>
              <a:ext uri="{FF2B5EF4-FFF2-40B4-BE49-F238E27FC236}">
                <a16:creationId xmlns:a16="http://schemas.microsoft.com/office/drawing/2014/main" id="{0138DE09-C6FD-B3A9-EDAA-A6C11703FE4A}"/>
              </a:ext>
            </a:extLst>
          </p:cNvPr>
          <p:cNvSpPr/>
          <p:nvPr/>
        </p:nvSpPr>
        <p:spPr bwMode="auto">
          <a:xfrm>
            <a:off x="457200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数据查询</a:t>
            </a:r>
          </a:p>
        </p:txBody>
      </p:sp>
      <p:sp>
        <p:nvSpPr>
          <p:cNvPr id="48" name="五边形 5">
            <a:extLst>
              <a:ext uri="{FF2B5EF4-FFF2-40B4-BE49-F238E27FC236}">
                <a16:creationId xmlns:a16="http://schemas.microsoft.com/office/drawing/2014/main" id="{9D81AE3E-07AD-4273-0727-BEAF8EA1E597}"/>
              </a:ext>
            </a:extLst>
          </p:cNvPr>
          <p:cNvSpPr/>
          <p:nvPr/>
        </p:nvSpPr>
        <p:spPr bwMode="auto">
          <a:xfrm>
            <a:off x="1676173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9" name="五边形 6">
            <a:extLst>
              <a:ext uri="{FF2B5EF4-FFF2-40B4-BE49-F238E27FC236}">
                <a16:creationId xmlns:a16="http://schemas.microsoft.com/office/drawing/2014/main" id="{F840C341-FCF9-C334-37DD-39AFAE3C7C3E}"/>
              </a:ext>
            </a:extLst>
          </p:cNvPr>
          <p:cNvSpPr/>
          <p:nvPr/>
        </p:nvSpPr>
        <p:spPr bwMode="auto">
          <a:xfrm>
            <a:off x="2895146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50" name="五边形 7">
            <a:extLst>
              <a:ext uri="{FF2B5EF4-FFF2-40B4-BE49-F238E27FC236}">
                <a16:creationId xmlns:a16="http://schemas.microsoft.com/office/drawing/2014/main" id="{6241BBDC-499B-1524-4690-AC1D7BE616AC}"/>
              </a:ext>
            </a:extLst>
          </p:cNvPr>
          <p:cNvSpPr/>
          <p:nvPr/>
        </p:nvSpPr>
        <p:spPr bwMode="auto">
          <a:xfrm>
            <a:off x="4114119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D7177B9-5CE5-8CC3-9A6B-C317AD95DD6F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>
            <a:off x="1403355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D7B369D-A70D-D82B-3CE0-5D9DC39289A7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622328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EDB7092-80DD-3A8C-A20B-ADB7EB597E3F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3841301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4" name="五边形 11">
            <a:extLst>
              <a:ext uri="{FF2B5EF4-FFF2-40B4-BE49-F238E27FC236}">
                <a16:creationId xmlns:a16="http://schemas.microsoft.com/office/drawing/2014/main" id="{6B8E4649-9EA8-0F55-D39E-474FF3C01F69}"/>
              </a:ext>
            </a:extLst>
          </p:cNvPr>
          <p:cNvSpPr/>
          <p:nvPr/>
        </p:nvSpPr>
        <p:spPr bwMode="auto">
          <a:xfrm>
            <a:off x="5333092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提交审核</a:t>
            </a:r>
          </a:p>
        </p:txBody>
      </p:sp>
      <p:sp>
        <p:nvSpPr>
          <p:cNvPr id="55" name="五边形 12">
            <a:extLst>
              <a:ext uri="{FF2B5EF4-FFF2-40B4-BE49-F238E27FC236}">
                <a16:creationId xmlns:a16="http://schemas.microsoft.com/office/drawing/2014/main" id="{1291CF4D-7078-DBA4-E8E0-D99FED666152}"/>
              </a:ext>
            </a:extLst>
          </p:cNvPr>
          <p:cNvSpPr/>
          <p:nvPr/>
        </p:nvSpPr>
        <p:spPr bwMode="auto">
          <a:xfrm>
            <a:off x="6552065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流程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56" name="五边形 13">
            <a:extLst>
              <a:ext uri="{FF2B5EF4-FFF2-40B4-BE49-F238E27FC236}">
                <a16:creationId xmlns:a16="http://schemas.microsoft.com/office/drawing/2014/main" id="{E56DB271-6881-E793-53D0-F1897EC317A7}"/>
              </a:ext>
            </a:extLst>
          </p:cNvPr>
          <p:cNvSpPr/>
          <p:nvPr/>
        </p:nvSpPr>
        <p:spPr bwMode="auto">
          <a:xfrm>
            <a:off x="7771037" y="109842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/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分发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6F8005B-01BA-96C1-8075-E34736D0DA15}"/>
              </a:ext>
            </a:extLst>
          </p:cNvPr>
          <p:cNvCxnSpPr>
            <a:stCxn id="50" idx="3"/>
            <a:endCxn id="54" idx="1"/>
          </p:cNvCxnSpPr>
          <p:nvPr/>
        </p:nvCxnSpPr>
        <p:spPr>
          <a:xfrm flipV="1">
            <a:off x="5060274" y="1287378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A5BD8C9-D935-7DDA-9478-73C75BA4674F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9247" y="1287378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7D0F2FA-6D8F-26C1-D704-9B49FEE00F24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7498220" y="1287377"/>
            <a:ext cx="272817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0" name="圆柱体 59">
            <a:extLst>
              <a:ext uri="{FF2B5EF4-FFF2-40B4-BE49-F238E27FC236}">
                <a16:creationId xmlns:a16="http://schemas.microsoft.com/office/drawing/2014/main" id="{3135520F-3164-17D1-B507-479A77106E46}"/>
              </a:ext>
            </a:extLst>
          </p:cNvPr>
          <p:cNvSpPr/>
          <p:nvPr/>
        </p:nvSpPr>
        <p:spPr>
          <a:xfrm>
            <a:off x="1921267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圆柱体 60">
            <a:extLst>
              <a:ext uri="{FF2B5EF4-FFF2-40B4-BE49-F238E27FC236}">
                <a16:creationId xmlns:a16="http://schemas.microsoft.com/office/drawing/2014/main" id="{92B906DF-C502-5502-8060-118165D66EC9}"/>
              </a:ext>
            </a:extLst>
          </p:cNvPr>
          <p:cNvSpPr/>
          <p:nvPr/>
        </p:nvSpPr>
        <p:spPr>
          <a:xfrm>
            <a:off x="879101" y="5137647"/>
            <a:ext cx="866056" cy="462326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SAP ERP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流程图: 多文档 61">
            <a:extLst>
              <a:ext uri="{FF2B5EF4-FFF2-40B4-BE49-F238E27FC236}">
                <a16:creationId xmlns:a16="http://schemas.microsoft.com/office/drawing/2014/main" id="{3AE51842-F3FB-F2D7-38BB-B84B8B431AAF}"/>
              </a:ext>
            </a:extLst>
          </p:cNvPr>
          <p:cNvSpPr/>
          <p:nvPr/>
        </p:nvSpPr>
        <p:spPr>
          <a:xfrm>
            <a:off x="5867930" y="3109423"/>
            <a:ext cx="677761" cy="877476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/>
              <a:t>数据标准</a:t>
            </a:r>
          </a:p>
        </p:txBody>
      </p:sp>
      <p:sp>
        <p:nvSpPr>
          <p:cNvPr id="64" name="圆柱体 63">
            <a:extLst>
              <a:ext uri="{FF2B5EF4-FFF2-40B4-BE49-F238E27FC236}">
                <a16:creationId xmlns:a16="http://schemas.microsoft.com/office/drawing/2014/main" id="{A5BFD5D8-B05E-3158-7244-C87413E9330A}"/>
              </a:ext>
            </a:extLst>
          </p:cNvPr>
          <p:cNvSpPr/>
          <p:nvPr/>
        </p:nvSpPr>
        <p:spPr>
          <a:xfrm>
            <a:off x="2983541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圆柱体 65">
            <a:extLst>
              <a:ext uri="{FF2B5EF4-FFF2-40B4-BE49-F238E27FC236}">
                <a16:creationId xmlns:a16="http://schemas.microsoft.com/office/drawing/2014/main" id="{1A52D1D1-7DA6-CEDA-6BBE-0487E34E0974}"/>
              </a:ext>
            </a:extLst>
          </p:cNvPr>
          <p:cNvSpPr/>
          <p:nvPr/>
        </p:nvSpPr>
        <p:spPr>
          <a:xfrm>
            <a:off x="1007183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金蝶</a:t>
            </a:r>
          </a:p>
        </p:txBody>
      </p:sp>
      <p:sp>
        <p:nvSpPr>
          <p:cNvPr id="70" name="圆柱体 69">
            <a:extLst>
              <a:ext uri="{FF2B5EF4-FFF2-40B4-BE49-F238E27FC236}">
                <a16:creationId xmlns:a16="http://schemas.microsoft.com/office/drawing/2014/main" id="{EBE7C0FB-90EA-EE65-3A48-FEF0FA148D55}"/>
              </a:ext>
            </a:extLst>
          </p:cNvPr>
          <p:cNvSpPr/>
          <p:nvPr/>
        </p:nvSpPr>
        <p:spPr>
          <a:xfrm>
            <a:off x="6898733" y="341290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国标</a:t>
            </a:r>
          </a:p>
        </p:txBody>
      </p:sp>
      <p:sp>
        <p:nvSpPr>
          <p:cNvPr id="74" name="圆柱体 73">
            <a:extLst>
              <a:ext uri="{FF2B5EF4-FFF2-40B4-BE49-F238E27FC236}">
                <a16:creationId xmlns:a16="http://schemas.microsoft.com/office/drawing/2014/main" id="{D18D75A8-37DC-FB4C-9D38-3BDE75AAC21A}"/>
              </a:ext>
            </a:extLst>
          </p:cNvPr>
          <p:cNvSpPr/>
          <p:nvPr/>
        </p:nvSpPr>
        <p:spPr>
          <a:xfrm>
            <a:off x="166035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用友</a:t>
            </a:r>
          </a:p>
        </p:txBody>
      </p:sp>
      <p:sp>
        <p:nvSpPr>
          <p:cNvPr id="76" name="圆柱体 75">
            <a:extLst>
              <a:ext uri="{FF2B5EF4-FFF2-40B4-BE49-F238E27FC236}">
                <a16:creationId xmlns:a16="http://schemas.microsoft.com/office/drawing/2014/main" id="{9F71855F-4660-3F04-C15F-C7FF5D8CFE78}"/>
              </a:ext>
            </a:extLst>
          </p:cNvPr>
          <p:cNvSpPr/>
          <p:nvPr/>
        </p:nvSpPr>
        <p:spPr>
          <a:xfrm>
            <a:off x="6898733" y="413710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企标</a:t>
            </a:r>
          </a:p>
        </p:txBody>
      </p:sp>
      <p:sp>
        <p:nvSpPr>
          <p:cNvPr id="78" name="圆柱体 77">
            <a:extLst>
              <a:ext uri="{FF2B5EF4-FFF2-40B4-BE49-F238E27FC236}">
                <a16:creationId xmlns:a16="http://schemas.microsoft.com/office/drawing/2014/main" id="{99241F8B-3447-9D4A-116A-7BCF824C36A9}"/>
              </a:ext>
            </a:extLst>
          </p:cNvPr>
          <p:cNvSpPr/>
          <p:nvPr/>
        </p:nvSpPr>
        <p:spPr>
          <a:xfrm>
            <a:off x="6898733" y="44882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圆柱体 79">
            <a:extLst>
              <a:ext uri="{FF2B5EF4-FFF2-40B4-BE49-F238E27FC236}">
                <a16:creationId xmlns:a16="http://schemas.microsoft.com/office/drawing/2014/main" id="{A7E70497-A38D-4E45-F98C-C0CA6F9A8E2B}"/>
              </a:ext>
            </a:extLst>
          </p:cNvPr>
          <p:cNvSpPr/>
          <p:nvPr/>
        </p:nvSpPr>
        <p:spPr>
          <a:xfrm>
            <a:off x="6898733" y="483936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邓白氏</a:t>
            </a:r>
          </a:p>
        </p:txBody>
      </p:sp>
      <p:sp>
        <p:nvSpPr>
          <p:cNvPr id="82" name="圆柱体 81">
            <a:extLst>
              <a:ext uri="{FF2B5EF4-FFF2-40B4-BE49-F238E27FC236}">
                <a16:creationId xmlns:a16="http://schemas.microsoft.com/office/drawing/2014/main" id="{7C2345BB-BE1A-F568-5664-0744238D504B}"/>
              </a:ext>
            </a:extLst>
          </p:cNvPr>
          <p:cNvSpPr/>
          <p:nvPr/>
        </p:nvSpPr>
        <p:spPr>
          <a:xfrm>
            <a:off x="6898733" y="376072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行业标准</a:t>
            </a:r>
          </a:p>
        </p:txBody>
      </p:sp>
      <p:sp>
        <p:nvSpPr>
          <p:cNvPr id="84" name="圆柱体 83">
            <a:extLst>
              <a:ext uri="{FF2B5EF4-FFF2-40B4-BE49-F238E27FC236}">
                <a16:creationId xmlns:a16="http://schemas.microsoft.com/office/drawing/2014/main" id="{A95F3C0E-1C64-A7CA-4F17-88F748A3DE61}"/>
              </a:ext>
            </a:extLst>
          </p:cNvPr>
          <p:cNvSpPr/>
          <p:nvPr/>
        </p:nvSpPr>
        <p:spPr>
          <a:xfrm>
            <a:off x="6898733" y="5168552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社会信用</a:t>
            </a:r>
          </a:p>
        </p:txBody>
      </p:sp>
      <p:sp>
        <p:nvSpPr>
          <p:cNvPr id="86" name="圆柱体 85">
            <a:extLst>
              <a:ext uri="{FF2B5EF4-FFF2-40B4-BE49-F238E27FC236}">
                <a16:creationId xmlns:a16="http://schemas.microsoft.com/office/drawing/2014/main" id="{A49B4DB1-0003-21E3-793F-1994AEE6BF13}"/>
              </a:ext>
            </a:extLst>
          </p:cNvPr>
          <p:cNvSpPr/>
          <p:nvPr/>
        </p:nvSpPr>
        <p:spPr>
          <a:xfrm>
            <a:off x="6898732" y="54977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税务局</a:t>
            </a:r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0E3537C9-0BF6-BDD5-20DB-7796CE50EE87}"/>
              </a:ext>
            </a:extLst>
          </p:cNvPr>
          <p:cNvCxnSpPr>
            <a:stCxn id="70" idx="2"/>
            <a:endCxn id="62" idx="3"/>
          </p:cNvCxnSpPr>
          <p:nvPr/>
        </p:nvCxnSpPr>
        <p:spPr>
          <a:xfrm rot="10800000">
            <a:off x="6545691" y="3548161"/>
            <a:ext cx="353042" cy="1902"/>
          </a:xfrm>
          <a:prstGeom prst="bentConnector3">
            <a:avLst/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5753035A-6619-B0AC-EEAA-A492C50D8CF6}"/>
              </a:ext>
            </a:extLst>
          </p:cNvPr>
          <p:cNvCxnSpPr>
            <a:cxnSpLocks/>
            <a:stCxn id="82" idx="2"/>
            <a:endCxn id="62" idx="3"/>
          </p:cNvCxnSpPr>
          <p:nvPr/>
        </p:nvCxnSpPr>
        <p:spPr>
          <a:xfrm rot="10800000">
            <a:off x="6545691" y="3548161"/>
            <a:ext cx="353042" cy="34972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D04AFD8D-C93F-D8E9-0966-C18B760DC6A4}"/>
              </a:ext>
            </a:extLst>
          </p:cNvPr>
          <p:cNvCxnSpPr>
            <a:cxnSpLocks/>
            <a:stCxn id="76" idx="2"/>
            <a:endCxn id="62" idx="3"/>
          </p:cNvCxnSpPr>
          <p:nvPr/>
        </p:nvCxnSpPr>
        <p:spPr>
          <a:xfrm rot="10800000">
            <a:off x="6545691" y="3548161"/>
            <a:ext cx="353042" cy="72610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F6E4B499-3E0C-C59A-ACB9-402F91D7002D}"/>
              </a:ext>
            </a:extLst>
          </p:cNvPr>
          <p:cNvCxnSpPr>
            <a:cxnSpLocks/>
            <a:stCxn id="80" idx="2"/>
            <a:endCxn id="62" idx="3"/>
          </p:cNvCxnSpPr>
          <p:nvPr/>
        </p:nvCxnSpPr>
        <p:spPr>
          <a:xfrm rot="10800000">
            <a:off x="6545691" y="3548161"/>
            <a:ext cx="353042" cy="142836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D3BF915A-686C-CCDF-F704-ABBB3E6D7E56}"/>
              </a:ext>
            </a:extLst>
          </p:cNvPr>
          <p:cNvCxnSpPr>
            <a:cxnSpLocks/>
            <a:stCxn id="78" idx="2"/>
            <a:endCxn id="62" idx="3"/>
          </p:cNvCxnSpPr>
          <p:nvPr/>
        </p:nvCxnSpPr>
        <p:spPr>
          <a:xfrm rot="10800000">
            <a:off x="6545691" y="3548161"/>
            <a:ext cx="353042" cy="10772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E17CAC36-EED2-0742-4648-3DB682CDAEC7}"/>
              </a:ext>
            </a:extLst>
          </p:cNvPr>
          <p:cNvCxnSpPr>
            <a:cxnSpLocks/>
            <a:stCxn id="84" idx="2"/>
            <a:endCxn id="62" idx="3"/>
          </p:cNvCxnSpPr>
          <p:nvPr/>
        </p:nvCxnSpPr>
        <p:spPr>
          <a:xfrm rot="10800000">
            <a:off x="6545691" y="3548162"/>
            <a:ext cx="353042" cy="175755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EC31920D-B5EE-A812-D57A-D5BB19FB2E4D}"/>
              </a:ext>
            </a:extLst>
          </p:cNvPr>
          <p:cNvCxnSpPr>
            <a:cxnSpLocks/>
            <a:stCxn id="86" idx="2"/>
            <a:endCxn id="62" idx="3"/>
          </p:cNvCxnSpPr>
          <p:nvPr/>
        </p:nvCxnSpPr>
        <p:spPr>
          <a:xfrm rot="10800000">
            <a:off x="6545692" y="3548161"/>
            <a:ext cx="353041" cy="20867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圆柱体 107">
            <a:extLst>
              <a:ext uri="{FF2B5EF4-FFF2-40B4-BE49-F238E27FC236}">
                <a16:creationId xmlns:a16="http://schemas.microsoft.com/office/drawing/2014/main" id="{BA4585F0-8690-E016-6590-20A0202BB706}"/>
              </a:ext>
            </a:extLst>
          </p:cNvPr>
          <p:cNvSpPr/>
          <p:nvPr/>
        </p:nvSpPr>
        <p:spPr>
          <a:xfrm>
            <a:off x="1883222" y="3219891"/>
            <a:ext cx="946155" cy="656540"/>
          </a:xfrm>
          <a:prstGeom prst="can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ODS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8FD5F608-6EB4-BC25-972E-52AC682E4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027" y="3137460"/>
            <a:ext cx="1363624" cy="821402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5E7BEED9-14BF-120C-519B-EEBBF491E629}"/>
              </a:ext>
            </a:extLst>
          </p:cNvPr>
          <p:cNvCxnSpPr>
            <a:cxnSpLocks/>
            <a:stCxn id="61" idx="1"/>
            <a:endCxn id="108" idx="3"/>
          </p:cNvCxnSpPr>
          <p:nvPr/>
        </p:nvCxnSpPr>
        <p:spPr>
          <a:xfrm rot="5400000" flipH="1" flipV="1">
            <a:off x="1203606" y="3984954"/>
            <a:ext cx="1261216" cy="1044171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46D9A52C-A7E5-F8C7-17D2-CAFB9A7A2754}"/>
              </a:ext>
            </a:extLst>
          </p:cNvPr>
          <p:cNvCxnSpPr>
            <a:cxnSpLocks/>
          </p:cNvCxnSpPr>
          <p:nvPr/>
        </p:nvCxnSpPr>
        <p:spPr>
          <a:xfrm>
            <a:off x="2829377" y="3548161"/>
            <a:ext cx="461650" cy="0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圆柱体 118">
            <a:extLst>
              <a:ext uri="{FF2B5EF4-FFF2-40B4-BE49-F238E27FC236}">
                <a16:creationId xmlns:a16="http://schemas.microsoft.com/office/drawing/2014/main" id="{20409FEB-9613-C922-B2E1-F3786B5271A1}"/>
              </a:ext>
            </a:extLst>
          </p:cNvPr>
          <p:cNvSpPr/>
          <p:nvPr/>
        </p:nvSpPr>
        <p:spPr>
          <a:xfrm>
            <a:off x="2313517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9" name="连接符: 肘形 110">
            <a:extLst>
              <a:ext uri="{FF2B5EF4-FFF2-40B4-BE49-F238E27FC236}">
                <a16:creationId xmlns:a16="http://schemas.microsoft.com/office/drawing/2014/main" id="{32EFE25F-F906-DDE7-72EC-796C4889FE6C}"/>
              </a:ext>
            </a:extLst>
          </p:cNvPr>
          <p:cNvCxnSpPr>
            <a:cxnSpLocks/>
            <a:stCxn id="60" idx="1"/>
            <a:endCxn id="108" idx="3"/>
          </p:cNvCxnSpPr>
          <p:nvPr/>
        </p:nvCxnSpPr>
        <p:spPr>
          <a:xfrm rot="5400000" flipH="1" flipV="1">
            <a:off x="1724455" y="4506566"/>
            <a:ext cx="1261980" cy="1710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10">
            <a:extLst>
              <a:ext uri="{FF2B5EF4-FFF2-40B4-BE49-F238E27FC236}">
                <a16:creationId xmlns:a16="http://schemas.microsoft.com/office/drawing/2014/main" id="{7763F4DF-FCDE-5578-796A-8DAA92BD6D84}"/>
              </a:ext>
            </a:extLst>
          </p:cNvPr>
          <p:cNvCxnSpPr>
            <a:cxnSpLocks/>
            <a:stCxn id="64" idx="1"/>
            <a:endCxn id="108" idx="3"/>
          </p:cNvCxnSpPr>
          <p:nvPr/>
        </p:nvCxnSpPr>
        <p:spPr>
          <a:xfrm rot="16200000" flipV="1">
            <a:off x="2255592" y="3977139"/>
            <a:ext cx="1261980" cy="1060564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9C9E940-E7BC-62F7-72F5-720C23F325D5}"/>
              </a:ext>
            </a:extLst>
          </p:cNvPr>
          <p:cNvSpPr txBox="1"/>
          <p:nvPr/>
        </p:nvSpPr>
        <p:spPr>
          <a:xfrm>
            <a:off x="3379503" y="479811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供应商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94C9884-B25A-A062-C5EF-4A050E605572}"/>
              </a:ext>
            </a:extLst>
          </p:cNvPr>
          <p:cNvSpPr txBox="1"/>
          <p:nvPr/>
        </p:nvSpPr>
        <p:spPr>
          <a:xfrm>
            <a:off x="2328924" y="4798114"/>
            <a:ext cx="441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客户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51F5D8A-EB17-44EE-8200-8A039B7963A4}"/>
              </a:ext>
            </a:extLst>
          </p:cNvPr>
          <p:cNvSpPr txBox="1"/>
          <p:nvPr/>
        </p:nvSpPr>
        <p:spPr>
          <a:xfrm>
            <a:off x="683238" y="4798114"/>
            <a:ext cx="12588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物料</a:t>
            </a:r>
            <a:r>
              <a:rPr lang="en-US" altLang="zh-CN" sz="900" dirty="0"/>
              <a:t>\</a:t>
            </a:r>
            <a:r>
              <a:rPr lang="zh-CN" altLang="en-US" sz="900" dirty="0"/>
              <a:t>会计科目</a:t>
            </a:r>
            <a:r>
              <a:rPr lang="en-US" altLang="zh-CN" sz="900" dirty="0"/>
              <a:t>\… …</a:t>
            </a:r>
            <a:endParaRPr lang="zh-CN" altLang="en-US" sz="9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4AFBCFA-5934-5D98-383C-B95F960DC2C9}"/>
              </a:ext>
            </a:extLst>
          </p:cNvPr>
          <p:cNvSpPr txBox="1"/>
          <p:nvPr/>
        </p:nvSpPr>
        <p:spPr>
          <a:xfrm>
            <a:off x="3414719" y="2840076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AI</a:t>
            </a:r>
            <a:r>
              <a:rPr lang="zh-CN" altLang="en-US" sz="1100" b="1" dirty="0"/>
              <a:t>数据治理平台</a:t>
            </a:r>
          </a:p>
        </p:txBody>
      </p:sp>
      <p:sp>
        <p:nvSpPr>
          <p:cNvPr id="143" name="圆柱体 142">
            <a:extLst>
              <a:ext uri="{FF2B5EF4-FFF2-40B4-BE49-F238E27FC236}">
                <a16:creationId xmlns:a16="http://schemas.microsoft.com/office/drawing/2014/main" id="{1B0172E3-05A5-B10E-BBDA-4FE04ABC689A}"/>
              </a:ext>
            </a:extLst>
          </p:cNvPr>
          <p:cNvSpPr/>
          <p:nvPr/>
        </p:nvSpPr>
        <p:spPr>
          <a:xfrm>
            <a:off x="6898732" y="583301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 …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4CE19EFF-B6D3-46F3-827A-CB6187763D81}"/>
              </a:ext>
            </a:extLst>
          </p:cNvPr>
          <p:cNvCxnSpPr>
            <a:cxnSpLocks/>
            <a:stCxn id="143" idx="2"/>
            <a:endCxn id="62" idx="3"/>
          </p:cNvCxnSpPr>
          <p:nvPr/>
        </p:nvCxnSpPr>
        <p:spPr>
          <a:xfrm rot="10800000">
            <a:off x="6545692" y="3548161"/>
            <a:ext cx="353041" cy="242201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13">
            <a:extLst>
              <a:ext uri="{FF2B5EF4-FFF2-40B4-BE49-F238E27FC236}">
                <a16:creationId xmlns:a16="http://schemas.microsoft.com/office/drawing/2014/main" id="{DEDB87FB-CCFD-C76D-86B5-4730968F1936}"/>
              </a:ext>
            </a:extLst>
          </p:cNvPr>
          <p:cNvCxnSpPr>
            <a:cxnSpLocks/>
            <a:stCxn id="62" idx="1"/>
            <a:endCxn id="204" idx="4"/>
          </p:cNvCxnSpPr>
          <p:nvPr/>
        </p:nvCxnSpPr>
        <p:spPr>
          <a:xfrm flipH="1">
            <a:off x="5624090" y="3548161"/>
            <a:ext cx="243840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圆柱体 150">
            <a:extLst>
              <a:ext uri="{FF2B5EF4-FFF2-40B4-BE49-F238E27FC236}">
                <a16:creationId xmlns:a16="http://schemas.microsoft.com/office/drawing/2014/main" id="{6BA10CA5-8B32-3ADD-1B3A-1821C9B6924F}"/>
              </a:ext>
            </a:extLst>
          </p:cNvPr>
          <p:cNvSpPr/>
          <p:nvPr/>
        </p:nvSpPr>
        <p:spPr>
          <a:xfrm>
            <a:off x="2966684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WMS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圆柱体 152">
            <a:extLst>
              <a:ext uri="{FF2B5EF4-FFF2-40B4-BE49-F238E27FC236}">
                <a16:creationId xmlns:a16="http://schemas.microsoft.com/office/drawing/2014/main" id="{5E0CFA27-02E5-87A3-1AA8-C5E083CD7530}"/>
              </a:ext>
            </a:extLst>
          </p:cNvPr>
          <p:cNvSpPr/>
          <p:nvPr/>
        </p:nvSpPr>
        <p:spPr>
          <a:xfrm>
            <a:off x="3619851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预算系统</a:t>
            </a:r>
          </a:p>
        </p:txBody>
      </p:sp>
      <p:sp>
        <p:nvSpPr>
          <p:cNvPr id="155" name="圆柱体 154">
            <a:extLst>
              <a:ext uri="{FF2B5EF4-FFF2-40B4-BE49-F238E27FC236}">
                <a16:creationId xmlns:a16="http://schemas.microsoft.com/office/drawing/2014/main" id="{BACBEAFF-0264-F550-C82E-206EC0175768}"/>
              </a:ext>
            </a:extLst>
          </p:cNvPr>
          <p:cNvSpPr/>
          <p:nvPr/>
        </p:nvSpPr>
        <p:spPr>
          <a:xfrm>
            <a:off x="427302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6" name="连接符: 肘形 110">
            <a:extLst>
              <a:ext uri="{FF2B5EF4-FFF2-40B4-BE49-F238E27FC236}">
                <a16:creationId xmlns:a16="http://schemas.microsoft.com/office/drawing/2014/main" id="{D85A5EEB-6E93-BA84-3357-8D8BB8FB9BFB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 rot="16200000" flipH="1">
            <a:off x="1054795" y="5857307"/>
            <a:ext cx="515215" cy="54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10">
            <a:extLst>
              <a:ext uri="{FF2B5EF4-FFF2-40B4-BE49-F238E27FC236}">
                <a16:creationId xmlns:a16="http://schemas.microsoft.com/office/drawing/2014/main" id="{B263D64F-2AF3-6E07-2657-878EE326D359}"/>
              </a:ext>
            </a:extLst>
          </p:cNvPr>
          <p:cNvCxnSpPr>
            <a:cxnSpLocks/>
            <a:stCxn id="61" idx="3"/>
            <a:endCxn id="74" idx="1"/>
          </p:cNvCxnSpPr>
          <p:nvPr/>
        </p:nvCxnSpPr>
        <p:spPr>
          <a:xfrm rot="16200000" flipH="1">
            <a:off x="1381378" y="5530723"/>
            <a:ext cx="515215" cy="65371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10">
            <a:extLst>
              <a:ext uri="{FF2B5EF4-FFF2-40B4-BE49-F238E27FC236}">
                <a16:creationId xmlns:a16="http://schemas.microsoft.com/office/drawing/2014/main" id="{511B63B5-3F0B-6A99-D78D-DD2AAFBC298E}"/>
              </a:ext>
            </a:extLst>
          </p:cNvPr>
          <p:cNvCxnSpPr>
            <a:cxnSpLocks/>
            <a:stCxn id="61" idx="3"/>
            <a:endCxn id="119" idx="1"/>
          </p:cNvCxnSpPr>
          <p:nvPr/>
        </p:nvCxnSpPr>
        <p:spPr>
          <a:xfrm rot="16200000" flipH="1">
            <a:off x="1707962" y="5204140"/>
            <a:ext cx="515215" cy="130688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10">
            <a:extLst>
              <a:ext uri="{FF2B5EF4-FFF2-40B4-BE49-F238E27FC236}">
                <a16:creationId xmlns:a16="http://schemas.microsoft.com/office/drawing/2014/main" id="{DB1D7593-C884-F2E2-0921-9A4589BF30D6}"/>
              </a:ext>
            </a:extLst>
          </p:cNvPr>
          <p:cNvCxnSpPr>
            <a:cxnSpLocks/>
            <a:stCxn id="61" idx="3"/>
            <a:endCxn id="151" idx="1"/>
          </p:cNvCxnSpPr>
          <p:nvPr/>
        </p:nvCxnSpPr>
        <p:spPr>
          <a:xfrm rot="16200000" flipH="1">
            <a:off x="2034545" y="4877556"/>
            <a:ext cx="515215" cy="196004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连接符: 肘形 110">
            <a:extLst>
              <a:ext uri="{FF2B5EF4-FFF2-40B4-BE49-F238E27FC236}">
                <a16:creationId xmlns:a16="http://schemas.microsoft.com/office/drawing/2014/main" id="{44289C5F-D70C-6D7F-9015-0D73A234786D}"/>
              </a:ext>
            </a:extLst>
          </p:cNvPr>
          <p:cNvCxnSpPr>
            <a:cxnSpLocks/>
            <a:stCxn id="61" idx="3"/>
            <a:endCxn id="153" idx="1"/>
          </p:cNvCxnSpPr>
          <p:nvPr/>
        </p:nvCxnSpPr>
        <p:spPr>
          <a:xfrm rot="16200000" flipH="1">
            <a:off x="2361129" y="4550973"/>
            <a:ext cx="515215" cy="261321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10">
            <a:extLst>
              <a:ext uri="{FF2B5EF4-FFF2-40B4-BE49-F238E27FC236}">
                <a16:creationId xmlns:a16="http://schemas.microsoft.com/office/drawing/2014/main" id="{08B11AC2-A799-5057-D63F-43FD0DC55719}"/>
              </a:ext>
            </a:extLst>
          </p:cNvPr>
          <p:cNvCxnSpPr>
            <a:cxnSpLocks/>
            <a:stCxn id="61" idx="3"/>
            <a:endCxn id="155" idx="1"/>
          </p:cNvCxnSpPr>
          <p:nvPr/>
        </p:nvCxnSpPr>
        <p:spPr>
          <a:xfrm rot="16200000" flipH="1">
            <a:off x="2687713" y="4224388"/>
            <a:ext cx="515215" cy="326638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01329785-72AE-8CC1-02D1-7A566214A51C}"/>
              </a:ext>
            </a:extLst>
          </p:cNvPr>
          <p:cNvSpPr txBox="1"/>
          <p:nvPr/>
        </p:nvSpPr>
        <p:spPr>
          <a:xfrm>
            <a:off x="0" y="1021033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增量数据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5D67AD8-172C-53AA-FDA5-8BC5FD6FB0CE}"/>
              </a:ext>
            </a:extLst>
          </p:cNvPr>
          <p:cNvSpPr txBox="1"/>
          <p:nvPr/>
        </p:nvSpPr>
        <p:spPr>
          <a:xfrm>
            <a:off x="10066" y="1696796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存量数据</a:t>
            </a: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9373ACC1-E188-DB2C-85AE-F265A5924D8B}"/>
              </a:ext>
            </a:extLst>
          </p:cNvPr>
          <p:cNvSpPr/>
          <p:nvPr/>
        </p:nvSpPr>
        <p:spPr>
          <a:xfrm>
            <a:off x="457199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数据质量检查</a:t>
            </a: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3F26E998-694C-00BC-4492-31A29D38B1B6}"/>
              </a:ext>
            </a:extLst>
          </p:cNvPr>
          <p:cNvSpPr/>
          <p:nvPr/>
        </p:nvSpPr>
        <p:spPr>
          <a:xfrm>
            <a:off x="1662628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智能清洗</a:t>
            </a: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4D23646E-6843-FEFA-9B5E-0F0F731BCC41}"/>
              </a:ext>
            </a:extLst>
          </p:cNvPr>
          <p:cNvSpPr/>
          <p:nvPr/>
        </p:nvSpPr>
        <p:spPr>
          <a:xfrm>
            <a:off x="2868057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数据标准管理</a:t>
            </a: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D2BF8B39-5EC0-346A-2B7B-BDE34CDAD2FC}"/>
              </a:ext>
            </a:extLst>
          </p:cNvPr>
          <p:cNvSpPr/>
          <p:nvPr/>
        </p:nvSpPr>
        <p:spPr>
          <a:xfrm>
            <a:off x="4073486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数据建模</a:t>
            </a:r>
          </a:p>
        </p:txBody>
      </p:sp>
      <p:sp>
        <p:nvSpPr>
          <p:cNvPr id="204" name="圆柱体 203">
            <a:extLst>
              <a:ext uri="{FF2B5EF4-FFF2-40B4-BE49-F238E27FC236}">
                <a16:creationId xmlns:a16="http://schemas.microsoft.com/office/drawing/2014/main" id="{45BEC166-29A9-AA36-6D0C-BE7D687AC27D}"/>
              </a:ext>
            </a:extLst>
          </p:cNvPr>
          <p:cNvSpPr/>
          <p:nvPr/>
        </p:nvSpPr>
        <p:spPr>
          <a:xfrm>
            <a:off x="4946328" y="3296411"/>
            <a:ext cx="677762" cy="505238"/>
          </a:xfrm>
          <a:prstGeom prst="can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</a:rPr>
              <a:t>元数据</a:t>
            </a:r>
          </a:p>
        </p:txBody>
      </p:sp>
      <p:cxnSp>
        <p:nvCxnSpPr>
          <p:cNvPr id="205" name="连接符: 肘形 113">
            <a:extLst>
              <a:ext uri="{FF2B5EF4-FFF2-40B4-BE49-F238E27FC236}">
                <a16:creationId xmlns:a16="http://schemas.microsoft.com/office/drawing/2014/main" id="{36B85021-FC0C-8EBC-7E38-25BB53A801CD}"/>
              </a:ext>
            </a:extLst>
          </p:cNvPr>
          <p:cNvCxnSpPr>
            <a:cxnSpLocks/>
            <a:stCxn id="204" idx="2"/>
            <a:endCxn id="110" idx="3"/>
          </p:cNvCxnSpPr>
          <p:nvPr/>
        </p:nvCxnSpPr>
        <p:spPr>
          <a:xfrm flipH="1" flipV="1">
            <a:off x="4654651" y="3548161"/>
            <a:ext cx="291677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82A30E34-8371-0C76-7DA1-20B423CC855D}"/>
              </a:ext>
            </a:extLst>
          </p:cNvPr>
          <p:cNvSpPr/>
          <p:nvPr/>
        </p:nvSpPr>
        <p:spPr>
          <a:xfrm>
            <a:off x="5278915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任务管理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16004959-1117-1617-5177-63C1DEB366D1}"/>
              </a:ext>
            </a:extLst>
          </p:cNvPr>
          <p:cNvSpPr/>
          <p:nvPr/>
        </p:nvSpPr>
        <p:spPr>
          <a:xfrm>
            <a:off x="5278915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主动治理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3AE7DB07-720E-522F-AC18-11E3E970CE8C}"/>
              </a:ext>
            </a:extLst>
          </p:cNvPr>
          <p:cNvSpPr/>
          <p:nvPr/>
        </p:nvSpPr>
        <p:spPr>
          <a:xfrm>
            <a:off x="6484342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FF976D06-421A-6FAB-E590-66E11D22F40D}"/>
              </a:ext>
            </a:extLst>
          </p:cNvPr>
          <p:cNvSpPr/>
          <p:nvPr/>
        </p:nvSpPr>
        <p:spPr>
          <a:xfrm>
            <a:off x="6484342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知识沉淀</a:t>
            </a:r>
          </a:p>
        </p:txBody>
      </p:sp>
      <p:sp>
        <p:nvSpPr>
          <p:cNvPr id="230" name="左大括号 229">
            <a:extLst>
              <a:ext uri="{FF2B5EF4-FFF2-40B4-BE49-F238E27FC236}">
                <a16:creationId xmlns:a16="http://schemas.microsoft.com/office/drawing/2014/main" id="{528C3AA9-A5D8-FEB3-19E7-B6C542CE7D84}"/>
              </a:ext>
            </a:extLst>
          </p:cNvPr>
          <p:cNvSpPr/>
          <p:nvPr/>
        </p:nvSpPr>
        <p:spPr>
          <a:xfrm rot="16200000">
            <a:off x="4391176" y="-1575181"/>
            <a:ext cx="291834" cy="8360200"/>
          </a:xfrm>
          <a:prstGeom prst="leftBrace">
            <a:avLst>
              <a:gd name="adj1" fmla="val 8333"/>
              <a:gd name="adj2" fmla="val 434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圆柱体 231">
            <a:extLst>
              <a:ext uri="{FF2B5EF4-FFF2-40B4-BE49-F238E27FC236}">
                <a16:creationId xmlns:a16="http://schemas.microsoft.com/office/drawing/2014/main" id="{2A67F593-111B-35B5-E953-B5110750D740}"/>
              </a:ext>
            </a:extLst>
          </p:cNvPr>
          <p:cNvSpPr/>
          <p:nvPr/>
        </p:nvSpPr>
        <p:spPr>
          <a:xfrm>
            <a:off x="1903424" y="4282644"/>
            <a:ext cx="866646" cy="461750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MDM/MDG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131">
            <a:extLst>
              <a:ext uri="{FF2B5EF4-FFF2-40B4-BE49-F238E27FC236}">
                <a16:creationId xmlns:a16="http://schemas.microsoft.com/office/drawing/2014/main" id="{BE8EE10F-EBB7-8C7C-DF90-75C7A8E545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20962" y="2785717"/>
            <a:ext cx="723275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 anchor="t">
            <a:spAutoFit/>
          </a:bodyPr>
          <a:lstStyle/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规章制度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业务流程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绩效考核体系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endParaRPr lang="zh-CN" altLang="en-US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6684BBA-01C2-5A7A-6D3F-9C41A7BC46DD}"/>
              </a:ext>
            </a:extLst>
          </p:cNvPr>
          <p:cNvCxnSpPr>
            <a:cxnSpLocks/>
            <a:stCxn id="5" idx="1"/>
            <a:endCxn id="62" idx="3"/>
          </p:cNvCxnSpPr>
          <p:nvPr/>
        </p:nvCxnSpPr>
        <p:spPr>
          <a:xfrm rot="10800000" flipV="1">
            <a:off x="6545692" y="3047327"/>
            <a:ext cx="275271" cy="50083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B8DAD31F-BE08-4BBF-601E-0931323B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250" y="2649846"/>
            <a:ext cx="510117" cy="490746"/>
          </a:xfrm>
          <a:prstGeom prst="rect">
            <a:avLst/>
          </a:prstGeom>
        </p:spPr>
      </p:pic>
      <p:cxnSp>
        <p:nvCxnSpPr>
          <p:cNvPr id="11" name="连接符: 肘形 113">
            <a:extLst>
              <a:ext uri="{FF2B5EF4-FFF2-40B4-BE49-F238E27FC236}">
                <a16:creationId xmlns:a16="http://schemas.microsoft.com/office/drawing/2014/main" id="{50F1AB3F-24A7-3965-8B78-F2C3E8CF6A10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>
            <a:off x="2659367" y="2895219"/>
            <a:ext cx="631660" cy="652942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0F72A1-39ED-0596-7F48-7D04AB1D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293"/>
            <a:ext cx="12192000" cy="59931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ED77D7-4A67-66BF-B96F-1CA8B6A88B6C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：数据健康检查</a:t>
            </a:r>
          </a:p>
        </p:txBody>
      </p:sp>
    </p:spTree>
    <p:extLst>
      <p:ext uri="{BB962C8B-B14F-4D97-AF65-F5344CB8AC3E}">
        <p14:creationId xmlns:p14="http://schemas.microsoft.com/office/powerpoint/2010/main" val="214171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3120D1-EB0D-D8F5-F54E-3943B1B2F506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：⾃动化清洗与修复数据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D28367-064B-A762-EF4B-80DDDD33EBC8}"/>
              </a:ext>
            </a:extLst>
          </p:cNvPr>
          <p:cNvSpPr txBox="1"/>
          <p:nvPr/>
        </p:nvSpPr>
        <p:spPr>
          <a:xfrm>
            <a:off x="311585" y="751808"/>
            <a:ext cx="9214459" cy="102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适⽤：根据数据标准和元数据，针对</a:t>
            </a:r>
            <a:r>
              <a:rPr lang="en-US" altLang="zh-CN" sz="1400" dirty="0"/>
              <a:t>CSV</a:t>
            </a:r>
            <a:r>
              <a:rPr lang="zh-CN" altLang="en-US" sz="1400" dirty="0"/>
              <a:t>、</a:t>
            </a:r>
            <a:r>
              <a:rPr lang="en-US" altLang="zh-CN" sz="1400" dirty="0"/>
              <a:t>Excel</a:t>
            </a:r>
            <a:r>
              <a:rPr lang="zh-CN" altLang="en-US" sz="1400" dirty="0"/>
              <a:t>、数据库等结构化数据，解决重复值、缺失值、格式错误、异常值（如超出合理范围的数值）等问题</a:t>
            </a:r>
            <a:endParaRPr lang="en-US" altLang="zh-CN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2EB7F6-3DD9-D313-9710-AFC89D8E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432" y="3716819"/>
            <a:ext cx="4008969" cy="26316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084831"/>
            <a:ext cx="210312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微软雅黑"/>
              </a:rPr>
              <a:t>数据问题识别</a:t>
            </a:r>
          </a:p>
        </p:txBody>
      </p:sp>
      <p:sp>
        <p:nvSpPr>
          <p:cNvPr id="13" name="Oval 12"/>
          <p:cNvSpPr/>
          <p:nvPr/>
        </p:nvSpPr>
        <p:spPr>
          <a:xfrm>
            <a:off x="521207" y="2706624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角色：专业 AI 数据清洗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任务：自动排查重复值、缺失值、格式错误（日期/数值/文本）、异常值，按「问题类型 | 列名 | 描述」结构化列出，尽量不遗漏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05456" y="3822191"/>
            <a:ext cx="219456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24911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9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4911" y="2084831"/>
            <a:ext cx="2103120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62071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F9E63"/>
                </a:solidFill>
                <a:latin typeface="微软雅黑"/>
              </a:rPr>
              <a:t>清洗指令生成</a:t>
            </a:r>
          </a:p>
        </p:txBody>
      </p:sp>
      <p:sp>
        <p:nvSpPr>
          <p:cNvPr id="19" name="Oval 18"/>
          <p:cNvSpPr/>
          <p:nvPr/>
        </p:nvSpPr>
        <p:spPr>
          <a:xfrm>
            <a:off x="2862071" y="2706624"/>
            <a:ext cx="329184" cy="329184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1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数据清洗 Agent（精通 pandas）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任务：根据识别的问题生成可直接运行的清洗代码，统一数据格式、清除异常，代码末尾返回清洗后数据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6319" y="3822191"/>
            <a:ext cx="219456" cy="274320"/>
          </a:xfrm>
          <a:prstGeom prst="rightArrow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65775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65775" y="2084831"/>
            <a:ext cx="2103120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02936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/>
              </a:rPr>
              <a:t>清洗效果校验</a:t>
            </a:r>
          </a:p>
        </p:txBody>
      </p:sp>
      <p:sp>
        <p:nvSpPr>
          <p:cNvPr id="25" name="Oval 24"/>
          <p:cNvSpPr/>
          <p:nvPr/>
        </p:nvSpPr>
        <p:spPr>
          <a:xfrm>
            <a:off x="5202936" y="2706624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182112"/>
            <a:ext cx="18288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数据质量校验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任务：对比原始问题与清洗结果，输出校验报告（完成率 / 准确率 / 未解决问题）；有未解决则补充优化代码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61081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ED7D31"/>
                </a:solidFill>
                <a:latin typeface="微软雅黑"/>
              </a:rPr>
              <a:t>未解决问题 → 补充优化代码，直到校验通过</a:t>
            </a:r>
          </a:p>
        </p:txBody>
      </p:sp>
    </p:spTree>
    <p:extLst>
      <p:ext uri="{BB962C8B-B14F-4D97-AF65-F5344CB8AC3E}">
        <p14:creationId xmlns:p14="http://schemas.microsoft.com/office/powerpoint/2010/main" val="503054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6109-9AAE-B43B-75F8-8CAA95D3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75BA55-B5AA-9871-9D6E-8E74EDC6810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：智能查数</a:t>
            </a:r>
            <a:r>
              <a:rPr lang="en-US" altLang="zh-CN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创建新数据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EEC47-2A09-CFF5-A7CE-F259B331CAEB}"/>
              </a:ext>
            </a:extLst>
          </p:cNvPr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适⽤：对话框即界面，拍照上传 </a:t>
            </a:r>
            <a:r>
              <a:rPr lang="en-US" altLang="zh-CN" sz="1100" dirty="0" b="0">
                <a:solidFill>
                  <a:srgbClr val="475569"/>
                </a:solidFill>
                <a:latin typeface="微软雅黑"/>
                <a:ea typeface="微软雅黑"/>
              </a:rPr>
              <a:t>/ </a:t>
            </a: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复制粘贴 </a:t>
            </a:r>
            <a:r>
              <a:rPr lang="en-US" altLang="zh-CN" sz="1100" dirty="0" b="0">
                <a:solidFill>
                  <a:srgbClr val="475569"/>
                </a:solidFill>
                <a:latin typeface="微软雅黑"/>
                <a:ea typeface="微软雅黑"/>
              </a:rPr>
              <a:t>/ </a:t>
            </a: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语音表达意图，都可以模糊查询 → 智能查数 → 新建物料 → 自动提交。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5000" y="1296000"/>
            <a:ext cx="7757999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39000" y="1143000"/>
            <a:ext cx="306000" cy="306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" y="1503000"/>
            <a:ext cx="1440000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多模态识别</a:t>
            </a:r>
          </a:p>
        </p:txBody>
      </p:sp>
      <p:sp>
        <p:nvSpPr>
          <p:cNvPr id="9" name="Oval 8"/>
          <p:cNvSpPr/>
          <p:nvPr/>
        </p:nvSpPr>
        <p:spPr>
          <a:xfrm>
            <a:off x="2655000" y="1143000"/>
            <a:ext cx="306000" cy="306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8000" y="1503000"/>
            <a:ext cx="1440000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智能匹配</a:t>
            </a:r>
          </a:p>
        </p:txBody>
      </p:sp>
      <p:sp>
        <p:nvSpPr>
          <p:cNvPr id="11" name="Oval 10"/>
          <p:cNvSpPr/>
          <p:nvPr/>
        </p:nvSpPr>
        <p:spPr>
          <a:xfrm>
            <a:off x="4670999" y="1143000"/>
            <a:ext cx="306000" cy="306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3999" y="1503000"/>
            <a:ext cx="1440000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填写编码申请</a:t>
            </a:r>
          </a:p>
        </p:txBody>
      </p:sp>
      <p:sp>
        <p:nvSpPr>
          <p:cNvPr id="13" name="Oval 12"/>
          <p:cNvSpPr/>
          <p:nvPr/>
        </p:nvSpPr>
        <p:spPr>
          <a:xfrm>
            <a:off x="6686999" y="1143000"/>
            <a:ext cx="306000" cy="306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9999" y="1503000"/>
            <a:ext cx="1440000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MDM规范性检查</a:t>
            </a:r>
          </a:p>
        </p:txBody>
      </p:sp>
      <p:sp>
        <p:nvSpPr>
          <p:cNvPr id="15" name="Oval 14"/>
          <p:cNvSpPr/>
          <p:nvPr/>
        </p:nvSpPr>
        <p:spPr>
          <a:xfrm>
            <a:off x="8702999" y="1143000"/>
            <a:ext cx="306000" cy="306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5999" y="1503000"/>
            <a:ext cx="1440000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提交审核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81000" y="1296000"/>
            <a:ext cx="386999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4000" y="1098000"/>
            <a:ext cx="1080000" cy="3960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1100" b="1">
                <a:solidFill>
                  <a:srgbClr val="475569"/>
                </a:solidFill>
                <a:latin typeface="微软雅黑"/>
                <a:ea typeface="微软雅黑"/>
              </a:rPr>
              <a:t>OA / ERP</a:t>
            </a:r>
          </a:p>
        </p:txBody>
      </p:sp>
      <p:pic>
        <p:nvPicPr>
          <p:cNvPr id="19" name="Picture 18" descr="p15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1944000"/>
            <a:ext cx="5400000" cy="4387500"/>
          </a:xfrm>
          <a:prstGeom prst="rect">
            <a:avLst/>
          </a:prstGeom>
        </p:spPr>
      </p:pic>
      <p:pic>
        <p:nvPicPr>
          <p:cNvPr id="20" name="Picture 19" descr="p15_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000" y="1944000"/>
            <a:ext cx="4140000" cy="414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2000" y="6385499"/>
            <a:ext cx="5400000" cy="216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拍照 / 粘贴 / 语音输入，AI 识别铭牌并匹配相似编码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2000" y="6137999"/>
            <a:ext cx="4140000" cy="216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AI 自动填充字段，人工核对后提交</a:t>
            </a:r>
          </a:p>
        </p:txBody>
      </p:sp>
    </p:spTree>
    <p:extLst>
      <p:ext uri="{BB962C8B-B14F-4D97-AF65-F5344CB8AC3E}">
        <p14:creationId xmlns:p14="http://schemas.microsoft.com/office/powerpoint/2010/main" val="68918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20D2A-9B36-0DEB-CE71-E353CE02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3AD976-B16A-8E6C-C69B-D7F0624F275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：主动管理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EDC72-8574-C381-488E-D15D7D52E36F}"/>
              </a:ext>
            </a:extLst>
          </p:cNvPr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适⽤：推送待办、数据质量报告、清洗方案、分发失败原因、标准体系调整建议。                         </a:t>
            </a:r>
          </a:p>
        </p:txBody>
      </p:sp>
      <p:pic>
        <p:nvPicPr>
          <p:cNvPr id="6" name="Picture 5" descr="p16_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188000"/>
            <a:ext cx="7020000" cy="4618421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8262000" y="1620000"/>
            <a:ext cx="0" cy="234000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100000" y="1295999"/>
            <a:ext cx="324000" cy="324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2000" y="1296000"/>
            <a:ext cx="3167999" cy="251999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1200" b="1">
                <a:solidFill>
                  <a:srgbClr val="1B3A5C"/>
                </a:solidFill>
                <a:latin typeface="微软雅黑"/>
                <a:ea typeface="微软雅黑"/>
              </a:rPr>
              <a:t>推送待办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2000" y="1530000"/>
            <a:ext cx="3167999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异常和待办主动推送给责任人</a:t>
            </a:r>
          </a:p>
        </p:txBody>
      </p:sp>
      <p:sp>
        <p:nvSpPr>
          <p:cNvPr id="11" name="Oval 10"/>
          <p:cNvSpPr/>
          <p:nvPr/>
        </p:nvSpPr>
        <p:spPr>
          <a:xfrm>
            <a:off x="8100000" y="1962000"/>
            <a:ext cx="324000" cy="324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2000" y="1962000"/>
            <a:ext cx="3167999" cy="251999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1200" b="1">
                <a:solidFill>
                  <a:srgbClr val="1B3A5C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2000" y="2196000"/>
            <a:ext cx="3167999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数据质量日报、周报自动生成</a:t>
            </a:r>
          </a:p>
        </p:txBody>
      </p:sp>
      <p:sp>
        <p:nvSpPr>
          <p:cNvPr id="14" name="Oval 13"/>
          <p:cNvSpPr/>
          <p:nvPr/>
        </p:nvSpPr>
        <p:spPr>
          <a:xfrm>
            <a:off x="8100000" y="2628000"/>
            <a:ext cx="324000" cy="324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2000" y="2628000"/>
            <a:ext cx="3167999" cy="251999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1200" b="1">
                <a:solidFill>
                  <a:srgbClr val="1B3A5C"/>
                </a:solidFill>
                <a:latin typeface="微软雅黑"/>
                <a:ea typeface="微软雅黑"/>
              </a:rPr>
              <a:t>清洗方案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2000" y="2862000"/>
            <a:ext cx="3167999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AI 发现问题并给出清洗建议</a:t>
            </a:r>
          </a:p>
        </p:txBody>
      </p:sp>
      <p:sp>
        <p:nvSpPr>
          <p:cNvPr id="17" name="Oval 16"/>
          <p:cNvSpPr/>
          <p:nvPr/>
        </p:nvSpPr>
        <p:spPr>
          <a:xfrm>
            <a:off x="8100000" y="3294000"/>
            <a:ext cx="324000" cy="324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2000" y="3294000"/>
            <a:ext cx="3167999" cy="251999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1200" b="1">
                <a:solidFill>
                  <a:srgbClr val="1B3A5C"/>
                </a:solidFill>
                <a:latin typeface="微软雅黑"/>
                <a:ea typeface="微软雅黑"/>
              </a:rPr>
              <a:t>分发告警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2000" y="3528000"/>
            <a:ext cx="3167999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分发失败即时告警并附原因</a:t>
            </a:r>
          </a:p>
        </p:txBody>
      </p:sp>
      <p:sp>
        <p:nvSpPr>
          <p:cNvPr id="20" name="Oval 19"/>
          <p:cNvSpPr/>
          <p:nvPr/>
        </p:nvSpPr>
        <p:spPr>
          <a:xfrm>
            <a:off x="8100000" y="3960000"/>
            <a:ext cx="324000" cy="324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2000" y="3960000"/>
            <a:ext cx="3167999" cy="251999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1200" b="1">
                <a:solidFill>
                  <a:srgbClr val="1B3A5C"/>
                </a:solidFill>
                <a:latin typeface="微软雅黑"/>
                <a:ea typeface="微软雅黑"/>
              </a:rPr>
              <a:t>标准建议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2000" y="4194000"/>
            <a:ext cx="3167999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标准体系调整建议，待人工评审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62000" y="4320000"/>
            <a:ext cx="0" cy="5400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92000" y="4428000"/>
            <a:ext cx="3816000" cy="3600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1000" b="1">
                <a:solidFill>
                  <a:srgbClr val="475569"/>
                </a:solidFill>
                <a:latin typeface="微软雅黑"/>
                <a:ea typeface="微软雅黑"/>
              </a:rPr>
              <a:t>邮件 / IM / 站内信推送</a:t>
            </a:r>
          </a:p>
        </p:txBody>
      </p:sp>
    </p:spTree>
    <p:extLst>
      <p:ext uri="{BB962C8B-B14F-4D97-AF65-F5344CB8AC3E}">
        <p14:creationId xmlns:p14="http://schemas.microsoft.com/office/powerpoint/2010/main" val="348044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方案总体架构：五层架构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33856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L1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对话式治理门户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移动端拍照录入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IM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集成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153412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2E9E97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L2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智能体层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主数据治理智能体集群（标准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查重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影响分析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问答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72968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L3 AI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能力层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多模态大模型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领域模型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小模型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本体模型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知识库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向量库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192524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L4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主数据服务层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主数据管理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质量监控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分发订阅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L5 集成层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ERP（SAP / 金蝶 / 用友）· MES · WMS · PLM · 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注：L2/L3 为 AI 增量能力，L4/L5 与现有主数据平台及业务系统对接。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133856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53412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242773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344728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92524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①：对话式治理入口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查编码、提申请、改属性在一个对话框完成，审批仍走现有流程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880000"/>
            <a:ext cx="3282696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多模态录入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拍照识别铭牌和图纸；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粘贴文本自动解析，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自动填到对应字段里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2880000"/>
            <a:ext cx="3282696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智能查重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录入时实时查重，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把相似历史编码列出来，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避免重复建档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19872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880000"/>
            <a:ext cx="3282696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填单辅助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自动补全属性，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推荐分类和编码，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业务人员不用记全所有字段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对话式交互理念借鉴中翰软件（据其官方发布），按制造业物料场景重新设计</a:t>
            </a:r>
          </a:p>
        </p:txBody>
      </p:sp>
      <p:pic>
        <p:nvPicPr>
          <p:cNvPr id="18" name="Picture 17" descr="icon_multi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000" y="1908000"/>
            <a:ext cx="792000" cy="792000"/>
          </a:xfrm>
          <a:prstGeom prst="rect">
            <a:avLst/>
          </a:prstGeom>
        </p:spPr>
      </p:pic>
      <p:pic>
        <p:nvPicPr>
          <p:cNvPr id="19" name="Picture 18" descr="icon_ded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000" y="1908000"/>
            <a:ext cx="792000" cy="792000"/>
          </a:xfrm>
          <a:prstGeom prst="rect">
            <a:avLst/>
          </a:prstGeom>
        </p:spPr>
      </p:pic>
      <p:pic>
        <p:nvPicPr>
          <p:cNvPr id="20" name="Picture 19" descr="icon_formass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0000" y="1908000"/>
            <a:ext cx="792000" cy="79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核心设计</a:t>
            </a:r>
            <a:r>
              <a:rPr sz="2400" b="1" dirty="0">
                <a:solidFill>
                  <a:srgbClr val="1F4E79"/>
                </a:solidFill>
                <a:latin typeface="微软雅黑"/>
                <a:ea typeface="微软雅黑"/>
              </a:rPr>
              <a:t> ②：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治理智能体集群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300" b="1" dirty="0">
                <a:solidFill>
                  <a:srgbClr val="333333"/>
                </a:solidFill>
                <a:latin typeface="微软雅黑"/>
                <a:ea typeface="微软雅黑"/>
              </a:rPr>
              <a:t>7 个智能体分工负责标准、建模、查重、质量、分发、影响分析和问答，由 AI 助手统一调度。</a:t>
            </a:r>
            <a:endParaRPr sz="13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81328"/>
          <a:ext cx="11277295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智能体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标准管理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数据标准生成与维护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数据建模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属性模板设计与管理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智能查重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重复 / 近似物料识别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质量监控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数据异常检测与预警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分发编排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新增 / 变更 / 冻结事件驱动分发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影响分析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变更影响分析（BOM / 工艺 / 库存 / 订单）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治理问答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治理规则问答与流程指引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548640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关键特征：一次请求可触发多个 Agent 并行处理、互相校验，不用一个传一个地等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③：多模型融合技术底座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000" y="2052000"/>
            <a:ext cx="32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多模态大模型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看懂图纸、铭牌照片和自然语言描述，把非结构化信息变成标准字段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88536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0000" y="2052000"/>
            <a:ext cx="32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领域模型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固化物料分类体系和命名规范，分类编码不靠个人经验</a:t>
            </a:r>
            <a:endParaRPr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9872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6000" y="2052000"/>
            <a:ext cx="32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zh-CN" altLang="en-US" sz="1450" b="1" dirty="0">
                <a:solidFill>
                  <a:srgbClr val="1F4E79"/>
                </a:solidFill>
                <a:latin typeface="微软雅黑"/>
                <a:ea typeface="微软雅黑"/>
              </a:rPr>
              <a:t>数据模型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承担查重、异常检测这类高频判断，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延迟低、成本也低，不必每次都调用大模型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000" y="4140000"/>
            <a:ext cx="5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本体模型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描述物料与 BOM、工艺、供应商之间的关系，支撑变更影响分析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2375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7239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8000" y="4140000"/>
            <a:ext cx="5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知识库 + 向量库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标准文档和历史案例通过 RAG 检索，回答有依据、可溯源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分工原则：不是所有任务都值得用大模型——高频判断走小模型，理解和交互走大模型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999" y="1314000"/>
            <a:ext cx="648000" cy="648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0" y="1314000"/>
            <a:ext cx="648000" cy="6480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000" y="1314000"/>
            <a:ext cx="648000" cy="6480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6000" y="3401999"/>
            <a:ext cx="648000" cy="6480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0000" y="3401999"/>
            <a:ext cx="64800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④：主动式数据质量管理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 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持续监控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质量指标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4268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3432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 预警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主动推送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0500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9664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 诊断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定位分发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失败原因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6732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25896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 建议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生成清洗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2964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82128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 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人工确认后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自动清洗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69196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 复核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规则回流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77295" cy="96012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575304"/>
            <a:ext cx="50292" cy="66751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538728"/>
            <a:ext cx="1094811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闭环要点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预警和诊断由 AI 主动发起；清洗方案必须人确认后才执行；复核结果用来调整监控阈值和规则，不用人手动改。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负责发现和建议，清洗执行必须等人确认，复核结果再回来优化规则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制造业落地场景：六大治理对象 + 三个小切口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六大治理对象（与主数据治理专题范围一致）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物料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BOM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工艺路线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员工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试点建议：三个小切口（见效快、可量化、便于推广）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重复物料检测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对存量物料库智能查重，输出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重复 / 近似清单，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结果直接给采购合并同款、减少重复采购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分类与属性推荐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新增物料自动推荐分类、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属性与编码，提升一致性，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业务人员不用死记字段和编码规则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8856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数据质量预警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异常检测和主动预警，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异常早发现、早处理，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避免脏数据流到下游系统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可信与可控：白盒 + 人机协同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556000"/>
            <a:ext cx="3282696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白盒可追溯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智能体每一步操作和判断依据都留痕，可查看、可回溯；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借鉴用友白盒思路，不给黑箱结论。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2556000"/>
            <a:ext cx="3282696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人在回路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AI 只给建议，不直接生效：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新增、冻结、批量清洗这些关键动作，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必须人工确认后才执行。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556000"/>
            <a:ext cx="3282696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权限与审计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按角色分级授权，操作进审计日志，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全程留痕，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满足内控和外部审计要求。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原则：AI 做建议和执行，人做取舍和确认；出了问题查得到是谁、在哪一步确认的</a:t>
            </a:r>
          </a:p>
        </p:txBody>
      </p:sp>
      <p:pic>
        <p:nvPicPr>
          <p:cNvPr id="17" name="Picture 16" descr="icon_white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000" y="1584000"/>
            <a:ext cx="792000" cy="792000"/>
          </a:xfrm>
          <a:prstGeom prst="rect">
            <a:avLst/>
          </a:prstGeom>
        </p:spPr>
      </p:pic>
      <p:pic>
        <p:nvPicPr>
          <p:cNvPr id="18" name="Picture 17" descr="icon_humanlo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000" y="1584000"/>
            <a:ext cx="792000" cy="792000"/>
          </a:xfrm>
          <a:prstGeom prst="rect">
            <a:avLst/>
          </a:prstGeom>
        </p:spPr>
      </p:pic>
      <p:pic>
        <p:nvPicPr>
          <p:cNvPr id="19" name="Picture 18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0000" y="1584000"/>
            <a:ext cx="792000" cy="79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价值度量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130552" cy="1569111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52728"/>
            <a:ext cx="1801368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效率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建档与变更周期缩短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建档周期缩短率（待实测）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变更同步及时率（待实测）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252728"/>
            <a:ext cx="18013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成本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重复采购与呆滞库存下降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重复物料下降率（待实测）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252728"/>
            <a:ext cx="2043684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质量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准确率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完整率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一致率提升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数据质量得分提升（待实测）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252728"/>
            <a:ext cx="1801368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风控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变更可追溯、可审计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风险识别率</a:t>
            </a:r>
            <a:endParaRPr sz="110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0" y="1155801"/>
            <a:ext cx="2130552" cy="1543509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56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2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战略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把主数据管准，后面的 AI 应用才站得住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23AF71E-6583-A2D3-94D3-DBC899FCB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73092"/>
              </p:ext>
            </p:extLst>
          </p:nvPr>
        </p:nvGraphicFramePr>
        <p:xfrm>
          <a:off x="457200" y="3287273"/>
          <a:ext cx="11257399" cy="2867315"/>
        </p:xfrm>
        <a:graphic>
          <a:graphicData uri="http://schemas.openxmlformats.org/drawingml/2006/table">
            <a:tbl>
              <a:tblPr/>
              <a:tblGrid>
                <a:gridCol w="526617">
                  <a:extLst>
                    <a:ext uri="{9D8B030D-6E8A-4147-A177-3AD203B41FA5}">
                      <a16:colId xmlns:a16="http://schemas.microsoft.com/office/drawing/2014/main" val="4061452775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119518010"/>
                    </a:ext>
                  </a:extLst>
                </a:gridCol>
                <a:gridCol w="1460494">
                  <a:extLst>
                    <a:ext uri="{9D8B030D-6E8A-4147-A177-3AD203B41FA5}">
                      <a16:colId xmlns:a16="http://schemas.microsoft.com/office/drawing/2014/main" val="869055191"/>
                    </a:ext>
                  </a:extLst>
                </a:gridCol>
                <a:gridCol w="772749">
                  <a:extLst>
                    <a:ext uri="{9D8B030D-6E8A-4147-A177-3AD203B41FA5}">
                      <a16:colId xmlns:a16="http://schemas.microsoft.com/office/drawing/2014/main" val="277048278"/>
                    </a:ext>
                  </a:extLst>
                </a:gridCol>
                <a:gridCol w="1414283">
                  <a:extLst>
                    <a:ext uri="{9D8B030D-6E8A-4147-A177-3AD203B41FA5}">
                      <a16:colId xmlns:a16="http://schemas.microsoft.com/office/drawing/2014/main" val="1319981886"/>
                    </a:ext>
                  </a:extLst>
                </a:gridCol>
                <a:gridCol w="2119210">
                  <a:extLst>
                    <a:ext uri="{9D8B030D-6E8A-4147-A177-3AD203B41FA5}">
                      <a16:colId xmlns:a16="http://schemas.microsoft.com/office/drawing/2014/main" val="2778380364"/>
                    </a:ext>
                  </a:extLst>
                </a:gridCol>
                <a:gridCol w="2102654">
                  <a:extLst>
                    <a:ext uri="{9D8B030D-6E8A-4147-A177-3AD203B41FA5}">
                      <a16:colId xmlns:a16="http://schemas.microsoft.com/office/drawing/2014/main" val="781538765"/>
                    </a:ext>
                  </a:extLst>
                </a:gridCol>
                <a:gridCol w="2052985">
                  <a:extLst>
                    <a:ext uri="{9D8B030D-6E8A-4147-A177-3AD203B41FA5}">
                      <a16:colId xmlns:a16="http://schemas.microsoft.com/office/drawing/2014/main" val="3617869705"/>
                    </a:ext>
                  </a:extLst>
                </a:gridCol>
              </a:tblGrid>
              <a:tr h="2602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指标编码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指标名称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指标类别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所属领域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指标定义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计算逻辑/公式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阈值范围（合格/预警/异常）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45688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数据解析准确率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AI多模态大模型对各类数据（文本、图像等）解析正确的数量占总解析数据量的比例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（解析正确的数据量÷总解析数据量）×100%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合格≥98%；预警95%-97.9%；异常＜95%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91259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数据治理效率提升率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效率指标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AI数据治理-整体架构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采用AI数据治理Agent架构后，治理效率较传统人工+工具模式的提升比例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（传统模式治理耗时-AI模式治理耗时）÷传统模式治理耗时×100%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合格≥60%；预警50%-59.9%；异常＜50%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65262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AI数据治理-核心模块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经过Agent治理后，符合数据质量标准（准确、完整、一致等）的数据量占总数据量的比例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（治理后合格数据量÷治理总数据量）×100%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合格≥98%；预警96%-97.9%；异常＜96%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18328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决策响应时间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Agent接收感知模块信息后，完成治理策略决策的平均耗时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单次决策耗时总和÷决策总次数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合格≤1秒；预警1.01-1.5秒；异常＞1.5秒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42533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识别</a:t>
                      </a: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合规风控指标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AI数据治理-合规风控模块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数据治理全流程中，Agent监测到的合规风险事件数占总治理事件数的比例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（合规风险事件数÷总治理事件数）×100%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合格≤1%；预警1.01-3%；异常＞3%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54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2"/>
            </p:custDataLst>
          </p:nvPr>
        </p:nvSpPr>
        <p:spPr>
          <a:xfrm>
            <a:off x="1718628" y="1728470"/>
            <a:ext cx="8754745" cy="8604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庞门正道标题体" panose="02010600030101010101" charset="-122"/>
                <a:ea typeface="庞门正道标题体" panose="02010600030101010101" charset="-122"/>
                <a:cs typeface="庞门正道标题体" panose="02010600030101010101" charset="-122"/>
                <a:sym typeface="+mn-ea"/>
              </a:rPr>
              <a:t>数据驱动业务运营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55B3FA"/>
                  </a:gs>
                </a:gsLst>
                <a:lin ang="5400000" scaled="1"/>
              </a:gradFill>
              <a:effectLst/>
              <a:uLnTx/>
              <a:uFillTx/>
              <a:latin typeface="庞门正道标题体" panose="02010600030101010101" charset="-122"/>
              <a:ea typeface="庞门正道标题体" panose="02010600030101010101" charset="-122"/>
              <a:cs typeface="庞门正道标题体" panose="02010600030101010101" charset="-122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61235" y="2682875"/>
            <a:ext cx="7753350" cy="13335"/>
            <a:chOff x="3561" y="4304"/>
            <a:chExt cx="12210" cy="21"/>
          </a:xfrm>
        </p:grpSpPr>
        <p:cxnSp>
          <p:nvCxnSpPr>
            <p:cNvPr id="11" name="直接连接符 10"/>
            <p:cNvCxnSpPr/>
            <p:nvPr>
              <p:custDataLst>
                <p:tags r:id="rId4"/>
              </p:custDataLst>
            </p:nvPr>
          </p:nvCxnSpPr>
          <p:spPr>
            <a:xfrm>
              <a:off x="3561" y="4304"/>
              <a:ext cx="3764" cy="0"/>
            </a:xfrm>
            <a:prstGeom prst="line">
              <a:avLst/>
            </a:prstGeom>
            <a:ln w="3175">
              <a:solidFill>
                <a:srgbClr val="E1F1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5"/>
              </p:custDataLst>
            </p:nvPr>
          </p:nvCxnSpPr>
          <p:spPr>
            <a:xfrm>
              <a:off x="11840" y="4304"/>
              <a:ext cx="3931" cy="21"/>
            </a:xfrm>
            <a:prstGeom prst="line">
              <a:avLst/>
            </a:prstGeom>
            <a:ln w="3175">
              <a:solidFill>
                <a:srgbClr val="9AD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92835" y="3333750"/>
            <a:ext cx="1000633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庞门正道标题体" panose="02010600030101010101" charset="-122"/>
                <a:sym typeface="+mn-ea"/>
              </a:rPr>
              <a:t>把主数据管准，业务才跑得顺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0FF428-E6E7-CA2B-8C1A-D1658D4D11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108" y="4807425"/>
            <a:ext cx="2310584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806C23-0B6B-4198-2850-3C5D0622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9" y="0"/>
            <a:ext cx="11505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7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3837</Words>
  <Application>Microsoft Office PowerPoint</Application>
  <PresentationFormat>宽屏</PresentationFormat>
  <Paragraphs>532</Paragraphs>
  <Slides>26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等线</vt:lpstr>
      <vt:lpstr>等线 Light</vt:lpstr>
      <vt:lpstr>仿宋</vt:lpstr>
      <vt:lpstr>黑体</vt:lpstr>
      <vt:lpstr>华文细黑</vt:lpstr>
      <vt:lpstr>楷体</vt:lpstr>
      <vt:lpstr>庞门正道标题体</vt:lpstr>
      <vt:lpstr>宋体</vt:lpstr>
      <vt:lpstr>微软雅黑</vt:lpstr>
      <vt:lpstr>微软雅黑</vt:lpstr>
      <vt:lpstr>Arial</vt:lpstr>
      <vt:lpstr>Calibri</vt:lpstr>
      <vt:lpstr>Wingdings</vt:lpstr>
      <vt:lpstr>Office Theme</vt:lpstr>
      <vt:lpstr>1_Office theme</vt:lpstr>
      <vt:lpstr>1_Office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Zhao</cp:lastModifiedBy>
  <cp:revision>12</cp:revision>
  <dcterms:created xsi:type="dcterms:W3CDTF">2013-01-27T09:14:16Z</dcterms:created>
  <dcterms:modified xsi:type="dcterms:W3CDTF">2026-08-27T15:44:42Z</dcterms:modified>
  <cp:category/>
</cp:coreProperties>
</file>