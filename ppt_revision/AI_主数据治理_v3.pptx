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如何重塑制造业主数据治理。先看两个标杆，再给出我们的方案。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四个痛点相互强化：越依赖专家和人工，越难持续。行业共识正在形成——人机共治是方向。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个智能体覆盖治理全流程，强调实时协同——不是串行接力，而是并行响应、相互校验。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主动式质量管理的要点：AI 发起、人工确认、规则回流，形成自我强化的闭环。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治理对象与前期主数据治理专题一致；试点选小切口：见效快、可量化、易推广。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 AI 治理能落地的底线：白盒、人在回路、权限审计，缺一不可。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价值用五维框架表达，量化指标先留白、试点期后回填实测值。以结语收束。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30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 Native 数据治理方案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 在制造业主数据治理中的应用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企业数据散落在多个业务系统里，流转和处理环节多；上游数据出错，下游的报表、分析和决策都会跟着错。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数据质量管理靠标准、规则、监控、改进四个环节串起来，缺一个都转不动。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制定统一编码规则，做到一物一码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把查重、校验、清洗这类重复的规则判断交给 AI，人只处理需要判断和确认的部分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8" y="196035"/>
            <a:ext cx="2481072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一个对话框完成查询、新增、变更；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拍照铭牌或粘贴文本即可录入；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AI 自动匹配并提示相似物料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学习存量数据的规律和阈值；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定期推送数据质量报告；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发现异常先提示，再给出清洗建议；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可疑数据及时预警；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分发失败时自动定位原因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多模态大模型负责理解，领域和行业知识库提供标准，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企业本体模型描述物料与 BOM、工艺、供应商的关系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每次清洗和审核的结果回流，更新阈值和案例；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行业知识库随标准变化更新；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常见问题沉淀为可复用的知识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描述」结构化列出，尽量不遗漏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/>
            </a: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补充优化代码，直到校验通过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311585" y="751808"/>
            <a:ext cx="10271071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适⽤：对话框即界面，拍照上传 </a:t>
            </a:r>
            <a:r>
              <a:rPr lang="en-US" altLang="zh-CN" sz="1400" dirty="0"/>
              <a:t>/ </a:t>
            </a:r>
            <a:r>
              <a:rPr lang="zh-CN" altLang="en-US" sz="1400" dirty="0"/>
              <a:t>复制粘贴 </a:t>
            </a:r>
            <a:r>
              <a:rPr lang="en-US" altLang="zh-CN" sz="1400" dirty="0"/>
              <a:t>/ </a:t>
            </a:r>
            <a:r>
              <a:rPr lang="zh-CN" altLang="en-US" sz="1400" dirty="0"/>
              <a:t>语音表达意图，都可以模糊查询 → 智能查数 → 新建物料 → 自动提交。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                                                                                                                                                                     </a:t>
            </a:r>
            <a:r>
              <a:rPr lang="en-US" altLang="zh-CN" sz="1400" dirty="0"/>
              <a:t>|-------</a:t>
            </a:r>
            <a:r>
              <a:rPr lang="en-US" altLang="zh-CN" sz="1400" dirty="0">
                <a:sym typeface="Wingdings" panose="05000000000000000000" pitchFamily="2" charset="2"/>
              </a:rPr>
              <a:t></a:t>
            </a:r>
            <a:r>
              <a:rPr lang="zh-CN" altLang="en-US" sz="1400" dirty="0"/>
              <a:t> 告诉物料编号、名称。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00553-0CEF-96F3-0013-5BF7F741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18" y="3122612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28057759-0831-F074-622E-2435B43B8F09}"/>
              </a:ext>
            </a:extLst>
          </p:cNvPr>
          <p:cNvSpPr/>
          <p:nvPr/>
        </p:nvSpPr>
        <p:spPr bwMode="auto">
          <a:xfrm>
            <a:off x="842750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多模态识别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043B5FE9-1178-3110-F585-537B00DCB382}"/>
              </a:ext>
            </a:extLst>
          </p:cNvPr>
          <p:cNvSpPr/>
          <p:nvPr/>
        </p:nvSpPr>
        <p:spPr bwMode="auto">
          <a:xfrm>
            <a:off x="2061723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智能匹配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902FDB7C-EFFA-B33A-DA75-DFDFDC7BC5C2}"/>
              </a:ext>
            </a:extLst>
          </p:cNvPr>
          <p:cNvSpPr/>
          <p:nvPr/>
        </p:nvSpPr>
        <p:spPr bwMode="auto">
          <a:xfrm>
            <a:off x="3280696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填写编码申请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45C0D8E9-BE27-3F94-692D-725B6E2A9B35}"/>
              </a:ext>
            </a:extLst>
          </p:cNvPr>
          <p:cNvSpPr/>
          <p:nvPr/>
        </p:nvSpPr>
        <p:spPr bwMode="auto">
          <a:xfrm>
            <a:off x="4499669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en-US" altLang="zh-CN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MDM</a:t>
            </a: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399315-F834-87AA-185C-E69EE6B97C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788905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947DA9-E556-3A75-4795-8052A83196E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007878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16AE14-A6A2-81D8-82BB-373316B26CD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226851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84D191A1-22E3-0A60-4FA8-523DFF1D0097}"/>
              </a:ext>
            </a:extLst>
          </p:cNvPr>
          <p:cNvSpPr/>
          <p:nvPr/>
        </p:nvSpPr>
        <p:spPr bwMode="auto">
          <a:xfrm>
            <a:off x="5718642" y="2505166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提交审核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4FB971-B7D9-FF49-EE08-6FB2CF6C019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5445824" y="2694114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400FC907-A0DE-B3A3-0256-943C645AC4EE}"/>
              </a:ext>
            </a:extLst>
          </p:cNvPr>
          <p:cNvSpPr/>
          <p:nvPr/>
        </p:nvSpPr>
        <p:spPr>
          <a:xfrm>
            <a:off x="7483251" y="2365843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OA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FFB14C7-F507-930D-D220-AFAB5D13D2B1}"/>
              </a:ext>
            </a:extLst>
          </p:cNvPr>
          <p:cNvCxnSpPr>
            <a:stCxn id="16" idx="3"/>
            <a:endCxn id="23" idx="2"/>
          </p:cNvCxnSpPr>
          <p:nvPr/>
        </p:nvCxnSpPr>
        <p:spPr>
          <a:xfrm flipV="1">
            <a:off x="6664797" y="2694113"/>
            <a:ext cx="818454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0229444-66D1-AC19-061B-1ABD0762A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19" y="3936265"/>
            <a:ext cx="4824910" cy="183823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949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30" name="Oval 29"/>
          <p:cNvSpPr/>
          <p:nvPr/>
        </p:nvSpPr>
        <p:spPr>
          <a:xfrm>
            <a:off x="1911095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1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2" name="Oval 31"/>
          <p:cNvSpPr/>
          <p:nvPr/>
        </p:nvSpPr>
        <p:spPr>
          <a:xfrm>
            <a:off x="43525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3" name="Oval 32"/>
          <p:cNvSpPr/>
          <p:nvPr/>
        </p:nvSpPr>
        <p:spPr>
          <a:xfrm>
            <a:off x="5568696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311585" y="751808"/>
            <a:ext cx="10271071" cy="701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C2752-D0DE-02B7-E91E-A845E7F3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18" y="2001533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893B75AD-0C51-73A0-5C60-290B334A5396}"/>
              </a:ext>
            </a:extLst>
          </p:cNvPr>
          <p:cNvSpPr/>
          <p:nvPr/>
        </p:nvSpPr>
        <p:spPr bwMode="auto">
          <a:xfrm>
            <a:off x="5565501" y="2127272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推送待办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7BCAF6AE-11F6-A31E-4FCA-E42B8E6D42A5}"/>
              </a:ext>
            </a:extLst>
          </p:cNvPr>
          <p:cNvSpPr/>
          <p:nvPr/>
        </p:nvSpPr>
        <p:spPr bwMode="auto">
          <a:xfrm>
            <a:off x="5565501" y="2587583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数据质量报告、日报、周报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246E343C-9223-980C-0F83-184E52DFC99A}"/>
              </a:ext>
            </a:extLst>
          </p:cNvPr>
          <p:cNvSpPr/>
          <p:nvPr/>
        </p:nvSpPr>
        <p:spPr bwMode="auto">
          <a:xfrm>
            <a:off x="5565501" y="3047894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编写清洗方案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78DA3962-0131-DA30-1B07-4CFB4730DE86}"/>
              </a:ext>
            </a:extLst>
          </p:cNvPr>
          <p:cNvSpPr/>
          <p:nvPr/>
        </p:nvSpPr>
        <p:spPr bwMode="auto">
          <a:xfrm>
            <a:off x="5565501" y="3508205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分发失败告警及原因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383026-E920-156F-E796-EF69689E0570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>
            <a:off x="7546932" y="2316220"/>
            <a:ext cx="568883" cy="9542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459F1F-777D-5F55-126B-06AE8C72E7D4}"/>
              </a:ext>
            </a:extLst>
          </p:cNvPr>
          <p:cNvCxnSpPr>
            <a:cxnSpLocks/>
            <a:stCxn id="10" idx="3"/>
            <a:endCxn id="23" idx="2"/>
          </p:cNvCxnSpPr>
          <p:nvPr/>
        </p:nvCxnSpPr>
        <p:spPr>
          <a:xfrm>
            <a:off x="7546932" y="2776531"/>
            <a:ext cx="568883" cy="493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DD479E-4D8B-D18E-46D5-03AD4CF206D5}"/>
              </a:ext>
            </a:extLst>
          </p:cNvPr>
          <p:cNvCxnSpPr>
            <a:cxnSpLocks/>
            <a:stCxn id="11" idx="3"/>
            <a:endCxn id="23" idx="2"/>
          </p:cNvCxnSpPr>
          <p:nvPr/>
        </p:nvCxnSpPr>
        <p:spPr>
          <a:xfrm>
            <a:off x="7546932" y="3236842"/>
            <a:ext cx="568883" cy="336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43903812-C474-F13B-137D-BB8378AF116B}"/>
              </a:ext>
            </a:extLst>
          </p:cNvPr>
          <p:cNvSpPr/>
          <p:nvPr/>
        </p:nvSpPr>
        <p:spPr bwMode="auto">
          <a:xfrm>
            <a:off x="5565501" y="3968518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标准体系调整建议书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B2BDAE-BFBA-53F2-9432-FF7BA5064449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7546932" y="3270501"/>
            <a:ext cx="568883" cy="4266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180876EA-8FEC-FE6E-E64E-C2107CB0FBE2}"/>
              </a:ext>
            </a:extLst>
          </p:cNvPr>
          <p:cNvSpPr/>
          <p:nvPr/>
        </p:nvSpPr>
        <p:spPr>
          <a:xfrm>
            <a:off x="8115815" y="2942231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A267AD0-50C2-41F5-701E-33AD3230D205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 flipV="1">
            <a:off x="7546932" y="3270501"/>
            <a:ext cx="568883" cy="88696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294376" y="21579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27" name="Oval 26"/>
          <p:cNvSpPr/>
          <p:nvPr/>
        </p:nvSpPr>
        <p:spPr>
          <a:xfrm>
            <a:off x="5294376" y="26151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8" name="Oval 27"/>
          <p:cNvSpPr/>
          <p:nvPr/>
        </p:nvSpPr>
        <p:spPr>
          <a:xfrm>
            <a:off x="5294376" y="30723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9" name="Oval 28"/>
          <p:cNvSpPr/>
          <p:nvPr/>
        </p:nvSpPr>
        <p:spPr>
          <a:xfrm>
            <a:off x="5294376" y="3538727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Oval 29"/>
          <p:cNvSpPr/>
          <p:nvPr/>
        </p:nvSpPr>
        <p:spPr>
          <a:xfrm>
            <a:off x="5294376" y="3995928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一个对话框完成查询、新增和变更，审批仍走现有流程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拍照识别铭牌和图纸；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粘贴文本自动解析，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结构化成标准字段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录入时实时查重，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提示相似的历史物料，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避免重复建档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自动补全属性，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推荐分类和编码，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业务人员不用记全所有字段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对话式交互理念借鉴中翰软件（据其官方发布），按制造业物料场景重新设计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个专业智能体组成集群，由数据治理 AI 助手统一调度，覆盖标准、建模、查重、质量、分发、影响分析和问答。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关键特征：一次请求可触发多个 Agent 并行处理、互相校验，而不是一个接一个串行传递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看懂图纸、铭牌照片和自然语言描述，把非结构化信息变成标准字段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沉淀物料分类体系和命名规范，分类和编码不靠个人经验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承担查重、异常检测这类高频判断，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延迟低、成本也低，不必每次都调用大模型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描述物料与 BOM、工艺、供应商之间的关系，支撑变更影响分析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标准文档和历史案例通过 RAG 检索，回答有依据、可溯源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分工原则：不是所有任务都值得用大模型——高频判断走小模型，理解和交互走大模型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预警和诊断由 AI 主动发起；清洗方案经人工确认后才执行；复核结果回流，用于调整监控阈值和规则。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负责发现和建议，清洗执行必须等人确认，复核结果再回来优化规则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试点建议：三个小切口（见效快、可量化、便于推广）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直接支撑采购整合与降本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降低业务人员填写门槛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异常检测和主动预警，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异常早发现、早处理，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避免脏数据流到下游系统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智能体每一步操作和判断依据都留痕，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可查看、可回溯；设计上借鉴用友白盒思路，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不给黑箱结论。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只给建议，不直接生效：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新增、冻结、批量清洗这些关键动作，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必须人工确认后才执行。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按角色分级授权，操作进审计日志，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全程留痕，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满足内控和外部审计要求。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做建议和执行，人做取舍和确认；出了问题查得到是谁、在哪一步确认的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 </a:t>
            </a:r>
            <a:r>
              <a:rPr lang="en-US" altLang="zh-CN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xx%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 </a:t>
            </a:r>
            <a:r>
              <a:rPr lang="en-US" altLang="zh-CN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xx%</a:t>
            </a: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　　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 </a:t>
            </a:r>
            <a:r>
              <a:rPr lang="en-US" altLang="zh-CN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xx%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 </a:t>
            </a:r>
            <a:r>
              <a:rPr lang="en-US" altLang="zh-CN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xx </a:t>
            </a: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为后续 AI 应用提供可信的数据基础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数据治理：把数据管对，业务才能用对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4049</Words>
  <Application>Microsoft Office PowerPoint</Application>
  <PresentationFormat>宽屏</PresentationFormat>
  <Paragraphs>526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Microsoft YaHei</vt:lpstr>
      <vt:lpstr>Microsoft YaHei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10</cp:revision>
  <dcterms:created xsi:type="dcterms:W3CDTF">2013-01-27T09:14:16Z</dcterms:created>
  <dcterms:modified xsi:type="dcterms:W3CDTF">2026-08-27T14:41:45Z</dcterms:modified>
  <cp:category/>
</cp:coreProperties>
</file>