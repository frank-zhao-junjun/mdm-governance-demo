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31"/>
  </p:notesMasterIdLst>
  <p:sldIdLst>
    <p:sldId id="256" r:id="rId5"/>
    <p:sldId id="270" r:id="rId6"/>
    <p:sldId id="272" r:id="rId7"/>
    <p:sldId id="289" r:id="rId8"/>
    <p:sldId id="2147471457" r:id="rId9"/>
    <p:sldId id="2147471433" r:id="rId10"/>
    <p:sldId id="2147471466" r:id="rId11"/>
    <p:sldId id="2147471467" r:id="rId12"/>
    <p:sldId id="2147471468" r:id="rId13"/>
    <p:sldId id="2147471469" r:id="rId14"/>
    <p:sldId id="271" r:id="rId15"/>
    <p:sldId id="257" r:id="rId16"/>
    <p:sldId id="2147471471" r:id="rId17"/>
    <p:sldId id="2147471470" r:id="rId18"/>
    <p:sldId id="2147471472" r:id="rId19"/>
    <p:sldId id="2147471473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644" r:id="rId29"/>
    <p:sldId id="21474714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10" autoAdjust="0"/>
    <p:restoredTop sz="96649" autoAdjust="0"/>
  </p:normalViewPr>
  <p:slideViewPr>
    <p:cSldViewPr snapToGrid="0" snapToObjects="1">
      <p:cViewPr varScale="1">
        <p:scale>
          <a:sx n="110" d="100"/>
          <a:sy n="110" d="100"/>
        </p:scale>
        <p:origin x="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在制造业主数据治理里到底能干什么。先看中某油和 SAP MDG 两个实践，再给我们的方案。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这页讲清 AI 接手什么、人保留什么：重复规则判断交给 AI，取舍和拍板留给人。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个智能体覆盖治理全流程。协同方式是并行、互相校验，不是串行接力。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要点三条：AI 发起预警和诊断，清洗必须人确认，复核结果用来调规则。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治理对象与前期专题一致。试点从三个小切口进，先做出可量化的效果再推广。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可信可控是落地底线：白盒、人在回路、权限审计，哪一块缺了都不敢上线。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五维价值。量化指标待试点实测后回填，不拍脑袋。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32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4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14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8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29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12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3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32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9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48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6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9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9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5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14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37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8095" y="304800"/>
            <a:ext cx="10785764" cy="5334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200" b="1"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9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62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305921" cy="858638"/>
            </a:xfrm>
            <a:custGeom>
              <a:avLst/>
              <a:gdLst>
                <a:gd name="connsiteX0" fmla="*/ 0 w 1305921"/>
                <a:gd name="connsiteY0" fmla="*/ 0 h 858638"/>
                <a:gd name="connsiteX1" fmla="*/ 1305921 w 1305921"/>
                <a:gd name="connsiteY1" fmla="*/ 0 h 858638"/>
                <a:gd name="connsiteX2" fmla="*/ 1305921 w 1305921"/>
                <a:gd name="connsiteY2" fmla="*/ 858638 h 858638"/>
                <a:gd name="connsiteX3" fmla="*/ 0 w 1305921"/>
                <a:gd name="connsiteY3" fmla="*/ 858638 h 85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5921" h="858638">
                  <a:moveTo>
                    <a:pt x="0" y="0"/>
                  </a:moveTo>
                  <a:lnTo>
                    <a:pt x="1305921" y="0"/>
                  </a:lnTo>
                  <a:lnTo>
                    <a:pt x="1305921" y="858638"/>
                  </a:lnTo>
                  <a:lnTo>
                    <a:pt x="0" y="858638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5" cstate="screen"/>
            <a:srcRect/>
            <a:stretch>
              <a:fillRect/>
            </a:stretch>
          </p:blipFill>
          <p:spPr>
            <a:xfrm>
              <a:off x="5120000" y="0"/>
              <a:ext cx="2322777" cy="862954"/>
            </a:xfrm>
            <a:custGeom>
              <a:avLst/>
              <a:gdLst>
                <a:gd name="connsiteX0" fmla="*/ 0 w 2322777"/>
                <a:gd name="connsiteY0" fmla="*/ 0 h 862954"/>
                <a:gd name="connsiteX1" fmla="*/ 2322777 w 2322777"/>
                <a:gd name="connsiteY1" fmla="*/ 0 h 862954"/>
                <a:gd name="connsiteX2" fmla="*/ 2322777 w 2322777"/>
                <a:gd name="connsiteY2" fmla="*/ 862954 h 862954"/>
                <a:gd name="connsiteX3" fmla="*/ 0 w 2322777"/>
                <a:gd name="connsiteY3" fmla="*/ 862954 h 86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2777" h="862954">
                  <a:moveTo>
                    <a:pt x="0" y="0"/>
                  </a:moveTo>
                  <a:lnTo>
                    <a:pt x="2322777" y="0"/>
                  </a:lnTo>
                  <a:lnTo>
                    <a:pt x="2322777" y="862954"/>
                  </a:lnTo>
                  <a:lnTo>
                    <a:pt x="0" y="862954"/>
                  </a:lnTo>
                  <a:close/>
                </a:path>
              </a:pathLst>
            </a:custGeom>
          </p:spPr>
        </p:pic>
        <p:sp>
          <p:nvSpPr>
            <p:cNvPr id="8" name="矩形 7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310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19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34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动物&#10;&#10;描述已自动生成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8" name="图片 7" descr="logo"/>
          <p:cNvPicPr>
            <a:picLocks noChangeAspect="1" noChangeArrowheads="1"/>
          </p:cNvPicPr>
          <p:nvPr userDrawn="1"/>
        </p:nvPicPr>
        <p:blipFill>
          <a:blip r:embed="rId13">
            <a:biLevel thresh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84" y="6408601"/>
            <a:ext cx="1830331" cy="29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30.xml"/><Relationship Id="rId7" Type="http://schemas.openxmlformats.org/officeDocument/2006/relationships/notesSlide" Target="../notesSlides/notesSlide11.xml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AI Native </a:t>
            </a:r>
            <a:r>
              <a:rPr dirty="0" err="1">
                <a:solidFill>
                  <a:schemeClr val="bg1"/>
                </a:solidFill>
              </a:rPr>
              <a:t>数据治理方案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</a:rPr>
              <a:t>AI </a:t>
            </a:r>
            <a:r>
              <a:rPr sz="1400" dirty="0" err="1">
                <a:solidFill>
                  <a:schemeClr val="bg1"/>
                </a:solidFill>
              </a:rPr>
              <a:t>在制造业主数据治理中的应用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数据治理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Agents </a:t>
            </a: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协作平台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 </a:t>
            </a:r>
            <a:endParaRPr lang="en-US" sz="1100" b="0" dirty="0">
              <a:solidFill>
                <a:srgbClr val="9FB3C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AF4533-A52A-9864-3BAB-7D2A1424DFF7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12BDF05-37E0-91D0-8016-6C1607B4948C}"/>
              </a:ext>
            </a:extLst>
          </p:cNvPr>
          <p:cNvSpPr txBox="1"/>
          <p:nvPr/>
        </p:nvSpPr>
        <p:spPr>
          <a:xfrm>
            <a:off x="539496" y="37141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多法人、多基地的中大型制造型企业的基础数据管理现状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1ED070-6BCC-FAC1-B2CB-499ABBFAA4DD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C618E-C680-7840-276F-14F4A8DE3367}"/>
              </a:ext>
            </a:extLst>
          </p:cNvPr>
          <p:cNvSpPr txBox="1"/>
          <p:nvPr/>
        </p:nvSpPr>
        <p:spPr>
          <a:xfrm>
            <a:off x="318516" y="1001479"/>
            <a:ext cx="11333683" cy="102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通常有</a:t>
            </a:r>
            <a:r>
              <a:rPr lang="en-US" altLang="zh-CN" sz="1400" dirty="0"/>
              <a:t>ERP</a:t>
            </a:r>
            <a:r>
              <a:rPr lang="zh-CN" altLang="en-US" sz="1400" dirty="0"/>
              <a:t>、</a:t>
            </a:r>
            <a:r>
              <a:rPr lang="en-US" altLang="zh-CN" sz="1400" dirty="0"/>
              <a:t>MES</a:t>
            </a:r>
            <a:r>
              <a:rPr lang="zh-CN" altLang="en-US" sz="1400" dirty="0"/>
              <a:t>、</a:t>
            </a:r>
            <a:r>
              <a:rPr lang="en-US" altLang="zh-CN" sz="1400" dirty="0"/>
              <a:t>SRM</a:t>
            </a:r>
            <a:r>
              <a:rPr lang="zh-CN" altLang="en-US" sz="1400" dirty="0"/>
              <a:t>、</a:t>
            </a:r>
            <a:r>
              <a:rPr lang="en-US" altLang="zh-CN" sz="1400" dirty="0"/>
              <a:t>CRM</a:t>
            </a:r>
            <a:r>
              <a:rPr lang="zh-CN" altLang="en-US" sz="1400" dirty="0"/>
              <a:t>等系统；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ERP</a:t>
            </a:r>
            <a:r>
              <a:rPr lang="zh-CN" altLang="en-US" sz="1400" dirty="0"/>
              <a:t>以</a:t>
            </a:r>
            <a:r>
              <a:rPr lang="en-US" altLang="zh-CN" sz="1400" dirty="0"/>
              <a:t>SAP</a:t>
            </a:r>
            <a:r>
              <a:rPr lang="zh-CN" altLang="en-US" sz="1400" dirty="0"/>
              <a:t>为主，可能还有金蝶、用友等多品牌</a:t>
            </a:r>
            <a:r>
              <a:rPr lang="en-US" altLang="zh-CN" sz="1400" dirty="0"/>
              <a:t>ERP</a:t>
            </a:r>
            <a:r>
              <a:rPr lang="zh-CN" altLang="en-US" sz="1400" dirty="0"/>
              <a:t>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经过多年运行，基础数据出现不少问题，比如一物多码、属性缺失、数据不准确、不一致等问题。</a:t>
            </a:r>
            <a:endParaRPr lang="en-US" altLang="zh-CN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15E1C7E-BB90-4533-FFF9-2B5A2BD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34" y="2962399"/>
            <a:ext cx="5736833" cy="29629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F1D411-C889-919D-E7E0-864B2443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6" y="3101768"/>
            <a:ext cx="5474682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DBCD-F039-D16F-B33A-97F2CE20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A6E28E0-82C5-19B3-A09F-81DDE4563B05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8BCCD53-C45A-4833-C25D-AC8E038DB981}"/>
              </a:ext>
            </a:extLst>
          </p:cNvPr>
          <p:cNvSpPr txBox="1"/>
          <p:nvPr/>
        </p:nvSpPr>
        <p:spPr>
          <a:xfrm>
            <a:off x="498348" y="35968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企业需要制定自己的各项基础数据的具体的标准，但通常意义上，都遵循以下八个原则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943EF-274A-A1BA-9849-FA5F7FCCCA10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8255FB-6F53-2C9A-FF3D-3336A02F6FBA}"/>
              </a:ext>
            </a:extLst>
          </p:cNvPr>
          <p:cNvSpPr txBox="1"/>
          <p:nvPr/>
        </p:nvSpPr>
        <p:spPr>
          <a:xfrm>
            <a:off x="400812" y="944413"/>
            <a:ext cx="1133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数据标准</a:t>
            </a:r>
            <a:r>
              <a:rPr lang="en-US" altLang="zh-CN" sz="1400" dirty="0"/>
              <a:t>(Business data standard,</a:t>
            </a:r>
            <a:r>
              <a:rPr lang="zh-CN" altLang="en-US" sz="1400" dirty="0"/>
              <a:t>业务数据标准</a:t>
            </a:r>
            <a:r>
              <a:rPr lang="en-US" altLang="zh-CN" sz="1400" dirty="0"/>
              <a:t>)</a:t>
            </a:r>
            <a:r>
              <a:rPr lang="zh-CN" altLang="en-US" sz="1400" dirty="0"/>
              <a:t>用于描述公司层面需共同遵守的数据属性层面的含义和业务规则。</a:t>
            </a:r>
          </a:p>
          <a:p>
            <a:r>
              <a:rPr lang="zh-CN" altLang="en-US" sz="1400" dirty="0"/>
              <a:t>其描述了公司层面对某个数据的共同理解，这些理解一旦确定下来，就应做为企业层面的标准在企业内被共同遵守。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9F1640-BD21-838A-94EE-5E8C686742C1}"/>
              </a:ext>
            </a:extLst>
          </p:cNvPr>
          <p:cNvSpPr txBox="1"/>
          <p:nvPr/>
        </p:nvSpPr>
        <p:spPr>
          <a:xfrm>
            <a:off x="318516" y="1624574"/>
            <a:ext cx="2556000" cy="434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1. </a:t>
            </a:r>
            <a:r>
              <a:rPr lang="zh-CN" altLang="en-US" sz="1100" b="1" dirty="0"/>
              <a:t>完备性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所有必填的数据都存在吗？有没有缺失的记录或字段？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一个“客户信息表”中，有</a:t>
            </a:r>
            <a:r>
              <a:rPr lang="en-US" altLang="zh-CN" sz="1000" dirty="0"/>
              <a:t>10%</a:t>
            </a:r>
            <a:r>
              <a:rPr lang="zh-CN" altLang="en-US" sz="1000" dirty="0"/>
              <a:t>的记录的“电子邮箱”字段是空的。在进行电子邮件营销时，这些客户就无法被覆盖。这里的“电子邮箱”就是业务上“必要的数据”。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2. </a:t>
            </a:r>
            <a:r>
              <a:rPr lang="zh-CN" altLang="en-US" sz="1100" b="1" dirty="0"/>
              <a:t>准确性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数据是否准确反映了它意图描述的“真实世界”实体或事件？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不准确： 员工档案中，某位员工的出生日期被错误录入为 </a:t>
            </a:r>
            <a:r>
              <a:rPr lang="en-US" altLang="zh-CN" sz="1000" dirty="0"/>
              <a:t>1995-13-45</a:t>
            </a:r>
            <a:r>
              <a:rPr lang="zh-CN" altLang="en-US" sz="1000" dirty="0"/>
              <a:t>（月份和日期无效）。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准确： 该员工的出生日期与身份证件完全一致，为 </a:t>
            </a:r>
            <a:r>
              <a:rPr lang="en-US" altLang="zh-CN" sz="1000" dirty="0"/>
              <a:t>1995-07-21</a:t>
            </a:r>
            <a:r>
              <a:rPr lang="zh-CN" altLang="en-US" sz="10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4EAEA3-F91A-3D38-5782-380097A954D3}"/>
              </a:ext>
            </a:extLst>
          </p:cNvPr>
          <p:cNvSpPr txBox="1"/>
          <p:nvPr/>
        </p:nvSpPr>
        <p:spPr>
          <a:xfrm>
            <a:off x="3200613" y="1624574"/>
            <a:ext cx="2556000" cy="411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3. </a:t>
            </a:r>
            <a:r>
              <a:rPr lang="zh-CN" altLang="en-US" sz="1100" b="1" dirty="0"/>
              <a:t>一致性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同一数据在不同地方的表现形式是否一致？逻辑关系是否冲突？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格式不一致： 在</a:t>
            </a:r>
            <a:r>
              <a:rPr lang="en-US" altLang="zh-CN" sz="1000" dirty="0"/>
              <a:t>A</a:t>
            </a:r>
            <a:r>
              <a:rPr lang="zh-CN" altLang="en-US" sz="1000" dirty="0"/>
              <a:t>系统中，国家代码存储为 </a:t>
            </a:r>
            <a:r>
              <a:rPr lang="en-US" altLang="zh-CN" sz="1000" dirty="0"/>
              <a:t>CN</a:t>
            </a:r>
            <a:r>
              <a:rPr lang="zh-CN" altLang="en-US" sz="1000" dirty="0"/>
              <a:t>，在</a:t>
            </a:r>
            <a:r>
              <a:rPr lang="en-US" altLang="zh-CN" sz="1000" dirty="0"/>
              <a:t>B</a:t>
            </a:r>
            <a:r>
              <a:rPr lang="zh-CN" altLang="en-US" sz="1000" dirty="0"/>
              <a:t>系统中存储为 </a:t>
            </a:r>
            <a:r>
              <a:rPr lang="en-US" altLang="zh-CN" sz="1000" dirty="0"/>
              <a:t>China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逻辑不一致： 在</a:t>
            </a:r>
            <a:r>
              <a:rPr lang="en-US" altLang="zh-CN" sz="1000" dirty="0"/>
              <a:t>CRM</a:t>
            </a:r>
            <a:r>
              <a:rPr lang="zh-CN" altLang="en-US" sz="1000" dirty="0"/>
              <a:t>系统中，客户</a:t>
            </a:r>
            <a:r>
              <a:rPr lang="en-US" altLang="zh-CN" sz="1000" dirty="0"/>
              <a:t>X</a:t>
            </a:r>
            <a:r>
              <a:rPr lang="zh-CN" altLang="en-US" sz="1000" dirty="0"/>
              <a:t>的“客户等级”为“</a:t>
            </a:r>
            <a:r>
              <a:rPr lang="en-US" altLang="zh-CN" sz="1000" dirty="0"/>
              <a:t>VIP”</a:t>
            </a:r>
            <a:r>
              <a:rPr lang="zh-CN" altLang="en-US" sz="1000" dirty="0"/>
              <a:t>，但在</a:t>
            </a:r>
            <a:r>
              <a:rPr lang="en-US" altLang="zh-CN" sz="1000" dirty="0"/>
              <a:t>ERP</a:t>
            </a:r>
            <a:r>
              <a:rPr lang="zh-CN" altLang="en-US" sz="1000" dirty="0"/>
              <a:t>系统中，同一客户的“优先级”却适用普通客户标准。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4. </a:t>
            </a:r>
            <a:r>
              <a:rPr lang="zh-CN" altLang="en-US" sz="1100" b="1" dirty="0"/>
              <a:t>及时性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数据在需要的时候是否“足够新”且可用？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对于月度销售报告，每月</a:t>
            </a:r>
            <a:r>
              <a:rPr lang="en-US" altLang="zh-CN" sz="1000" dirty="0"/>
              <a:t>5</a:t>
            </a:r>
            <a:r>
              <a:rPr lang="zh-CN" altLang="en-US" sz="1000" dirty="0"/>
              <a:t>号产出上个月的数据可能是及时的，但如果是每日决策需要的实时销售看板，数据延迟</a:t>
            </a:r>
            <a:r>
              <a:rPr lang="en-US" altLang="zh-CN" sz="1000" dirty="0"/>
              <a:t>1</a:t>
            </a:r>
            <a:r>
              <a:rPr lang="zh-CN" altLang="en-US" sz="1000" dirty="0"/>
              <a:t>小时就可能被视为不及时。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33940-ECE4-B432-E285-00BD657C431C}"/>
              </a:ext>
            </a:extLst>
          </p:cNvPr>
          <p:cNvSpPr txBox="1"/>
          <p:nvPr/>
        </p:nvSpPr>
        <p:spPr>
          <a:xfrm>
            <a:off x="6082710" y="1624574"/>
            <a:ext cx="2556000" cy="457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5. </a:t>
            </a:r>
            <a:r>
              <a:rPr lang="zh-CN" altLang="en-US" sz="1100" b="1" dirty="0"/>
              <a:t>唯一性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数据集中，同一个现实实体是否只被表示了一次？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6. </a:t>
            </a:r>
            <a:r>
              <a:rPr lang="zh-CN" altLang="en-US" sz="1100" b="1" dirty="0"/>
              <a:t>合理性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数据的值、类型或格式是否符合常识或特定领域内的预期模式？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员工的“年龄”字段值为 </a:t>
            </a:r>
            <a:r>
              <a:rPr lang="en-US" altLang="zh-CN" sz="1000" dirty="0"/>
              <a:t>150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某款畅销手机的“日销量”平时为</a:t>
            </a:r>
            <a:r>
              <a:rPr lang="en-US" altLang="zh-CN" sz="1000" dirty="0"/>
              <a:t>1000</a:t>
            </a:r>
            <a:r>
              <a:rPr lang="zh-CN" altLang="en-US" sz="1000" dirty="0"/>
              <a:t>台左右，某天突然变为 </a:t>
            </a:r>
            <a:r>
              <a:rPr lang="en-US" altLang="zh-CN" sz="1000" dirty="0"/>
              <a:t>0 </a:t>
            </a:r>
            <a:r>
              <a:rPr lang="zh-CN" altLang="en-US" sz="1000" dirty="0"/>
              <a:t>或 </a:t>
            </a:r>
            <a:r>
              <a:rPr lang="en-US" altLang="zh-CN" sz="1000" dirty="0"/>
              <a:t>100000</a:t>
            </a:r>
            <a:r>
              <a:rPr lang="zh-CN" altLang="en-US" sz="1000" dirty="0"/>
              <a:t>，而没有合理的促销或缺货解释。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温度传感器传回的数据是 </a:t>
            </a:r>
            <a:r>
              <a:rPr lang="en-US" altLang="zh-CN" sz="1000" dirty="0"/>
              <a:t>-1000°C</a:t>
            </a:r>
            <a:r>
              <a:rPr lang="zh-CN" altLang="en-US" sz="1000" dirty="0"/>
              <a:t>（在常规地球环境下不合理）。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2C4517-A037-928D-667E-5DA387C3FE3E}"/>
              </a:ext>
            </a:extLst>
          </p:cNvPr>
          <p:cNvSpPr txBox="1"/>
          <p:nvPr/>
        </p:nvSpPr>
        <p:spPr>
          <a:xfrm>
            <a:off x="8964806" y="1624574"/>
            <a:ext cx="2556000" cy="48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7. </a:t>
            </a:r>
            <a:r>
              <a:rPr lang="zh-CN" altLang="en-US" sz="1100" b="1" dirty="0"/>
              <a:t>完整性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数据之间的关联关系是否完整、有效？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在“订单表”中，有一条订单的“客户</a:t>
            </a:r>
            <a:r>
              <a:rPr lang="en-US" altLang="zh-CN" sz="1000" dirty="0"/>
              <a:t>ID”</a:t>
            </a:r>
            <a:r>
              <a:rPr lang="zh-CN" altLang="en-US" sz="1000" dirty="0"/>
              <a:t>字段值为 </a:t>
            </a:r>
            <a:r>
              <a:rPr lang="en-US" altLang="zh-CN" sz="1000" dirty="0"/>
              <a:t>C10086</a:t>
            </a:r>
            <a:r>
              <a:rPr lang="zh-CN" altLang="en-US" sz="1000" dirty="0"/>
              <a:t>，但在“客户信息表”中却找不到</a:t>
            </a:r>
            <a:r>
              <a:rPr lang="en-US" altLang="zh-CN" sz="1000" dirty="0"/>
              <a:t>ID</a:t>
            </a:r>
            <a:r>
              <a:rPr lang="zh-CN" altLang="en-US" sz="1000" dirty="0"/>
              <a:t>为 </a:t>
            </a:r>
            <a:r>
              <a:rPr lang="en-US" altLang="zh-CN" sz="1000" dirty="0"/>
              <a:t>C10086 </a:t>
            </a:r>
            <a:r>
              <a:rPr lang="zh-CN" altLang="en-US" sz="1000" dirty="0"/>
              <a:t>的客户记录。这就破坏了引用完整性。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8. </a:t>
            </a:r>
            <a:r>
              <a:rPr lang="zh-CN" altLang="en-US" sz="1100" b="1" dirty="0"/>
              <a:t>有效性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数据是否符合预先定义的业务规则、语法（格式）和范围？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格式有效性： “电子邮件地址”必须包含 </a:t>
            </a:r>
            <a:r>
              <a:rPr lang="en-US" altLang="zh-CN" sz="1000" dirty="0"/>
              <a:t>@ </a:t>
            </a:r>
            <a:r>
              <a:rPr lang="zh-CN" altLang="en-US" sz="1000" dirty="0"/>
              <a:t>符号和有效域名。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值域有效性： “性别”字段只能输入预先定义的代码，如 </a:t>
            </a:r>
            <a:r>
              <a:rPr lang="en-US" altLang="zh-CN" sz="1000" dirty="0"/>
              <a:t>M</a:t>
            </a:r>
            <a:r>
              <a:rPr lang="zh-CN" altLang="en-US" sz="1000" dirty="0"/>
              <a:t>（男）、</a:t>
            </a:r>
            <a:r>
              <a:rPr lang="en-US" altLang="zh-CN" sz="1000" dirty="0"/>
              <a:t>F</a:t>
            </a:r>
            <a:r>
              <a:rPr lang="zh-CN" altLang="en-US" sz="1000" dirty="0"/>
              <a:t>（女）、</a:t>
            </a:r>
            <a:r>
              <a:rPr lang="en-US" altLang="zh-CN" sz="1000" dirty="0"/>
              <a:t>U</a:t>
            </a:r>
            <a:r>
              <a:rPr lang="zh-CN" altLang="en-US" sz="1000" dirty="0"/>
              <a:t>（未知）。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业务规则有效性： “订单发货日期”不能早于“订单创建日期”；“保险合同生效日期”必须在“投保人出生日期”之后。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627632"/>
            <a:ext cx="73152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7248" y="1627632"/>
            <a:ext cx="73152" cy="41148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7608" y="1627632"/>
            <a:ext cx="73152" cy="4297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7968" y="1627632"/>
            <a:ext cx="73152" cy="4297680"/>
          </a:xfrm>
          <a:prstGeom prst="rect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6204204"/>
            <a:ext cx="11338560" cy="512064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75597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八大质量维度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640080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847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完备性</a:t>
            </a:r>
          </a:p>
        </p:txBody>
      </p:sp>
      <p:sp>
        <p:nvSpPr>
          <p:cNvPr id="26" name="Oval 25"/>
          <p:cNvSpPr/>
          <p:nvPr/>
        </p:nvSpPr>
        <p:spPr>
          <a:xfrm>
            <a:off x="3182111" y="6400800"/>
            <a:ext cx="118872" cy="118872"/>
          </a:xfrm>
          <a:prstGeom prst="ellipse">
            <a:avLst/>
          </a:prstGeom>
          <a:solidFill>
            <a:srgbClr val="3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准确性</a:t>
            </a:r>
          </a:p>
        </p:txBody>
      </p:sp>
      <p:sp>
        <p:nvSpPr>
          <p:cNvPr id="28" name="Oval 27"/>
          <p:cNvSpPr/>
          <p:nvPr/>
        </p:nvSpPr>
        <p:spPr>
          <a:xfrm>
            <a:off x="4489703" y="6400800"/>
            <a:ext cx="118872" cy="118872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一致性</a:t>
            </a:r>
          </a:p>
        </p:txBody>
      </p:sp>
      <p:sp>
        <p:nvSpPr>
          <p:cNvPr id="30" name="Oval 29"/>
          <p:cNvSpPr/>
          <p:nvPr/>
        </p:nvSpPr>
        <p:spPr>
          <a:xfrm>
            <a:off x="5797295" y="6400800"/>
            <a:ext cx="118872" cy="118872"/>
          </a:xfrm>
          <a:prstGeom prst="ellipse">
            <a:avLst/>
          </a:prstGeom>
          <a:solidFill>
            <a:srgbClr val="41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1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及时性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7" y="6400800"/>
            <a:ext cx="118872" cy="11887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3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唯一性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6400800"/>
            <a:ext cx="118872" cy="118872"/>
          </a:xfrm>
          <a:prstGeom prst="ellipse">
            <a:avLst/>
          </a:prstGeom>
          <a:solidFill>
            <a:srgbClr val="F2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5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合理性</a:t>
            </a:r>
          </a:p>
        </p:txBody>
      </p:sp>
      <p:sp>
        <p:nvSpPr>
          <p:cNvPr id="36" name="Oval 35"/>
          <p:cNvSpPr/>
          <p:nvPr/>
        </p:nvSpPr>
        <p:spPr>
          <a:xfrm>
            <a:off x="9720072" y="6400800"/>
            <a:ext cx="118872" cy="118872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完整性</a:t>
            </a:r>
          </a:p>
        </p:txBody>
      </p:sp>
      <p:sp>
        <p:nvSpPr>
          <p:cNvPr id="38" name="Oval 37"/>
          <p:cNvSpPr/>
          <p:nvPr/>
        </p:nvSpPr>
        <p:spPr>
          <a:xfrm>
            <a:off x="11027663" y="6400800"/>
            <a:ext cx="118872" cy="118872"/>
          </a:xfrm>
          <a:prstGeom prst="ellipse">
            <a:avLst/>
          </a:prstGeom>
          <a:solidFill>
            <a:srgbClr val="9B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01399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有效性</a:t>
            </a:r>
          </a:p>
        </p:txBody>
      </p:sp>
    </p:spTree>
    <p:extLst>
      <p:ext uri="{BB962C8B-B14F-4D97-AF65-F5344CB8AC3E}">
        <p14:creationId xmlns:p14="http://schemas.microsoft.com/office/powerpoint/2010/main" val="4525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281978" y="275832"/>
            <a:ext cx="10619740" cy="670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数据标准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的示例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</a:t>
            </a:r>
            <a:r>
              <a:rPr kumimoji="0" lang="zh-CN" alt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2812285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466976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2154637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697437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数据质量标准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697437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697437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697437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725474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数据质量标准：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89687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24174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569309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91417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62823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915264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24392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57258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90125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626171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466976" y="698448"/>
            <a:ext cx="10726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企业数据散落在多个业务系统里，流转和处理环节多；上游数据出错，下游的报表、分析和决策都会跟着错。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数据质量管理靠标准、规则、监控、改进四个环节串起来，缺一个都转不动。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733452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当用户通过主数据查询功能，可大大缩短获得编码的时间；创建申请一条物资主数据的时间通常在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天左右，而通过查询功能查询到编码，再进行分发申请，通常可在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天内完成。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查询选用一条编码耗时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分钟，申请一条编码耗时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分钟，每个审核节点耗时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分钟，总共需要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904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平台主数据查询功能，推行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先查询后申请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基于质量工具技术，将复杂的数据规则固化到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输入“公称压力”属性时，会验证填写的值需在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1.6~6.4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属性阈值管理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当用户确认所申请数据与编码库中数据不重复，则继续提交。在申请环节保证了数据唯一性。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pitchFamily="2" charset="-122"/>
              </a:rPr>
              <a:t>“十二五”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提升中，增加了预检查节点，当用户完成数据填写后，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8625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质量预检查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（模糊匹配、模糊排重）从数据申请源头，保证数据填写的唯一性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质量工具辅助审核：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由于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608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△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警告：公称通径应填写为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开头加数字的格式，例如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申请人理由：该物资为进口阀门，采用英制表示法，无法换算为公制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通过数据质量规则引擎的辅助，审核人员的审核内容更明确，效率更高。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提高主数据审核效率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将数据检查规范划分为可量化规则，形成数据质量规则库由程序统一检查，不可量化规则，形成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《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数据检查手册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》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保证审核的标准化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审核意见标准化：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699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审核</a:t>
            </a:r>
            <a:r>
              <a:rPr lang="zh-CN" altLang="en-US" sz="14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时，存疑的部分进行警告提示，常见数据问题提醒审核，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D47D-3B3C-E37F-A3A0-0545ED3C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EF5285-5EA0-4201-5222-BCBF0606C4EE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88752C-4666-20E7-1D16-13C844755ECC}"/>
              </a:ext>
            </a:extLst>
          </p:cNvPr>
          <p:cNvSpPr txBox="1"/>
          <p:nvPr/>
        </p:nvSpPr>
        <p:spPr>
          <a:xfrm>
            <a:off x="539496" y="33210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altLang="zh-CN" sz="2400" b="1" dirty="0">
                <a:solidFill>
                  <a:srgbClr val="1F4E79"/>
                </a:solidFill>
                <a:latin typeface="微软雅黑"/>
                <a:ea typeface="微软雅黑"/>
              </a:rPr>
              <a:t>SAP MDG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产品广泛应用于企业的基础数据治理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64731A-A56A-823F-3904-5945B3E35B26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58651D-9E3C-C67C-C14D-54B053F3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" y="1103724"/>
            <a:ext cx="8822146" cy="48215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AC0C7-CF68-86B1-9A24-2B44ACDD7EF7}"/>
              </a:ext>
            </a:extLst>
          </p:cNvPr>
          <p:cNvSpPr txBox="1"/>
          <p:nvPr/>
        </p:nvSpPr>
        <p:spPr>
          <a:xfrm>
            <a:off x="8962355" y="1172523"/>
            <a:ext cx="3041486" cy="49110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MDG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）产品的核心功能：</a:t>
            </a:r>
            <a:b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</a:b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1.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统一数据标准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制定统一编码规则，做到一物一码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实现一数一源，一源多用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2. 数据治理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数据标准定义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自动识别重复数据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灵活定义数据校验规则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数据质量监控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3.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全流程管控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从主数据创建、修改、冻结的全生命周期管理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多维度权限控制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4. 系统集成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支持与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ERP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CRM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SCM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等主流系统对接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实时数据同步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10726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247141D4-729A-9BB5-5D7A-9AB9AAB4168C}"/>
              </a:ext>
            </a:extLst>
          </p:cNvPr>
          <p:cNvSpPr/>
          <p:nvPr/>
        </p:nvSpPr>
        <p:spPr>
          <a:xfrm>
            <a:off x="2868057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数据标准引擎</a:t>
            </a: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B18B2A0A-1C41-C2FD-7890-A1C89D1230E0}"/>
              </a:ext>
            </a:extLst>
          </p:cNvPr>
          <p:cNvSpPr/>
          <p:nvPr/>
        </p:nvSpPr>
        <p:spPr>
          <a:xfrm>
            <a:off x="1662628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数据清洗引擎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98EDB23E-D8A1-2124-D063-759490FC9611}"/>
              </a:ext>
            </a:extLst>
          </p:cNvPr>
          <p:cNvSpPr/>
          <p:nvPr/>
        </p:nvSpPr>
        <p:spPr>
          <a:xfrm>
            <a:off x="457199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数据质量引擎</a:t>
            </a: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A37C0156-575D-D725-35E9-DEC9FC1C871D}"/>
              </a:ext>
            </a:extLst>
          </p:cNvPr>
          <p:cNvSpPr/>
          <p:nvPr/>
        </p:nvSpPr>
        <p:spPr>
          <a:xfrm>
            <a:off x="4073486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数据模型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2472" y="34076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1F4E79"/>
                </a:solidFill>
                <a:latin typeface="微软雅黑"/>
                <a:ea typeface="微软雅黑"/>
              </a:rPr>
              <a:t>查重、校验、清洗这些重复活交给 AI，人只在拿不准和要拍板时介入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95AF0953-38ED-0E0C-8C37-E8D1D28E4C18}"/>
              </a:ext>
            </a:extLst>
          </p:cNvPr>
          <p:cNvSpPr/>
          <p:nvPr/>
        </p:nvSpPr>
        <p:spPr>
          <a:xfrm>
            <a:off x="9122775" y="86307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57EF23-2348-E9B3-FC9C-77B17EA27B74}"/>
              </a:ext>
            </a:extLst>
          </p:cNvPr>
          <p:cNvSpPr/>
          <p:nvPr/>
        </p:nvSpPr>
        <p:spPr>
          <a:xfrm>
            <a:off x="9152493" y="11813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10F8E1BC-7DFB-4A31-8C95-29AE3D9CA520}"/>
              </a:ext>
            </a:extLst>
          </p:cNvPr>
          <p:cNvSpPr txBox="1"/>
          <p:nvPr/>
        </p:nvSpPr>
        <p:spPr>
          <a:xfrm>
            <a:off x="9204268" y="196035"/>
            <a:ext cx="2481072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查询、新增、变更，都在一个对话框；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铭牌拍照或粘贴文本，自动识别填单；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提交前列出相似编码，避免重复建档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B42638D2-E732-B51E-9B81-9A5045F5BB5E}"/>
              </a:ext>
            </a:extLst>
          </p:cNvPr>
          <p:cNvSpPr/>
          <p:nvPr/>
        </p:nvSpPr>
        <p:spPr>
          <a:xfrm>
            <a:off x="9103308" y="3555788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ED8F7216-ACB2-D5E5-48F5-53BD7FE2D8E5}"/>
              </a:ext>
            </a:extLst>
          </p:cNvPr>
          <p:cNvSpPr/>
          <p:nvPr/>
        </p:nvSpPr>
        <p:spPr>
          <a:xfrm>
            <a:off x="9152493" y="358324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D2828BC-5F13-D4B9-968D-83A612DB7078}"/>
              </a:ext>
            </a:extLst>
          </p:cNvPr>
          <p:cNvSpPr txBox="1"/>
          <p:nvPr/>
        </p:nvSpPr>
        <p:spPr>
          <a:xfrm>
            <a:off x="9204268" y="3632925"/>
            <a:ext cx="251490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主动</a:t>
            </a: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治理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先学存量数据的规律，定出合理阈值；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微软雅黑"/>
                <a:ea typeface="微软雅黑"/>
              </a:rPr>
              <a:t>质量报告按时推，不用人催；</a:t>
            </a:r>
            <a:endParaRPr lang="en-US" sz="11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发现异常先记下来，附清洗建议；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可疑数据主动预警；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分发失败自动查原因，不用翻日志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9D9E39C-7159-B6CA-18CB-A83256A61335}"/>
              </a:ext>
            </a:extLst>
          </p:cNvPr>
          <p:cNvSpPr/>
          <p:nvPr/>
        </p:nvSpPr>
        <p:spPr>
          <a:xfrm>
            <a:off x="9103308" y="183734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7D857DD-635A-ED72-16C4-0BA12ADC2A09}"/>
              </a:ext>
            </a:extLst>
          </p:cNvPr>
          <p:cNvSpPr/>
          <p:nvPr/>
        </p:nvSpPr>
        <p:spPr>
          <a:xfrm>
            <a:off x="9152493" y="185068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3ACE954C-6A2D-9038-2B68-2195F87AC6B5}"/>
              </a:ext>
            </a:extLst>
          </p:cNvPr>
          <p:cNvSpPr txBox="1"/>
          <p:nvPr/>
        </p:nvSpPr>
        <p:spPr>
          <a:xfrm>
            <a:off x="9204268" y="1947071"/>
            <a:ext cx="248107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大模型负责理解，知识库提供标准规范；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本体模型管物料-BOM-工艺-供应商关系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2E8ED891-9940-5E9E-765C-4E469D308EA1}"/>
              </a:ext>
            </a:extLst>
          </p:cNvPr>
          <p:cNvSpPr/>
          <p:nvPr/>
        </p:nvSpPr>
        <p:spPr>
          <a:xfrm>
            <a:off x="9103308" y="527423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432F7A2-E757-3CBD-F538-64617F840C47}"/>
              </a:ext>
            </a:extLst>
          </p:cNvPr>
          <p:cNvSpPr/>
          <p:nvPr/>
        </p:nvSpPr>
        <p:spPr>
          <a:xfrm>
            <a:off x="9152493" y="531579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4E5EC2FD-1AF9-04F8-C773-82707DE054CA}"/>
              </a:ext>
            </a:extLst>
          </p:cNvPr>
          <p:cNvSpPr txBox="1"/>
          <p:nvPr/>
        </p:nvSpPr>
        <p:spPr>
          <a:xfrm>
            <a:off x="9204268" y="5383961"/>
            <a:ext cx="251490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知识沉淀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脏数据、驳回理由都攒下来更新案例；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标准变了，知识库跟着更新；</a:t>
            </a:r>
            <a:endParaRPr lang="en-US" altLang="zh-CN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常见问题不用重教，AI 按上次规则处理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7" name="五边形 4">
            <a:extLst>
              <a:ext uri="{FF2B5EF4-FFF2-40B4-BE49-F238E27FC236}">
                <a16:creationId xmlns:a16="http://schemas.microsoft.com/office/drawing/2014/main" id="{0138DE09-C6FD-B3A9-EDAA-A6C11703FE4A}"/>
              </a:ext>
            </a:extLst>
          </p:cNvPr>
          <p:cNvSpPr/>
          <p:nvPr/>
        </p:nvSpPr>
        <p:spPr bwMode="auto">
          <a:xfrm>
            <a:off x="457200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数据查询</a:t>
            </a:r>
          </a:p>
        </p:txBody>
      </p:sp>
      <p:sp>
        <p:nvSpPr>
          <p:cNvPr id="48" name="五边形 5">
            <a:extLst>
              <a:ext uri="{FF2B5EF4-FFF2-40B4-BE49-F238E27FC236}">
                <a16:creationId xmlns:a16="http://schemas.microsoft.com/office/drawing/2014/main" id="{9D81AE3E-07AD-4273-0727-BEAF8EA1E597}"/>
              </a:ext>
            </a:extLst>
          </p:cNvPr>
          <p:cNvSpPr/>
          <p:nvPr/>
        </p:nvSpPr>
        <p:spPr bwMode="auto">
          <a:xfrm>
            <a:off x="1676173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9" name="五边形 6">
            <a:extLst>
              <a:ext uri="{FF2B5EF4-FFF2-40B4-BE49-F238E27FC236}">
                <a16:creationId xmlns:a16="http://schemas.microsoft.com/office/drawing/2014/main" id="{F840C341-FCF9-C334-37DD-39AFAE3C7C3E}"/>
              </a:ext>
            </a:extLst>
          </p:cNvPr>
          <p:cNvSpPr/>
          <p:nvPr/>
        </p:nvSpPr>
        <p:spPr bwMode="auto">
          <a:xfrm>
            <a:off x="2895146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50" name="五边形 7">
            <a:extLst>
              <a:ext uri="{FF2B5EF4-FFF2-40B4-BE49-F238E27FC236}">
                <a16:creationId xmlns:a16="http://schemas.microsoft.com/office/drawing/2014/main" id="{6241BBDC-499B-1524-4690-AC1D7BE616AC}"/>
              </a:ext>
            </a:extLst>
          </p:cNvPr>
          <p:cNvSpPr/>
          <p:nvPr/>
        </p:nvSpPr>
        <p:spPr bwMode="auto">
          <a:xfrm>
            <a:off x="4114119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D7177B9-5CE5-8CC3-9A6B-C317AD95DD6F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>
            <a:off x="1403355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D7B369D-A70D-D82B-3CE0-5D9DC39289A7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622328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DB7092-80DD-3A8C-A20B-ADB7EB597E3F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841301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五边形 11">
            <a:extLst>
              <a:ext uri="{FF2B5EF4-FFF2-40B4-BE49-F238E27FC236}">
                <a16:creationId xmlns:a16="http://schemas.microsoft.com/office/drawing/2014/main" id="{6B8E4649-9EA8-0F55-D39E-474FF3C01F69}"/>
              </a:ext>
            </a:extLst>
          </p:cNvPr>
          <p:cNvSpPr/>
          <p:nvPr/>
        </p:nvSpPr>
        <p:spPr bwMode="auto">
          <a:xfrm>
            <a:off x="5333092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提交审核</a:t>
            </a:r>
          </a:p>
        </p:txBody>
      </p:sp>
      <p:sp>
        <p:nvSpPr>
          <p:cNvPr id="55" name="五边形 12">
            <a:extLst>
              <a:ext uri="{FF2B5EF4-FFF2-40B4-BE49-F238E27FC236}">
                <a16:creationId xmlns:a16="http://schemas.microsoft.com/office/drawing/2014/main" id="{1291CF4D-7078-DBA4-E8E0-D99FED666152}"/>
              </a:ext>
            </a:extLst>
          </p:cNvPr>
          <p:cNvSpPr/>
          <p:nvPr/>
        </p:nvSpPr>
        <p:spPr bwMode="auto">
          <a:xfrm>
            <a:off x="6552065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流程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56" name="五边形 13">
            <a:extLst>
              <a:ext uri="{FF2B5EF4-FFF2-40B4-BE49-F238E27FC236}">
                <a16:creationId xmlns:a16="http://schemas.microsoft.com/office/drawing/2014/main" id="{E56DB271-6881-E793-53D0-F1897EC317A7}"/>
              </a:ext>
            </a:extLst>
          </p:cNvPr>
          <p:cNvSpPr/>
          <p:nvPr/>
        </p:nvSpPr>
        <p:spPr bwMode="auto">
          <a:xfrm>
            <a:off x="7771037" y="109842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分发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F8005B-01BA-96C1-8075-E34736D0DA15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V="1">
            <a:off x="5060274" y="1287378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5BD8C9-D935-7DDA-9478-73C75BA4674F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9247" y="1287378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D0F2FA-6D8F-26C1-D704-9B49FEE00F2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7498220" y="1287377"/>
            <a:ext cx="272817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0" name="圆柱体 59">
            <a:extLst>
              <a:ext uri="{FF2B5EF4-FFF2-40B4-BE49-F238E27FC236}">
                <a16:creationId xmlns:a16="http://schemas.microsoft.com/office/drawing/2014/main" id="{3135520F-3164-17D1-B507-479A77106E46}"/>
              </a:ext>
            </a:extLst>
          </p:cNvPr>
          <p:cNvSpPr/>
          <p:nvPr/>
        </p:nvSpPr>
        <p:spPr>
          <a:xfrm>
            <a:off x="1921267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圆柱体 60">
            <a:extLst>
              <a:ext uri="{FF2B5EF4-FFF2-40B4-BE49-F238E27FC236}">
                <a16:creationId xmlns:a16="http://schemas.microsoft.com/office/drawing/2014/main" id="{92B906DF-C502-5502-8060-118165D66EC9}"/>
              </a:ext>
            </a:extLst>
          </p:cNvPr>
          <p:cNvSpPr/>
          <p:nvPr/>
        </p:nvSpPr>
        <p:spPr>
          <a:xfrm>
            <a:off x="879101" y="5137647"/>
            <a:ext cx="866056" cy="46232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SAP ERP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流程图: 多文档 61">
            <a:extLst>
              <a:ext uri="{FF2B5EF4-FFF2-40B4-BE49-F238E27FC236}">
                <a16:creationId xmlns:a16="http://schemas.microsoft.com/office/drawing/2014/main" id="{3AE51842-F3FB-F2D7-38BB-B84B8B431AAF}"/>
              </a:ext>
            </a:extLst>
          </p:cNvPr>
          <p:cNvSpPr/>
          <p:nvPr/>
        </p:nvSpPr>
        <p:spPr>
          <a:xfrm>
            <a:off x="5867930" y="3109423"/>
            <a:ext cx="677761" cy="87747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/>
              <a:t>数据标准</a:t>
            </a:r>
          </a:p>
        </p:txBody>
      </p:sp>
      <p:sp>
        <p:nvSpPr>
          <p:cNvPr id="64" name="圆柱体 63">
            <a:extLst>
              <a:ext uri="{FF2B5EF4-FFF2-40B4-BE49-F238E27FC236}">
                <a16:creationId xmlns:a16="http://schemas.microsoft.com/office/drawing/2014/main" id="{A5BFD5D8-B05E-3158-7244-C87413E9330A}"/>
              </a:ext>
            </a:extLst>
          </p:cNvPr>
          <p:cNvSpPr/>
          <p:nvPr/>
        </p:nvSpPr>
        <p:spPr>
          <a:xfrm>
            <a:off x="2983541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圆柱体 65">
            <a:extLst>
              <a:ext uri="{FF2B5EF4-FFF2-40B4-BE49-F238E27FC236}">
                <a16:creationId xmlns:a16="http://schemas.microsoft.com/office/drawing/2014/main" id="{1A52D1D1-7DA6-CEDA-6BBE-0487E34E0974}"/>
              </a:ext>
            </a:extLst>
          </p:cNvPr>
          <p:cNvSpPr/>
          <p:nvPr/>
        </p:nvSpPr>
        <p:spPr>
          <a:xfrm>
            <a:off x="1007183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金蝶</a:t>
            </a:r>
          </a:p>
        </p:txBody>
      </p:sp>
      <p:sp>
        <p:nvSpPr>
          <p:cNvPr id="70" name="圆柱体 69">
            <a:extLst>
              <a:ext uri="{FF2B5EF4-FFF2-40B4-BE49-F238E27FC236}">
                <a16:creationId xmlns:a16="http://schemas.microsoft.com/office/drawing/2014/main" id="{EBE7C0FB-90EA-EE65-3A48-FEF0FA148D55}"/>
              </a:ext>
            </a:extLst>
          </p:cNvPr>
          <p:cNvSpPr/>
          <p:nvPr/>
        </p:nvSpPr>
        <p:spPr>
          <a:xfrm>
            <a:off x="6898733" y="341290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国标</a:t>
            </a:r>
          </a:p>
        </p:txBody>
      </p:sp>
      <p:sp>
        <p:nvSpPr>
          <p:cNvPr id="74" name="圆柱体 73">
            <a:extLst>
              <a:ext uri="{FF2B5EF4-FFF2-40B4-BE49-F238E27FC236}">
                <a16:creationId xmlns:a16="http://schemas.microsoft.com/office/drawing/2014/main" id="{D18D75A8-37DC-FB4C-9D38-3BDE75AAC21A}"/>
              </a:ext>
            </a:extLst>
          </p:cNvPr>
          <p:cNvSpPr/>
          <p:nvPr/>
        </p:nvSpPr>
        <p:spPr>
          <a:xfrm>
            <a:off x="166035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用友</a:t>
            </a:r>
          </a:p>
        </p:txBody>
      </p:sp>
      <p:sp>
        <p:nvSpPr>
          <p:cNvPr id="76" name="圆柱体 75">
            <a:extLst>
              <a:ext uri="{FF2B5EF4-FFF2-40B4-BE49-F238E27FC236}">
                <a16:creationId xmlns:a16="http://schemas.microsoft.com/office/drawing/2014/main" id="{9F71855F-4660-3F04-C15F-C7FF5D8CFE78}"/>
              </a:ext>
            </a:extLst>
          </p:cNvPr>
          <p:cNvSpPr/>
          <p:nvPr/>
        </p:nvSpPr>
        <p:spPr>
          <a:xfrm>
            <a:off x="6898733" y="413710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企标</a:t>
            </a:r>
          </a:p>
        </p:txBody>
      </p:sp>
      <p:sp>
        <p:nvSpPr>
          <p:cNvPr id="78" name="圆柱体 77">
            <a:extLst>
              <a:ext uri="{FF2B5EF4-FFF2-40B4-BE49-F238E27FC236}">
                <a16:creationId xmlns:a16="http://schemas.microsoft.com/office/drawing/2014/main" id="{99241F8B-3447-9D4A-116A-7BCF824C36A9}"/>
              </a:ext>
            </a:extLst>
          </p:cNvPr>
          <p:cNvSpPr/>
          <p:nvPr/>
        </p:nvSpPr>
        <p:spPr>
          <a:xfrm>
            <a:off x="6898733" y="44882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圆柱体 79">
            <a:extLst>
              <a:ext uri="{FF2B5EF4-FFF2-40B4-BE49-F238E27FC236}">
                <a16:creationId xmlns:a16="http://schemas.microsoft.com/office/drawing/2014/main" id="{A7E70497-A38D-4E45-F98C-C0CA6F9A8E2B}"/>
              </a:ext>
            </a:extLst>
          </p:cNvPr>
          <p:cNvSpPr/>
          <p:nvPr/>
        </p:nvSpPr>
        <p:spPr>
          <a:xfrm>
            <a:off x="6898733" y="483936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邓白氏</a:t>
            </a:r>
          </a:p>
        </p:txBody>
      </p:sp>
      <p:sp>
        <p:nvSpPr>
          <p:cNvPr id="82" name="圆柱体 81">
            <a:extLst>
              <a:ext uri="{FF2B5EF4-FFF2-40B4-BE49-F238E27FC236}">
                <a16:creationId xmlns:a16="http://schemas.microsoft.com/office/drawing/2014/main" id="{7C2345BB-BE1A-F568-5664-0744238D504B}"/>
              </a:ext>
            </a:extLst>
          </p:cNvPr>
          <p:cNvSpPr/>
          <p:nvPr/>
        </p:nvSpPr>
        <p:spPr>
          <a:xfrm>
            <a:off x="6898733" y="376072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行业标准</a:t>
            </a:r>
          </a:p>
        </p:txBody>
      </p:sp>
      <p:sp>
        <p:nvSpPr>
          <p:cNvPr id="84" name="圆柱体 83">
            <a:extLst>
              <a:ext uri="{FF2B5EF4-FFF2-40B4-BE49-F238E27FC236}">
                <a16:creationId xmlns:a16="http://schemas.microsoft.com/office/drawing/2014/main" id="{A95F3C0E-1C64-A7CA-4F17-88F748A3DE61}"/>
              </a:ext>
            </a:extLst>
          </p:cNvPr>
          <p:cNvSpPr/>
          <p:nvPr/>
        </p:nvSpPr>
        <p:spPr>
          <a:xfrm>
            <a:off x="6898733" y="5168552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社会信用</a:t>
            </a:r>
          </a:p>
        </p:txBody>
      </p:sp>
      <p:sp>
        <p:nvSpPr>
          <p:cNvPr id="86" name="圆柱体 85">
            <a:extLst>
              <a:ext uri="{FF2B5EF4-FFF2-40B4-BE49-F238E27FC236}">
                <a16:creationId xmlns:a16="http://schemas.microsoft.com/office/drawing/2014/main" id="{A49B4DB1-0003-21E3-793F-1994AEE6BF13}"/>
              </a:ext>
            </a:extLst>
          </p:cNvPr>
          <p:cNvSpPr/>
          <p:nvPr/>
        </p:nvSpPr>
        <p:spPr>
          <a:xfrm>
            <a:off x="6898732" y="54977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税务局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0E3537C9-0BF6-BDD5-20DB-7796CE50EE87}"/>
              </a:ext>
            </a:extLst>
          </p:cNvPr>
          <p:cNvCxnSpPr>
            <a:stCxn id="70" idx="2"/>
            <a:endCxn id="62" idx="3"/>
          </p:cNvCxnSpPr>
          <p:nvPr/>
        </p:nvCxnSpPr>
        <p:spPr>
          <a:xfrm rot="10800000">
            <a:off x="6545691" y="3548161"/>
            <a:ext cx="353042" cy="1902"/>
          </a:xfrm>
          <a:prstGeom prst="bentConnector3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5753035A-6619-B0AC-EEAA-A492C50D8CF6}"/>
              </a:ext>
            </a:extLst>
          </p:cNvPr>
          <p:cNvCxnSpPr>
            <a:cxnSpLocks/>
            <a:stCxn id="82" idx="2"/>
            <a:endCxn id="62" idx="3"/>
          </p:cNvCxnSpPr>
          <p:nvPr/>
        </p:nvCxnSpPr>
        <p:spPr>
          <a:xfrm rot="10800000">
            <a:off x="6545691" y="3548161"/>
            <a:ext cx="353042" cy="34972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D04AFD8D-C93F-D8E9-0966-C18B760DC6A4}"/>
              </a:ext>
            </a:extLst>
          </p:cNvPr>
          <p:cNvCxnSpPr>
            <a:cxnSpLocks/>
            <a:stCxn id="76" idx="2"/>
            <a:endCxn id="62" idx="3"/>
          </p:cNvCxnSpPr>
          <p:nvPr/>
        </p:nvCxnSpPr>
        <p:spPr>
          <a:xfrm rot="10800000">
            <a:off x="6545691" y="3548161"/>
            <a:ext cx="353042" cy="72610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F6E4B499-3E0C-C59A-ACB9-402F91D7002D}"/>
              </a:ext>
            </a:extLst>
          </p:cNvPr>
          <p:cNvCxnSpPr>
            <a:cxnSpLocks/>
            <a:stCxn id="80" idx="2"/>
            <a:endCxn id="62" idx="3"/>
          </p:cNvCxnSpPr>
          <p:nvPr/>
        </p:nvCxnSpPr>
        <p:spPr>
          <a:xfrm rot="10800000">
            <a:off x="6545691" y="3548161"/>
            <a:ext cx="353042" cy="142836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BF915A-686C-CCDF-F704-ABBB3E6D7E56}"/>
              </a:ext>
            </a:extLst>
          </p:cNvPr>
          <p:cNvCxnSpPr>
            <a:cxnSpLocks/>
            <a:stCxn id="78" idx="2"/>
            <a:endCxn id="62" idx="3"/>
          </p:cNvCxnSpPr>
          <p:nvPr/>
        </p:nvCxnSpPr>
        <p:spPr>
          <a:xfrm rot="10800000">
            <a:off x="6545691" y="3548161"/>
            <a:ext cx="353042" cy="10772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17CAC36-EED2-0742-4648-3DB682CDAEC7}"/>
              </a:ext>
            </a:extLst>
          </p:cNvPr>
          <p:cNvCxnSpPr>
            <a:cxnSpLocks/>
            <a:stCxn id="84" idx="2"/>
            <a:endCxn id="62" idx="3"/>
          </p:cNvCxnSpPr>
          <p:nvPr/>
        </p:nvCxnSpPr>
        <p:spPr>
          <a:xfrm rot="10800000">
            <a:off x="6545691" y="3548162"/>
            <a:ext cx="353042" cy="175755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EC31920D-B5EE-A812-D57A-D5BB19FB2E4D}"/>
              </a:ext>
            </a:extLst>
          </p:cNvPr>
          <p:cNvCxnSpPr>
            <a:cxnSpLocks/>
            <a:stCxn id="86" idx="2"/>
            <a:endCxn id="62" idx="3"/>
          </p:cNvCxnSpPr>
          <p:nvPr/>
        </p:nvCxnSpPr>
        <p:spPr>
          <a:xfrm rot="10800000">
            <a:off x="6545692" y="3548161"/>
            <a:ext cx="353041" cy="20867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圆柱体 107">
            <a:extLst>
              <a:ext uri="{FF2B5EF4-FFF2-40B4-BE49-F238E27FC236}">
                <a16:creationId xmlns:a16="http://schemas.microsoft.com/office/drawing/2014/main" id="{BA4585F0-8690-E016-6590-20A0202BB706}"/>
              </a:ext>
            </a:extLst>
          </p:cNvPr>
          <p:cNvSpPr/>
          <p:nvPr/>
        </p:nvSpPr>
        <p:spPr>
          <a:xfrm>
            <a:off x="1883222" y="3219891"/>
            <a:ext cx="946155" cy="656540"/>
          </a:xfrm>
          <a:prstGeom prst="ca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ODS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8FD5F608-6EB4-BC25-972E-52AC682E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7" y="3137460"/>
            <a:ext cx="1363624" cy="821402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E7BEED9-14BF-120C-519B-EEBBF491E629}"/>
              </a:ext>
            </a:extLst>
          </p:cNvPr>
          <p:cNvCxnSpPr>
            <a:cxnSpLocks/>
            <a:stCxn id="61" idx="1"/>
            <a:endCxn id="108" idx="3"/>
          </p:cNvCxnSpPr>
          <p:nvPr/>
        </p:nvCxnSpPr>
        <p:spPr>
          <a:xfrm rot="5400000" flipH="1" flipV="1">
            <a:off x="1203606" y="3984954"/>
            <a:ext cx="1261216" cy="1044171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46D9A52C-A7E5-F8C7-17D2-CAFB9A7A2754}"/>
              </a:ext>
            </a:extLst>
          </p:cNvPr>
          <p:cNvCxnSpPr>
            <a:cxnSpLocks/>
          </p:cNvCxnSpPr>
          <p:nvPr/>
        </p:nvCxnSpPr>
        <p:spPr>
          <a:xfrm>
            <a:off x="2829377" y="3548161"/>
            <a:ext cx="461650" cy="0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柱体 118">
            <a:extLst>
              <a:ext uri="{FF2B5EF4-FFF2-40B4-BE49-F238E27FC236}">
                <a16:creationId xmlns:a16="http://schemas.microsoft.com/office/drawing/2014/main" id="{20409FEB-9613-C922-B2E1-F3786B5271A1}"/>
              </a:ext>
            </a:extLst>
          </p:cNvPr>
          <p:cNvSpPr/>
          <p:nvPr/>
        </p:nvSpPr>
        <p:spPr>
          <a:xfrm>
            <a:off x="2313517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9" name="连接符: 肘形 110">
            <a:extLst>
              <a:ext uri="{FF2B5EF4-FFF2-40B4-BE49-F238E27FC236}">
                <a16:creationId xmlns:a16="http://schemas.microsoft.com/office/drawing/2014/main" id="{32EFE25F-F906-DDE7-72EC-796C4889FE6C}"/>
              </a:ext>
            </a:extLst>
          </p:cNvPr>
          <p:cNvCxnSpPr>
            <a:cxnSpLocks/>
            <a:stCxn id="60" idx="1"/>
            <a:endCxn id="108" idx="3"/>
          </p:cNvCxnSpPr>
          <p:nvPr/>
        </p:nvCxnSpPr>
        <p:spPr>
          <a:xfrm rot="5400000" flipH="1" flipV="1">
            <a:off x="1724455" y="4506566"/>
            <a:ext cx="1261980" cy="1710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10">
            <a:extLst>
              <a:ext uri="{FF2B5EF4-FFF2-40B4-BE49-F238E27FC236}">
                <a16:creationId xmlns:a16="http://schemas.microsoft.com/office/drawing/2014/main" id="{7763F4DF-FCDE-5578-796A-8DAA92BD6D84}"/>
              </a:ext>
            </a:extLst>
          </p:cNvPr>
          <p:cNvCxnSpPr>
            <a:cxnSpLocks/>
            <a:stCxn id="64" idx="1"/>
            <a:endCxn id="108" idx="3"/>
          </p:cNvCxnSpPr>
          <p:nvPr/>
        </p:nvCxnSpPr>
        <p:spPr>
          <a:xfrm rot="16200000" flipV="1">
            <a:off x="2255592" y="3977139"/>
            <a:ext cx="1261980" cy="1060564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9C9E940-E7BC-62F7-72F5-720C23F325D5}"/>
              </a:ext>
            </a:extLst>
          </p:cNvPr>
          <p:cNvSpPr txBox="1"/>
          <p:nvPr/>
        </p:nvSpPr>
        <p:spPr>
          <a:xfrm>
            <a:off x="3379503" y="479811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供应商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4C9884-B25A-A062-C5EF-4A050E605572}"/>
              </a:ext>
            </a:extLst>
          </p:cNvPr>
          <p:cNvSpPr txBox="1"/>
          <p:nvPr/>
        </p:nvSpPr>
        <p:spPr>
          <a:xfrm>
            <a:off x="2328924" y="4798114"/>
            <a:ext cx="441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客户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1F5D8A-EB17-44EE-8200-8A039B7963A4}"/>
              </a:ext>
            </a:extLst>
          </p:cNvPr>
          <p:cNvSpPr txBox="1"/>
          <p:nvPr/>
        </p:nvSpPr>
        <p:spPr>
          <a:xfrm>
            <a:off x="683238" y="4798114"/>
            <a:ext cx="12588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物料</a:t>
            </a:r>
            <a:r>
              <a:rPr lang="en-US" altLang="zh-CN" sz="900" dirty="0"/>
              <a:t>\</a:t>
            </a:r>
            <a:r>
              <a:rPr lang="zh-CN" altLang="en-US" sz="900" dirty="0"/>
              <a:t>会计科目</a:t>
            </a:r>
            <a:r>
              <a:rPr lang="en-US" altLang="zh-CN" sz="900" dirty="0"/>
              <a:t>\… …</a:t>
            </a:r>
            <a:endParaRPr lang="zh-CN" altLang="en-US" sz="9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4AFBCFA-5934-5D98-383C-B95F960DC2C9}"/>
              </a:ext>
            </a:extLst>
          </p:cNvPr>
          <p:cNvSpPr txBox="1"/>
          <p:nvPr/>
        </p:nvSpPr>
        <p:spPr>
          <a:xfrm>
            <a:off x="3414719" y="2840076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AI</a:t>
            </a:r>
            <a:r>
              <a:rPr lang="zh-CN" altLang="en-US" sz="1100" b="1" dirty="0"/>
              <a:t>数据治理平台</a:t>
            </a:r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0172E3-05A5-B10E-BBDA-4FE04ABC689A}"/>
              </a:ext>
            </a:extLst>
          </p:cNvPr>
          <p:cNvSpPr/>
          <p:nvPr/>
        </p:nvSpPr>
        <p:spPr>
          <a:xfrm>
            <a:off x="6898732" y="583301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 …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CE19EFF-B6D3-46F3-827A-CB6187763D81}"/>
              </a:ext>
            </a:extLst>
          </p:cNvPr>
          <p:cNvCxnSpPr>
            <a:cxnSpLocks/>
            <a:stCxn id="143" idx="2"/>
            <a:endCxn id="62" idx="3"/>
          </p:cNvCxnSpPr>
          <p:nvPr/>
        </p:nvCxnSpPr>
        <p:spPr>
          <a:xfrm rot="10800000">
            <a:off x="6545692" y="3548161"/>
            <a:ext cx="353041" cy="242201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13">
            <a:extLst>
              <a:ext uri="{FF2B5EF4-FFF2-40B4-BE49-F238E27FC236}">
                <a16:creationId xmlns:a16="http://schemas.microsoft.com/office/drawing/2014/main" id="{DEDB87FB-CCFD-C76D-86B5-4730968F1936}"/>
              </a:ext>
            </a:extLst>
          </p:cNvPr>
          <p:cNvCxnSpPr>
            <a:cxnSpLocks/>
            <a:stCxn id="62" idx="1"/>
            <a:endCxn id="204" idx="4"/>
          </p:cNvCxnSpPr>
          <p:nvPr/>
        </p:nvCxnSpPr>
        <p:spPr>
          <a:xfrm flipH="1">
            <a:off x="5624090" y="3548161"/>
            <a:ext cx="243840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柱体 150">
            <a:extLst>
              <a:ext uri="{FF2B5EF4-FFF2-40B4-BE49-F238E27FC236}">
                <a16:creationId xmlns:a16="http://schemas.microsoft.com/office/drawing/2014/main" id="{6BA10CA5-8B32-3ADD-1B3A-1821C9B6924F}"/>
              </a:ext>
            </a:extLst>
          </p:cNvPr>
          <p:cNvSpPr/>
          <p:nvPr/>
        </p:nvSpPr>
        <p:spPr>
          <a:xfrm>
            <a:off x="2966684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WMS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圆柱体 152">
            <a:extLst>
              <a:ext uri="{FF2B5EF4-FFF2-40B4-BE49-F238E27FC236}">
                <a16:creationId xmlns:a16="http://schemas.microsoft.com/office/drawing/2014/main" id="{5E0CFA27-02E5-87A3-1AA8-C5E083CD7530}"/>
              </a:ext>
            </a:extLst>
          </p:cNvPr>
          <p:cNvSpPr/>
          <p:nvPr/>
        </p:nvSpPr>
        <p:spPr>
          <a:xfrm>
            <a:off x="3619851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预算系统</a:t>
            </a:r>
          </a:p>
        </p:txBody>
      </p:sp>
      <p:sp>
        <p:nvSpPr>
          <p:cNvPr id="155" name="圆柱体 154">
            <a:extLst>
              <a:ext uri="{FF2B5EF4-FFF2-40B4-BE49-F238E27FC236}">
                <a16:creationId xmlns:a16="http://schemas.microsoft.com/office/drawing/2014/main" id="{BACBEAFF-0264-F550-C82E-206EC0175768}"/>
              </a:ext>
            </a:extLst>
          </p:cNvPr>
          <p:cNvSpPr/>
          <p:nvPr/>
        </p:nvSpPr>
        <p:spPr>
          <a:xfrm>
            <a:off x="427302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6" name="连接符: 肘形 110">
            <a:extLst>
              <a:ext uri="{FF2B5EF4-FFF2-40B4-BE49-F238E27FC236}">
                <a16:creationId xmlns:a16="http://schemas.microsoft.com/office/drawing/2014/main" id="{D85A5EEB-6E93-BA84-3357-8D8BB8FB9BFB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rot="16200000" flipH="1">
            <a:off x="1054795" y="5857307"/>
            <a:ext cx="515215" cy="54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10">
            <a:extLst>
              <a:ext uri="{FF2B5EF4-FFF2-40B4-BE49-F238E27FC236}">
                <a16:creationId xmlns:a16="http://schemas.microsoft.com/office/drawing/2014/main" id="{B263D64F-2AF3-6E07-2657-878EE326D359}"/>
              </a:ext>
            </a:extLst>
          </p:cNvPr>
          <p:cNvCxnSpPr>
            <a:cxnSpLocks/>
            <a:stCxn id="61" idx="3"/>
            <a:endCxn id="74" idx="1"/>
          </p:cNvCxnSpPr>
          <p:nvPr/>
        </p:nvCxnSpPr>
        <p:spPr>
          <a:xfrm rot="16200000" flipH="1">
            <a:off x="1381378" y="5530723"/>
            <a:ext cx="515215" cy="6537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10">
            <a:extLst>
              <a:ext uri="{FF2B5EF4-FFF2-40B4-BE49-F238E27FC236}">
                <a16:creationId xmlns:a16="http://schemas.microsoft.com/office/drawing/2014/main" id="{511B63B5-3F0B-6A99-D78D-DD2AAFBC298E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 rot="16200000" flipH="1">
            <a:off x="1707962" y="5204140"/>
            <a:ext cx="515215" cy="130688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10">
            <a:extLst>
              <a:ext uri="{FF2B5EF4-FFF2-40B4-BE49-F238E27FC236}">
                <a16:creationId xmlns:a16="http://schemas.microsoft.com/office/drawing/2014/main" id="{DB1D7593-C884-F2E2-0921-9A4589BF30D6}"/>
              </a:ext>
            </a:extLst>
          </p:cNvPr>
          <p:cNvCxnSpPr>
            <a:cxnSpLocks/>
            <a:stCxn id="61" idx="3"/>
            <a:endCxn id="151" idx="1"/>
          </p:cNvCxnSpPr>
          <p:nvPr/>
        </p:nvCxnSpPr>
        <p:spPr>
          <a:xfrm rot="16200000" flipH="1">
            <a:off x="2034545" y="4877556"/>
            <a:ext cx="515215" cy="1960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10">
            <a:extLst>
              <a:ext uri="{FF2B5EF4-FFF2-40B4-BE49-F238E27FC236}">
                <a16:creationId xmlns:a16="http://schemas.microsoft.com/office/drawing/2014/main" id="{44289C5F-D70C-6D7F-9015-0D73A234786D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 rot="16200000" flipH="1">
            <a:off x="2361129" y="4550973"/>
            <a:ext cx="515215" cy="26132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10">
            <a:extLst>
              <a:ext uri="{FF2B5EF4-FFF2-40B4-BE49-F238E27FC236}">
                <a16:creationId xmlns:a16="http://schemas.microsoft.com/office/drawing/2014/main" id="{08B11AC2-A799-5057-D63F-43FD0DC55719}"/>
              </a:ext>
            </a:extLst>
          </p:cNvPr>
          <p:cNvCxnSpPr>
            <a:cxnSpLocks/>
            <a:stCxn id="61" idx="3"/>
            <a:endCxn id="155" idx="1"/>
          </p:cNvCxnSpPr>
          <p:nvPr/>
        </p:nvCxnSpPr>
        <p:spPr>
          <a:xfrm rot="16200000" flipH="1">
            <a:off x="2687713" y="4224388"/>
            <a:ext cx="515215" cy="326638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1329785-72AE-8CC1-02D1-7A566214A51C}"/>
              </a:ext>
            </a:extLst>
          </p:cNvPr>
          <p:cNvSpPr txBox="1"/>
          <p:nvPr/>
        </p:nvSpPr>
        <p:spPr>
          <a:xfrm>
            <a:off x="0" y="1021033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增量数据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D67AD8-172C-53AA-FDA5-8BC5FD6FB0CE}"/>
              </a:ext>
            </a:extLst>
          </p:cNvPr>
          <p:cNvSpPr txBox="1"/>
          <p:nvPr/>
        </p:nvSpPr>
        <p:spPr>
          <a:xfrm>
            <a:off x="10066" y="1696796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存量数据</a:t>
            </a: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373ACC1-E188-DB2C-85AE-F265A5924D8B}"/>
              </a:ext>
            </a:extLst>
          </p:cNvPr>
          <p:cNvSpPr/>
          <p:nvPr/>
        </p:nvSpPr>
        <p:spPr>
          <a:xfrm>
            <a:off x="457199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数据质量检查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3F26E998-694C-00BC-4492-31A29D38B1B6}"/>
              </a:ext>
            </a:extLst>
          </p:cNvPr>
          <p:cNvSpPr/>
          <p:nvPr/>
        </p:nvSpPr>
        <p:spPr>
          <a:xfrm>
            <a:off x="1662628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智能清洗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D23646E-6843-FEFA-9B5E-0F0F731BCC41}"/>
              </a:ext>
            </a:extLst>
          </p:cNvPr>
          <p:cNvSpPr/>
          <p:nvPr/>
        </p:nvSpPr>
        <p:spPr>
          <a:xfrm>
            <a:off x="2868057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数据标准管理</a:t>
            </a: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D2BF8B39-5EC0-346A-2B7B-BDE34CDAD2FC}"/>
              </a:ext>
            </a:extLst>
          </p:cNvPr>
          <p:cNvSpPr/>
          <p:nvPr/>
        </p:nvSpPr>
        <p:spPr>
          <a:xfrm>
            <a:off x="4073486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数据建模</a:t>
            </a:r>
          </a:p>
        </p:txBody>
      </p:sp>
      <p:sp>
        <p:nvSpPr>
          <p:cNvPr id="204" name="圆柱体 203">
            <a:extLst>
              <a:ext uri="{FF2B5EF4-FFF2-40B4-BE49-F238E27FC236}">
                <a16:creationId xmlns:a16="http://schemas.microsoft.com/office/drawing/2014/main" id="{45BEC166-29A9-AA36-6D0C-BE7D687AC27D}"/>
              </a:ext>
            </a:extLst>
          </p:cNvPr>
          <p:cNvSpPr/>
          <p:nvPr/>
        </p:nvSpPr>
        <p:spPr>
          <a:xfrm>
            <a:off x="4946328" y="3296411"/>
            <a:ext cx="677762" cy="505238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</a:rPr>
              <a:t>元数据</a:t>
            </a:r>
          </a:p>
        </p:txBody>
      </p:sp>
      <p:cxnSp>
        <p:nvCxnSpPr>
          <p:cNvPr id="205" name="连接符: 肘形 113">
            <a:extLst>
              <a:ext uri="{FF2B5EF4-FFF2-40B4-BE49-F238E27FC236}">
                <a16:creationId xmlns:a16="http://schemas.microsoft.com/office/drawing/2014/main" id="{36B85021-FC0C-8EBC-7E38-25BB53A801CD}"/>
              </a:ext>
            </a:extLst>
          </p:cNvPr>
          <p:cNvCxnSpPr>
            <a:cxnSpLocks/>
            <a:stCxn id="204" idx="2"/>
            <a:endCxn id="110" idx="3"/>
          </p:cNvCxnSpPr>
          <p:nvPr/>
        </p:nvCxnSpPr>
        <p:spPr>
          <a:xfrm flipH="1" flipV="1">
            <a:off x="4654651" y="3548161"/>
            <a:ext cx="291677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82A30E34-8371-0C76-7DA1-20B423CC855D}"/>
              </a:ext>
            </a:extLst>
          </p:cNvPr>
          <p:cNvSpPr/>
          <p:nvPr/>
        </p:nvSpPr>
        <p:spPr>
          <a:xfrm>
            <a:off x="5278915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任务管理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6004959-1117-1617-5177-63C1DEB366D1}"/>
              </a:ext>
            </a:extLst>
          </p:cNvPr>
          <p:cNvSpPr/>
          <p:nvPr/>
        </p:nvSpPr>
        <p:spPr>
          <a:xfrm>
            <a:off x="5278915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主动治理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AE7DB07-720E-522F-AC18-11E3E970CE8C}"/>
              </a:ext>
            </a:extLst>
          </p:cNvPr>
          <p:cNvSpPr/>
          <p:nvPr/>
        </p:nvSpPr>
        <p:spPr>
          <a:xfrm>
            <a:off x="6484342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FF976D06-421A-6FAB-E590-66E11D22F40D}"/>
              </a:ext>
            </a:extLst>
          </p:cNvPr>
          <p:cNvSpPr/>
          <p:nvPr/>
        </p:nvSpPr>
        <p:spPr>
          <a:xfrm>
            <a:off x="6484342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知识沉淀</a:t>
            </a:r>
          </a:p>
        </p:txBody>
      </p:sp>
      <p:sp>
        <p:nvSpPr>
          <p:cNvPr id="230" name="左大括号 229">
            <a:extLst>
              <a:ext uri="{FF2B5EF4-FFF2-40B4-BE49-F238E27FC236}">
                <a16:creationId xmlns:a16="http://schemas.microsoft.com/office/drawing/2014/main" id="{528C3AA9-A5D8-FEB3-19E7-B6C542CE7D84}"/>
              </a:ext>
            </a:extLst>
          </p:cNvPr>
          <p:cNvSpPr/>
          <p:nvPr/>
        </p:nvSpPr>
        <p:spPr>
          <a:xfrm rot="16200000">
            <a:off x="4391176" y="-1575181"/>
            <a:ext cx="291834" cy="8360200"/>
          </a:xfrm>
          <a:prstGeom prst="leftBrace">
            <a:avLst>
              <a:gd name="adj1" fmla="val 8333"/>
              <a:gd name="adj2" fmla="val 43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柱体 231">
            <a:extLst>
              <a:ext uri="{FF2B5EF4-FFF2-40B4-BE49-F238E27FC236}">
                <a16:creationId xmlns:a16="http://schemas.microsoft.com/office/drawing/2014/main" id="{2A67F593-111B-35B5-E953-B5110750D740}"/>
              </a:ext>
            </a:extLst>
          </p:cNvPr>
          <p:cNvSpPr/>
          <p:nvPr/>
        </p:nvSpPr>
        <p:spPr>
          <a:xfrm>
            <a:off x="1903424" y="4282644"/>
            <a:ext cx="866646" cy="461750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MDM/MDG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131">
            <a:extLst>
              <a:ext uri="{FF2B5EF4-FFF2-40B4-BE49-F238E27FC236}">
                <a16:creationId xmlns:a16="http://schemas.microsoft.com/office/drawing/2014/main" id="{BE8EE10F-EBB7-8C7C-DF90-75C7A8E545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20962" y="2785717"/>
            <a:ext cx="72327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 anchor="t">
            <a:spAutoFit/>
          </a:bodyPr>
          <a:lstStyle/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6684BBA-01C2-5A7A-6D3F-9C41A7BC46DD}"/>
              </a:ext>
            </a:extLst>
          </p:cNvPr>
          <p:cNvCxnSpPr>
            <a:cxnSpLocks/>
            <a:stCxn id="5" idx="1"/>
            <a:endCxn id="62" idx="3"/>
          </p:cNvCxnSpPr>
          <p:nvPr/>
        </p:nvCxnSpPr>
        <p:spPr>
          <a:xfrm rot="10800000" flipV="1">
            <a:off x="6545692" y="3047327"/>
            <a:ext cx="275271" cy="5008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B8DAD31F-BE08-4BBF-601E-0931323B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250" y="2649846"/>
            <a:ext cx="510117" cy="490746"/>
          </a:xfrm>
          <a:prstGeom prst="rect">
            <a:avLst/>
          </a:prstGeom>
        </p:spPr>
      </p:pic>
      <p:cxnSp>
        <p:nvCxnSpPr>
          <p:cNvPr id="11" name="连接符: 肘形 113">
            <a:extLst>
              <a:ext uri="{FF2B5EF4-FFF2-40B4-BE49-F238E27FC236}">
                <a16:creationId xmlns:a16="http://schemas.microsoft.com/office/drawing/2014/main" id="{50F1AB3F-24A7-3965-8B78-F2C3E8CF6A10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>
            <a:off x="2659367" y="2895219"/>
            <a:ext cx="631660" cy="652942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F72A1-39ED-0596-7F48-7D04AB1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293"/>
            <a:ext cx="12192000" cy="5993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D77D7-4A67-66BF-B96F-1CA8B6A88B6C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：数据健康检查</a:t>
            </a:r>
          </a:p>
        </p:txBody>
      </p:sp>
    </p:spTree>
    <p:extLst>
      <p:ext uri="{BB962C8B-B14F-4D97-AF65-F5344CB8AC3E}">
        <p14:creationId xmlns:p14="http://schemas.microsoft.com/office/powerpoint/2010/main" val="214171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120D1-EB0D-D8F5-F54E-3943B1B2F506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：⾃动化清洗与修复数据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28367-064B-A762-EF4B-80DDDD33EBC8}"/>
              </a:ext>
            </a:extLst>
          </p:cNvPr>
          <p:cNvSpPr txBox="1"/>
          <p:nvPr/>
        </p:nvSpPr>
        <p:spPr>
          <a:xfrm>
            <a:off x="311585" y="751808"/>
            <a:ext cx="9214459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适⽤：根据数据标准和元数据，针对</a:t>
            </a:r>
            <a:r>
              <a:rPr lang="en-US" altLang="zh-CN" sz="1400" dirty="0"/>
              <a:t>CSV</a:t>
            </a:r>
            <a:r>
              <a:rPr lang="zh-CN" altLang="en-US" sz="1400" dirty="0"/>
              <a:t>、</a:t>
            </a:r>
            <a:r>
              <a:rPr lang="en-US" altLang="zh-CN" sz="1400" dirty="0"/>
              <a:t>Excel</a:t>
            </a:r>
            <a:r>
              <a:rPr lang="zh-CN" altLang="en-US" sz="1400" dirty="0"/>
              <a:t>、数据库等结构化数据，解决重复值、缺失值、格式错误、异常值（如超出合理范围的数值）等问题</a:t>
            </a:r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EB7F6-3DD9-D313-9710-AFC89D8E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32" y="3716819"/>
            <a:ext cx="4008969" cy="26316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10312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/>
              </a:rPr>
              <a:t>数据问题识别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70662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角色：专业 AI 数据清洗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任务：自动排查重复值、缺失值、格式错误（日期/数值/文本）、异常值，按「问题类型 | 列名 | 描述」结构化列出，尽量不遗漏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05456" y="3822191"/>
            <a:ext cx="219456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24911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9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4911" y="2084831"/>
            <a:ext cx="2103120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2071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F9E63"/>
                </a:solidFill>
                <a:latin typeface="微软雅黑"/>
              </a:rPr>
              <a:t>清洗指令生成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1" y="2706624"/>
            <a:ext cx="329184" cy="32918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1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数据清洗 Agent（精通 pandas）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任务：根据识别的问题生成可直接运行的清洗代码，统一数据格式、清除异常，代码末尾返回清洗后数据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19" y="3822191"/>
            <a:ext cx="219456" cy="274320"/>
          </a:xfrm>
          <a:prstGeom prst="rightArrow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65775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65775" y="2084831"/>
            <a:ext cx="2103120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02936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/>
              </a:rPr>
              <a:t>清洗效果校验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70662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182112"/>
            <a:ext cx="1828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数据质量校验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任务：对比原始问题与清洗结果，输出校验报告（完成率 / 准确率 / 未解决问题）；有未解决则补充优化代码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08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D7D31"/>
                </a:solidFill>
                <a:latin typeface="微软雅黑"/>
              </a:rPr>
              <a:t>未解决问题 → 补充优化代码，直到校验通过</a:t>
            </a:r>
          </a:p>
        </p:txBody>
      </p:sp>
    </p:spTree>
    <p:extLst>
      <p:ext uri="{BB962C8B-B14F-4D97-AF65-F5344CB8AC3E}">
        <p14:creationId xmlns:p14="http://schemas.microsoft.com/office/powerpoint/2010/main" val="50305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6109-9AAE-B43B-75F8-8CAA95D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75BA55-B5AA-9871-9D6E-8E74EDC6810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：智能查数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创建新数据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EEC47-2A09-CFF5-A7CE-F259B331CAEB}"/>
              </a:ext>
            </a:extLst>
          </p:cNvPr>
          <p:cNvSpPr txBox="1"/>
          <p:nvPr/>
        </p:nvSpPr>
        <p:spPr>
          <a:xfrm>
            <a:off x="311585" y="751808"/>
            <a:ext cx="10271071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适⽤：对话框即界面，拍照上传 </a:t>
            </a:r>
            <a:r>
              <a:rPr lang="en-US" altLang="zh-CN" sz="1400" dirty="0"/>
              <a:t>/ </a:t>
            </a:r>
            <a:r>
              <a:rPr lang="zh-CN" altLang="en-US" sz="1400" dirty="0"/>
              <a:t>复制粘贴 </a:t>
            </a:r>
            <a:r>
              <a:rPr lang="en-US" altLang="zh-CN" sz="1400" dirty="0"/>
              <a:t>/ </a:t>
            </a:r>
            <a:r>
              <a:rPr lang="zh-CN" altLang="en-US" sz="1400" dirty="0"/>
              <a:t>语音表达意图，都可以模糊查询 → 智能查数 → 新建物料 → 自动提交。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                                                                                                                                                                     </a:t>
            </a:r>
            <a:r>
              <a:rPr lang="en-US" altLang="zh-CN" sz="1400" dirty="0"/>
              <a:t>|-------</a:t>
            </a:r>
            <a:r>
              <a:rPr lang="en-US" altLang="zh-CN" sz="1400" dirty="0">
                <a:sym typeface="Wingdings" panose="05000000000000000000" pitchFamily="2" charset="2"/>
              </a:rPr>
              <a:t></a:t>
            </a:r>
            <a:r>
              <a:rPr lang="zh-CN" altLang="en-US" sz="1400" dirty="0"/>
              <a:t> 告诉物料编号、名称。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A00553-0CEF-96F3-0013-5BF7F7411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918" y="3122612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28057759-0831-F074-622E-2435B43B8F09}"/>
              </a:ext>
            </a:extLst>
          </p:cNvPr>
          <p:cNvSpPr/>
          <p:nvPr/>
        </p:nvSpPr>
        <p:spPr bwMode="auto">
          <a:xfrm>
            <a:off x="842750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多模态识别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043B5FE9-1178-3110-F585-537B00DCB382}"/>
              </a:ext>
            </a:extLst>
          </p:cNvPr>
          <p:cNvSpPr/>
          <p:nvPr/>
        </p:nvSpPr>
        <p:spPr bwMode="auto">
          <a:xfrm>
            <a:off x="2061723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智能匹配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902FDB7C-EFFA-B33A-DA75-DFDFDC7BC5C2}"/>
              </a:ext>
            </a:extLst>
          </p:cNvPr>
          <p:cNvSpPr/>
          <p:nvPr/>
        </p:nvSpPr>
        <p:spPr bwMode="auto">
          <a:xfrm>
            <a:off x="3280696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填写编码申请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45C0D8E9-BE27-3F94-692D-725B6E2A9B35}"/>
              </a:ext>
            </a:extLst>
          </p:cNvPr>
          <p:cNvSpPr/>
          <p:nvPr/>
        </p:nvSpPr>
        <p:spPr bwMode="auto">
          <a:xfrm>
            <a:off x="4499669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en-US" altLang="zh-CN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MDM</a:t>
            </a: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3399315-F834-87AA-185C-E69EE6B97C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788905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947DA9-E556-3A75-4795-8052A83196E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007878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116AE14-A6A2-81D8-82BB-373316B26CD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226851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84D191A1-22E3-0A60-4FA8-523DFF1D0097}"/>
              </a:ext>
            </a:extLst>
          </p:cNvPr>
          <p:cNvSpPr/>
          <p:nvPr/>
        </p:nvSpPr>
        <p:spPr bwMode="auto">
          <a:xfrm>
            <a:off x="5718642" y="2505166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提交审核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54FB971-B7D9-FF49-EE08-6FB2CF6C019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5445824" y="2694114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400FC907-A0DE-B3A3-0256-943C645AC4EE}"/>
              </a:ext>
            </a:extLst>
          </p:cNvPr>
          <p:cNvSpPr/>
          <p:nvPr/>
        </p:nvSpPr>
        <p:spPr>
          <a:xfrm>
            <a:off x="7483251" y="2365843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OA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FFB14C7-F507-930D-D220-AFAB5D13D2B1}"/>
              </a:ext>
            </a:extLst>
          </p:cNvPr>
          <p:cNvCxnSpPr>
            <a:stCxn id="16" idx="3"/>
            <a:endCxn id="23" idx="2"/>
          </p:cNvCxnSpPr>
          <p:nvPr/>
        </p:nvCxnSpPr>
        <p:spPr>
          <a:xfrm flipV="1">
            <a:off x="6664797" y="2694113"/>
            <a:ext cx="818454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0229444-66D1-AC19-061B-1ABD0762A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719" y="3936265"/>
            <a:ext cx="4824910" cy="1838233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949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30" name="Oval 29"/>
          <p:cNvSpPr/>
          <p:nvPr/>
        </p:nvSpPr>
        <p:spPr>
          <a:xfrm>
            <a:off x="1911095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31" name="Oval 30"/>
          <p:cNvSpPr/>
          <p:nvPr/>
        </p:nvSpPr>
        <p:spPr>
          <a:xfrm>
            <a:off x="3136391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32" name="Oval 31"/>
          <p:cNvSpPr/>
          <p:nvPr/>
        </p:nvSpPr>
        <p:spPr>
          <a:xfrm>
            <a:off x="43525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3" name="Oval 32"/>
          <p:cNvSpPr/>
          <p:nvPr/>
        </p:nvSpPr>
        <p:spPr>
          <a:xfrm>
            <a:off x="5568696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68918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0D2A-9B36-0DEB-CE71-E353CE02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AD976-B16A-8E6C-C69B-D7F0624F275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：主动管理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EDC72-8574-C381-488E-D15D7D52E36F}"/>
              </a:ext>
            </a:extLst>
          </p:cNvPr>
          <p:cNvSpPr txBox="1"/>
          <p:nvPr/>
        </p:nvSpPr>
        <p:spPr>
          <a:xfrm>
            <a:off x="311585" y="751808"/>
            <a:ext cx="10271071" cy="701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适⽤：推送待办、数据质量报告、清洗方案、分发失败原因、标准体系调整建议。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C2752-D0DE-02B7-E91E-A845E7F33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18" y="2001533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893B75AD-0C51-73A0-5C60-290B334A5396}"/>
              </a:ext>
            </a:extLst>
          </p:cNvPr>
          <p:cNvSpPr/>
          <p:nvPr/>
        </p:nvSpPr>
        <p:spPr bwMode="auto">
          <a:xfrm>
            <a:off x="5565501" y="2127272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推送待办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7BCAF6AE-11F6-A31E-4FCA-E42B8E6D42A5}"/>
              </a:ext>
            </a:extLst>
          </p:cNvPr>
          <p:cNvSpPr/>
          <p:nvPr/>
        </p:nvSpPr>
        <p:spPr bwMode="auto">
          <a:xfrm>
            <a:off x="5565501" y="2587583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数据质量报告、日报、周报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246E343C-9223-980C-0F83-184E52DFC99A}"/>
              </a:ext>
            </a:extLst>
          </p:cNvPr>
          <p:cNvSpPr/>
          <p:nvPr/>
        </p:nvSpPr>
        <p:spPr bwMode="auto">
          <a:xfrm>
            <a:off x="5565501" y="3047894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编写清洗方案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78DA3962-0131-DA30-1B07-4CFB4730DE86}"/>
              </a:ext>
            </a:extLst>
          </p:cNvPr>
          <p:cNvSpPr/>
          <p:nvPr/>
        </p:nvSpPr>
        <p:spPr bwMode="auto">
          <a:xfrm>
            <a:off x="5565501" y="3508205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分发失败告警及原因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D383026-E920-156F-E796-EF69689E0570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>
            <a:off x="7546932" y="2316220"/>
            <a:ext cx="568883" cy="95428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459F1F-777D-5F55-126B-06AE8C72E7D4}"/>
              </a:ext>
            </a:extLst>
          </p:cNvPr>
          <p:cNvCxnSpPr>
            <a:cxnSpLocks/>
            <a:stCxn id="10" idx="3"/>
            <a:endCxn id="23" idx="2"/>
          </p:cNvCxnSpPr>
          <p:nvPr/>
        </p:nvCxnSpPr>
        <p:spPr>
          <a:xfrm>
            <a:off x="7546932" y="2776531"/>
            <a:ext cx="568883" cy="49397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9DD479E-4D8B-D18E-46D5-03AD4CF206D5}"/>
              </a:ext>
            </a:extLst>
          </p:cNvPr>
          <p:cNvCxnSpPr>
            <a:cxnSpLocks/>
            <a:stCxn id="11" idx="3"/>
            <a:endCxn id="23" idx="2"/>
          </p:cNvCxnSpPr>
          <p:nvPr/>
        </p:nvCxnSpPr>
        <p:spPr>
          <a:xfrm>
            <a:off x="7546932" y="3236842"/>
            <a:ext cx="568883" cy="3365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43903812-C474-F13B-137D-BB8378AF116B}"/>
              </a:ext>
            </a:extLst>
          </p:cNvPr>
          <p:cNvSpPr/>
          <p:nvPr/>
        </p:nvSpPr>
        <p:spPr bwMode="auto">
          <a:xfrm>
            <a:off x="5565501" y="3968518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标准体系调整建议书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B2BDAE-BFBA-53F2-9432-FF7BA5064449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7546932" y="3270501"/>
            <a:ext cx="568883" cy="42665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180876EA-8FEC-FE6E-E64E-C2107CB0FBE2}"/>
              </a:ext>
            </a:extLst>
          </p:cNvPr>
          <p:cNvSpPr/>
          <p:nvPr/>
        </p:nvSpPr>
        <p:spPr>
          <a:xfrm>
            <a:off x="8115815" y="2942231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A267AD0-50C2-41F5-701E-33AD3230D205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 flipV="1">
            <a:off x="7546932" y="3270501"/>
            <a:ext cx="568883" cy="88696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221224" y="21579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27" name="Oval 26"/>
          <p:cNvSpPr/>
          <p:nvPr/>
        </p:nvSpPr>
        <p:spPr>
          <a:xfrm>
            <a:off x="5221224" y="26151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8" name="Oval 27"/>
          <p:cNvSpPr/>
          <p:nvPr/>
        </p:nvSpPr>
        <p:spPr>
          <a:xfrm>
            <a:off x="5221224" y="30723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9" name="Oval 28"/>
          <p:cNvSpPr/>
          <p:nvPr/>
        </p:nvSpPr>
        <p:spPr>
          <a:xfrm>
            <a:off x="5221224" y="3538727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Oval 29"/>
          <p:cNvSpPr/>
          <p:nvPr/>
        </p:nvSpPr>
        <p:spPr>
          <a:xfrm>
            <a:off x="5221224" y="3995928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48044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L3 AI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多模态大模型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小模型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本体模型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向量库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133856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53412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24277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344728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2524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查编码、提申请、改属性在一个对话框完成，审批仍走现有流程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拍照识别铭牌和图纸；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粘贴文本自动解析，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自动填到对应字段里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录入时实时查重，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把相似历史编码列出来，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避免重复建档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自动补全属性，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推荐分类和编码，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业务人员不用记全所有字段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对话式交互理念借鉴中翰软件（据其官方发布），按制造业物料场景重新设计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核心设计</a:t>
            </a:r>
            <a:r>
              <a:rPr sz="2400" b="1" dirty="0">
                <a:solidFill>
                  <a:srgbClr val="1F4E79"/>
                </a:solidFill>
                <a:latin typeface="微软雅黑"/>
                <a:ea typeface="微软雅黑"/>
              </a:rPr>
              <a:t> ②：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治理智能体集群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7 个智能体分工负责标准、建模、查重、质量、分发、影响分析和问答，由 AI 助手统一调度。</a:t>
            </a:r>
            <a:endParaRPr sz="13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关键特征：一次请求可触发多个 Agent 并行处理、互相校验，不用一个传一个地等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看懂图纸、铭牌照片和自然语言描述，把非结构化信息变成标准字段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固化物料分类体系和命名规范，分类编码不靠个人经验</a:t>
            </a:r>
            <a:endParaRPr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50" b="1" dirty="0">
                <a:solidFill>
                  <a:srgbClr val="1F4E79"/>
                </a:solidFill>
                <a:latin typeface="微软雅黑"/>
                <a:ea typeface="微软雅黑"/>
              </a:rPr>
              <a:t>数据模型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承担查重、异常检测这类高频判断，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延迟低、成本也低，不必每次都调用大模型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52029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描述物料与 BOM、工艺、供应商之间的关系，支撑变更影响分析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知识库 + 向量库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标准文档和历史案例通过 RAG 检索，回答有依据、可溯源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分工原则：不是所有任务都值得用大模型——高频判断走小模型，理解和交互走大模型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预警和诊断由 AI 主动发起；清洗方案必须人确认后才执行；复核结果用来调整监控阈值和规则，不用人手动改。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负责发现和建议，清洗执行必须等人确认，复核结果再回来优化规则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试点建议：三个小切口（见效快、可量化、便于推广）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结果直接给采购合并同款、减少重复采购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业务人员不用死记字段和编码规则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异常检测和主动预警，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异常早发现、早处理，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避免脏数据流到下游系统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智能体每一步操作和判断依据都留痕，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可查看、可回溯；设计上借鉴用友白盒思路，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不给黑箱结论。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AI 只给建议，不直接生效：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新增、冻结、批量清洗这些关键动作，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必须人工确认后才执行。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按角色分级授权，操作进审计日志，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全程留痕，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满足内控和外部审计要求。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做建议和执行，人做取舍和确认；出了问题查得到是谁、在哪一步确认的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价值度量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569111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建档周期缩短率（待实测）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变更同步及时率（待实测）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重复物料下降率（待实测）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2043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准确率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完整率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一致率提升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数据质量得分提升（待实测）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风险识别率</a:t>
            </a:r>
            <a:endParaRPr sz="110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0" y="1155801"/>
            <a:ext cx="2130552" cy="1543509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把主数据管准，后面的 AI 应用才站得住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23AF71E-6583-A2D3-94D3-DBC899FC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3092"/>
              </p:ext>
            </p:extLst>
          </p:nvPr>
        </p:nvGraphicFramePr>
        <p:xfrm>
          <a:off x="457200" y="3287273"/>
          <a:ext cx="11257399" cy="2867315"/>
        </p:xfrm>
        <a:graphic>
          <a:graphicData uri="http://schemas.openxmlformats.org/drawingml/2006/table">
            <a:tbl>
              <a:tblPr/>
              <a:tblGrid>
                <a:gridCol w="526617">
                  <a:extLst>
                    <a:ext uri="{9D8B030D-6E8A-4147-A177-3AD203B41FA5}">
                      <a16:colId xmlns:a16="http://schemas.microsoft.com/office/drawing/2014/main" val="406145277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119518010"/>
                    </a:ext>
                  </a:extLst>
                </a:gridCol>
                <a:gridCol w="1460494">
                  <a:extLst>
                    <a:ext uri="{9D8B030D-6E8A-4147-A177-3AD203B41FA5}">
                      <a16:colId xmlns:a16="http://schemas.microsoft.com/office/drawing/2014/main" val="869055191"/>
                    </a:ext>
                  </a:extLst>
                </a:gridCol>
                <a:gridCol w="772749">
                  <a:extLst>
                    <a:ext uri="{9D8B030D-6E8A-4147-A177-3AD203B41FA5}">
                      <a16:colId xmlns:a16="http://schemas.microsoft.com/office/drawing/2014/main" val="277048278"/>
                    </a:ext>
                  </a:extLst>
                </a:gridCol>
                <a:gridCol w="1414283">
                  <a:extLst>
                    <a:ext uri="{9D8B030D-6E8A-4147-A177-3AD203B41FA5}">
                      <a16:colId xmlns:a16="http://schemas.microsoft.com/office/drawing/2014/main" val="1319981886"/>
                    </a:ext>
                  </a:extLst>
                </a:gridCol>
                <a:gridCol w="2119210">
                  <a:extLst>
                    <a:ext uri="{9D8B030D-6E8A-4147-A177-3AD203B41FA5}">
                      <a16:colId xmlns:a16="http://schemas.microsoft.com/office/drawing/2014/main" val="2778380364"/>
                    </a:ext>
                  </a:extLst>
                </a:gridCol>
                <a:gridCol w="2102654">
                  <a:extLst>
                    <a:ext uri="{9D8B030D-6E8A-4147-A177-3AD203B41FA5}">
                      <a16:colId xmlns:a16="http://schemas.microsoft.com/office/drawing/2014/main" val="781538765"/>
                    </a:ext>
                  </a:extLst>
                </a:gridCol>
                <a:gridCol w="2052985">
                  <a:extLst>
                    <a:ext uri="{9D8B030D-6E8A-4147-A177-3AD203B41FA5}">
                      <a16:colId xmlns:a16="http://schemas.microsoft.com/office/drawing/2014/main" val="3617869705"/>
                    </a:ext>
                  </a:extLst>
                </a:gridCol>
              </a:tblGrid>
              <a:tr h="2602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指标编码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指标名称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指标类别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所属领域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指标定义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计算逻辑/公式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阈值范围（合格/预警/异常）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45688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数据解析准确率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AI多模态大模型对各类数据（文本、图像等）解析正确的数量占总解析数据量的比例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（解析正确的数据量÷总解析数据量）×100%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合格≥98%；预警95%-97.9%；异常＜95%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91259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数据治理效率提升率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AI数据治理-整体架构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采用AI数据治理Agent架构后，治理效率较传统人工+工具模式的提升比例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（传统模式治理耗时-AI模式治理耗时）÷传统模式治理耗时×100%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合格≥60%；预警50%-59.9%；异常＜50%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526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AI数据治理-核心模块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经过Agent治理后，符合数据质量标准（准确、完整、一致等）的数据量占总数据量的比例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（治理后合格数据量÷治理总数据量）×100%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合格≥98%；预警96%-97.9%；异常＜96%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8328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决策响应时间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Agent接收感知模块信息后，完成治理策略决策的平均耗时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单次决策耗时总和÷决策总次数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合格≤1秒；预警1.01-1.5秒；异常＞1.5秒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2533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</a:t>
                      </a: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合规风控指标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AI数据治理-合规风控模块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数据治理全流程中，Agent监测到的合规风险事件数占总治理事件数的比例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（合规风险事件数÷总治理事件数）×100%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合格≤1%；预警1.01-3%；异常＞3%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2"/>
            </p:custDataLst>
          </p:nvPr>
        </p:nvSpPr>
        <p:spPr>
          <a:xfrm>
            <a:off x="1718628" y="1728470"/>
            <a:ext cx="8754745" cy="8604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数据驱动业务运营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55B3FA"/>
                  </a:gs>
                </a:gsLst>
                <a:lin ang="5400000" scaled="1"/>
              </a:gradFill>
              <a:effectLst/>
              <a:uLnTx/>
              <a:uFillTx/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1235" y="2682875"/>
            <a:ext cx="7753350" cy="13335"/>
            <a:chOff x="3561" y="4304"/>
            <a:chExt cx="12210" cy="21"/>
          </a:xfrm>
        </p:grpSpPr>
        <p:cxnSp>
          <p:nvCxnSpPr>
            <p:cNvPr id="11" name="直接连接符 10"/>
            <p:cNvCxnSpPr/>
            <p:nvPr>
              <p:custDataLst>
                <p:tags r:id="rId4"/>
              </p:custDataLst>
            </p:nvPr>
          </p:nvCxnSpPr>
          <p:spPr>
            <a:xfrm>
              <a:off x="3561" y="4304"/>
              <a:ext cx="3764" cy="0"/>
            </a:xfrm>
            <a:prstGeom prst="line">
              <a:avLst/>
            </a:prstGeom>
            <a:ln w="3175">
              <a:solidFill>
                <a:srgbClr val="E1F1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11840" y="4304"/>
              <a:ext cx="3931" cy="21"/>
            </a:xfrm>
            <a:prstGeom prst="line">
              <a:avLst/>
            </a:prstGeom>
            <a:ln w="3175">
              <a:solidFill>
                <a:srgbClr val="9AD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92835" y="3333750"/>
            <a:ext cx="1000633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庞门正道标题体" panose="02010600030101010101" charset="-122"/>
                <a:sym typeface="+mn-ea"/>
              </a:rPr>
              <a:t>把主数据管准，业务才跑得顺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0FF428-E6E7-CA2B-8C1A-D1658D4D1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108" y="4807425"/>
            <a:ext cx="2310584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06C23-0B6B-4198-2850-3C5D062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9" y="0"/>
            <a:ext cx="1150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7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3837</Words>
  <Application>Microsoft Office PowerPoint</Application>
  <PresentationFormat>宽屏</PresentationFormat>
  <Paragraphs>532</Paragraphs>
  <Slides>26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仿宋</vt:lpstr>
      <vt:lpstr>黑体</vt:lpstr>
      <vt:lpstr>华文细黑</vt:lpstr>
      <vt:lpstr>楷体</vt:lpstr>
      <vt:lpstr>庞门正道标题体</vt:lpstr>
      <vt:lpstr>宋体</vt:lpstr>
      <vt:lpstr>微软雅黑</vt:lpstr>
      <vt:lpstr>微软雅黑</vt:lpstr>
      <vt:lpstr>Arial</vt:lpstr>
      <vt:lpstr>Calibri</vt:lpstr>
      <vt:lpstr>Wingdings</vt:lpstr>
      <vt:lpstr>Office Theme</vt:lpstr>
      <vt:lpstr>1_Office theme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11</cp:revision>
  <dcterms:created xsi:type="dcterms:W3CDTF">2013-01-27T09:14:16Z</dcterms:created>
  <dcterms:modified xsi:type="dcterms:W3CDTF">2026-08-27T15:27:48Z</dcterms:modified>
  <cp:category/>
</cp:coreProperties>
</file>