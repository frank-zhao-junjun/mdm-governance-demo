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6" d="100"/>
          <a:sy n="116" d="100"/>
        </p:scale>
        <p:origin x="677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3853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开场：今天分享 AI 在数据治理领域的落地案例，重点是两个国内最新实践——魏桥创业集团的 AI 原生主数据管理，和用友 BIP 数据治理 Agents 协作平台，并对照国际标杆案例提炼共性方法。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五部分：驱动力 → 国际案例 → 两个中国实践（魏桥、用友）→ 落地启示。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引用用友 BIP 发布时的数据：自动化程度超 85%、效率提升 3 倍以上；百分点 BS-LM 垂类大模型基于近千政企项目语料。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五条主线对应上一轮调研的 8 个已验证国际案例；后文国际案例全景与两个中国案例都归入此框架。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全部数字来自 IBM/AWS/Atlan/DataHub/Credo AI/Collibra/OpenAI 官方案例页。Covestro 案例与本司 SAP MDG 主数据治理业务最相关。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与我们的主数据治理方案对照：重复检测、地址校验、黄金记录补全三个 AI 注入点与五大域框架一一对应。架构：AWS Bedrock + SAP BTP/Integration Suite + SAP MDG。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Mastercard 案例说明：先有扎实治理底座，AI 才敢规模化。6,000 人时节省是多年目录/血缘投资的复利回报。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依据中国经济新闻网 2026-06-30《聚焦数据治理智能化：六家主流平台开放能力对比及企业选型指南》。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信息源：中国发展网/百家号多篇报道（2026-08-13/14）。魏桥是国内首个把纯 AI 原生 MDM 放入万亿级制造核心场景的企业。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Navigate OS 以管理者“顶视”为出发点；智能工程支持企业自主编排智能体，知识工程沉淀企业知识库。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注意：以上差异基于厂商公开宣传（中翰软件官方发布），实际效果有待项目交付验证——魏桥文章亦有此保留（见“更大可能不等于必然实现”）。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客观视角：文章（IDGA 署名）也提示“更大可能不等于必然实现”，具体效果要看产品成熟度与落地执行。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来源：CSDN 转载用友官方稿 + 雪球。自动化程度 85%+ 为厂商发布口径。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对比来源：经济新闻网六平台测评——用友 BIP 平台 Agent 协作+源头治理，强绑定 BIP 生态，跨外部系统偏弱。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坐标为定性判断（基于六平台测评），供选型讨论用；正式选型需按客户系统现状打分。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六条要素贯穿所有案例。讲售前时重点用 Covestro 审批流 + 魏桥带练模式，回答客户“AI 直接改数据安全吗”的顾虑。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基线五指标来自本司数据治理方法论（治理收益基线）；三步走与 PoC 验收标准可直接用于售前方案。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售前姿态：不回避风险，用 PoC 实测+合同化运营承诺建立信任。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诚实标注口径，售前与分享时保持一致，避免被客户追问数字来源时失分。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收尾：三个关键信息 + 提问环节。可附 PoC 三步走（P17）作为后续讨论钩子。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9DC3E6"/>
                </a:solidFill>
                <a:latin typeface="微软雅黑"/>
                <a:ea typeface="微软雅黑"/>
              </a:rPr>
              <a:t>数据治理 × 人工智能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7899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利用 AI 进行数据治理</a:t>
            </a:r>
          </a:p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全球案例与中国实践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>
                <a:solidFill>
                  <a:srgbClr val="C9D9EE"/>
                </a:solidFill>
                <a:latin typeface="微软雅黑"/>
                <a:ea typeface="微软雅黑"/>
              </a:rPr>
              <a:t>从 Covestro 到魏桥创业集团：主数据治理的范式转移</a:t>
            </a:r>
          </a:p>
          <a:p>
            <a:pPr algn="l">
              <a:lnSpc>
                <a:spcPct val="112000"/>
              </a:lnSpc>
            </a:pPr>
            <a:r>
              <a:rPr sz="1700" b="0">
                <a:solidFill>
                  <a:srgbClr val="C9D9EE"/>
                </a:solidFill>
                <a:latin typeface="微软雅黑"/>
                <a:ea typeface="微软雅黑"/>
              </a:rPr>
              <a:t>AI Agent / AI 原生 MDM / 多智能体协作平台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9DC3E6"/>
                </a:solidFill>
                <a:latin typeface="微软雅黑"/>
                <a:ea typeface="微软雅黑"/>
              </a:rPr>
              <a:t>汇报人：Frank（赵军军）    2026 年 8 月 25 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53949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0">
                <a:solidFill>
                  <a:srgbClr val="9DC3E6"/>
                </a:solidFill>
                <a:latin typeface="微软雅黑"/>
                <a:ea typeface="微软雅黑"/>
              </a:rPr>
              <a:t>售前参考 · 技术分享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029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32004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1F3864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>
                <a:solidFill>
                  <a:srgbClr val="8A8A8A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0698480" cy="86868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914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2E86AB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536192"/>
            <a:ext cx="3840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为什么是现在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600200"/>
            <a:ext cx="5394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4A4A4A"/>
                </a:solidFill>
                <a:latin typeface="微软雅黑"/>
                <a:ea typeface="微软雅黑"/>
              </a:rPr>
              <a:t>AI 数据治理的驱动力与市场转折点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23160"/>
            <a:ext cx="10698480" cy="86868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606040"/>
            <a:ext cx="914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2E86AB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542032"/>
            <a:ext cx="3840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国际案例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606040"/>
            <a:ext cx="5394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4A4A4A"/>
                </a:solidFill>
                <a:latin typeface="微软雅黑"/>
                <a:ea typeface="微软雅黑"/>
              </a:rPr>
              <a:t>Covestro / Mastercard / Netflix 等五条主线全景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29000"/>
            <a:ext cx="10698480" cy="86868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611880"/>
            <a:ext cx="914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2E86AB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547872"/>
            <a:ext cx="3840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中国实践 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3611880"/>
            <a:ext cx="5394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4A4A4A"/>
                </a:solidFill>
                <a:latin typeface="微软雅黑"/>
                <a:ea typeface="微软雅黑"/>
              </a:rPr>
              <a:t>魏桥创业集团 × 中翰软件：AI 原生主数据管理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434840"/>
            <a:ext cx="10698480" cy="86868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617720"/>
            <a:ext cx="914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2E86AB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553712"/>
            <a:ext cx="3840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中国实践 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4617720"/>
            <a:ext cx="5394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4A4A4A"/>
                </a:solidFill>
                <a:latin typeface="微软雅黑"/>
                <a:ea typeface="微软雅黑"/>
              </a:rPr>
              <a:t>用友 BIP：数据治理 Agents 协作平台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440680"/>
            <a:ext cx="10698480" cy="86868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5623560"/>
            <a:ext cx="914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2E86AB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559552"/>
            <a:ext cx="3840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启示与落地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5623560"/>
            <a:ext cx="5394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4A4A4A"/>
                </a:solidFill>
                <a:latin typeface="微软雅黑"/>
                <a:ea typeface="微软雅黑"/>
              </a:rPr>
              <a:t>共性成功要素 + 项目落地路径建议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029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32004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01 · 为什么是现在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1F3864"/>
                </a:solidFill>
                <a:latin typeface="微软雅黑"/>
                <a:ea typeface="微软雅黑"/>
              </a:rPr>
              <a:t>五股力量把数据治理推向 AI 原生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>
                <a:solidFill>
                  <a:srgbClr val="8A8A8A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520440" cy="214884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64008" cy="214884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1463040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数据孤岛与脏数据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828800"/>
            <a:ext cx="324612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系统林立、标准不一，“烟囱式”数据各自为政；错误、重复、缺失的脏数据侵蚀决策质量——人工治理已到成本极限。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371600"/>
            <a:ext cx="3520440" cy="214884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51960" y="1371600"/>
            <a:ext cx="64008" cy="21488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16552" y="1463040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“项目式”治理失效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1828800"/>
            <a:ext cx="324612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传统治理项目验收即停滞，“治理一次、沉睡多年”，规则更新滞后于业务变化，治理与业务“两张皮”。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371600"/>
            <a:ext cx="3520440" cy="214884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01000" y="1371600"/>
            <a:ext cx="64008" cy="21488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65592" y="1463040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政策转向“价值治理”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1828800"/>
            <a:ext cx="324612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从合规治理转向价值治理、从项目式转向常态化运营，DCMM/DAMA 标准体系化推进，治理成为企业标配能力。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76472"/>
            <a:ext cx="3520440" cy="214884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3776472"/>
            <a:ext cx="64008" cy="214884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" y="3867912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Agent 技术成熟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4233672"/>
            <a:ext cx="324612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2026 年大模型 Agent 从演示走向生产：多智能体协作、垂类大模型（如 BS-LM）、MCP 协议打通平台互操作。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3776472"/>
            <a:ext cx="3520440" cy="214884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51960" y="3776472"/>
            <a:ext cx="64008" cy="21488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16552" y="3867912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头部企业已跑通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2" y="4233672"/>
            <a:ext cx="324612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Covestro 主数据创建 12h→6min、Mastercard 元数据补全省 6,000+ 人时——AI 治理 ROI 已被验证。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1722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结论：AI 不是给数据治理“加个功能”，而是把治理从“人工驱动”重构为“智能驱动”的拐点。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029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32004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02 · 案例全景框架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1F3864"/>
                </a:solidFill>
                <a:latin typeface="微软雅黑"/>
                <a:ea typeface="微软雅黑"/>
              </a:rPr>
              <a:t>AI 参与数据治理的五条主线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>
                <a:solidFill>
                  <a:srgbClr val="8A8A8A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155680" cy="841248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F3864"/>
                </a:solidFill>
                <a:latin typeface="微软雅黑"/>
                <a:ea typeface="微软雅黑"/>
              </a:rPr>
              <a:t>① 主数据智能化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481328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AI Agent 直接参与物料/供应商/客户主数据的创建、查重、校验与变更审批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481328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2E86AB"/>
                </a:solidFill>
                <a:latin typeface="微软雅黑"/>
                <a:ea typeface="微软雅黑"/>
              </a:rPr>
              <a:t>Covestro MARIS/PARIS</a:t>
            </a:r>
          </a:p>
          <a:p>
            <a:pPr algn="l">
              <a:lnSpc>
                <a:spcPct val="112000"/>
              </a:lnSpc>
            </a:pPr>
            <a:r>
              <a:rPr sz="1100" b="1">
                <a:solidFill>
                  <a:srgbClr val="2E86AB"/>
                </a:solidFill>
                <a:latin typeface="微软雅黑"/>
                <a:ea typeface="微软雅黑"/>
              </a:rPr>
              <a:t>魏桥 AI 原生 MDM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31720"/>
            <a:ext cx="11155680" cy="841248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F3864"/>
                </a:solidFill>
                <a:latin typeface="微软雅黑"/>
                <a:ea typeface="微软雅黑"/>
              </a:rPr>
              <a:t>② 元数据自动补全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441448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基于血缘与目录的 AI 自动生成资产描述、归属、影响分析，替代人工编目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441448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2E86AB"/>
                </a:solidFill>
                <a:latin typeface="微软雅黑"/>
                <a:ea typeface="微软雅黑"/>
              </a:rPr>
              <a:t>Mastercard Context Agents</a:t>
            </a:r>
          </a:p>
          <a:p>
            <a:pPr algn="l">
              <a:lnSpc>
                <a:spcPct val="112000"/>
              </a:lnSpc>
            </a:pPr>
            <a:r>
              <a:rPr sz="1100" b="1">
                <a:solidFill>
                  <a:srgbClr val="2E86AB"/>
                </a:solidFill>
                <a:latin typeface="微软雅黑"/>
                <a:ea typeface="微软雅黑"/>
              </a:rPr>
              <a:t>Netflix DataHub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291840"/>
            <a:ext cx="11155680" cy="841248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38328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F3864"/>
                </a:solidFill>
                <a:latin typeface="微软雅黑"/>
                <a:ea typeface="微软雅黑"/>
              </a:rPr>
              <a:t>③ 质量与合规监控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401568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敏感数据识别、分类分级、脱敏、质量规则自动执行与实时告警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401568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2E86AB"/>
                </a:solidFill>
                <a:latin typeface="微软雅黑"/>
                <a:ea typeface="微软雅黑"/>
              </a:rPr>
              <a:t>Banco do Brasil</a:t>
            </a:r>
          </a:p>
          <a:p>
            <a:pPr algn="l">
              <a:lnSpc>
                <a:spcPct val="112000"/>
              </a:lnSpc>
            </a:pPr>
            <a:r>
              <a:rPr sz="1100" b="1">
                <a:solidFill>
                  <a:srgbClr val="2E86AB"/>
                </a:solidFill>
                <a:latin typeface="微软雅黑"/>
                <a:ea typeface="微软雅黑"/>
              </a:rPr>
              <a:t>微软 Purview DSPM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251960"/>
            <a:ext cx="11155680" cy="841248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34340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F3864"/>
                </a:solidFill>
                <a:latin typeface="微软雅黑"/>
                <a:ea typeface="微软雅黑"/>
              </a:rPr>
              <a:t>④ AI 用例自身治理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4361688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对数百个 AI/GenAI 用例的登记、风险分级、审批与供应商证据管理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4361688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2E86AB"/>
                </a:solidFill>
                <a:latin typeface="微软雅黑"/>
                <a:ea typeface="微软雅黑"/>
              </a:rPr>
              <a:t>Mastercard × Credo AI</a:t>
            </a:r>
          </a:p>
          <a:p>
            <a:pPr algn="l">
              <a:lnSpc>
                <a:spcPct val="112000"/>
              </a:lnSpc>
            </a:pPr>
            <a:r>
              <a:rPr sz="1100" b="1">
                <a:solidFill>
                  <a:srgbClr val="2E86AB"/>
                </a:solidFill>
                <a:latin typeface="微软雅黑"/>
                <a:ea typeface="微软雅黑"/>
              </a:rPr>
              <a:t>LSEG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212080"/>
            <a:ext cx="11155680" cy="841248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530352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F3864"/>
                </a:solidFill>
                <a:latin typeface="微软雅黑"/>
                <a:ea typeface="微软雅黑"/>
              </a:rPr>
              <a:t>⑤ 数据资产产品化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5321808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治理后的数据以“产品/市场”形态交付，内置契约与上下文，AI 可直接消费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5321808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2E86AB"/>
                </a:solidFill>
                <a:latin typeface="微软雅黑"/>
                <a:ea typeface="微软雅黑"/>
              </a:rPr>
              <a:t>Mastercard Medallion</a:t>
            </a:r>
          </a:p>
          <a:p>
            <a:pPr algn="l">
              <a:lnSpc>
                <a:spcPct val="112000"/>
              </a:lnSpc>
            </a:pPr>
            <a:r>
              <a:rPr sz="1100" b="1">
                <a:solidFill>
                  <a:srgbClr val="2E86AB"/>
                </a:solidFill>
                <a:latin typeface="微软雅黑"/>
                <a:ea typeface="微软雅黑"/>
              </a:rPr>
              <a:t>麦当劳 × Collibra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029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32004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02 · 国际案例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1F3864"/>
                </a:solidFill>
                <a:latin typeface="微软雅黑"/>
                <a:ea typeface="微软雅黑"/>
              </a:rPr>
              <a:t>已验证的国际案例全景（来源：厂商官方案例库）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>
                <a:solidFill>
                  <a:srgbClr val="8A8A8A"/>
                </a:solidFill>
                <a:latin typeface="微软雅黑"/>
                <a:ea typeface="微软雅黑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155678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61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2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712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20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企业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主线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做法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量化效果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Covestro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① 主数据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AI Agent（MARIS/PARIS）+ SAP MDG，对话式创建、实时查重、外部地址核验、自动提交变更请求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物料创建 12h → 6min（-99%），澄清请求 -99%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Mastercard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② 元数据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Atlan 目录 + Context Agents 自动补全 3 万+ 资产元数据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节省 6,000+ 人时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Mastercard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④ AI 用例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Credo AI 注册表：数百 GenAI 用例风险分级、自动路由审批、供应商证据收集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审批周期大幅缩短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Netflix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② 元数据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DataHub 统一目录（数据/ML/软件资产），PII 覆盖率监控 + TTL 自动清理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治理自服务化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Banco do Brasil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③ 合规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IBM watsonx.governance + EY：AI 全生命周期监控（偏见/漂移/透明性）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统一 AI 治理模型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麦当劳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⑤ 产品化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Collibra 六支柱框架，95 个市场统一数据运营模型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60 天建成治理底座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LSEG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④ AI 用例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ChatGPT Enterprise + 治理嵌入（人审、模型评估、隐私控制）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发布周期 3-6 月 → 2 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98932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A8A8A"/>
                </a:solidFill>
                <a:latin typeface="微软雅黑"/>
                <a:ea typeface="微软雅黑"/>
              </a:rPr>
              <a:t>注：另有全球制造业客户用微软 Purview DSPM for AI 在 AI 上线前完成敏感数据治理（AI-ready 前置模式）。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029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32004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02 · 国际案例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1F3864"/>
                </a:solidFill>
                <a:latin typeface="微软雅黑"/>
                <a:ea typeface="微软雅黑"/>
              </a:rPr>
              <a:t>Covestro：主数据创建从 12 小时压缩到 6 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>
                <a:solidFill>
                  <a:srgbClr val="8A8A8A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155680" cy="1188720"/>
          </a:xfrm>
          <a:prstGeom prst="roundRect">
            <a:avLst/>
          </a:prstGeom>
          <a:solidFill>
            <a:srgbClr val="1F3864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8132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C9D9EE"/>
                </a:solidFill>
                <a:latin typeface="微软雅黑"/>
                <a:ea typeface="微软雅黑"/>
              </a:rPr>
              <a:t>背景：全球聚合物制造商（48 个生产基地 / 约 1.75 万员工）· AWS 官方博客披露 · Deloitte 实施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1">
                <a:solidFill>
                  <a:srgbClr val="FFFFFF"/>
                </a:solidFill>
                <a:latin typeface="微软雅黑"/>
                <a:ea typeface="微软雅黑"/>
              </a:rPr>
              <a:t>业务用户创建物料主数据：原来靠邮件找 MDG 专家，平均 12 小时；现在与 AI Agent 对话，6 分钟完成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788920"/>
            <a:ext cx="2651760" cy="114300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907792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>
                <a:solidFill>
                  <a:srgbClr val="2E86AB"/>
                </a:solidFill>
                <a:latin typeface="微软雅黑"/>
                <a:ea typeface="微软雅黑"/>
              </a:rPr>
              <a:t>12h → 6min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01568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4A4A4A"/>
                </a:solidFill>
                <a:latin typeface="微软雅黑"/>
                <a:ea typeface="微软雅黑"/>
              </a:rPr>
              <a:t>主数据创建周期</a:t>
            </a:r>
          </a:p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4A4A4A"/>
                </a:solidFill>
                <a:latin typeface="微软雅黑"/>
                <a:ea typeface="微软雅黑"/>
              </a:rPr>
              <a:t>（-99%）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2788920"/>
            <a:ext cx="2651760" cy="114300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0" y="2907792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>
                <a:solidFill>
                  <a:srgbClr val="2E86AB"/>
                </a:solidFill>
                <a:latin typeface="微软雅黑"/>
                <a:ea typeface="微软雅黑"/>
              </a:rPr>
              <a:t>~1,000 单/月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401568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4A4A4A"/>
                </a:solidFill>
                <a:latin typeface="微软雅黑"/>
                <a:ea typeface="微软雅黑"/>
              </a:rPr>
              <a:t>物料请求量</a:t>
            </a:r>
          </a:p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4A4A4A"/>
                </a:solidFill>
                <a:latin typeface="微软雅黑"/>
                <a:ea typeface="微软雅黑"/>
              </a:rPr>
              <a:t>（约 1.2 万/年）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788920"/>
            <a:ext cx="2651760" cy="114300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2907792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>
                <a:solidFill>
                  <a:srgbClr val="2E86AB"/>
                </a:solidFill>
                <a:latin typeface="微软雅黑"/>
                <a:ea typeface="微软雅黑"/>
              </a:rPr>
              <a:t>99%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401568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4A4A4A"/>
                </a:solidFill>
                <a:latin typeface="微软雅黑"/>
                <a:ea typeface="微软雅黑"/>
              </a:rPr>
              <a:t>澄清请求降幅</a:t>
            </a:r>
          </a:p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4A4A4A"/>
                </a:solidFill>
                <a:latin typeface="微软雅黑"/>
                <a:ea typeface="微软雅黑"/>
              </a:rPr>
              <a:t>（邮件往来消失）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2788920"/>
            <a:ext cx="2651760" cy="114300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0" y="2907792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>
                <a:solidFill>
                  <a:srgbClr val="2E86AB"/>
                </a:solidFill>
                <a:latin typeface="微软雅黑"/>
                <a:ea typeface="微软雅黑"/>
              </a:rPr>
              <a:t>2 个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401568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4A4A4A"/>
                </a:solidFill>
                <a:latin typeface="微软雅黑"/>
                <a:ea typeface="微软雅黑"/>
              </a:rPr>
              <a:t>MARIS（物料）</a:t>
            </a:r>
          </a:p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4A4A4A"/>
                </a:solidFill>
                <a:latin typeface="微软雅黑"/>
                <a:ea typeface="微软雅黑"/>
              </a:rPr>
              <a:t>PARIS（业务伙伴）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16052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F3864"/>
                </a:solidFill>
                <a:latin typeface="微软雅黑"/>
                <a:ea typeface="微软雅黑"/>
              </a:rPr>
              <a:t>关键设计：AI 不直写生产库，全部通过 SAP MDG Change Request 走既有审批流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617720"/>
            <a:ext cx="5486400" cy="173736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02920" y="4617720"/>
            <a:ext cx="64008" cy="173736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7512" y="47091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AI Agent 做了什么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" y="507492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· 对话引导输入，只需少量关键字段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· 跨系统实时查重（CDQ 数据镜像）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· 地址与工商登记核验（D&amp;B / BvD）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· 自动补全属性（税号 VAT ID、地理编码）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· 生成并提交 MDG 变更申请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617720"/>
            <a:ext cx="5486400" cy="173736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72200" y="4617720"/>
            <a:ext cx="64008" cy="173736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36792" y="47091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业务价值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507492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· 自服务化：业务用户无需 SAP 技能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· MDG 专家聚焦高价值治理任务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· 全程可追溯，审计合规提升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· 上线节奏：MARIS@ECC 2026 初；PARIS@S/4HANA 2027 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029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32004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02 · 国际案例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1F3864"/>
                </a:solidFill>
                <a:latin typeface="微软雅黑"/>
                <a:ea typeface="微软雅黑"/>
              </a:rPr>
              <a:t>Mastercard：治理底座先行的“AI 就绪”样板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>
                <a:solidFill>
                  <a:srgbClr val="8A8A8A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486400" cy="201168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64008" cy="201168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14630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十年治理积累 → AI 时代收割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828800"/>
            <a:ext cx="5212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· BI 时代已建好：数据血缘、资产归属、元数据目录（Atlan）、Medallion 分层、数据产品市场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· AI 到来时不必从零起步——治理即 AI 的“上下文底座”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71600"/>
            <a:ext cx="5486400" cy="201168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371600"/>
            <a:ext cx="64008" cy="201168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36792" y="14630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Context Agents：元数据补全自动化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1828800"/>
            <a:ext cx="5212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· 基于既有血缘与目录，AI 自动为 3 万+ 资产生成描述、下游影响、消费方清单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· 节省 6,000+ 人时的元数据引导工作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· 通过 MCP 协议接入内部 Agent 工作流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566160"/>
            <a:ext cx="5486400" cy="201168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3566160"/>
            <a:ext cx="64008" cy="20116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" y="365760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AI 用例治理（× Credo AI）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4023360"/>
            <a:ext cx="5212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· 数百个 GenAI 用例统一登记、风险分级、自动路由审批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· 供应商证据收集自动化（Vendor Portal）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· 高管对 AI 使用全景可见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566160"/>
            <a:ext cx="5486400" cy="201168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2200" y="3566160"/>
            <a:ext cx="64008" cy="2011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36792" y="365760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对企业的启示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4023360"/>
            <a:ext cx="5212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· 分散式治理（联邦化）+ 中央底线控制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· 数据契约与上下文内嵌于数据产品，而非事后补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· 治理投入是复利：每新增 Agent 都复用同一底座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029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32004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03 · 中国视角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1F3864"/>
                </a:solidFill>
                <a:latin typeface="微软雅黑"/>
                <a:ea typeface="微软雅黑"/>
              </a:rPr>
              <a:t>2026 年中国数据治理市场：进入 AI/Agent 时代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>
                <a:solidFill>
                  <a:srgbClr val="8A8A8A"/>
                </a:solidFill>
                <a:latin typeface="微软雅黑"/>
                <a:ea typeface="微软雅黑"/>
              </a:rP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15567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2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8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8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67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厂商平台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定位与差异化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智能化深度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开放/生态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百分点 AI-DG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数据治理垂类大模型 BS-LM（业内首个），对话式多智能体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高：数万标准/规则/行业模型，集成效率 +80%、交付周期 -70%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MCP 协议开放对接，支持私有化+第三方模型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腾讯云 WeData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Data+AI 一体化，DataOps+MLOps，首家通过信通院 DIOps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中高：语义层 Unity Semantics + AI 助手（SQL 生成/纠错）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MCP 目前偏语义层，生态偏腾讯系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火山引擎 DataLeap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分布式 + 多级治理，80+ 算子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中：异常自动修复、元数据自动化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2026 正式开源，云原生友好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用友 BIP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ERP 生态内“源头治理”，数据治理 Agents 协作平台（16 智能体）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高：自动化率 85%+，治理效率 3 倍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强绑定 BIP 生态，跨外部系统偏弱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金蝶云·苍穹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嵌入式 + 低代码建模，ERP 生态内治理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中：低代码驱动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绑定金蝶生态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微软 Purview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统一安全治理 + AI 全栈（DSPM for AI、Insider Risk）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中高：AI 就绪前置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Azure 生态强绑定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94360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1F3864"/>
                </a:solidFill>
                <a:latin typeface="微软雅黑"/>
                <a:ea typeface="微软雅黑"/>
              </a:rPr>
              <a:t>趋势：MCP 成为平台互操作标准——企业可保留现有数据基础设施，通过标准接口引入 AI 治理能力（IDC）。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029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32004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04 · 中国实践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1F3864"/>
                </a:solidFill>
                <a:latin typeface="微软雅黑"/>
                <a:ea typeface="微软雅黑"/>
              </a:rPr>
              <a:t>魏桥创业集团：AI 原生主数据管理（2026.08 签约）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>
                <a:solidFill>
                  <a:srgbClr val="8A8A8A"/>
                </a:solidFill>
                <a:latin typeface="微软雅黑"/>
                <a:ea typeface="微软雅黑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155680" cy="1051560"/>
          </a:xfrm>
          <a:prstGeom prst="roundRect">
            <a:avLst/>
          </a:prstGeom>
          <a:solidFill>
            <a:srgbClr val="1F3864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8132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世界 500 强（2025 年第 166 位）· 山东第一大民企 · 连续 14 年入围 · 纺织 + 铝业两大主业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06040"/>
            <a:ext cx="2651760" cy="100584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>
                <a:solidFill>
                  <a:srgbClr val="2E86AB"/>
                </a:solidFill>
                <a:latin typeface="微软雅黑"/>
                <a:ea typeface="微软雅黑"/>
              </a:rPr>
              <a:t>5,915 亿元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2724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>
                <a:solidFill>
                  <a:srgbClr val="4A4A4A"/>
                </a:solidFill>
                <a:latin typeface="微软雅黑"/>
                <a:ea typeface="微软雅黑"/>
              </a:rPr>
              <a:t>2025 销售收入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2606040"/>
            <a:ext cx="2651760" cy="100584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0" y="26974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>
                <a:solidFill>
                  <a:srgbClr val="2E86AB"/>
                </a:solidFill>
                <a:latin typeface="微软雅黑"/>
                <a:ea typeface="微软雅黑"/>
              </a:rPr>
              <a:t>3,200 亿元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12724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>
                <a:solidFill>
                  <a:srgbClr val="4A4A4A"/>
                </a:solidFill>
                <a:latin typeface="微软雅黑"/>
                <a:ea typeface="微软雅黑"/>
              </a:rPr>
              <a:t>总资产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606040"/>
            <a:ext cx="2651760" cy="100584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26974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>
                <a:solidFill>
                  <a:srgbClr val="2E86AB"/>
                </a:solidFill>
                <a:latin typeface="微软雅黑"/>
                <a:ea typeface="微软雅黑"/>
              </a:rPr>
              <a:t>11 万人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12724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>
                <a:solidFill>
                  <a:srgbClr val="4A4A4A"/>
                </a:solidFill>
                <a:latin typeface="微软雅黑"/>
                <a:ea typeface="微软雅黑"/>
              </a:rPr>
              <a:t>员工规模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2606040"/>
            <a:ext cx="2651760" cy="100584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0" y="26974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>
                <a:solidFill>
                  <a:srgbClr val="2E86AB"/>
                </a:solidFill>
                <a:latin typeface="微软雅黑"/>
                <a:ea typeface="微软雅黑"/>
              </a:rPr>
              <a:t>18 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12724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>
                <a:solidFill>
                  <a:srgbClr val="4A4A4A"/>
                </a:solidFill>
                <a:latin typeface="微软雅黑"/>
                <a:ea typeface="微软雅黑"/>
              </a:rPr>
              <a:t>国内外生产基地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40480"/>
            <a:ext cx="5486400" cy="210312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3840480"/>
            <a:ext cx="64008" cy="2103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512" y="393192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数据治理痛点（多基地/多板块共性）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4297680"/>
            <a:ext cx="52120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· 主数据标准不统一：物料编码、客户/供应商信息对齐难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· 跨系统协同效率不足：业务系统林立，接口靠人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· 数据质量持久管控乏力：治理后容易“反弹”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· 组织架构同步复杂：随业务单元增加呈指数级上升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840480"/>
            <a:ext cx="5486400" cy="210312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72200" y="3840480"/>
            <a:ext cx="64008" cy="210312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36792" y="393192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战略选择：为何是“AI 原生”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4297680"/>
            <a:ext cx="52120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· 传统 MDM = 工具思维：表格录入、表单维护，高度依赖 IT 与外部顾问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· 魏桥选择国产纯 AI 原生平台（中翰软件），私有化部署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· 目标：业务人员自主管理数据，摆脱“项目结束、治理停滞”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029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32004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04 · 中国实践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1F3864"/>
                </a:solidFill>
                <a:latin typeface="微软雅黑"/>
                <a:ea typeface="微软雅黑"/>
              </a:rPr>
              <a:t>魏桥方案：Navigate OS 底座上的纯 AI 原生 MDM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>
                <a:solidFill>
                  <a:srgbClr val="8A8A8A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11155680" cy="68580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F3864"/>
                </a:solidFill>
                <a:latin typeface="微软雅黑"/>
                <a:ea typeface="微软雅黑"/>
              </a:rPr>
              <a:t>中翰软件 · 国内首款纯 AI 原生主数据管理平台 · “一个对话框搞定一切主数据管理”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11155680" cy="77724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2148840"/>
            <a:ext cx="1417320" cy="77724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368296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交互层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399973"/>
            <a:ext cx="9418320" cy="28411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dirty="0" err="1">
                <a:solidFill>
                  <a:srgbClr val="4A4A4A"/>
                </a:solidFill>
                <a:latin typeface="微软雅黑"/>
                <a:ea typeface="微软雅黑"/>
              </a:rPr>
              <a:t>对话框即界面：拍照上传</a:t>
            </a:r>
            <a:r>
              <a:rPr sz="1200" b="0" dirty="0">
                <a:solidFill>
                  <a:srgbClr val="4A4A4A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4A4A4A"/>
                </a:solidFill>
                <a:latin typeface="微软雅黑"/>
                <a:ea typeface="微软雅黑"/>
              </a:rPr>
              <a:t>复制粘贴</a:t>
            </a:r>
            <a:r>
              <a:rPr sz="1200" b="0" dirty="0">
                <a:solidFill>
                  <a:srgbClr val="4A4A4A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4A4A4A"/>
                </a:solidFill>
                <a:latin typeface="微软雅黑"/>
                <a:ea typeface="微软雅黑"/>
              </a:rPr>
              <a:t>语音表达意图</a:t>
            </a:r>
            <a:r>
              <a:rPr sz="1200" b="0" dirty="0">
                <a:solidFill>
                  <a:srgbClr val="4A4A4A"/>
                </a:solidFill>
                <a:latin typeface="微软雅黑"/>
                <a:ea typeface="微软雅黑"/>
              </a:rPr>
              <a:t> → </a:t>
            </a:r>
            <a:r>
              <a:rPr sz="1200" b="0" dirty="0" err="1">
                <a:solidFill>
                  <a:srgbClr val="4A4A4A"/>
                </a:solidFill>
                <a:latin typeface="微软雅黑"/>
                <a:ea typeface="微软雅黑"/>
              </a:rPr>
              <a:t>智能查重</a:t>
            </a:r>
            <a:r>
              <a:rPr sz="1200" b="0" dirty="0">
                <a:solidFill>
                  <a:srgbClr val="4A4A4A"/>
                </a:solidFill>
                <a:latin typeface="微软雅黑"/>
                <a:ea typeface="微软雅黑"/>
              </a:rPr>
              <a:t> → </a:t>
            </a:r>
            <a:r>
              <a:rPr sz="1200" b="0" dirty="0" err="1">
                <a:solidFill>
                  <a:srgbClr val="4A4A4A"/>
                </a:solidFill>
                <a:latin typeface="微软雅黑"/>
                <a:ea typeface="微软雅黑"/>
              </a:rPr>
              <a:t>自动执行</a:t>
            </a:r>
            <a:endParaRPr sz="1200" b="0" dirty="0">
              <a:solidFill>
                <a:srgbClr val="4A4A4A"/>
              </a:solidFill>
              <a:latin typeface="微软雅黑"/>
              <a:ea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2920" y="3063240"/>
            <a:ext cx="11155680" cy="77724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3063240"/>
            <a:ext cx="1417320" cy="7772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282696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管理层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314373"/>
            <a:ext cx="9418320" cy="28411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dirty="0" err="1">
                <a:solidFill>
                  <a:srgbClr val="4A4A4A"/>
                </a:solidFill>
                <a:latin typeface="微软雅黑"/>
                <a:ea typeface="微软雅黑"/>
              </a:rPr>
              <a:t>主动式管理：推送待办、数据质量报告、清洗方案、分发失败原因、标准体系调整建议</a:t>
            </a:r>
            <a:endParaRPr sz="1200" b="0" dirty="0">
              <a:solidFill>
                <a:srgbClr val="4A4A4A"/>
              </a:solidFill>
              <a:latin typeface="微软雅黑"/>
              <a:ea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3977640"/>
            <a:ext cx="11155680" cy="77724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3977640"/>
            <a:ext cx="1417320" cy="7772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4197096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智能层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4228773"/>
            <a:ext cx="9418320" cy="28411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dirty="0" err="1">
                <a:solidFill>
                  <a:srgbClr val="4A4A4A"/>
                </a:solidFill>
                <a:latin typeface="微软雅黑"/>
                <a:ea typeface="微软雅黑"/>
              </a:rPr>
              <a:t>三合一顾问（咨询+实施+技术</a:t>
            </a:r>
            <a:r>
              <a:rPr sz="1200" b="0" dirty="0">
                <a:solidFill>
                  <a:srgbClr val="4A4A4A"/>
                </a:solidFill>
                <a:latin typeface="微软雅黑"/>
                <a:ea typeface="微软雅黑"/>
              </a:rPr>
              <a:t>）：</a:t>
            </a:r>
            <a:r>
              <a:rPr sz="1200" b="0" dirty="0" err="1">
                <a:solidFill>
                  <a:srgbClr val="4A4A4A"/>
                </a:solidFill>
                <a:latin typeface="微软雅黑"/>
                <a:ea typeface="微软雅黑"/>
              </a:rPr>
              <a:t>自动生成项目计划</a:t>
            </a:r>
            <a:r>
              <a:rPr sz="1200" b="0" dirty="0">
                <a:solidFill>
                  <a:srgbClr val="4A4A4A"/>
                </a:solidFill>
                <a:latin typeface="微软雅黑"/>
                <a:ea typeface="微软雅黑"/>
              </a:rPr>
              <a:t>/</a:t>
            </a:r>
            <a:r>
              <a:rPr sz="1200" b="0" dirty="0" err="1">
                <a:solidFill>
                  <a:srgbClr val="4A4A4A"/>
                </a:solidFill>
                <a:latin typeface="微软雅黑"/>
                <a:ea typeface="微软雅黑"/>
              </a:rPr>
              <a:t>SOW、数据分类、编码结构、模型体系、接口脚本</a:t>
            </a:r>
            <a:endParaRPr sz="1200" b="0" dirty="0">
              <a:solidFill>
                <a:srgbClr val="4A4A4A"/>
              </a:solidFill>
              <a:latin typeface="微软雅黑"/>
              <a:ea typeface="微软雅黑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2920" y="4892040"/>
            <a:ext cx="11155680" cy="77724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4892040"/>
            <a:ext cx="1417320" cy="7772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5111496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底座层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5143173"/>
            <a:ext cx="9418320" cy="28411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dirty="0">
                <a:solidFill>
                  <a:srgbClr val="4A4A4A"/>
                </a:solidFill>
                <a:latin typeface="微软雅黑"/>
                <a:ea typeface="微软雅黑"/>
              </a:rPr>
              <a:t>Navigate </a:t>
            </a:r>
            <a:r>
              <a:rPr sz="1200" b="0" dirty="0" err="1">
                <a:solidFill>
                  <a:srgbClr val="4A4A4A"/>
                </a:solidFill>
                <a:latin typeface="微软雅黑"/>
                <a:ea typeface="微软雅黑"/>
              </a:rPr>
              <a:t>OS：智能工程（智能体可视化编排</a:t>
            </a:r>
            <a:r>
              <a:rPr sz="1200" b="0" dirty="0">
                <a:solidFill>
                  <a:srgbClr val="4A4A4A"/>
                </a:solidFill>
                <a:latin typeface="微软雅黑"/>
                <a:ea typeface="微软雅黑"/>
              </a:rPr>
              <a:t>）+ </a:t>
            </a:r>
            <a:r>
              <a:rPr sz="1200" b="0" dirty="0" err="1">
                <a:solidFill>
                  <a:srgbClr val="4A4A4A"/>
                </a:solidFill>
                <a:latin typeface="微软雅黑"/>
                <a:ea typeface="微软雅黑"/>
              </a:rPr>
              <a:t>知识工程（知识库</a:t>
            </a:r>
            <a:r>
              <a:rPr sz="1200" b="0" dirty="0">
                <a:solidFill>
                  <a:srgbClr val="4A4A4A"/>
                </a:solidFill>
                <a:latin typeface="微软雅黑"/>
                <a:ea typeface="微软雅黑"/>
              </a:rPr>
              <a:t>/</a:t>
            </a:r>
            <a:r>
              <a:rPr sz="1200" b="0" dirty="0" err="1">
                <a:solidFill>
                  <a:srgbClr val="4A4A4A"/>
                </a:solidFill>
                <a:latin typeface="微软雅黑"/>
                <a:ea typeface="微软雅黑"/>
              </a:rPr>
              <a:t>领域模型</a:t>
            </a:r>
            <a:r>
              <a:rPr sz="1200" b="0" dirty="0">
                <a:solidFill>
                  <a:srgbClr val="4A4A4A"/>
                </a:solidFill>
                <a:latin typeface="微软雅黑"/>
                <a:ea typeface="微软雅黑"/>
              </a:rPr>
              <a:t>）+ </a:t>
            </a:r>
            <a:r>
              <a:rPr sz="1200" b="0" dirty="0" err="1">
                <a:solidFill>
                  <a:srgbClr val="4A4A4A"/>
                </a:solidFill>
                <a:latin typeface="微软雅黑"/>
                <a:ea typeface="微软雅黑"/>
              </a:rPr>
              <a:t>本体论语义词典（数据推理</a:t>
            </a:r>
            <a:r>
              <a:rPr sz="1200" b="0" dirty="0">
                <a:solidFill>
                  <a:srgbClr val="4A4A4A"/>
                </a:solidFill>
                <a:latin typeface="微软雅黑"/>
                <a:ea typeface="微软雅黑"/>
              </a:rPr>
              <a:t>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98932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F3864"/>
                </a:solidFill>
                <a:latin typeface="微软雅黑"/>
                <a:ea typeface="微软雅黑"/>
              </a:rPr>
              <a:t>管理哲学转变：从“人适应系统”到“系统理解人”，从流程驱动到智能驱动，从“被动查询”到“主动预判”。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029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32004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04 · 中国实践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1F3864"/>
                </a:solidFill>
                <a:latin typeface="微软雅黑"/>
                <a:ea typeface="微软雅黑"/>
              </a:rPr>
              <a:t>范式对比：传统 MDM vs AI 原生 MDM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>
                <a:solidFill>
                  <a:srgbClr val="8A8A8A"/>
                </a:solidFill>
                <a:latin typeface="微软雅黑"/>
                <a:ea typeface="微软雅黑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15568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传统 MDM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AI 原生 MDM（魏桥方案）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交互方式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菜单/表单/按钮，业务需培训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对话框对话，拍照/粘贴/语音即可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系统行为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被动等待查询与录入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主动推送待办、质量报告、清洗建议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人员依赖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高度依赖 IT 与外部顾问驻场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业务人员自主管理，主导权回归甲方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交付模式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交钥匙工程，验收即撤离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“双轨带练”：线上线下带教，能力内化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数据能力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规则匹配、查重靠人工/脚本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本体论语义词典，数据具备推理与预判能力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可持续性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项目结束 → 治理停滞、质量反弹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治理成为业务日常能力，长期成本下降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029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32004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04 · 中国实践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1F3864"/>
                </a:solidFill>
                <a:latin typeface="微软雅黑"/>
                <a:ea typeface="微软雅黑"/>
              </a:rPr>
              <a:t>魏桥案例的行业意义与借鉴点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>
                <a:solidFill>
                  <a:srgbClr val="8A8A8A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486400" cy="219456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64008" cy="219456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14630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国产纯 AI 原生首次进入万亿级制造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828800"/>
            <a:ext cx="52120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同等体量制造企业此前几乎不用纯 AI 原生国产平台做核心主数据。魏桥选型本身具信号意义，可能改变国内数据治理市场产品方向。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486400" cy="219456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64008" cy="219456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4630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治理主导权交还业务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828800"/>
            <a:ext cx="52120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核心机制：业务人员具备数据思维、成为真正数据管理者；治理从“一次性项目”变为“日常运营”。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49040"/>
            <a:ext cx="5486400" cy="219456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3749040"/>
            <a:ext cx="64008" cy="21945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" y="3840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“带练”替代“交钥匙”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4206240"/>
            <a:ext cx="52120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线上线下协同带教，把数据管理能力沉淀到业务端，从源头维持数据质量，破解“治而不愈”顽疾。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49040"/>
            <a:ext cx="5486400" cy="219456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3749040"/>
            <a:ext cx="64008" cy="2194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82512" y="3840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风险与观察点（客观视角）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4206240"/>
            <a:ext cx="52120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万亿级业务场景对高并发、一致性、异常处理要求极高；AI 原生平台在生产环境的稳定性、人员适应速度、模型持续迭代均待验证。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029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32004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04 · 中国实践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1F3864"/>
                </a:solidFill>
                <a:latin typeface="微软雅黑"/>
                <a:ea typeface="微软雅黑"/>
              </a:rPr>
              <a:t>用友 BIP 数据治理 Agents 协作平台（2026.03 发布）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>
                <a:solidFill>
                  <a:srgbClr val="8A8A8A"/>
                </a:solidFill>
                <a:latin typeface="微软雅黑"/>
                <a:ea typeface="微软雅黑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155680" cy="1005840"/>
          </a:xfrm>
          <a:prstGeom prst="roundRect">
            <a:avLst/>
          </a:prstGeom>
          <a:solidFill>
            <a:srgbClr val="1F3864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8132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用友 BIP 数智平台创新成果 · 首次将多智能体协作深度融入数据治理</a:t>
            </a:r>
          </a:p>
          <a:p>
            <a:pPr algn="l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2026-03-16《用友 BIP 发布时刻》首期直播正式发布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560320"/>
            <a:ext cx="2651760" cy="114300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670048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100" b="1">
                <a:solidFill>
                  <a:srgbClr val="2E86AB"/>
                </a:solidFill>
                <a:latin typeface="微软雅黑"/>
                <a:ea typeface="微软雅黑"/>
              </a:rPr>
              <a:t>16 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4A4A4A"/>
                </a:solidFill>
                <a:latin typeface="微软雅黑"/>
                <a:ea typeface="微软雅黑"/>
              </a:rPr>
              <a:t>首批专业智能体</a:t>
            </a:r>
          </a:p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4A4A4A"/>
                </a:solidFill>
                <a:latin typeface="微软雅黑"/>
                <a:ea typeface="微软雅黑"/>
              </a:rPr>
              <a:t>五大类 · 超百项技能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2560320"/>
            <a:ext cx="2651760" cy="114300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0" y="2670048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100" b="1">
                <a:solidFill>
                  <a:srgbClr val="2E86AB"/>
                </a:solidFill>
                <a:latin typeface="微软雅黑"/>
                <a:ea typeface="微软雅黑"/>
              </a:rPr>
              <a:t>85%+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154680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4A4A4A"/>
                </a:solidFill>
                <a:latin typeface="微软雅黑"/>
                <a:ea typeface="微软雅黑"/>
              </a:rPr>
              <a:t>治理流程自动化程度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560320"/>
            <a:ext cx="2651760" cy="114300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2670048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100" b="1">
                <a:solidFill>
                  <a:srgbClr val="2E86AB"/>
                </a:solidFill>
                <a:latin typeface="微软雅黑"/>
                <a:ea typeface="微软雅黑"/>
              </a:rPr>
              <a:t>90%+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154680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4A4A4A"/>
                </a:solidFill>
                <a:latin typeface="微软雅黑"/>
                <a:ea typeface="微软雅黑"/>
              </a:rPr>
              <a:t>人工重复劳动替代率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2560320"/>
            <a:ext cx="2651760" cy="114300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0" y="2670048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100" b="1">
                <a:solidFill>
                  <a:srgbClr val="2E86AB"/>
                </a:solidFill>
                <a:latin typeface="微软雅黑"/>
                <a:ea typeface="微软雅黑"/>
              </a:rPr>
              <a:t>3 倍+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154680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4A4A4A"/>
                </a:solidFill>
                <a:latin typeface="微软雅黑"/>
                <a:ea typeface="微软雅黑"/>
              </a:rPr>
              <a:t>治理效率提升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977639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F3864"/>
                </a:solidFill>
                <a:latin typeface="微软雅黑"/>
                <a:ea typeface="微软雅黑"/>
              </a:rPr>
              <a:t>五大智能体类别：自然语言处理 · 业务架构建模 · 数据建模管理 · 数据价值转化 · 数据治理核心能力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434840"/>
            <a:ext cx="5486400" cy="182880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4434840"/>
            <a:ext cx="64008" cy="18288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" y="45262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“人机共治”范式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" y="4892040"/>
            <a:ext cx="5212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· 覆盖业务调研→架构梳理→标准设计→质量规则→湖仓落标→常态化运营全流程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· 在线设计、在线协同、在线运营一体化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· 智能体自动化 + 人工精准校验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34840"/>
            <a:ext cx="5486400" cy="182880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72200" y="4434840"/>
            <a:ext cx="64008" cy="18288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36792" y="45262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技术可信设计（白盒）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4892040"/>
            <a:ext cx="5212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· 所有智能体操作过程、决策逻辑可追溯可查看，解决大模型幻觉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· 技能基于 DAMA、DCMM 等标准封装，适配行业数据字典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· 研发前走访多家行业标杆，先内部试用再推广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029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32004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04 · 中国实践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1F3864"/>
                </a:solidFill>
                <a:latin typeface="微软雅黑"/>
                <a:ea typeface="微软雅黑"/>
              </a:rPr>
              <a:t>用友 BIP：从“一次性工程”到“可持续运营”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>
                <a:solidFill>
                  <a:srgbClr val="8A8A8A"/>
                </a:solidFill>
                <a:latin typeface="微软雅黑"/>
                <a:ea typeface="微软雅黑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486400" cy="219456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64008" cy="2194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14630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解决的核心矛盾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828800"/>
            <a:ext cx="52120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· 传统治理“靠人堆、靠加班、靠救火”，项目结束治理即停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· 治理规则更新滞后于业务变化，形成“治理一次、沉睡多年”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· 数据治理与业务发展“两张皮”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71600"/>
            <a:ext cx="5486400" cy="219456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371600"/>
            <a:ext cx="64008" cy="219456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36792" y="14630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成本模型重构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1828800"/>
            <a:ext cx="52120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· 从“线性投入”（持续堆人力）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→ “一次性智能体投入 + 长期少量线性投入”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· 降低治理门槛，中小资源企业也能系统性治理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· 让数据治理从“专业少数人专属”变为企业“标配”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49039"/>
            <a:ext cx="5486400" cy="210312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3749039"/>
            <a:ext cx="64008" cy="21031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" y="3840479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市场定位（六平台对比）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4206239"/>
            <a:ext cx="52120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· “ERP 生态内源头治理”——治理能力与 BIP 业务系统强绑定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· 优势：业务系统内数据直接治理，形成闭环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· 局限：跨外部系统/异构生态的适配范围偏窄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749039"/>
            <a:ext cx="5486400" cy="210312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2200" y="3749039"/>
            <a:ext cx="64008" cy="2103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36792" y="3840479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对企业决策的含义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4206239"/>
            <a:ext cx="52120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· 已有用友 BIP 生态的企业：治理可低摩擦嵌入现有系统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· 异构系统为主的企业：需评估 MCP/开放对接能力或组合多家平台</a:t>
            </a: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· 选型本质 = 生态绑定深度 × 智能化能力 × 开放性 的权衡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029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32004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04 · 横向对比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1F3864"/>
                </a:solidFill>
                <a:latin typeface="微软雅黑"/>
                <a:ea typeface="微软雅黑"/>
              </a:rPr>
              <a:t>智能化深度 × 平台开放性：选型坐标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>
                <a:solidFill>
                  <a:srgbClr val="8A8A8A"/>
                </a:solidFill>
                <a:latin typeface="微软雅黑"/>
                <a:ea typeface="微软雅黑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155680" cy="4206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48132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>
                <a:solidFill>
                  <a:srgbClr val="8A8A8A"/>
                </a:solidFill>
                <a:latin typeface="微软雅黑"/>
                <a:ea typeface="微软雅黑"/>
              </a:rPr>
              <a:t>智能化深度（AI/Agent 能力）→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743200"/>
            <a:ext cx="320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8A8A8A"/>
                </a:solidFill>
                <a:latin typeface="微软雅黑"/>
                <a:ea typeface="微软雅黑"/>
              </a:rPr>
              <a:t>开放性</a:t>
            </a:r>
          </a:p>
          <a:p>
            <a:pPr algn="l">
              <a:lnSpc>
                <a:spcPct val="112000"/>
              </a:lnSpc>
            </a:pPr>
            <a:r>
              <a:rPr sz="1100" b="1">
                <a:solidFill>
                  <a:srgbClr val="8A8A8A"/>
                </a:solidFill>
                <a:latin typeface="微软雅黑"/>
                <a:ea typeface="微软雅黑"/>
              </a:rPr>
              <a:t>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1828800"/>
            <a:ext cx="2377440" cy="457200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08960" y="19202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百分点 AI-DG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2103120"/>
            <a:ext cx="2377440" cy="45720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20640" y="21945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用友 BIP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3291840"/>
            <a:ext cx="2377440" cy="457200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06240" y="33832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腾讯 WeData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4023360"/>
            <a:ext cx="2377440" cy="457200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35040" y="41148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火山 DataLeap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2743200"/>
            <a:ext cx="2377440" cy="457200"/>
          </a:xfrm>
          <a:prstGeom prst="round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0" y="28346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金蝶苍穹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2011680"/>
            <a:ext cx="2377440" cy="457200"/>
          </a:xfrm>
          <a:prstGeom prst="round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0" y="21031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微软 Purview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1F3864"/>
                </a:solidFill>
                <a:latin typeface="微软雅黑"/>
                <a:ea typeface="微软雅黑"/>
              </a:rPr>
              <a:t>选型建议：生态匹配优先（在用友/金蝶生态内选 BIP/苍穹，云原生选 WeData/DataLeap，AI 深度优先选 AI-DG）</a:t>
            </a:r>
          </a:p>
          <a:p>
            <a:pPr algn="l">
              <a:lnSpc>
                <a:spcPct val="112000"/>
              </a:lnSpc>
            </a:pPr>
            <a:r>
              <a:rPr sz="1200" b="1">
                <a:solidFill>
                  <a:srgbClr val="1F3864"/>
                </a:solidFill>
                <a:latin typeface="微软雅黑"/>
                <a:ea typeface="微软雅黑"/>
              </a:rPr>
              <a:t>再横向比较：MCP 开放对接能力将是跨平台组合的关键（IDC：Agent 标准协议降低集成难度）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029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32004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05 · 启示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1F3864"/>
                </a:solidFill>
                <a:latin typeface="微软雅黑"/>
                <a:ea typeface="微软雅黑"/>
              </a:rPr>
              <a:t>跨案例的六条共性成功要素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>
                <a:solidFill>
                  <a:srgbClr val="8A8A8A"/>
                </a:solidFill>
                <a:latin typeface="微软雅黑"/>
                <a:ea typeface="微软雅黑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155680" cy="713232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2377440" cy="713232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545336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AI 推荐 + 人审批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463040"/>
            <a:ext cx="8458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无一例外：AI 不直写生产库。Covestro 走 MDG 审批流，用友“智能体自动化+人工校验”，魏桥对话确认机制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94560"/>
            <a:ext cx="11155680" cy="713232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2194560"/>
            <a:ext cx="2377440" cy="713232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368296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主导权交还业务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286000"/>
            <a:ext cx="8458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魏桥“带练”交付、Covestro 自服务化：业务人员成为数据管理者，治理才可持续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017520"/>
            <a:ext cx="11155680" cy="713232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3017520"/>
            <a:ext cx="2377440" cy="7132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191256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治理底座先行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108960"/>
            <a:ext cx="8458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Mastercard 十年目录/血缘/契约积累 → AI 复利；微软 Purview 客户“AI 就绪前置”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840480"/>
            <a:ext cx="11155680" cy="713232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3840480"/>
            <a:ext cx="2377440" cy="71323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4014216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技能标准化封装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3931920"/>
            <a:ext cx="8458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用友按 DAMA/DCMM 封装智能体技能；中翰领域模型+语义词典——治理知识产品化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663440"/>
            <a:ext cx="11155680" cy="713232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02920" y="4663440"/>
            <a:ext cx="2377440" cy="713232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4837176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白盒可解释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4754880"/>
            <a:ext cx="8458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用友白盒设计解决幻觉信任；IBM watsonx 全程可追溯——AI 治理本身要被治理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486400"/>
            <a:ext cx="11155680" cy="713232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02920" y="5486400"/>
            <a:ext cx="2377440" cy="713232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5660136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从项目走向运营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63240" y="5577840"/>
            <a:ext cx="8458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A4A4A"/>
                </a:solidFill>
                <a:latin typeface="微软雅黑"/>
                <a:ea typeface="微软雅黑"/>
              </a:rPr>
              <a:t>成本模型从线性人力投入转向“一次性平台+少量线性”，治理常态化是共同终点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029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32004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05 · 启示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1F3864"/>
                </a:solidFill>
                <a:latin typeface="微软雅黑"/>
                <a:ea typeface="微软雅黑"/>
              </a:rPr>
              <a:t>对我司/客户项目的落地路径建议（PoC 三步走）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>
                <a:solidFill>
                  <a:srgbClr val="8A8A8A"/>
                </a:solidFill>
                <a:latin typeface="微软雅黑"/>
                <a:ea typeface="微软雅黑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611880" cy="393192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3611880" cy="502920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444752"/>
            <a:ext cx="3337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第一步 · 选域与基线（2-4 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57400"/>
            <a:ext cx="32461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4A4A4A"/>
                </a:solidFill>
                <a:latin typeface="微软雅黑"/>
                <a:ea typeface="微软雅黑"/>
              </a:rPr>
              <a:t>选定 1 个主数据域（物料或供应商）做试点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4A4A4A"/>
                </a:solidFill>
                <a:latin typeface="微软雅黑"/>
                <a:ea typeface="微软雅黑"/>
              </a:rPr>
              <a:t>建立治理收益基线：重复数据量+关联采购金额、必填字段完整率、跨系统映射覆盖率、工单闭环时长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371600"/>
            <a:ext cx="3611880" cy="393192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297680" y="1371600"/>
            <a:ext cx="3611880" cy="50292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1444752"/>
            <a:ext cx="3337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第二步 · AI 注入点 PoC（4-8 周）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057400"/>
            <a:ext cx="32461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4A4A4A"/>
                </a:solidFill>
                <a:latin typeface="微软雅黑"/>
                <a:ea typeface="微软雅黑"/>
              </a:rPr>
              <a:t>对照 Covestro 三个注入点：AI 查重/外部数据核验/黄金记录补全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4A4A4A"/>
                </a:solidFill>
                <a:latin typeface="微软雅黑"/>
                <a:ea typeface="微软雅黑"/>
              </a:rPr>
              <a:t>方案 = AI 推荐 + 人工审批 + 可控执行 + 可回滚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4A4A4A"/>
                </a:solidFill>
                <a:latin typeface="微软雅黑"/>
                <a:ea typeface="微软雅黑"/>
              </a:rPr>
              <a:t>输出：查重准确率、创建周期缩短、审批通过率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611880" cy="393192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092440" y="1371600"/>
            <a:ext cx="3611880" cy="50292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1444752"/>
            <a:ext cx="3337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第三步 · 运营化与扩展（3-6 月）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057400"/>
            <a:ext cx="32461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4A4A4A"/>
                </a:solidFill>
                <a:latin typeface="微软雅黑"/>
                <a:ea typeface="微软雅黑"/>
              </a:rPr>
              <a:t>“带练”式交接：业务人员掌握日常数据管理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4A4A4A"/>
                </a:solidFill>
                <a:latin typeface="微软雅黑"/>
                <a:ea typeface="微软雅黑"/>
              </a:rPr>
              <a:t>智能体技能按 DCMM/DAMA 封装，沉淀为可复用资产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4A4A4A"/>
                </a:solidFill>
                <a:latin typeface="微软雅黑"/>
                <a:ea typeface="微软雅黑"/>
              </a:rPr>
              <a:t>扩展至 BOM/工艺路线/客户域，接入 MCP 与外部系统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62356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F3864"/>
                </a:solidFill>
                <a:latin typeface="微软雅黑"/>
                <a:ea typeface="微软雅黑"/>
              </a:rPr>
              <a:t>PoC 验收铁律：每个验收标准必须绑定业务影响指标（如：查重准确率 → 重复采购金额下降）——治理项目收益不可见是最大落地障碍。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029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32004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05 · 启示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1F3864"/>
                </a:solidFill>
                <a:latin typeface="微软雅黑"/>
                <a:ea typeface="微软雅黑"/>
              </a:rPr>
              <a:t>风险与对策：把话说在前面的售前姿态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>
                <a:solidFill>
                  <a:srgbClr val="8A8A8A"/>
                </a:solidFill>
                <a:latin typeface="微软雅黑"/>
                <a:ea typeface="微软雅黑"/>
              </a:rP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155680" cy="2386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3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34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风险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表现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对策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AI 效果被高估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厂商宣传口径（85% 自动化、3 倍效率）多为发布稿数据，缺少独立第三方验证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PoC 用客户真实数据复测；指标以实测为准（参考魏桥报道“更大可能≠必然实现”）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生态绑定陷阱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用友/金蝶平台与自有生态强绑定，跨异构系统能力偏弱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先做系统现状盘点；用 MCP/开放 API 评估组合方案，不把赌注押单一平台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数据安全与合规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AI 访问敏感数据（PII/税号/财务数据）存在泄露与越权风险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沿用“AI 不直写、全程留痕、人审把关”；参考 Purview DSPM、BB 全生命周期监控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组织抗拒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数据治理是组织权力再分配，业务部门可能消极配合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Kickoff 前置条件：发起人 VP+ 书面授权；“带练”式交付降低业务抵触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可持续运营缺失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项目结束治理停滞的顽疾在新方案下依然存在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把“运营化”写进合同交付物：双轨带练、技能资产沉淀、月度健康度指标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029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32004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附 · 信息源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1F3864"/>
                </a:solidFill>
                <a:latin typeface="微软雅黑"/>
                <a:ea typeface="微软雅黑"/>
              </a:rPr>
              <a:t>案例数据来源与置信度说明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>
                <a:solidFill>
                  <a:srgbClr val="8A8A8A"/>
                </a:solidFill>
                <a:latin typeface="微软雅黑"/>
                <a:ea typeface="微软雅黑"/>
              </a:rP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155678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0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52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34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61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案例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关键数据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来源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置信度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Covestro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12h→6min；~1,000 单/月；澄清 -99%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AWS for SAP 官方博客（AWS 官方披露）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高 [KNOWN]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Mastercard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30,000+ 资产；6,000+ 人时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Atlan 客户案例页（厂商披露）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高 [KNOWN]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Netflix/麦当劳/BB/LSEG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定性成果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DataHub/Collibra/IBM/OpenAI 案例页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中高 [KNOWN]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魏桥创业集团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500强166位；5,915亿；3,200亿；11万人；18基地；2026.08 签约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中国发展网/百家号多篇（中国发展改革署名）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高 [KNOWN]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中翰 AI 原生 MDM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Navigate OS；首款纯 AI 原生；双轨带练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同花顺财经/中国发展网（厂商发布稿）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中 [KNOWN]（厂商口径）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用友 BIP Agents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2026.03.16 发布；16 智能体；85%+；3 倍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用友官方发布稿（CSDN/雪球转载）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中 [KNOWN]（厂商口径）</a:t>
                      </a:r>
                    </a:p>
                  </a:txBody>
                  <a:tcPr marL="54864" marR="54864" marT="18288" marB="18288" anchor="ctr"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六平台对比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智能化深度/开放性定性评价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中国经济新闻网 2026-06-30 测评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A4A4A"/>
                          </a:solidFill>
                          <a:latin typeface="微软雅黑"/>
                          <a:ea typeface="微软雅黑"/>
                        </a:rPr>
                        <a:t>中 [KNOWN]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98932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A8A8A"/>
                </a:solidFill>
                <a:latin typeface="微软雅黑"/>
                <a:ea typeface="微软雅黑"/>
              </a:rPr>
              <a:t>口径说明：国内案例量化数字均来自厂商/媒体发布稿，未经验证为“宣传口径”；售前引用时建议标注并 PoC 实测。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029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32004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1F3864"/>
                </a:solidFill>
                <a:latin typeface="微软雅黑"/>
                <a:ea typeface="微软雅黑"/>
              </a:rPr>
              <a:t>三个关键信息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>
                <a:solidFill>
                  <a:srgbClr val="8A8A8A"/>
                </a:solidFill>
                <a:latin typeface="微软雅黑"/>
                <a:ea typeface="微软雅黑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11155680" cy="123444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2E86AB"/>
                </a:solidFill>
                <a:latin typeface="微软雅黑"/>
                <a:ea typeface="微软雅黑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62763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范式已切换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645920"/>
            <a:ext cx="74980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4A4A4A"/>
                </a:solidFill>
                <a:latin typeface="微软雅黑"/>
                <a:ea typeface="微软雅黑"/>
              </a:rPr>
              <a:t>AI 数据治理从“演示”走向“生产”：Covestro 12h→6min、用友 16 智能体 85% 自动化、魏桥把纯 AI 原生 MDM 放进万亿级制造核心场景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880360"/>
            <a:ext cx="11155680" cy="123444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15468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2E86AB"/>
                </a:solidFill>
                <a:latin typeface="微软雅黑"/>
                <a:ea typeface="微软雅黑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044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路径有共识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063240"/>
            <a:ext cx="74980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4A4A4A"/>
                </a:solidFill>
                <a:latin typeface="微软雅黑"/>
                <a:ea typeface="微软雅黑"/>
              </a:rPr>
              <a:t>AI 推荐+人审批 · 治理底座先行 · 主导权交还业务 · 白盒可解释 · 从项目走向运营——六条共性跨中外案例一致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297680"/>
            <a:ext cx="11155680" cy="123444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57200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2E86AB"/>
                </a:solidFill>
                <a:latin typeface="微软雅黑"/>
                <a:ea typeface="微软雅黑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6227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落地靠实测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480560"/>
            <a:ext cx="74980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4A4A4A"/>
                </a:solidFill>
                <a:latin typeface="微软雅黑"/>
                <a:ea typeface="微软雅黑"/>
              </a:rPr>
              <a:t>厂商宣传口径 ≠ 客户实测效果：PoC 绑定业务指标、带练式交付、运营化写入合同，才能让治理真正持续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989320"/>
            <a:ext cx="11155680" cy="548640"/>
          </a:xfrm>
          <a:prstGeom prst="roundRect">
            <a:avLst/>
          </a:prstGeom>
          <a:solidFill>
            <a:srgbClr val="1F3864"/>
          </a:solidFill>
          <a:ln w="9525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609904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Q &amp; A  —  谢谢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2335</Words>
  <Application>Microsoft Office PowerPoint</Application>
  <PresentationFormat>宽屏</PresentationFormat>
  <Paragraphs>423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Frank Zhao</cp:lastModifiedBy>
  <cp:revision>2</cp:revision>
  <dcterms:created xsi:type="dcterms:W3CDTF">2013-01-27T09:14:16Z</dcterms:created>
  <dcterms:modified xsi:type="dcterms:W3CDTF">2026-08-25T08:57:28Z</dcterms:modified>
  <cp:category/>
</cp:coreProperties>
</file>