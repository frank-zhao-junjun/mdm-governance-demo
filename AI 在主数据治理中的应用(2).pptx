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0" autoAdjust="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9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07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开场：本方案回答一个问题——AI 如何重塑制造业主数据治理。先看两个标杆，再给出我们的方案。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四个痛点相互强化：越依赖专家和人工，越难持续。行业共识正在形成——人机共治是方向。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中翰走 AI 原生、自下而上路线。平台能力描述均来自厂商官方发布，尚无第三方实测。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用友走平台化、自上而下路线。85%/90%/3 倍为厂商自报指标，引用时注意口径。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两条路线不是二选一：底座学用友的体系化，切入学中翰的场景化。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读法：L5 集成现状系统，L4 是主数据服务本体，L3/L2 是 AI 增量，L1 面向业务用户。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对话式入口是降低使用门槛的关键，理念借鉴中翰（厂商官方口径），按制造业场景落地。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 个智能体覆盖治理全流程，强调实时协同——不是串行接力，而是并行响应、相互校验。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多模型各司其职是成本与效果平衡的关键：不是所有任务都值得用大模型。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主动式质量管理的要点：AI 发起、人工确认、规则回流，形成自我强化的闭环。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治理对象与前期主数据治理专题一致；试点选小切口：见效快、可量化、易推广。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可信可控是 AI 治理能落地的底线：白盒、人在回路、权限审计，缺一不可。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三阶段节奏：先小切口验证价值，再扩展对象与系统，最后转入常态化运营。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价值用五维框架表达，量化指标先留白、试点期后回填实测值。以结语收束。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2212848"/>
            <a:ext cx="822960" cy="64008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395728"/>
            <a:ext cx="9235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AI 在主数据治理中的应用（二）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BFD7EA"/>
                </a:solidFill>
                <a:latin typeface="微软雅黑"/>
                <a:ea typeface="微软雅黑"/>
              </a:rPr>
              <a:t>AI Native 数据治理方案（制造业）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806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B3C8"/>
                </a:solidFill>
                <a:latin typeface="微软雅黑"/>
                <a:ea typeface="微软雅黑"/>
              </a:rPr>
              <a:t>借鉴中翰软件 Navigate OS × 用友 BIP 数据治理 Agents 协作平台 ·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为什么需要 AI Native 数据治理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dirty="0" err="1">
                <a:solidFill>
                  <a:srgbClr val="333333"/>
                </a:solidFill>
                <a:latin typeface="微软雅黑"/>
                <a:ea typeface="微软雅黑"/>
              </a:rPr>
              <a:t>传统主数据治理模式的四个结构性痛点</a:t>
            </a:r>
            <a:r>
              <a:rPr sz="1300" b="1" dirty="0">
                <a:solidFill>
                  <a:srgbClr val="333333"/>
                </a:solidFill>
                <a:latin typeface="微软雅黑"/>
                <a:ea typeface="微软雅黑"/>
              </a:rPr>
              <a:t>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2697480" cy="32918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627632"/>
            <a:ext cx="50292" cy="29992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591056"/>
            <a:ext cx="2368296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高成本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依赖专职团队与长周期项目，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投入大、回报慢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6528" y="1481328"/>
            <a:ext cx="2697480" cy="32918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71392" y="1627632"/>
            <a:ext cx="50292" cy="29992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7696" y="1591056"/>
            <a:ext cx="2368296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高壁垒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依赖稀缺的数据治理专家，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知识难以沉淀与复制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5857" y="1481328"/>
            <a:ext cx="2697480" cy="32918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0721" y="1627632"/>
            <a:ext cx="50292" cy="29992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7025" y="1591056"/>
            <a:ext cx="2368296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低效率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人工录入、核对、分发，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耗时且易出错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5186" y="1481328"/>
            <a:ext cx="2697480" cy="32918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90050" y="1627632"/>
            <a:ext cx="50292" cy="29992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6354" y="1591056"/>
            <a:ext cx="2368296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难持续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项目式治理，上线即退化，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成果难以保持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138928"/>
            <a:ext cx="11277295" cy="603504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行业拐点：从「人工治理」走向「人机共治」——AI 正从辅助工具变为治理的操作系统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标杆借鉴 ①：中翰软件 AI 原生 MDM（Navigate OS）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60704"/>
            <a:ext cx="11277295" cy="896112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207007"/>
            <a:ext cx="50292" cy="603503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170431"/>
            <a:ext cx="10948111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案例背景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魏桥创业集团（2025 年营收 5915 亿元、18 个生产基地、11 万员工），2026 年 8 月与中翰软件签署主数据治理合作。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21408"/>
            <a:ext cx="5532120" cy="1700784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2064" y="2267712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231136"/>
            <a:ext cx="520293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对话式交互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一个对话框完成全部操作；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拍照上传或复制粘贴即可新增 / 变更，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平台智能查重并自动执行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2375" y="2121408"/>
            <a:ext cx="5532120" cy="1700784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57239" y="2267712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3543" y="2231136"/>
            <a:ext cx="520293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主动智能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主动推送数据质量报告与清洗方案；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主动分析分发失败原因，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建议治理体系调整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68496"/>
            <a:ext cx="5532120" cy="1700784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" y="4114800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4078224"/>
            <a:ext cx="520293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多模型融合底座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融合多模态大模型、领域模型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小模型、本体模型与知识库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各司其职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2375" y="3968496"/>
            <a:ext cx="5532120" cy="1700784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7239" y="4114800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3543" y="4078224"/>
            <a:ext cx="520293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双轨带练实施法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线上线下协同赋能，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带练业务人员上手操作，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让治理能力沉淀在业务侧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7044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8A94A6"/>
                </a:solidFill>
                <a:latin typeface="微软雅黑"/>
                <a:ea typeface="微软雅黑"/>
              </a:rPr>
              <a:t>注：本页平台特征描述均据中翰软件官方发布，暂无第三方实测佐证</a:t>
            </a:r>
            <a:r>
              <a:rPr sz="900" b="0" dirty="0">
                <a:solidFill>
                  <a:srgbClr val="8A94A6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标杆借鉴 ②：用友 BIP 数据治理 Agents 协作平台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33333"/>
                </a:solidFill>
                <a:latin typeface="微软雅黑"/>
                <a:ea typeface="微软雅黑"/>
              </a:rPr>
              <a:t>2026 年 3 月 16 日发布 · 定位：数据治理从「项目式」转向「常态化运营」 · 首批 16 个专业智能体，分五大类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17904"/>
          <a:ext cx="6675120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智能体类别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核心能力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自然语言处理类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理解业务语言，将业务描述转化为治理规则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业务架构建模类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梳理业务架构，建立治理框架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数据建模管理类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设计数据模型，管理数据资产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数据价值转化类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释放数据价值，支撑业务决策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数据治理核心能力类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执行治理全流程，保障数据质量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70064" y="1517904"/>
            <a:ext cx="4364431" cy="2212848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24928" y="1664207"/>
            <a:ext cx="50292" cy="1920240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71232" y="1627631"/>
            <a:ext cx="403524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关键指标</a:t>
            </a:r>
            <a:endParaRPr lang="en-US"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· </a:t>
            </a:r>
            <a:r>
              <a:rPr sz="1200" b="0" dirty="0" err="1">
                <a:solidFill>
                  <a:srgbClr val="333333"/>
                </a:solidFill>
                <a:latin typeface="微软雅黑"/>
                <a:ea typeface="微软雅黑"/>
              </a:rPr>
              <a:t>自动化程度超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 85%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· </a:t>
            </a:r>
            <a:r>
              <a:rPr sz="1200" b="0" dirty="0" err="1">
                <a:solidFill>
                  <a:srgbClr val="333333"/>
                </a:solidFill>
                <a:latin typeface="微软雅黑"/>
                <a:ea typeface="微软雅黑"/>
              </a:rPr>
              <a:t>替代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 90% </a:t>
            </a:r>
            <a:r>
              <a:rPr sz="1200" b="0" dirty="0" err="1">
                <a:solidFill>
                  <a:srgbClr val="333333"/>
                </a:solidFill>
                <a:latin typeface="微软雅黑"/>
                <a:ea typeface="微软雅黑"/>
              </a:rPr>
              <a:t>以上人工重复劳动</a:t>
            </a:r>
            <a:endParaRPr sz="12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· </a:t>
            </a:r>
            <a:r>
              <a:rPr sz="1200" b="0" dirty="0" err="1">
                <a:solidFill>
                  <a:srgbClr val="333333"/>
                </a:solidFill>
                <a:latin typeface="微软雅黑"/>
                <a:ea typeface="微软雅黑"/>
              </a:rPr>
              <a:t>治理效率提升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 3 </a:t>
            </a:r>
            <a:r>
              <a:rPr sz="1200" b="0" dirty="0" err="1">
                <a:solidFill>
                  <a:srgbClr val="333333"/>
                </a:solidFill>
                <a:latin typeface="微软雅黑"/>
                <a:ea typeface="微软雅黑"/>
              </a:rPr>
              <a:t>倍以上</a:t>
            </a:r>
            <a:endParaRPr sz="12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（</a:t>
            </a:r>
            <a:r>
              <a:rPr sz="1200" b="0" dirty="0" err="1">
                <a:solidFill>
                  <a:srgbClr val="333333"/>
                </a:solidFill>
                <a:latin typeface="微软雅黑"/>
                <a:ea typeface="微软雅黑"/>
              </a:rPr>
              <a:t>以上为厂商自报指标，暂无第三方验证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0064" y="3913632"/>
            <a:ext cx="4364431" cy="1481328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24928" y="4059936"/>
            <a:ext cx="50292" cy="1188720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71232" y="4023360"/>
            <a:ext cx="4035247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白盒设计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dirty="0" err="1">
                <a:solidFill>
                  <a:srgbClr val="333333"/>
                </a:solidFill>
                <a:latin typeface="微软雅黑"/>
                <a:ea typeface="微软雅黑"/>
              </a:rPr>
              <a:t>所有智能体的操作过程、决策逻辑</a:t>
            </a:r>
            <a:endParaRPr sz="12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dirty="0" err="1">
                <a:solidFill>
                  <a:srgbClr val="333333"/>
                </a:solidFill>
                <a:latin typeface="微软雅黑"/>
                <a:ea typeface="微软雅黑"/>
              </a:rPr>
              <a:t>均可追溯、可查看，拒绝黑箱操作</a:t>
            </a:r>
            <a:r>
              <a:rPr sz="1200" b="0" dirty="0">
                <a:solidFill>
                  <a:srgbClr val="333333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注：发布时间与智能体分类据用友官网；效果数字须冠以「用友官方称」。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两条路径对比与启示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532120" cy="37947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380744"/>
            <a:ext cx="50292" cy="35021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344168"/>
            <a:ext cx="5202936" cy="3575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自下而上</a:t>
            </a:r>
            <a:r>
              <a:rPr sz="1500" b="1" dirty="0">
                <a:solidFill>
                  <a:srgbClr val="1F4E79"/>
                </a:solidFill>
                <a:latin typeface="微软雅黑"/>
                <a:ea typeface="微软雅黑"/>
              </a:rPr>
              <a:t> · </a:t>
            </a: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中翰路线（场景驱动</a:t>
            </a:r>
            <a:r>
              <a:rPr sz="1500" b="1" dirty="0">
                <a:solidFill>
                  <a:srgbClr val="1F4E79"/>
                </a:solidFill>
                <a:latin typeface="微软雅黑"/>
                <a:ea typeface="微软雅黑"/>
              </a:rPr>
              <a:t>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· </a:t>
            </a:r>
            <a:r>
              <a:rPr sz="1300" b="0" dirty="0" err="1">
                <a:solidFill>
                  <a:srgbClr val="333333"/>
                </a:solidFill>
                <a:latin typeface="微软雅黑"/>
                <a:ea typeface="微软雅黑"/>
              </a:rPr>
              <a:t>业务场景驱动，小切口切入</a:t>
            </a:r>
            <a:endParaRPr sz="13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· AI </a:t>
            </a:r>
            <a:r>
              <a:rPr sz="1300" b="0" dirty="0" err="1">
                <a:solidFill>
                  <a:srgbClr val="333333"/>
                </a:solidFill>
                <a:latin typeface="微软雅黑"/>
                <a:ea typeface="微软雅黑"/>
              </a:rPr>
              <a:t>原生对话式交互</a:t>
            </a:r>
            <a:endParaRPr sz="13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· </a:t>
            </a:r>
            <a:r>
              <a:rPr sz="1300" b="0" dirty="0" err="1">
                <a:solidFill>
                  <a:srgbClr val="333333"/>
                </a:solidFill>
                <a:latin typeface="微软雅黑"/>
                <a:ea typeface="微软雅黑"/>
              </a:rPr>
              <a:t>业务人员自主操作，无需专家</a:t>
            </a:r>
            <a:endParaRPr sz="13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· </a:t>
            </a:r>
            <a:r>
              <a:rPr sz="1300" b="0" dirty="0" err="1">
                <a:solidFill>
                  <a:srgbClr val="333333"/>
                </a:solidFill>
                <a:latin typeface="微软雅黑"/>
                <a:ea typeface="微软雅黑"/>
              </a:rPr>
              <a:t>快速见效，易于推广复制</a:t>
            </a:r>
            <a:endParaRPr sz="13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02375" y="1234440"/>
            <a:ext cx="5532120" cy="37947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57239" y="1380744"/>
            <a:ext cx="50292" cy="35021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3543" y="1344168"/>
            <a:ext cx="5202936" cy="3575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自上而下</a:t>
            </a:r>
            <a:r>
              <a:rPr sz="1500" b="1" dirty="0">
                <a:solidFill>
                  <a:srgbClr val="1F4E79"/>
                </a:solidFill>
                <a:latin typeface="微软雅黑"/>
                <a:ea typeface="微软雅黑"/>
              </a:rPr>
              <a:t> · </a:t>
            </a: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用友路线（平台驱动</a:t>
            </a:r>
            <a:r>
              <a:rPr sz="1500" b="1" dirty="0">
                <a:solidFill>
                  <a:srgbClr val="1F4E79"/>
                </a:solidFill>
                <a:latin typeface="微软雅黑"/>
                <a:ea typeface="微软雅黑"/>
              </a:rPr>
              <a:t>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· </a:t>
            </a:r>
            <a:r>
              <a:rPr sz="1300" b="0" dirty="0" err="1">
                <a:solidFill>
                  <a:srgbClr val="333333"/>
                </a:solidFill>
                <a:latin typeface="微软雅黑"/>
                <a:ea typeface="微软雅黑"/>
              </a:rPr>
              <a:t>平台化、体系化能力建设</a:t>
            </a:r>
            <a:endParaRPr sz="13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· </a:t>
            </a:r>
            <a:r>
              <a:rPr sz="1300" b="0" dirty="0" err="1">
                <a:solidFill>
                  <a:srgbClr val="333333"/>
                </a:solidFill>
                <a:latin typeface="微软雅黑"/>
                <a:ea typeface="微软雅黑"/>
              </a:rPr>
              <a:t>多智能体协同作业</a:t>
            </a:r>
            <a:endParaRPr sz="13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· </a:t>
            </a:r>
            <a:r>
              <a:rPr sz="1300" b="0" dirty="0" err="1">
                <a:solidFill>
                  <a:srgbClr val="333333"/>
                </a:solidFill>
                <a:latin typeface="微软雅黑"/>
                <a:ea typeface="微软雅黑"/>
              </a:rPr>
              <a:t>标准化能力底座，可复用</a:t>
            </a:r>
            <a:endParaRPr sz="13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微软雅黑"/>
                <a:ea typeface="微软雅黑"/>
              </a:rPr>
              <a:t>· </a:t>
            </a:r>
            <a:r>
              <a:rPr sz="1300" b="0" dirty="0" err="1">
                <a:solidFill>
                  <a:srgbClr val="333333"/>
                </a:solidFill>
                <a:latin typeface="微软雅黑"/>
                <a:ea typeface="微软雅黑"/>
              </a:rPr>
              <a:t>常态化运营，持续演进</a:t>
            </a:r>
            <a:endParaRPr sz="13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5349240"/>
            <a:ext cx="11277295" cy="603504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启示：制造业最优解 = 平台底座（自上而下）× 场景切入（自下而上），双轮驱动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方案总体架构：五层架构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33856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L1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对话式治理门户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移动端拍照录入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IM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集成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153412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L2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智能体层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主数据治理智能体集群（标准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查重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影响分析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问答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72968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L3 AI 能力层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多模态大模型 · 领域模型 · 小模型 · 本体模型 · 知识库 · 向量库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92524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L4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主数据服务层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主数据管理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质量监控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分发订阅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L5 集成层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ERP（SAP / 金蝶 / 用友）· MES · WMS · PLM · SRM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注：L2/L3 为 AI 增量能力，L4/L5 与现有主数据平台及业务系统对接。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①：对话式治理入口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一个对话框，完成主数据新增 / 变更 / 查询 / 审批全流程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多模态录入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拍照识别图纸、铭牌信息；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粘贴文本智能解析，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自动结构化为标准字段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4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智能查重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新增即查重</a:t>
            </a: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实时提示相似历史物料</a:t>
            </a: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从源头防止重复建档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19872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填单辅助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自动补全物料属性</a:t>
            </a: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推荐分类与编码</a:t>
            </a: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大幅降低填写门槛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设计理念借鉴中翰软件对话式交互（据中翰软件官方发布），结合制造业场景重构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②：制造业治理智能体集群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微软雅黑"/>
                <a:ea typeface="微软雅黑"/>
              </a:rPr>
              <a:t>参考用友五大类智能体划分，映射为制造业 7 个专业智能体：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81328"/>
          <a:ext cx="11277295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智能体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标准管理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数据标准生成与维护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数据建模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属性模板设计与管理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智能查重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重复 / 近似物料识别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质量监控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数据异常检测与预警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分发编排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新增 / 变更 / 冻结事件驱动分发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影响分析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变更影响分析（BOM / 工艺 / 库存 / 订单）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治理问答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治理规则问答与流程指引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77295" cy="548640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关键特征：多智能体实时协同，而非串行接力——一次请求，多 Agent 并行响应、相互校验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③：多模型融合技术底座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98448"/>
            <a:ext cx="32826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多模态大模型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理解图纸、铭牌照片与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自然语言 —— 负责「理解与交互」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298448"/>
            <a:ext cx="32826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领域模型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沉淀物料分类体系与命名规范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—— 负责「行业 know-how」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98448"/>
            <a:ext cx="32826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小模型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相似度查重、异常检测，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低延迟低成本 —— 负责「高频判断」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520293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本体模型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构建物料 - BOM - 工艺 - 供应商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关系图谱 —— 负责「关系推理」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2375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7239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3543" y="3401568"/>
            <a:ext cx="520293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知识库 + 向量库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标准文档、历史案例检索增强（RAG）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—— 负责「知识供给」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分工原则：大模型做理解与交互，小模型做高频判断，本体做关系推理——各司其职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④：主动式数据质量管理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 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持续监控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质量指标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4268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3432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 预警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主动推送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质量报告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0500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9664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 诊断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定位分发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失败原因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6732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25896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 建议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生成清洗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方案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12964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82128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 执行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人工确认后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自动清洗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69196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3836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 复核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效果评估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规则回流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77295" cy="96012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575304"/>
            <a:ext cx="50292" cy="66751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538728"/>
            <a:ext cx="1094811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闭环要点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预警与诊断由 AI 主动发起；清洗执行前必须人工确认；复核结果回流，持续优化监控规则。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从「被动查询」到「主动预判」——数据质量管理成为持续运转的闭环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制造业落地场景：六大治理对象 + 三个小切口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六大治理对象（与主数据治理专题范围一致）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物料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客户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BOM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工艺路线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员工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试点建议：三个小切口（见效快 · 可量化 · 易推广）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重复物料检测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对存量物料库智能查重，输出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重复 / 近似清单，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直接支撑采购整合与降本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分类与属性推荐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新增物料自动推荐分类、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属性与编码，提升一致性，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降低业务人员填写门槛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8856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数据质量预警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异常检测与主动预警推送，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问题早发现、早处置，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防止脏数据向下游扩散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0192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可信与可控：白盒 + 人机协同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白盒可追溯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智能体操作过程与决策逻辑全留痕，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可追溯、可查看；借鉴用友白盒设计思想，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拒绝黑箱操作。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人在回路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AI 建议、人决策：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新增、冻结、批量清洗等关键节点，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必须人工复核确认后方可生效。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权限与审计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分级权限管理、操作审计日志、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合规留痕，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满足内控与外部审计要求。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原则：AI 提效，人类把关；过程透明，责任清晰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实施路线图：三阶段推进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7" name="Chevron 6"/>
          <p:cNvSpPr/>
          <p:nvPr/>
        </p:nvSpPr>
        <p:spPr>
          <a:xfrm>
            <a:off x="457200" y="1325880"/>
            <a:ext cx="3657600" cy="566928"/>
          </a:xfrm>
          <a:prstGeom prst="chevron">
            <a:avLst>
              <a:gd name="adj" fmla="val 35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试点期（1–3 个月）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3566160" cy="3063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2295144"/>
            <a:ext cx="50292" cy="2770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258568"/>
            <a:ext cx="3236976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试点期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· 小切口场景上线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  （查重 / 推荐 / 预警）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· 建立数据标准与质量基线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· 对话式入口试运行</a:t>
            </a:r>
          </a:p>
        </p:txBody>
      </p:sp>
      <p:sp>
        <p:nvSpPr>
          <p:cNvPr id="11" name="Chevron 10"/>
          <p:cNvSpPr/>
          <p:nvPr/>
        </p:nvSpPr>
        <p:spPr>
          <a:xfrm>
            <a:off x="4266590" y="1325880"/>
            <a:ext cx="3657600" cy="566928"/>
          </a:xfrm>
          <a:prstGeom prst="chevron">
            <a:avLst>
              <a:gd name="adj" fmla="val 35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推广期（3–9 个月）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6590" y="2148840"/>
            <a:ext cx="3566160" cy="3063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21454" y="2295144"/>
            <a:ext cx="50292" cy="2770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7758" y="2258568"/>
            <a:ext cx="3236976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推广期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· 扩展至六大治理对象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· 接入 ERP / MES / WMS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  / PLM / SRM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· 智能体集群全面启用</a:t>
            </a:r>
          </a:p>
        </p:txBody>
      </p:sp>
      <p:sp>
        <p:nvSpPr>
          <p:cNvPr id="15" name="Chevron 14"/>
          <p:cNvSpPr/>
          <p:nvPr/>
        </p:nvSpPr>
        <p:spPr>
          <a:xfrm>
            <a:off x="8075980" y="1325880"/>
            <a:ext cx="3657600" cy="566928"/>
          </a:xfrm>
          <a:prstGeom prst="chevron">
            <a:avLst>
              <a:gd name="adj" fmla="val 3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运营期（9 个月 +）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5980" y="2148840"/>
            <a:ext cx="3566160" cy="3063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0844" y="2295144"/>
            <a:ext cx="50292" cy="2770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7148" y="2258568"/>
            <a:ext cx="3236976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运营期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· 治理常态化运营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· 「双轨带练」赋能业务人员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  自主治理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· 持续优化模型与规则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064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注：「双轨带练」为中翰软件提出的实施方法论（据中翰软件官方发布）。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价值度量与结语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130552" cy="16916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289304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效率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建档与变更周期缩短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43000"/>
            <a:ext cx="2130552" cy="16916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8064" y="1289304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成本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重复采购与呆滞库存下降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143000"/>
            <a:ext cx="2130552" cy="16916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84064" y="1289304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质量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准确率 / 完整率 / 一致率提升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143000"/>
            <a:ext cx="2130552" cy="16916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0064" y="1289304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风控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变更可追溯、可审计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143000"/>
            <a:ext cx="2130552" cy="16916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56064" y="1289304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2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战略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夯实 AI 应用的数据底座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063240"/>
            <a:ext cx="11277295" cy="10515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2064" y="3209544"/>
            <a:ext cx="50292" cy="758951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3172968"/>
            <a:ext cx="10948111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量化指标模板（试点期后回填实测值）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重复物料下降 xx%　｜　建档周期缩短 xx%　｜　变更同步及时率 xx%　｜　数据质量得分提升 xx 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4617720"/>
            <a:ext cx="2286000" cy="45720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让数据治理的主导权交还业务，让数据从「负担」变为「资产」。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1015</Words>
  <Application>Microsoft Office PowerPoint</Application>
  <PresentationFormat>宽屏</PresentationFormat>
  <Paragraphs>265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Zhao</cp:lastModifiedBy>
  <cp:revision>2</cp:revision>
  <dcterms:created xsi:type="dcterms:W3CDTF">2013-01-27T09:14:16Z</dcterms:created>
  <dcterms:modified xsi:type="dcterms:W3CDTF">2026-08-25T09:30:18Z</dcterms:modified>
  <cp:category/>
</cp:coreProperties>
</file>